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charts/chart1.xml" ContentType="application/vnd.openxmlformats-officedocument.drawingml.chart+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Lst>
  <p:notesMasterIdLst>
    <p:notesMasterId r:id="rId14"/>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Problem" id="{220aa23e-7b3a-2f85-fca2-cc0ae379e0f4}">
          <p14:sldIdLst>
            <p14:sldId id="256"/>
            <p14:sldId id="257"/>
            <p14:sldId id="258"/>
          </p14:sldIdLst>
        </p14:section>
        <p14:section name="Choosing the solution" id="{53bbf09a-db3d-dce3-dc08-666114c20a97}">
          <p14:sldIdLst>
            <p14:sldId id="259"/>
            <p14:sldId id="260"/>
            <p14:sldId id="261"/>
          </p14:sldIdLst>
        </p14:section>
        <p14:section name="Applying K-Means" id="{82ea52dc-de33-c410-82e5-169d5700403c}">
          <p14:sldIdLst>
            <p14:sldId id="262"/>
            <p14:sldId id="263"/>
            <p14:sldId id="264"/>
            <p14:sldId id="265"/>
          </p14:sldIdLst>
        </p14:section>
        <p14:section name="Conclusion" id="{4f77ac48-a01b-9f6d-a905-c622d36b5539}">
          <p14:sldIdLst>
            <p14:sldId id="266"/>
            <p14:sldId id="267"/>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notesMaster" Target="notesMasters/notesMaster1.xml"/><Relationship Id="rId15" Type="http://schemas.openxmlformats.org/officeDocument/2006/relationships/presProps" Target="presProps.xml"/><Relationship Id="rId16" Type="http://schemas.openxmlformats.org/officeDocument/2006/relationships/viewProps" Target="viewProps.xml"/><Relationship Id="rId17" Type="http://schemas.openxmlformats.org/officeDocument/2006/relationships/theme" Target="theme/theme1.xml"/><Relationship Id="rId18"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0F4C5C"/>
                </a:solidFill>
                <a:latin typeface="+mn-lt"/>
              </a:defRPr>
            </a:pPr>
            <a:r>
              <a:rPr sz="1200" b="0" i="0" u="none" strike="noStrike">
                <a:solidFill>
                  <a:srgbClr val="0F4C5C"/>
                </a:solidFill>
                <a:latin typeface="+mn-lt"/>
              </a:rPr>
              <a:t>Example elbow curve (illustrative)</a:t>
            </a:r>
          </a:p>
        </c:rich>
      </c:tx>
      <c:layout/>
      <c:overlay val="0"/>
    </c:title>
    <c:autoTitleDeleted val="0"/>
    <c:plotArea>
      <c:layout/>
      <c:lineChart>
        <c:varyColors val="0"/>
        <c:ser>
          <c:idx val="0"/>
          <c:order val="0"/>
          <c:tx>
            <c:strRef>
              <c:f>Sheet1!$B$1</c:f>
              <c:strCache>
                <c:ptCount val="1"/>
                <c:pt idx="0">
                  <c:v>Within-cluster variance</c:v>
                </c:pt>
              </c:strCache>
            </c:strRef>
          </c:tx>
          <c:spPr>
            <a:solidFill>
              <a:srgbClr val="F28C28"/>
            </a:solidFill>
            <a:ln w="38100" cap="flat">
              <a:solidFill>
                <a:srgbClr val="F28C28"/>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8"/>
            <c:spPr>
              <a:solidFill>
                <a:srgbClr val="F28C28"/>
              </a:solidFill>
              <a:ln w="9525" cap="flat">
                <a:solidFill>
                  <a:srgbClr val="F28C28"/>
                </a:solidFill>
                <a:prstDash val="solid"/>
                <a:round/>
              </a:ln>
              <a:effectLst/>
            </c:spPr>
          </c:marker>
          <c:cat>
            <c:multiLvlStrRef>
              <c:f>Sheet1!$A$2:$A$9</c:f>
              <c:multiLvlStrCache>
                <c:ptCount val="8"/>
                <c:lvl>
                  <c:pt idx="0">
                    <c:v>1</c:v>
                  </c:pt>
                  <c:pt idx="1">
                    <c:v>2</c:v>
                  </c:pt>
                  <c:pt idx="2">
                    <c:v>3</c:v>
                  </c:pt>
                  <c:pt idx="3">
                    <c:v>4</c:v>
                  </c:pt>
                  <c:pt idx="4">
                    <c:v>5</c:v>
                  </c:pt>
                  <c:pt idx="5">
                    <c:v>6</c:v>
                  </c:pt>
                  <c:pt idx="6">
                    <c:v>7</c:v>
                  </c:pt>
                  <c:pt idx="7">
                    <c:v>8</c:v>
                  </c:pt>
                </c:lvl>
              </c:multiLvlStrCache>
            </c:multiLvlStrRef>
          </c:cat>
          <c:val>
            <c:numRef>
              <c:f>Sheet1!$B$2:$B$9</c:f>
              <c:numCache>
                <c:formatCode>General</c:formatCode>
                <c:ptCount val="8"/>
                <c:pt idx="0">
                  <c:v>100</c:v>
                </c:pt>
                <c:pt idx="1">
                  <c:v>62</c:v>
                </c:pt>
                <c:pt idx="2">
                  <c:v>38</c:v>
                </c:pt>
                <c:pt idx="3">
                  <c:v>24</c:v>
                </c:pt>
                <c:pt idx="4">
                  <c:v>20</c:v>
                </c:pt>
                <c:pt idx="5">
                  <c:v>18</c:v>
                </c:pt>
                <c:pt idx="6">
                  <c:v>16.5</c:v>
                </c:pt>
                <c:pt idx="7">
                  <c:v>15.5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title>
          <c:tx>
            <c:rich>
              <a:bodyPr/>
              <a:lstStyle/>
              <a:p>
                <a:pPr>
                  <a:defRPr sz="1100" b="0" i="0" u="none" strike="noStrike">
                    <a:solidFill>
                      <a:srgbClr val="5F7180"/>
                    </a:solidFill>
                    <a:latin typeface="+mn-lt"/>
                  </a:defRPr>
                </a:pPr>
                <a:r>
                  <a:rPr sz="1100" b="0" i="0" u="none" strike="noStrike">
                    <a:solidFill>
                      <a:srgbClr val="5F7180"/>
                    </a:solidFill>
                    <a:latin typeface="+mn-lt"/>
                  </a:rPr>
                  <a:t>Number of clusters (k)</a:t>
                </a:r>
              </a:p>
            </c:rich>
          </c:tx>
          <c:layout/>
          <c:overlay val="0"/>
        </c:title>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5F7180"/>
                </a:solidFill>
                <a:latin typeface="+mn-lt"/>
              </a:defRPr>
            </a:pPr>
            <a:endParaRPr lang="en-US"/>
          </a:p>
        </c:txPr>
        <c:crossAx val="2094734552"/>
        <c:crosses val="autoZero"/>
        <c:auto val="1"/>
        <c:lblAlgn val="ctr"/>
        <c:noMultiLvlLbl val="1"/>
      </c:catAx>
      <c:valAx>
        <c:axId val="2094734552"/>
        <c:scaling>
          <c:orientation val="minMax"/>
          <c:min val="0"/>
        </c:scaling>
        <c:delete val="0"/>
        <c:axPos val="l"/>
        <c:majorGridlines>
          <c:spPr>
            <a:ln w="9525" cap="flat">
              <a:solidFill>
                <a:srgbClr val="EAF2F3"/>
              </a:solidFill>
              <a:prstDash val="solid"/>
              <a:round/>
            </a:ln>
          </c:spPr>
        </c:majorGridlines>
        <c:title>
          <c:tx>
            <c:rich>
              <a:bodyPr/>
              <a:lstStyle/>
              <a:p>
                <a:pPr>
                  <a:defRPr sz="1100" b="0" i="0" u="none" strike="noStrike">
                    <a:solidFill>
                      <a:srgbClr val="5F7180"/>
                    </a:solidFill>
                    <a:latin typeface="+mn-lt"/>
                  </a:defRPr>
                </a:pPr>
                <a:r>
                  <a:rPr sz="1100" b="0" i="0" u="none" strike="noStrike">
                    <a:solidFill>
                      <a:srgbClr val="5F7180"/>
                    </a:solidFill>
                    <a:latin typeface="+mn-lt"/>
                  </a:rPr>
                  <a:t>Within-cluster variance</a:t>
                </a:r>
              </a:p>
            </c:rich>
          </c:tx>
          <c:layout/>
          <c:overlay val="0"/>
        </c:title>
        <c:numFmt formatCode="General" sourceLinked="0"/>
        <c:majorTickMark val="out"/>
        <c:minorTickMark val="none"/>
        <c:tickLblPos val="nextTo"/>
        <c:spPr>
          <a:ln w="12700" cap="flat">
            <a:solidFill>
              <a:srgbClr val="888888"/>
            </a:solidFill>
            <a:prstDash val="solid"/>
            <a:round/>
          </a:ln>
        </c:spPr>
        <c:txPr>
          <a:bodyPr/>
          <a:lstStyle/>
          <a:p>
            <a:pPr>
              <a:defRPr sz="1100" b="0" i="0" u="none" strike="noStrike">
                <a:solidFill>
                  <a:srgbClr val="5F7180"/>
                </a:solidFill>
                <a:latin typeface="+mn-lt"/>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Introduce the team and the topic. We group warehouse products using K-Means clustering, the solution we picked from Unit 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the problem in simple words. A warehouse has thousands of products. If similar products are grouped, managers can decide where to keep each group, and workers walk less. We group using four things shown in the cards.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Explain each term in one line before going further. SKU is one product type. Pick frequency and seasonal demand describe how a product moves. Clustering, centroid and unsupervised learning are the machine learning words we use later.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Unit 3 gives four families of solutions. K-Means and hierarchical clustering make groups. Mixtures of Gaussians make soft groups with probabilities. PCA and factor analysis only reduce the number of features. We compared all of them for our problem.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solution we selected. Say the definition slowly. Then give the four reasons. The strongest reason: our problem says partition, and K-Means is a partitioning method where every item gets exactly one group.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reviewer will ask why we did not pick the others. Mixtures of Gaussians give probabilities, but a product needs one fixed zone. Hierarchical clustering compares every pair, so it is slow for a big warehouse. PCA and factor analysis do not make groups at all.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five steps from Unit 3. Start with k random centres. Measure the distance of every SKU to every centre. Assign each SKU to the nearest centre. Move each centre to the mean of its SKUs. Repeat until no SKU changes its cluster.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First we turn every SKU into a row of numbers. The table is made-up example data, only to show the idea. Handling needs become 0 or 1 flags. Then we scale the columns, because K-Means uses distance and a large number like volume would otherwise dominate.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K-Means needs k before it starts. We use the elbow method from Unit 3. Run K-Means for many values of k and plot the within-cluster variance. The curve falls fast and then flattens. The bend is the best k. The curve shown is an illustration, where the bend is at k equal to 4.</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After K-Means runs, each cluster is a group of similar SKUs. The manager gives each cluster a zone. Fast movers go closest to packing. Seasonal items go to a flexible zone. Bulky items stay at ground level near the dock. Fragile items get a protected area. These four clusters are an example.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Link back to the problem statement. The goal was better placement and less travel time. Fast movers near packing means less walking. Similar products together means better placement. And when demand changes with the season, we simply run K-Means again.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with the three points: the problem, the chosen solution and the outcome. Mention the next step, then invite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image" Target="../media/image-1002-1.png"/><Relationship Id="rId2"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_DARK">
    <p:bg>
      <p:bgPr>
        <a:solidFill>
          <a:schemeClr val="tx2"/>
        </a:solidFill>
      </p:bgPr>
    </p:bg>
    <p:spTree>
      <p:nvGrpSpPr>
        <p:cNvPr id="1" name=""/>
        <p:cNvGrpSpPr/>
        <p:nvPr/>
      </p:nvGrpSpPr>
      <p:grpSpPr>
        <a:xfrm>
          <a:off x="0" y="0"/>
          <a:ext cx="0" cy="0"/>
          <a:chOff x="0" y="0"/>
          <a:chExt cx="0" cy="0"/>
        </a:xfrm>
      </p:grpSpPr>
      <p:sp>
        <p:nvSpPr>
          <p:cNvPr id="2" name="Text 0"/>
          <p:cNvSpPr/>
          <p:nvPr/>
        </p:nvSpPr>
        <p:spPr>
          <a:xfrm>
            <a:off x="548640" y="365760"/>
            <a:ext cx="2514600" cy="1024128"/>
          </a:xfrm>
          <a:prstGeom prst="roundRect">
            <a:avLst>
              <a:gd name="adj" fmla="val 7143"/>
            </a:avLst>
          </a:prstGeom>
          <a:solidFill>
            <a:schemeClr val="bg1"/>
          </a:solidFill>
          <a:ln>
            <a:solidFill>
              <a:schemeClr val="bg1"/>
            </a:solidFill>
          </a:ln>
        </p:spPr>
        <p:txBody>
          <a:bodyPr wrap="square" rtlCol="0" anchor="ctr"/>
          <a:lstStyle/>
          <a:p>
            <a:pPr indent="0" marL="0">
              <a:buNone/>
            </a:pPr>
            <a:endParaRPr lang="en-US" dirty="0"/>
          </a:p>
        </p:txBody>
      </p:sp>
      <p:pic>
        <p:nvPicPr>
          <p:cNvPr id="3" name="Image 0" descr="SRM Institute of Science and Technology logo">    </p:cNvPr>
          <p:cNvPicPr>
            <a:picLocks noChangeAspect="1"/>
          </p:cNvPicPr>
          <p:nvPr/>
        </p:nvPicPr>
        <p:blipFill>
          <a:blip r:embed="rId1"/>
          <a:stretch>
            <a:fillRect/>
          </a:stretch>
        </p:blipFill>
        <p:spPr>
          <a:xfrm>
            <a:off x="685800" y="434340"/>
            <a:ext cx="2240280" cy="886968"/>
          </a:xfrm>
          <a:prstGeom prst="rect">
            <a:avLst/>
          </a:prstGeom>
        </p:spPr>
      </p:pic>
      <p:sp>
        <p:nvSpPr>
          <p:cNvPr id="4" name="Text 1"/>
          <p:cNvSpPr/>
          <p:nvPr>
            <p:ph idx="102" type="title" hasCustomPrompt="1"/>
          </p:nvPr>
        </p:nvSpPr>
        <p:spPr>
          <a:xfrm>
            <a:off x="548640" y="1645920"/>
            <a:ext cx="5120640" cy="1600200"/>
          </a:xfrm>
          <a:prstGeom prst="rect">
            <a:avLst/>
          </a:prstGeom>
          <a:noFill/>
          <a:ln/>
        </p:spPr>
        <p:txBody>
          <a:bodyPr wrap="square" rtlCol="0"/>
          <a:lstStyle>
            <a:lvl1pPr algn="l" indent="0" marL="0">
              <a:buNone/>
              <a:defRPr lang="en-US" sz="3400" b="1" dirty="0">
                <a:solidFill>
                  <a:schemeClr val="bg1"/>
                </a:solidFill>
              </a:defRPr>
            </a:lvl1pPr>
          </a:lstStyle>
          <a:p>
            <a:pPr algn="l" indent="0" marL="0">
              <a:buNone/>
            </a:pPr>
            <a:endParaRPr lang="en-US" sz="3400" dirty="0"/>
          </a:p>
        </p:txBody>
      </p:sp>
      <p:sp>
        <p:nvSpPr>
          <p:cNvPr id="5" name="Text 1"/>
          <p:cNvSpPr/>
          <p:nvPr>
            <p:ph idx="103" type="body" hasCustomPrompt="1"/>
          </p:nvPr>
        </p:nvSpPr>
        <p:spPr>
          <a:xfrm>
            <a:off x="548640" y="3291840"/>
            <a:ext cx="5120640" cy="365760"/>
          </a:xfrm>
          <a:prstGeom prst="rect">
            <a:avLst/>
          </a:prstGeom>
          <a:noFill/>
          <a:ln/>
        </p:spPr>
        <p:txBody>
          <a:bodyPr wrap="square" rtlCol="0"/>
          <a:lstStyle>
            <a:lvl1pPr algn="l" indent="0" marL="0">
              <a:buNone/>
              <a:defRPr lang="en-US" sz="1600" dirty="0">
                <a:solidFill>
                  <a:schemeClr val="bg2"/>
                </a:solidFill>
              </a:defRPr>
            </a:lvl1pPr>
          </a:lstStyle>
          <a:p>
            <a:pPr algn="l" indent="0" marL="0">
              <a:buNone/>
            </a:pPr>
            <a:endParaRPr lang="en-US" sz="16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
    <p:bg>
      <p:bgPr>
        <a:solidFill>
          <a:schemeClr val="bg1"/>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7315200" cy="685800"/>
          </a:xfrm>
          <a:prstGeom prst="rect">
            <a:avLst/>
          </a:prstGeom>
          <a:noFill/>
          <a:ln/>
        </p:spPr>
        <p:txBody>
          <a:bodyPr wrap="square" rtlCol="0"/>
          <a:lstStyle>
            <a:lvl1pPr algn="l" indent="0" marL="0">
              <a:buNone/>
              <a:defRPr lang="en-US" sz="3600" b="1" dirty="0">
                <a:solidFill>
                  <a:schemeClr val="tx2"/>
                </a:solidFill>
              </a:defRPr>
            </a:lvl1pPr>
          </a:lstStyle>
          <a:p>
            <a:pPr algn="l" indent="0" marL="0">
              <a:buNone/>
            </a:pPr>
            <a:endParaRPr lang="en-US" sz="3600" dirty="0"/>
          </a:p>
        </p:txBody>
      </p:sp>
      <p:sp>
        <p:nvSpPr>
          <p:cNvPr id="3" name="Text 0"/>
          <p:cNvSpPr/>
          <p:nvPr/>
        </p:nvSpPr>
        <p:spPr>
          <a:xfrm>
            <a:off x="7973568" y="521208"/>
            <a:ext cx="182880" cy="182880"/>
          </a:xfrm>
          <a:prstGeom prst="ellipse">
            <a:avLst/>
          </a:prstGeom>
          <a:solidFill>
            <a:schemeClr val="accent2"/>
          </a:solidFill>
          <a:ln>
            <a:solidFill>
              <a:schemeClr val="accent2"/>
            </a:solidFill>
          </a:ln>
        </p:spPr>
        <p:txBody>
          <a:bodyPr wrap="square" rtlCol="0" anchor="ctr"/>
          <a:lstStyle/>
          <a:p>
            <a:pPr indent="0" marL="0">
              <a:buNone/>
            </a:pPr>
            <a:endParaRPr lang="en-US" dirty="0"/>
          </a:p>
        </p:txBody>
      </p:sp>
      <p:sp>
        <p:nvSpPr>
          <p:cNvPr id="4" name="Text 1"/>
          <p:cNvSpPr/>
          <p:nvPr/>
        </p:nvSpPr>
        <p:spPr>
          <a:xfrm>
            <a:off x="8229600" y="521208"/>
            <a:ext cx="182880" cy="182880"/>
          </a:xfrm>
          <a:prstGeom prst="ellipse">
            <a:avLst/>
          </a:prstGeom>
          <a:solidFill>
            <a:schemeClr val="accent3"/>
          </a:solidFill>
          <a:ln>
            <a:solidFill>
              <a:schemeClr val="accent3"/>
            </a:solidFill>
          </a:ln>
        </p:spPr>
        <p:txBody>
          <a:bodyPr wrap="square" rtlCol="0" anchor="ctr"/>
          <a:lstStyle/>
          <a:p>
            <a:pPr indent="0" marL="0">
              <a:buNone/>
            </a:pPr>
            <a:endParaRPr lang="en-US" dirty="0"/>
          </a:p>
        </p:txBody>
      </p:sp>
      <p:sp>
        <p:nvSpPr>
          <p:cNvPr id="5" name="Text 2"/>
          <p:cNvSpPr/>
          <p:nvPr/>
        </p:nvSpPr>
        <p:spPr>
          <a:xfrm>
            <a:off x="8485632" y="521208"/>
            <a:ext cx="182880" cy="182880"/>
          </a:xfrm>
          <a:prstGeom prst="ellipse">
            <a:avLst/>
          </a:prstGeom>
          <a:solidFill>
            <a:schemeClr val="accent4"/>
          </a:solidFill>
          <a:ln>
            <a:solidFill>
              <a:schemeClr val="accent4"/>
            </a:solidFill>
          </a:ln>
        </p:spPr>
        <p:txBody>
          <a:bodyPr wrap="square" rtlCol="0" anchor="ctr"/>
          <a:lstStyle/>
          <a:p>
            <a:pPr indent="0" marL="0">
              <a:buNone/>
            </a:pPr>
            <a:endParaRPr lang="en-US" dirty="0"/>
          </a:p>
        </p:txBody>
      </p:sp>
      <p:sp>
        <p:nvSpPr>
          <p:cNvPr id="6" name="Text 3"/>
          <p:cNvSpPr/>
          <p:nvPr/>
        </p:nvSpPr>
        <p:spPr>
          <a:xfrm>
            <a:off x="457200" y="4727448"/>
            <a:ext cx="5486400" cy="274320"/>
          </a:xfrm>
          <a:prstGeom prst="rect">
            <a:avLst/>
          </a:prstGeom>
          <a:noFill/>
          <a:ln/>
        </p:spPr>
        <p:txBody>
          <a:bodyPr wrap="square" lIns="0" tIns="0" rIns="0" bIns="0" rtlCol="0" anchor="ctr"/>
          <a:lstStyle/>
          <a:p>
            <a:pPr algn="l" indent="0" marL="0">
              <a:buNone/>
            </a:pPr>
            <a:r>
              <a:rPr lang="en-US" sz="1000" dirty="0">
                <a:solidFill>
                  <a:schemeClr val="accent5"/>
                </a:solidFill>
              </a:rPr>
              <a:t>Warehouse SKU clustering  |  Project Review 3</a:t>
            </a:r>
            <a:endParaRPr lang="en-US" sz="1000" dirty="0"/>
          </a:p>
        </p:txBody>
      </p:sp>
      <p:sp>
        <p:nvSpPr>
          <p:cNvPr id="25" name="Slide Number Placeholder 0"/>
          <p:cNvSpPr>
            <a:spLocks noGrp="1"/>
          </p:cNvSpPr>
          <p:nvPr>
            <p:ph type="sldNum" sz="quarter" idx="4294967295"/>
          </p:nvPr>
        </p:nvSpPr>
        <p:spPr>
          <a:xfrm>
            <a:off x="8229600" y="472744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CLOSING_DARK">
    <p:bg>
      <p:bgPr>
        <a:solidFill>
          <a:schemeClr val="tx2"/>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411480"/>
            <a:ext cx="5120640" cy="731520"/>
          </a:xfrm>
          <a:prstGeom prst="rect">
            <a:avLst/>
          </a:prstGeom>
          <a:noFill/>
          <a:ln/>
        </p:spPr>
        <p:txBody>
          <a:bodyPr wrap="square" rtlCol="0"/>
          <a:lstStyle>
            <a:lvl1pPr algn="l" indent="0" marL="0">
              <a:buNone/>
              <a:defRPr lang="en-US" sz="3600" b="1" dirty="0">
                <a:solidFill>
                  <a:schemeClr val="bg1"/>
                </a:solidFill>
              </a:defRPr>
            </a:lvl1pPr>
          </a:lstStyle>
          <a:p>
            <a:pPr algn="l" indent="0" marL="0">
              <a:buNone/>
            </a:pPr>
            <a:endParaRPr lang="en-US" sz="3600" dirty="0"/>
          </a:p>
        </p:txBody>
      </p:sp>
      <p:sp>
        <p:nvSpPr>
          <p:cNvPr id="25" name="Slide Number Placeholder 0"/>
          <p:cNvSpPr>
            <a:spLocks noGrp="1"/>
          </p:cNvSpPr>
          <p:nvPr>
            <p:ph type="sldNum" sz="quarter" idx="4294967295"/>
          </p:nvPr>
        </p:nvSpPr>
        <p:spPr>
          <a:xfrm>
            <a:off x="8229600" y="472744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bg2"/>
                </a:solidFill>
              </a:defRPr>
            </a:lvl1pPr>
          </a:lstStyle>
          <a:p>
            <a:pPr algn="r"/>
            <a:fld id="{F7021451-1387-4CA6-816F-3879F97B5CBC}" type="slidenum">
              <a:rPr b="0" lang="en-US"/>
              <a:t>1004</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8229600" y="472744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3.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2.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1"/>
          <p:cNvSpPr/>
          <p:nvPr>
            <p:ph idx="102" type="title" hasCustomPrompt="1"/>
          </p:nvPr>
        </p:nvSpPr>
        <p:spPr>
          <a:xfrm>
            <a:off x="548640" y="1645920"/>
            <a:ext cx="5120640" cy="1600200"/>
          </a:xfrm>
          <a:prstGeom prst="rect">
            <a:avLst/>
          </a:prstGeom>
          <a:noFill/>
          <a:ln/>
        </p:spPr>
        <p:txBody>
          <a:bodyPr wrap="square" lIns="0" tIns="0" rIns="0" bIns="0" rtlCol="0" anchor="t"/>
          <a:lstStyle/>
          <a:p>
            <a:pPr algn="l" indent="0" marL="0">
              <a:buNone/>
            </a:pPr>
            <a:r>
              <a:rPr lang="en-US" sz="3400" b="1" dirty="0">
                <a:solidFill>
                  <a:schemeClr val="bg1"/>
                </a:solidFill>
              </a:rPr>
              <a:t>Grouping Warehouse Products with K-Means Clustering</a:t>
            </a:r>
            <a:endParaRPr lang="en-US" sz="3400" dirty="0"/>
          </a:p>
        </p:txBody>
      </p:sp>
      <p:sp>
        <p:nvSpPr>
          <p:cNvPr id="3" name="Text 1"/>
          <p:cNvSpPr/>
          <p:nvPr>
            <p:ph idx="103" type="body" hasCustomPrompt="1"/>
          </p:nvPr>
        </p:nvSpPr>
        <p:spPr>
          <a:xfrm>
            <a:off x="548640" y="3291840"/>
            <a:ext cx="5120640" cy="365760"/>
          </a:xfrm>
          <a:prstGeom prst="rect">
            <a:avLst/>
          </a:prstGeom>
          <a:noFill/>
          <a:ln/>
        </p:spPr>
        <p:txBody>
          <a:bodyPr wrap="square" lIns="0" tIns="0" rIns="0" bIns="0" rtlCol="0" anchor="ctr"/>
          <a:lstStyle/>
          <a:p>
            <a:pPr algn="l" indent="0" marL="0">
              <a:buNone/>
            </a:pPr>
            <a:r>
              <a:rPr lang="en-US" sz="1600" dirty="0">
                <a:solidFill>
                  <a:schemeClr val="bg2"/>
                </a:solidFill>
              </a:rPr>
              <a:t>Project Review 3  |  Unit 3</a:t>
            </a:r>
            <a:endParaRPr lang="en-US" sz="1600" dirty="0"/>
          </a:p>
        </p:txBody>
      </p:sp>
      <p:sp>
        <p:nvSpPr>
          <p:cNvPr id="4" name="Text 1"/>
          <p:cNvSpPr txBox="1"/>
          <p:nvPr/>
        </p:nvSpPr>
        <p:spPr>
          <a:xfrm>
            <a:off x="3291840" y="365760"/>
            <a:ext cx="2377440" cy="1024128"/>
          </a:xfrm>
          <a:prstGeom prst="rect">
            <a:avLst/>
          </a:prstGeom>
          <a:noFill/>
          <a:ln/>
        </p:spPr>
        <p:txBody>
          <a:bodyPr wrap="square" lIns="0" tIns="0" rIns="0" bIns="0" rtlCol="0" anchor="ctr"/>
          <a:lstStyle/>
          <a:p>
            <a:pPr algn="l" indent="0" marL="0">
              <a:buNone/>
            </a:pPr>
            <a:r>
              <a:rPr lang="en-US" sz="1800" b="1" dirty="0">
                <a:solidFill>
                  <a:schemeClr val="accent4"/>
                </a:solidFill>
              </a:rPr>
              <a:t>21CSC305P</a:t>
            </a:r>
            <a:endParaRPr lang="en-US" sz="1400" dirty="0"/>
          </a:p>
          <a:p>
            <a:pPr algn="l" indent="0" marL="0">
              <a:buNone/>
            </a:pPr>
            <a:r>
              <a:rPr lang="en-US" sz="1800" b="1" dirty="0">
                <a:solidFill>
                  <a:schemeClr val="bg1"/>
                </a:solidFill>
              </a:rPr>
              <a:t>MACHINE LEARNING</a:t>
            </a:r>
            <a:endParaRPr lang="en-US" sz="1400" dirty="0"/>
          </a:p>
        </p:txBody>
      </p:sp>
      <p:sp>
        <p:nvSpPr>
          <p:cNvPr id="5" name="Text 2"/>
          <p:cNvSpPr txBox="1"/>
          <p:nvPr/>
        </p:nvSpPr>
        <p:spPr>
          <a:xfrm>
            <a:off x="548640" y="3767328"/>
            <a:ext cx="5120640" cy="914400"/>
          </a:xfrm>
          <a:prstGeom prst="rect">
            <a:avLst/>
          </a:prstGeom>
          <a:noFill/>
          <a:ln/>
        </p:spPr>
        <p:txBody>
          <a:bodyPr wrap="square" lIns="0" tIns="0" rIns="0" bIns="0" rtlCol="0" anchor="t"/>
          <a:lstStyle/>
          <a:p>
            <a:pPr algn="l" indent="0" marL="0">
              <a:spcAft>
                <a:spcPts val="600"/>
              </a:spcAft>
              <a:buNone/>
            </a:pPr>
            <a:r>
              <a:rPr lang="en-US" sz="1500" b="1" dirty="0">
                <a:solidFill>
                  <a:schemeClr val="accent4"/>
                </a:solidFill>
              </a:rPr>
              <a:t>Team: Cash guard (No. 17)</a:t>
            </a:r>
            <a:endParaRPr lang="en-US" sz="1400" dirty="0"/>
          </a:p>
          <a:p>
            <a:pPr algn="l" indent="0" marL="0">
              <a:spcAft>
                <a:spcPts val="600"/>
              </a:spcAft>
              <a:buNone/>
            </a:pPr>
            <a:r>
              <a:rPr lang="en-US" sz="1400" dirty="0">
                <a:solidFill>
                  <a:schemeClr val="bg1"/>
                </a:solidFill>
              </a:rPr>
              <a:t>V. Anbu Chelvan,  S Roopesh,  B. Charith Reddy,  Y Rupesh Reddy</a:t>
            </a:r>
            <a:endParaRPr lang="en-US" sz="1400" dirty="0"/>
          </a:p>
          <a:p>
            <a:pPr algn="l" indent="0" marL="0">
              <a:spcAft>
                <a:spcPts val="600"/>
              </a:spcAft>
              <a:buNone/>
            </a:pPr>
            <a:r>
              <a:rPr lang="en-US" sz="1200" dirty="0">
                <a:solidFill>
                  <a:schemeClr val="bg2"/>
                </a:solidFill>
              </a:rPr>
              <a:t>13 October 2026</a:t>
            </a:r>
            <a:endParaRPr lang="en-US" sz="1400" dirty="0"/>
          </a:p>
        </p:txBody>
      </p:sp>
      <p:sp>
        <p:nvSpPr>
          <p:cNvPr id="6" name="Dot 3"/>
          <p:cNvSpPr/>
          <p:nvPr/>
        </p:nvSpPr>
        <p:spPr>
          <a:xfrm>
            <a:off x="6318504" y="1124712"/>
            <a:ext cx="219456" cy="219456"/>
          </a:xfrm>
          <a:prstGeom prst="ellipse">
            <a:avLst/>
          </a:prstGeom>
          <a:solidFill>
            <a:schemeClr val="accent2"/>
          </a:solidFill>
          <a:ln w="12700">
            <a:solidFill>
              <a:schemeClr val="accent2"/>
            </a:solidFill>
            <a:prstDash val="solid"/>
          </a:ln>
        </p:spPr>
      </p:sp>
      <p:sp>
        <p:nvSpPr>
          <p:cNvPr id="7" name="Dot 4"/>
          <p:cNvSpPr/>
          <p:nvPr/>
        </p:nvSpPr>
        <p:spPr>
          <a:xfrm>
            <a:off x="6592824" y="896112"/>
            <a:ext cx="219456" cy="219456"/>
          </a:xfrm>
          <a:prstGeom prst="ellipse">
            <a:avLst/>
          </a:prstGeom>
          <a:solidFill>
            <a:schemeClr val="accent2"/>
          </a:solidFill>
          <a:ln w="12700">
            <a:solidFill>
              <a:schemeClr val="accent2"/>
            </a:solidFill>
            <a:prstDash val="solid"/>
          </a:ln>
        </p:spPr>
      </p:sp>
      <p:sp>
        <p:nvSpPr>
          <p:cNvPr id="8" name="Dot 5"/>
          <p:cNvSpPr/>
          <p:nvPr/>
        </p:nvSpPr>
        <p:spPr>
          <a:xfrm>
            <a:off x="6976872" y="1005840"/>
            <a:ext cx="219456" cy="219456"/>
          </a:xfrm>
          <a:prstGeom prst="ellipse">
            <a:avLst/>
          </a:prstGeom>
          <a:solidFill>
            <a:schemeClr val="accent2"/>
          </a:solidFill>
          <a:ln w="12700">
            <a:solidFill>
              <a:schemeClr val="accent2"/>
            </a:solidFill>
            <a:prstDash val="solid"/>
          </a:ln>
        </p:spPr>
      </p:sp>
      <p:sp>
        <p:nvSpPr>
          <p:cNvPr id="9" name="Dot 6"/>
          <p:cNvSpPr/>
          <p:nvPr/>
        </p:nvSpPr>
        <p:spPr>
          <a:xfrm>
            <a:off x="7123176" y="1353312"/>
            <a:ext cx="219456" cy="219456"/>
          </a:xfrm>
          <a:prstGeom prst="ellipse">
            <a:avLst/>
          </a:prstGeom>
          <a:solidFill>
            <a:schemeClr val="accent2"/>
          </a:solidFill>
          <a:ln w="12700">
            <a:solidFill>
              <a:schemeClr val="accent2"/>
            </a:solidFill>
            <a:prstDash val="solid"/>
          </a:ln>
        </p:spPr>
      </p:sp>
      <p:sp>
        <p:nvSpPr>
          <p:cNvPr id="10" name="Dot 7"/>
          <p:cNvSpPr/>
          <p:nvPr/>
        </p:nvSpPr>
        <p:spPr>
          <a:xfrm>
            <a:off x="6867144" y="1655064"/>
            <a:ext cx="219456" cy="219456"/>
          </a:xfrm>
          <a:prstGeom prst="ellipse">
            <a:avLst/>
          </a:prstGeom>
          <a:solidFill>
            <a:schemeClr val="accent2"/>
          </a:solidFill>
          <a:ln w="12700">
            <a:solidFill>
              <a:schemeClr val="accent2"/>
            </a:solidFill>
            <a:prstDash val="solid"/>
          </a:ln>
        </p:spPr>
      </p:sp>
      <p:sp>
        <p:nvSpPr>
          <p:cNvPr id="11" name="Dot 8"/>
          <p:cNvSpPr/>
          <p:nvPr/>
        </p:nvSpPr>
        <p:spPr>
          <a:xfrm>
            <a:off x="6473952" y="1581912"/>
            <a:ext cx="219456" cy="219456"/>
          </a:xfrm>
          <a:prstGeom prst="ellipse">
            <a:avLst/>
          </a:prstGeom>
          <a:solidFill>
            <a:schemeClr val="accent2"/>
          </a:solidFill>
          <a:ln w="12700">
            <a:solidFill>
              <a:schemeClr val="accent2"/>
            </a:solidFill>
            <a:prstDash val="solid"/>
          </a:ln>
        </p:spPr>
      </p:sp>
      <p:sp>
        <p:nvSpPr>
          <p:cNvPr id="12" name="Dot 9"/>
          <p:cNvSpPr/>
          <p:nvPr/>
        </p:nvSpPr>
        <p:spPr>
          <a:xfrm>
            <a:off x="6245352" y="1417320"/>
            <a:ext cx="219456" cy="219456"/>
          </a:xfrm>
          <a:prstGeom prst="ellipse">
            <a:avLst/>
          </a:prstGeom>
          <a:solidFill>
            <a:schemeClr val="accent2"/>
          </a:solidFill>
          <a:ln w="12700">
            <a:solidFill>
              <a:schemeClr val="accent2"/>
            </a:solidFill>
            <a:prstDash val="solid"/>
          </a:ln>
        </p:spPr>
      </p:sp>
      <p:sp>
        <p:nvSpPr>
          <p:cNvPr id="13" name="Centroid 10"/>
          <p:cNvSpPr/>
          <p:nvPr/>
        </p:nvSpPr>
        <p:spPr>
          <a:xfrm>
            <a:off x="6693408" y="1298448"/>
            <a:ext cx="237744" cy="237744"/>
          </a:xfrm>
          <a:prstGeom prst="ellipse">
            <a:avLst/>
          </a:prstGeom>
          <a:solidFill>
            <a:schemeClr val="tx2"/>
          </a:solidFill>
          <a:ln w="31750">
            <a:solidFill>
              <a:schemeClr val="accent2"/>
            </a:solidFill>
            <a:prstDash val="solid"/>
          </a:ln>
        </p:spPr>
      </p:sp>
      <p:sp>
        <p:nvSpPr>
          <p:cNvPr id="14" name="Dot 11"/>
          <p:cNvSpPr/>
          <p:nvPr/>
        </p:nvSpPr>
        <p:spPr>
          <a:xfrm>
            <a:off x="7415784" y="2313432"/>
            <a:ext cx="219456" cy="219456"/>
          </a:xfrm>
          <a:prstGeom prst="ellipse">
            <a:avLst/>
          </a:prstGeom>
          <a:solidFill>
            <a:schemeClr val="accent4"/>
          </a:solidFill>
          <a:ln w="12700">
            <a:solidFill>
              <a:schemeClr val="accent4"/>
            </a:solidFill>
            <a:prstDash val="solid"/>
          </a:ln>
        </p:spPr>
      </p:sp>
      <p:sp>
        <p:nvSpPr>
          <p:cNvPr id="15" name="Dot 12"/>
          <p:cNvSpPr/>
          <p:nvPr/>
        </p:nvSpPr>
        <p:spPr>
          <a:xfrm>
            <a:off x="7690104" y="2084832"/>
            <a:ext cx="219456" cy="219456"/>
          </a:xfrm>
          <a:prstGeom prst="ellipse">
            <a:avLst/>
          </a:prstGeom>
          <a:solidFill>
            <a:schemeClr val="accent4"/>
          </a:solidFill>
          <a:ln w="12700">
            <a:solidFill>
              <a:schemeClr val="accent4"/>
            </a:solidFill>
            <a:prstDash val="solid"/>
          </a:ln>
        </p:spPr>
      </p:sp>
      <p:sp>
        <p:nvSpPr>
          <p:cNvPr id="16" name="Dot 13"/>
          <p:cNvSpPr/>
          <p:nvPr/>
        </p:nvSpPr>
        <p:spPr>
          <a:xfrm>
            <a:off x="8074152" y="2194560"/>
            <a:ext cx="219456" cy="219456"/>
          </a:xfrm>
          <a:prstGeom prst="ellipse">
            <a:avLst/>
          </a:prstGeom>
          <a:solidFill>
            <a:schemeClr val="accent4"/>
          </a:solidFill>
          <a:ln w="12700">
            <a:solidFill>
              <a:schemeClr val="accent4"/>
            </a:solidFill>
            <a:prstDash val="solid"/>
          </a:ln>
        </p:spPr>
      </p:sp>
      <p:sp>
        <p:nvSpPr>
          <p:cNvPr id="17" name="Dot 14"/>
          <p:cNvSpPr/>
          <p:nvPr/>
        </p:nvSpPr>
        <p:spPr>
          <a:xfrm>
            <a:off x="8220456" y="2542032"/>
            <a:ext cx="219456" cy="219456"/>
          </a:xfrm>
          <a:prstGeom prst="ellipse">
            <a:avLst/>
          </a:prstGeom>
          <a:solidFill>
            <a:schemeClr val="accent4"/>
          </a:solidFill>
          <a:ln w="12700">
            <a:solidFill>
              <a:schemeClr val="accent4"/>
            </a:solidFill>
            <a:prstDash val="solid"/>
          </a:ln>
        </p:spPr>
      </p:sp>
      <p:sp>
        <p:nvSpPr>
          <p:cNvPr id="18" name="Dot 15"/>
          <p:cNvSpPr/>
          <p:nvPr/>
        </p:nvSpPr>
        <p:spPr>
          <a:xfrm>
            <a:off x="7964424" y="2843784"/>
            <a:ext cx="219456" cy="219456"/>
          </a:xfrm>
          <a:prstGeom prst="ellipse">
            <a:avLst/>
          </a:prstGeom>
          <a:solidFill>
            <a:schemeClr val="accent4"/>
          </a:solidFill>
          <a:ln w="12700">
            <a:solidFill>
              <a:schemeClr val="accent4"/>
            </a:solidFill>
            <a:prstDash val="solid"/>
          </a:ln>
        </p:spPr>
      </p:sp>
      <p:sp>
        <p:nvSpPr>
          <p:cNvPr id="19" name="Dot 16"/>
          <p:cNvSpPr/>
          <p:nvPr/>
        </p:nvSpPr>
        <p:spPr>
          <a:xfrm>
            <a:off x="7571232" y="2770632"/>
            <a:ext cx="219456" cy="219456"/>
          </a:xfrm>
          <a:prstGeom prst="ellipse">
            <a:avLst/>
          </a:prstGeom>
          <a:solidFill>
            <a:schemeClr val="accent4"/>
          </a:solidFill>
          <a:ln w="12700">
            <a:solidFill>
              <a:schemeClr val="accent4"/>
            </a:solidFill>
            <a:prstDash val="solid"/>
          </a:ln>
        </p:spPr>
      </p:sp>
      <p:sp>
        <p:nvSpPr>
          <p:cNvPr id="20" name="Dot 17"/>
          <p:cNvSpPr/>
          <p:nvPr/>
        </p:nvSpPr>
        <p:spPr>
          <a:xfrm>
            <a:off x="7342632" y="2606040"/>
            <a:ext cx="219456" cy="219456"/>
          </a:xfrm>
          <a:prstGeom prst="ellipse">
            <a:avLst/>
          </a:prstGeom>
          <a:solidFill>
            <a:schemeClr val="accent4"/>
          </a:solidFill>
          <a:ln w="12700">
            <a:solidFill>
              <a:schemeClr val="accent4"/>
            </a:solidFill>
            <a:prstDash val="solid"/>
          </a:ln>
        </p:spPr>
      </p:sp>
      <p:sp>
        <p:nvSpPr>
          <p:cNvPr id="21" name="Centroid 18"/>
          <p:cNvSpPr/>
          <p:nvPr/>
        </p:nvSpPr>
        <p:spPr>
          <a:xfrm>
            <a:off x="7790688" y="2487168"/>
            <a:ext cx="237744" cy="237744"/>
          </a:xfrm>
          <a:prstGeom prst="ellipse">
            <a:avLst/>
          </a:prstGeom>
          <a:solidFill>
            <a:schemeClr val="tx2"/>
          </a:solidFill>
          <a:ln w="31750">
            <a:solidFill>
              <a:schemeClr val="accent4"/>
            </a:solidFill>
            <a:prstDash val="solid"/>
          </a:ln>
        </p:spPr>
      </p:sp>
      <p:sp>
        <p:nvSpPr>
          <p:cNvPr id="22" name="Dot 19"/>
          <p:cNvSpPr/>
          <p:nvPr/>
        </p:nvSpPr>
        <p:spPr>
          <a:xfrm>
            <a:off x="6227064" y="3364992"/>
            <a:ext cx="219456" cy="219456"/>
          </a:xfrm>
          <a:prstGeom prst="ellipse">
            <a:avLst/>
          </a:prstGeom>
          <a:solidFill>
            <a:schemeClr val="accent3"/>
          </a:solidFill>
          <a:ln w="12700">
            <a:solidFill>
              <a:schemeClr val="accent3"/>
            </a:solidFill>
            <a:prstDash val="solid"/>
          </a:ln>
        </p:spPr>
      </p:sp>
      <p:sp>
        <p:nvSpPr>
          <p:cNvPr id="23" name="Dot 20"/>
          <p:cNvSpPr/>
          <p:nvPr/>
        </p:nvSpPr>
        <p:spPr>
          <a:xfrm>
            <a:off x="6501384" y="3136392"/>
            <a:ext cx="219456" cy="219456"/>
          </a:xfrm>
          <a:prstGeom prst="ellipse">
            <a:avLst/>
          </a:prstGeom>
          <a:solidFill>
            <a:schemeClr val="accent3"/>
          </a:solidFill>
          <a:ln w="12700">
            <a:solidFill>
              <a:schemeClr val="accent3"/>
            </a:solidFill>
            <a:prstDash val="solid"/>
          </a:ln>
        </p:spPr>
      </p:sp>
      <p:sp>
        <p:nvSpPr>
          <p:cNvPr id="24" name="Dot 21"/>
          <p:cNvSpPr/>
          <p:nvPr/>
        </p:nvSpPr>
        <p:spPr>
          <a:xfrm>
            <a:off x="6885432" y="3246120"/>
            <a:ext cx="219456" cy="219456"/>
          </a:xfrm>
          <a:prstGeom prst="ellipse">
            <a:avLst/>
          </a:prstGeom>
          <a:solidFill>
            <a:schemeClr val="accent3"/>
          </a:solidFill>
          <a:ln w="12700">
            <a:solidFill>
              <a:schemeClr val="accent3"/>
            </a:solidFill>
            <a:prstDash val="solid"/>
          </a:ln>
        </p:spPr>
      </p:sp>
      <p:sp>
        <p:nvSpPr>
          <p:cNvPr id="25" name="Dot 22"/>
          <p:cNvSpPr/>
          <p:nvPr/>
        </p:nvSpPr>
        <p:spPr>
          <a:xfrm>
            <a:off x="7031736" y="3593592"/>
            <a:ext cx="219456" cy="219456"/>
          </a:xfrm>
          <a:prstGeom prst="ellipse">
            <a:avLst/>
          </a:prstGeom>
          <a:solidFill>
            <a:schemeClr val="accent3"/>
          </a:solidFill>
          <a:ln w="12700">
            <a:solidFill>
              <a:schemeClr val="accent3"/>
            </a:solidFill>
            <a:prstDash val="solid"/>
          </a:ln>
        </p:spPr>
      </p:sp>
      <p:sp>
        <p:nvSpPr>
          <p:cNvPr id="26" name="Dot 23"/>
          <p:cNvSpPr/>
          <p:nvPr/>
        </p:nvSpPr>
        <p:spPr>
          <a:xfrm>
            <a:off x="6775704" y="3895344"/>
            <a:ext cx="219456" cy="219456"/>
          </a:xfrm>
          <a:prstGeom prst="ellipse">
            <a:avLst/>
          </a:prstGeom>
          <a:solidFill>
            <a:schemeClr val="accent3"/>
          </a:solidFill>
          <a:ln w="12700">
            <a:solidFill>
              <a:schemeClr val="accent3"/>
            </a:solidFill>
            <a:prstDash val="solid"/>
          </a:ln>
        </p:spPr>
      </p:sp>
      <p:sp>
        <p:nvSpPr>
          <p:cNvPr id="27" name="Dot 24"/>
          <p:cNvSpPr/>
          <p:nvPr/>
        </p:nvSpPr>
        <p:spPr>
          <a:xfrm>
            <a:off x="6382512" y="3822192"/>
            <a:ext cx="219456" cy="219456"/>
          </a:xfrm>
          <a:prstGeom prst="ellipse">
            <a:avLst/>
          </a:prstGeom>
          <a:solidFill>
            <a:schemeClr val="accent3"/>
          </a:solidFill>
          <a:ln w="12700">
            <a:solidFill>
              <a:schemeClr val="accent3"/>
            </a:solidFill>
            <a:prstDash val="solid"/>
          </a:ln>
        </p:spPr>
      </p:sp>
      <p:sp>
        <p:nvSpPr>
          <p:cNvPr id="28" name="Dot 25"/>
          <p:cNvSpPr/>
          <p:nvPr/>
        </p:nvSpPr>
        <p:spPr>
          <a:xfrm>
            <a:off x="6153912" y="3657600"/>
            <a:ext cx="219456" cy="219456"/>
          </a:xfrm>
          <a:prstGeom prst="ellipse">
            <a:avLst/>
          </a:prstGeom>
          <a:solidFill>
            <a:schemeClr val="accent3"/>
          </a:solidFill>
          <a:ln w="12700">
            <a:solidFill>
              <a:schemeClr val="accent3"/>
            </a:solidFill>
            <a:prstDash val="solid"/>
          </a:ln>
        </p:spPr>
      </p:sp>
      <p:sp>
        <p:nvSpPr>
          <p:cNvPr id="29" name="Centroid 26"/>
          <p:cNvSpPr/>
          <p:nvPr/>
        </p:nvSpPr>
        <p:spPr>
          <a:xfrm>
            <a:off x="6601968" y="3538728"/>
            <a:ext cx="237744" cy="237744"/>
          </a:xfrm>
          <a:prstGeom prst="ellipse">
            <a:avLst/>
          </a:prstGeom>
          <a:solidFill>
            <a:schemeClr val="tx2"/>
          </a:solidFill>
          <a:ln w="31750">
            <a:solidFill>
              <a:schemeClr val="accent3"/>
            </a:solidFill>
            <a:prstDash val="solid"/>
          </a:ln>
        </p:spPr>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7315200" cy="685800"/>
          </a:xfrm>
          <a:prstGeom prst="rect">
            <a:avLst/>
          </a:prstGeom>
          <a:noFill/>
          <a:ln/>
        </p:spPr>
        <p:txBody>
          <a:bodyPr wrap="square" lIns="0" tIns="0" rIns="0" bIns="0" rtlCol="0" anchor="ctr"/>
          <a:lstStyle/>
          <a:p>
            <a:pPr algn="l" indent="0" marL="0">
              <a:buNone/>
            </a:pPr>
            <a:r>
              <a:rPr lang="en-US" sz="3600" b="1" dirty="0">
                <a:solidFill>
                  <a:schemeClr val="tx2"/>
                </a:solidFill>
              </a:rPr>
              <a:t>Our problem statement</a:t>
            </a:r>
            <a:endParaRPr lang="en-US" sz="3600" dirty="0"/>
          </a:p>
        </p:txBody>
      </p:sp>
      <p:sp>
        <p:nvSpPr>
          <p:cNvPr id="4" name="Card 27"/>
          <p:cNvSpPr/>
          <p:nvPr/>
        </p:nvSpPr>
        <p:spPr>
          <a:xfrm>
            <a:off x="457200" y="1143000"/>
            <a:ext cx="8229600" cy="868680"/>
          </a:xfrm>
          <a:prstGeom prst="roundRect">
            <a:avLst>
              <a:gd name="adj" fmla="val 8421"/>
            </a:avLst>
          </a:prstGeom>
          <a:solidFill>
            <a:schemeClr val="bg2"/>
          </a:solidFill>
          <a:ln w="12700">
            <a:solidFill>
              <a:schemeClr val="bg2"/>
            </a:solidFill>
            <a:prstDash val="solid"/>
          </a:ln>
        </p:spPr>
      </p:sp>
      <p:sp>
        <p:nvSpPr>
          <p:cNvPr id="5" name="Text 28"/>
          <p:cNvSpPr txBox="1"/>
          <p:nvPr/>
        </p:nvSpPr>
        <p:spPr>
          <a:xfrm>
            <a:off x="640080" y="1143000"/>
            <a:ext cx="7863840" cy="868680"/>
          </a:xfrm>
          <a:prstGeom prst="rect">
            <a:avLst/>
          </a:prstGeom>
          <a:noFill/>
          <a:ln/>
        </p:spPr>
        <p:txBody>
          <a:bodyPr wrap="square" lIns="0" tIns="0" rIns="0" bIns="0" rtlCol="0" anchor="ctr"/>
          <a:lstStyle/>
          <a:p>
            <a:pPr algn="l" indent="0" marL="0">
              <a:buNone/>
            </a:pPr>
            <a:r>
              <a:rPr lang="en-US" sz="1700" dirty="0">
                <a:solidFill>
                  <a:schemeClr val="tx1"/>
                </a:solidFill>
              </a:rPr>
              <a:t>Group warehouse products (SKUs) that behave alike, so managers can place them smartly and workers walk less while picking orders.</a:t>
            </a:r>
            <a:endParaRPr lang="en-US" sz="1700" dirty="0"/>
          </a:p>
        </p:txBody>
      </p:sp>
      <p:sp>
        <p:nvSpPr>
          <p:cNvPr id="6" name="Text 29"/>
          <p:cNvSpPr txBox="1"/>
          <p:nvPr/>
        </p:nvSpPr>
        <p:spPr>
          <a:xfrm>
            <a:off x="457200" y="2130552"/>
            <a:ext cx="8229600" cy="274320"/>
          </a:xfrm>
          <a:prstGeom prst="rect">
            <a:avLst/>
          </a:prstGeom>
          <a:noFill/>
          <a:ln/>
        </p:spPr>
        <p:txBody>
          <a:bodyPr wrap="square" lIns="0" tIns="0" rIns="0" bIns="0" rtlCol="0" anchor="t"/>
          <a:lstStyle/>
          <a:p>
            <a:pPr algn="l" indent="0" marL="0">
              <a:buNone/>
            </a:pPr>
            <a:r>
              <a:rPr lang="en-US" sz="1500" b="1" dirty="0">
                <a:solidFill>
                  <a:schemeClr val="tx2"/>
                </a:solidFill>
              </a:rPr>
              <a:t>We group the SKUs using four things</a:t>
            </a:r>
            <a:endParaRPr lang="en-US" sz="1500" dirty="0"/>
          </a:p>
        </p:txBody>
      </p:sp>
      <p:sp>
        <p:nvSpPr>
          <p:cNvPr id="7" name="Card 30"/>
          <p:cNvSpPr/>
          <p:nvPr/>
        </p:nvSpPr>
        <p:spPr>
          <a:xfrm>
            <a:off x="457200" y="2468880"/>
            <a:ext cx="1920240" cy="1371600"/>
          </a:xfrm>
          <a:prstGeom prst="roundRect">
            <a:avLst>
              <a:gd name="adj" fmla="val 5333"/>
            </a:avLst>
          </a:prstGeom>
          <a:solidFill>
            <a:schemeClr val="bg2"/>
          </a:solidFill>
          <a:ln w="12700">
            <a:solidFill>
              <a:schemeClr val="bg2"/>
            </a:solidFill>
            <a:prstDash val="solid"/>
          </a:ln>
        </p:spPr>
      </p:sp>
      <p:sp>
        <p:nvSpPr>
          <p:cNvPr id="8" name="Badge 31"/>
          <p:cNvSpPr/>
          <p:nvPr/>
        </p:nvSpPr>
        <p:spPr>
          <a:xfrm>
            <a:off x="594360" y="2578608"/>
            <a:ext cx="347472" cy="347472"/>
          </a:xfrm>
          <a:prstGeom prst="ellipse">
            <a:avLst/>
          </a:prstGeom>
          <a:solidFill>
            <a:schemeClr val="accent2"/>
          </a:solidFill>
          <a:ln>
            <a:solidFill>
              <a:schemeClr val="accent2"/>
            </a:solidFill>
          </a:ln>
        </p:spPr>
        <p:txBody>
          <a:bodyPr wrap="square" lIns="0" tIns="0" rIns="0" bIns="0" rtlCol="0" anchor="ctr"/>
          <a:lstStyle/>
          <a:p>
            <a:pPr algn="ctr" indent="0" marL="0">
              <a:buNone/>
            </a:pPr>
            <a:r>
              <a:rPr lang="en-US" sz="1600" b="1" dirty="0">
                <a:solidFill>
                  <a:schemeClr val="bg1"/>
                </a:solidFill>
              </a:rPr>
              <a:t>1</a:t>
            </a:r>
            <a:endParaRPr lang="en-US" sz="1600" dirty="0"/>
          </a:p>
        </p:txBody>
      </p:sp>
      <p:sp>
        <p:nvSpPr>
          <p:cNvPr id="9" name="Text 32"/>
          <p:cNvSpPr txBox="1"/>
          <p:nvPr/>
        </p:nvSpPr>
        <p:spPr>
          <a:xfrm>
            <a:off x="594360" y="2990088"/>
            <a:ext cx="1691640" cy="292608"/>
          </a:xfrm>
          <a:prstGeom prst="rect">
            <a:avLst/>
          </a:prstGeom>
          <a:noFill/>
          <a:ln/>
        </p:spPr>
        <p:txBody>
          <a:bodyPr wrap="square" lIns="0" tIns="0" rIns="0" bIns="0" rtlCol="0" anchor="t"/>
          <a:lstStyle/>
          <a:p>
            <a:pPr algn="l" indent="0" marL="0">
              <a:buNone/>
            </a:pPr>
            <a:r>
              <a:rPr lang="en-US" sz="1500" b="1" dirty="0">
                <a:solidFill>
                  <a:schemeClr val="tx2"/>
                </a:solidFill>
              </a:rPr>
              <a:t>Pick frequency</a:t>
            </a:r>
            <a:endParaRPr lang="en-US" sz="1500" dirty="0"/>
          </a:p>
        </p:txBody>
      </p:sp>
      <p:sp>
        <p:nvSpPr>
          <p:cNvPr id="10" name="Text 33"/>
          <p:cNvSpPr txBox="1"/>
          <p:nvPr/>
        </p:nvSpPr>
        <p:spPr>
          <a:xfrm>
            <a:off x="594360" y="3291840"/>
            <a:ext cx="1691640" cy="502920"/>
          </a:xfrm>
          <a:prstGeom prst="rect">
            <a:avLst/>
          </a:prstGeom>
          <a:noFill/>
          <a:ln/>
        </p:spPr>
        <p:txBody>
          <a:bodyPr wrap="square" lIns="0" tIns="0" rIns="0" bIns="0" rtlCol="0" anchor="t"/>
          <a:lstStyle/>
          <a:p>
            <a:pPr algn="l" indent="0" marL="0">
              <a:buNone/>
            </a:pPr>
            <a:r>
              <a:rPr lang="en-US" sz="1400" dirty="0">
                <a:solidFill>
                  <a:schemeClr val="tx1"/>
                </a:solidFill>
              </a:rPr>
              <a:t>How often it is picked for orders</a:t>
            </a:r>
            <a:endParaRPr lang="en-US" sz="1400" dirty="0"/>
          </a:p>
        </p:txBody>
      </p:sp>
      <p:sp>
        <p:nvSpPr>
          <p:cNvPr id="11" name="Card 34"/>
          <p:cNvSpPr/>
          <p:nvPr/>
        </p:nvSpPr>
        <p:spPr>
          <a:xfrm>
            <a:off x="2560320" y="2468880"/>
            <a:ext cx="1920240" cy="1371600"/>
          </a:xfrm>
          <a:prstGeom prst="roundRect">
            <a:avLst>
              <a:gd name="adj" fmla="val 5333"/>
            </a:avLst>
          </a:prstGeom>
          <a:solidFill>
            <a:schemeClr val="bg2"/>
          </a:solidFill>
          <a:ln w="12700">
            <a:solidFill>
              <a:schemeClr val="bg2"/>
            </a:solidFill>
            <a:prstDash val="solid"/>
          </a:ln>
        </p:spPr>
      </p:sp>
      <p:sp>
        <p:nvSpPr>
          <p:cNvPr id="12" name="Badge 35"/>
          <p:cNvSpPr/>
          <p:nvPr/>
        </p:nvSpPr>
        <p:spPr>
          <a:xfrm>
            <a:off x="2697480" y="2578608"/>
            <a:ext cx="347472" cy="347472"/>
          </a:xfrm>
          <a:prstGeom prst="ellipse">
            <a:avLst/>
          </a:prstGeom>
          <a:solidFill>
            <a:schemeClr val="accent3"/>
          </a:solidFill>
          <a:ln>
            <a:solidFill>
              <a:schemeClr val="accent3"/>
            </a:solidFill>
          </a:ln>
        </p:spPr>
        <p:txBody>
          <a:bodyPr wrap="square" lIns="0" tIns="0" rIns="0" bIns="0" rtlCol="0" anchor="ctr"/>
          <a:lstStyle/>
          <a:p>
            <a:pPr algn="ctr" indent="0" marL="0">
              <a:buNone/>
            </a:pPr>
            <a:r>
              <a:rPr lang="en-US" sz="1600" b="1" dirty="0">
                <a:solidFill>
                  <a:schemeClr val="bg1"/>
                </a:solidFill>
              </a:rPr>
              <a:t>2</a:t>
            </a:r>
            <a:endParaRPr lang="en-US" sz="1600" dirty="0"/>
          </a:p>
        </p:txBody>
      </p:sp>
      <p:sp>
        <p:nvSpPr>
          <p:cNvPr id="13" name="Text 36"/>
          <p:cNvSpPr txBox="1"/>
          <p:nvPr/>
        </p:nvSpPr>
        <p:spPr>
          <a:xfrm>
            <a:off x="2697480" y="2990088"/>
            <a:ext cx="1691640" cy="292608"/>
          </a:xfrm>
          <a:prstGeom prst="rect">
            <a:avLst/>
          </a:prstGeom>
          <a:noFill/>
          <a:ln/>
        </p:spPr>
        <p:txBody>
          <a:bodyPr wrap="square" lIns="0" tIns="0" rIns="0" bIns="0" rtlCol="0" anchor="t"/>
          <a:lstStyle/>
          <a:p>
            <a:pPr algn="l" indent="0" marL="0">
              <a:buNone/>
            </a:pPr>
            <a:r>
              <a:rPr lang="en-US" sz="1500" b="1" dirty="0">
                <a:solidFill>
                  <a:schemeClr val="tx2"/>
                </a:solidFill>
              </a:rPr>
              <a:t>Seasonal demand</a:t>
            </a:r>
            <a:endParaRPr lang="en-US" sz="1500" dirty="0"/>
          </a:p>
        </p:txBody>
      </p:sp>
      <p:sp>
        <p:nvSpPr>
          <p:cNvPr id="14" name="Text 37"/>
          <p:cNvSpPr txBox="1"/>
          <p:nvPr/>
        </p:nvSpPr>
        <p:spPr>
          <a:xfrm>
            <a:off x="2697480" y="3291840"/>
            <a:ext cx="1691640" cy="502920"/>
          </a:xfrm>
          <a:prstGeom prst="rect">
            <a:avLst/>
          </a:prstGeom>
          <a:noFill/>
          <a:ln/>
        </p:spPr>
        <p:txBody>
          <a:bodyPr wrap="square" lIns="0" tIns="0" rIns="0" bIns="0" rtlCol="0" anchor="t"/>
          <a:lstStyle/>
          <a:p>
            <a:pPr algn="l" indent="0" marL="0">
              <a:buNone/>
            </a:pPr>
            <a:r>
              <a:rPr lang="en-US" sz="1400" dirty="0">
                <a:solidFill>
                  <a:schemeClr val="tx1"/>
                </a:solidFill>
              </a:rPr>
              <a:t>How fast it sells in each season</a:t>
            </a:r>
            <a:endParaRPr lang="en-US" sz="1400" dirty="0"/>
          </a:p>
        </p:txBody>
      </p:sp>
      <p:sp>
        <p:nvSpPr>
          <p:cNvPr id="15" name="Card 38"/>
          <p:cNvSpPr/>
          <p:nvPr/>
        </p:nvSpPr>
        <p:spPr>
          <a:xfrm>
            <a:off x="4663440" y="2468880"/>
            <a:ext cx="1920240" cy="1371600"/>
          </a:xfrm>
          <a:prstGeom prst="roundRect">
            <a:avLst>
              <a:gd name="adj" fmla="val 5333"/>
            </a:avLst>
          </a:prstGeom>
          <a:solidFill>
            <a:schemeClr val="bg2"/>
          </a:solidFill>
          <a:ln w="12700">
            <a:solidFill>
              <a:schemeClr val="bg2"/>
            </a:solidFill>
            <a:prstDash val="solid"/>
          </a:ln>
        </p:spPr>
      </p:sp>
      <p:sp>
        <p:nvSpPr>
          <p:cNvPr id="16" name="Badge 39"/>
          <p:cNvSpPr/>
          <p:nvPr/>
        </p:nvSpPr>
        <p:spPr>
          <a:xfrm>
            <a:off x="4800600" y="2578608"/>
            <a:ext cx="347472" cy="347472"/>
          </a:xfrm>
          <a:prstGeom prst="ellipse">
            <a:avLst/>
          </a:prstGeom>
          <a:solidFill>
            <a:schemeClr val="accent5"/>
          </a:solidFill>
          <a:ln>
            <a:solidFill>
              <a:schemeClr val="accent5"/>
            </a:solidFill>
          </a:ln>
        </p:spPr>
        <p:txBody>
          <a:bodyPr wrap="square" lIns="0" tIns="0" rIns="0" bIns="0" rtlCol="0" anchor="ctr"/>
          <a:lstStyle/>
          <a:p>
            <a:pPr algn="ctr" indent="0" marL="0">
              <a:buNone/>
            </a:pPr>
            <a:r>
              <a:rPr lang="en-US" sz="1600" b="1" dirty="0">
                <a:solidFill>
                  <a:schemeClr val="bg1"/>
                </a:solidFill>
              </a:rPr>
              <a:t>3</a:t>
            </a:r>
            <a:endParaRPr lang="en-US" sz="1600" dirty="0"/>
          </a:p>
        </p:txBody>
      </p:sp>
      <p:sp>
        <p:nvSpPr>
          <p:cNvPr id="17" name="Text 40"/>
          <p:cNvSpPr txBox="1"/>
          <p:nvPr/>
        </p:nvSpPr>
        <p:spPr>
          <a:xfrm>
            <a:off x="4800600" y="2990088"/>
            <a:ext cx="1691640" cy="292608"/>
          </a:xfrm>
          <a:prstGeom prst="rect">
            <a:avLst/>
          </a:prstGeom>
          <a:noFill/>
          <a:ln/>
        </p:spPr>
        <p:txBody>
          <a:bodyPr wrap="square" lIns="0" tIns="0" rIns="0" bIns="0" rtlCol="0" anchor="t"/>
          <a:lstStyle/>
          <a:p>
            <a:pPr algn="l" indent="0" marL="0">
              <a:buNone/>
            </a:pPr>
            <a:r>
              <a:rPr lang="en-US" sz="1500" b="1" dirty="0">
                <a:solidFill>
                  <a:schemeClr val="tx2"/>
                </a:solidFill>
              </a:rPr>
              <a:t>Physical size</a:t>
            </a:r>
            <a:endParaRPr lang="en-US" sz="1500" dirty="0"/>
          </a:p>
        </p:txBody>
      </p:sp>
      <p:sp>
        <p:nvSpPr>
          <p:cNvPr id="18" name="Text 41"/>
          <p:cNvSpPr txBox="1"/>
          <p:nvPr/>
        </p:nvSpPr>
        <p:spPr>
          <a:xfrm>
            <a:off x="4800600" y="3291840"/>
            <a:ext cx="1691640" cy="502920"/>
          </a:xfrm>
          <a:prstGeom prst="rect">
            <a:avLst/>
          </a:prstGeom>
          <a:noFill/>
          <a:ln/>
        </p:spPr>
        <p:txBody>
          <a:bodyPr wrap="square" lIns="0" tIns="0" rIns="0" bIns="0" rtlCol="0" anchor="t"/>
          <a:lstStyle/>
          <a:p>
            <a:pPr algn="l" indent="0" marL="0">
              <a:buNone/>
            </a:pPr>
            <a:r>
              <a:rPr lang="en-US" sz="1400" dirty="0">
                <a:solidFill>
                  <a:schemeClr val="tx1"/>
                </a:solidFill>
              </a:rPr>
              <a:t>Length, width, height and weight</a:t>
            </a:r>
            <a:endParaRPr lang="en-US" sz="1400" dirty="0"/>
          </a:p>
        </p:txBody>
      </p:sp>
      <p:sp>
        <p:nvSpPr>
          <p:cNvPr id="19" name="Card 42"/>
          <p:cNvSpPr/>
          <p:nvPr/>
        </p:nvSpPr>
        <p:spPr>
          <a:xfrm>
            <a:off x="6766560" y="2468880"/>
            <a:ext cx="1920240" cy="1371600"/>
          </a:xfrm>
          <a:prstGeom prst="roundRect">
            <a:avLst>
              <a:gd name="adj" fmla="val 5333"/>
            </a:avLst>
          </a:prstGeom>
          <a:solidFill>
            <a:schemeClr val="bg2"/>
          </a:solidFill>
          <a:ln w="12700">
            <a:solidFill>
              <a:schemeClr val="bg2"/>
            </a:solidFill>
            <a:prstDash val="solid"/>
          </a:ln>
        </p:spPr>
      </p:sp>
      <p:sp>
        <p:nvSpPr>
          <p:cNvPr id="20" name="Badge 43"/>
          <p:cNvSpPr/>
          <p:nvPr/>
        </p:nvSpPr>
        <p:spPr>
          <a:xfrm>
            <a:off x="6903720" y="2578608"/>
            <a:ext cx="347472" cy="347472"/>
          </a:xfrm>
          <a:prstGeom prst="ellipse">
            <a:avLst/>
          </a:prstGeom>
          <a:solidFill>
            <a:schemeClr val="accent6"/>
          </a:solidFill>
          <a:ln>
            <a:solidFill>
              <a:schemeClr val="accent6"/>
            </a:solidFill>
          </a:ln>
        </p:spPr>
        <p:txBody>
          <a:bodyPr wrap="square" lIns="0" tIns="0" rIns="0" bIns="0" rtlCol="0" anchor="ctr"/>
          <a:lstStyle/>
          <a:p>
            <a:pPr algn="ctr" indent="0" marL="0">
              <a:buNone/>
            </a:pPr>
            <a:r>
              <a:rPr lang="en-US" sz="1600" b="1" dirty="0">
                <a:solidFill>
                  <a:schemeClr val="bg1"/>
                </a:solidFill>
              </a:rPr>
              <a:t>4</a:t>
            </a:r>
            <a:endParaRPr lang="en-US" sz="1600" dirty="0"/>
          </a:p>
        </p:txBody>
      </p:sp>
      <p:sp>
        <p:nvSpPr>
          <p:cNvPr id="21" name="Text 44"/>
          <p:cNvSpPr txBox="1"/>
          <p:nvPr/>
        </p:nvSpPr>
        <p:spPr>
          <a:xfrm>
            <a:off x="6903720" y="2990088"/>
            <a:ext cx="1691640" cy="292608"/>
          </a:xfrm>
          <a:prstGeom prst="rect">
            <a:avLst/>
          </a:prstGeom>
          <a:noFill/>
          <a:ln/>
        </p:spPr>
        <p:txBody>
          <a:bodyPr wrap="square" lIns="0" tIns="0" rIns="0" bIns="0" rtlCol="0" anchor="t"/>
          <a:lstStyle/>
          <a:p>
            <a:pPr algn="l" indent="0" marL="0">
              <a:buNone/>
            </a:pPr>
            <a:r>
              <a:rPr lang="en-US" sz="1500" b="1" dirty="0">
                <a:solidFill>
                  <a:schemeClr val="tx2"/>
                </a:solidFill>
              </a:rPr>
              <a:t>Handling needs</a:t>
            </a:r>
            <a:endParaRPr lang="en-US" sz="1500" dirty="0"/>
          </a:p>
        </p:txBody>
      </p:sp>
      <p:sp>
        <p:nvSpPr>
          <p:cNvPr id="22" name="Text 45"/>
          <p:cNvSpPr txBox="1"/>
          <p:nvPr/>
        </p:nvSpPr>
        <p:spPr>
          <a:xfrm>
            <a:off x="6903720" y="3291840"/>
            <a:ext cx="1691640" cy="502920"/>
          </a:xfrm>
          <a:prstGeom prst="rect">
            <a:avLst/>
          </a:prstGeom>
          <a:noFill/>
          <a:ln/>
        </p:spPr>
        <p:txBody>
          <a:bodyPr wrap="square" lIns="0" tIns="0" rIns="0" bIns="0" rtlCol="0" anchor="t"/>
          <a:lstStyle/>
          <a:p>
            <a:pPr algn="l" indent="0" marL="0">
              <a:buNone/>
            </a:pPr>
            <a:r>
              <a:rPr lang="en-US" sz="1400" dirty="0">
                <a:solidFill>
                  <a:schemeClr val="tx1"/>
                </a:solidFill>
              </a:rPr>
              <a:t>Fragile, heavy or needs special care</a:t>
            </a:r>
            <a:endParaRPr lang="en-US" sz="1400" dirty="0"/>
          </a:p>
        </p:txBody>
      </p:sp>
      <p:sp>
        <p:nvSpPr>
          <p:cNvPr id="23" name="Card 46"/>
          <p:cNvSpPr/>
          <p:nvPr/>
        </p:nvSpPr>
        <p:spPr>
          <a:xfrm>
            <a:off x="457200" y="4005072"/>
            <a:ext cx="8229600" cy="457200"/>
          </a:xfrm>
          <a:prstGeom prst="roundRect">
            <a:avLst>
              <a:gd name="adj" fmla="val 16000"/>
            </a:avLst>
          </a:prstGeom>
          <a:solidFill>
            <a:schemeClr val="accent1"/>
          </a:solidFill>
          <a:ln w="12700">
            <a:solidFill>
              <a:schemeClr val="accent1"/>
            </a:solidFill>
            <a:prstDash val="solid"/>
          </a:ln>
        </p:spPr>
      </p:sp>
      <p:sp>
        <p:nvSpPr>
          <p:cNvPr id="24" name="Text 47"/>
          <p:cNvSpPr txBox="1"/>
          <p:nvPr/>
        </p:nvSpPr>
        <p:spPr>
          <a:xfrm>
            <a:off x="640080" y="4005072"/>
            <a:ext cx="7863840" cy="457200"/>
          </a:xfrm>
          <a:prstGeom prst="rect">
            <a:avLst/>
          </a:prstGeom>
          <a:noFill/>
          <a:ln/>
        </p:spPr>
        <p:txBody>
          <a:bodyPr wrap="square" lIns="0" tIns="0" rIns="0" bIns="0" rtlCol="0" anchor="ctr"/>
          <a:lstStyle/>
          <a:p>
            <a:pPr algn="l" indent="0" marL="0">
              <a:buNone/>
            </a:pPr>
            <a:r>
              <a:rPr lang="en-US" sz="1500" b="1" dirty="0">
                <a:solidFill>
                  <a:schemeClr val="bg1"/>
                </a:solidFill>
              </a:rPr>
              <a:t>Goal: better inventory placement and less travel time during order fulfilment</a:t>
            </a:r>
            <a:endParaRPr lang="en-US" sz="1500" dirty="0"/>
          </a:p>
        </p:txBody>
      </p:sp>
      <p:sp>
        <p:nvSpPr>
          <p:cNvPr id="25" name="Slide Number Placeholder 0"/>
          <p:cNvSpPr>
            <a:spLocks noGrp="1"/>
          </p:cNvSpPr>
          <p:nvPr>
            <p:ph type="sldNum" sz="quarter" idx="4294967295"/>
          </p:nvPr>
        </p:nvSpPr>
        <p:spPr>
          <a:xfrm>
            <a:off x="8229600" y="472744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7315200" cy="685800"/>
          </a:xfrm>
          <a:prstGeom prst="rect">
            <a:avLst/>
          </a:prstGeom>
          <a:noFill/>
          <a:ln/>
        </p:spPr>
        <p:txBody>
          <a:bodyPr wrap="square" lIns="0" tIns="0" rIns="0" bIns="0" rtlCol="0" anchor="ctr"/>
          <a:lstStyle/>
          <a:p>
            <a:pPr algn="l" indent="0" marL="0">
              <a:buNone/>
            </a:pPr>
            <a:r>
              <a:rPr lang="en-US" sz="3600" b="1" dirty="0">
                <a:solidFill>
                  <a:schemeClr val="tx2"/>
                </a:solidFill>
              </a:rPr>
              <a:t>Key terms in simple words</a:t>
            </a:r>
            <a:endParaRPr lang="en-US" sz="3600" dirty="0"/>
          </a:p>
        </p:txBody>
      </p:sp>
      <p:sp>
        <p:nvSpPr>
          <p:cNvPr id="4" name="Card 48"/>
          <p:cNvSpPr/>
          <p:nvPr/>
        </p:nvSpPr>
        <p:spPr>
          <a:xfrm>
            <a:off x="457200" y="1188720"/>
            <a:ext cx="4023360" cy="1005840"/>
          </a:xfrm>
          <a:prstGeom prst="roundRect">
            <a:avLst>
              <a:gd name="adj" fmla="val 7273"/>
            </a:avLst>
          </a:prstGeom>
          <a:solidFill>
            <a:schemeClr val="bg2"/>
          </a:solidFill>
          <a:ln w="12700">
            <a:solidFill>
              <a:schemeClr val="bg2"/>
            </a:solidFill>
            <a:prstDash val="solid"/>
          </a:ln>
        </p:spPr>
      </p:sp>
      <p:sp>
        <p:nvSpPr>
          <p:cNvPr id="5" name="Dot 49"/>
          <p:cNvSpPr/>
          <p:nvPr/>
        </p:nvSpPr>
        <p:spPr>
          <a:xfrm>
            <a:off x="621792" y="1371600"/>
            <a:ext cx="164592" cy="164592"/>
          </a:xfrm>
          <a:prstGeom prst="ellipse">
            <a:avLst/>
          </a:prstGeom>
          <a:solidFill>
            <a:schemeClr val="accent2"/>
          </a:solidFill>
          <a:ln w="12700">
            <a:solidFill>
              <a:schemeClr val="accent2"/>
            </a:solidFill>
            <a:prstDash val="solid"/>
          </a:ln>
        </p:spPr>
      </p:sp>
      <p:sp>
        <p:nvSpPr>
          <p:cNvPr id="6" name="Text 50"/>
          <p:cNvSpPr txBox="1"/>
          <p:nvPr/>
        </p:nvSpPr>
        <p:spPr>
          <a:xfrm>
            <a:off x="896112" y="1280160"/>
            <a:ext cx="3474720" cy="329184"/>
          </a:xfrm>
          <a:prstGeom prst="rect">
            <a:avLst/>
          </a:prstGeom>
          <a:noFill/>
          <a:ln/>
        </p:spPr>
        <p:txBody>
          <a:bodyPr wrap="square" lIns="0" tIns="0" rIns="0" bIns="0" rtlCol="0" anchor="ctr"/>
          <a:lstStyle/>
          <a:p>
            <a:pPr algn="l" indent="0" marL="0">
              <a:buNone/>
            </a:pPr>
            <a:r>
              <a:rPr lang="en-US" sz="1600" b="1" dirty="0">
                <a:solidFill>
                  <a:schemeClr val="tx2"/>
                </a:solidFill>
              </a:rPr>
              <a:t>SKU</a:t>
            </a:r>
            <a:endParaRPr lang="en-US" sz="1600" dirty="0"/>
          </a:p>
        </p:txBody>
      </p:sp>
      <p:sp>
        <p:nvSpPr>
          <p:cNvPr id="7" name="Text 51"/>
          <p:cNvSpPr txBox="1"/>
          <p:nvPr/>
        </p:nvSpPr>
        <p:spPr>
          <a:xfrm>
            <a:off x="621792" y="1645920"/>
            <a:ext cx="3703320" cy="502920"/>
          </a:xfrm>
          <a:prstGeom prst="rect">
            <a:avLst/>
          </a:prstGeom>
          <a:noFill/>
          <a:ln/>
        </p:spPr>
        <p:txBody>
          <a:bodyPr wrap="square" lIns="0" tIns="0" rIns="0" bIns="0" rtlCol="0" anchor="t"/>
          <a:lstStyle/>
          <a:p>
            <a:pPr algn="l" indent="0" marL="0">
              <a:buNone/>
            </a:pPr>
            <a:r>
              <a:rPr lang="en-US" sz="1400" dirty="0">
                <a:solidFill>
                  <a:schemeClr val="tx1"/>
                </a:solidFill>
              </a:rPr>
              <a:t>Stock Keeping Unit: one unique product type stored in the warehouse.</a:t>
            </a:r>
            <a:endParaRPr lang="en-US" sz="1400" dirty="0"/>
          </a:p>
        </p:txBody>
      </p:sp>
      <p:sp>
        <p:nvSpPr>
          <p:cNvPr id="8" name="Card 52"/>
          <p:cNvSpPr/>
          <p:nvPr/>
        </p:nvSpPr>
        <p:spPr>
          <a:xfrm>
            <a:off x="457200" y="2331720"/>
            <a:ext cx="4023360" cy="1005840"/>
          </a:xfrm>
          <a:prstGeom prst="roundRect">
            <a:avLst>
              <a:gd name="adj" fmla="val 7273"/>
            </a:avLst>
          </a:prstGeom>
          <a:solidFill>
            <a:schemeClr val="bg2"/>
          </a:solidFill>
          <a:ln w="12700">
            <a:solidFill>
              <a:schemeClr val="bg2"/>
            </a:solidFill>
            <a:prstDash val="solid"/>
          </a:ln>
        </p:spPr>
      </p:sp>
      <p:sp>
        <p:nvSpPr>
          <p:cNvPr id="9" name="Dot 53"/>
          <p:cNvSpPr/>
          <p:nvPr/>
        </p:nvSpPr>
        <p:spPr>
          <a:xfrm>
            <a:off x="621792" y="2514600"/>
            <a:ext cx="164592" cy="164592"/>
          </a:xfrm>
          <a:prstGeom prst="ellipse">
            <a:avLst/>
          </a:prstGeom>
          <a:solidFill>
            <a:schemeClr val="accent2"/>
          </a:solidFill>
          <a:ln w="12700">
            <a:solidFill>
              <a:schemeClr val="accent2"/>
            </a:solidFill>
            <a:prstDash val="solid"/>
          </a:ln>
        </p:spPr>
      </p:sp>
      <p:sp>
        <p:nvSpPr>
          <p:cNvPr id="10" name="Text 54"/>
          <p:cNvSpPr txBox="1"/>
          <p:nvPr/>
        </p:nvSpPr>
        <p:spPr>
          <a:xfrm>
            <a:off x="896112" y="2423160"/>
            <a:ext cx="3474720" cy="329184"/>
          </a:xfrm>
          <a:prstGeom prst="rect">
            <a:avLst/>
          </a:prstGeom>
          <a:noFill/>
          <a:ln/>
        </p:spPr>
        <p:txBody>
          <a:bodyPr wrap="square" lIns="0" tIns="0" rIns="0" bIns="0" rtlCol="0" anchor="ctr"/>
          <a:lstStyle/>
          <a:p>
            <a:pPr algn="l" indent="0" marL="0">
              <a:buNone/>
            </a:pPr>
            <a:r>
              <a:rPr lang="en-US" sz="1600" b="1" dirty="0">
                <a:solidFill>
                  <a:schemeClr val="tx2"/>
                </a:solidFill>
              </a:rPr>
              <a:t>Pick frequency</a:t>
            </a:r>
            <a:endParaRPr lang="en-US" sz="1600" dirty="0"/>
          </a:p>
        </p:txBody>
      </p:sp>
      <p:sp>
        <p:nvSpPr>
          <p:cNvPr id="11" name="Text 55"/>
          <p:cNvSpPr txBox="1"/>
          <p:nvPr/>
        </p:nvSpPr>
        <p:spPr>
          <a:xfrm>
            <a:off x="621792" y="2788920"/>
            <a:ext cx="3703320" cy="502920"/>
          </a:xfrm>
          <a:prstGeom prst="rect">
            <a:avLst/>
          </a:prstGeom>
          <a:noFill/>
          <a:ln/>
        </p:spPr>
        <p:txBody>
          <a:bodyPr wrap="square" lIns="0" tIns="0" rIns="0" bIns="0" rtlCol="0" anchor="t"/>
          <a:lstStyle/>
          <a:p>
            <a:pPr algn="l" indent="0" marL="0">
              <a:buNone/>
            </a:pPr>
            <a:r>
              <a:rPr lang="en-US" sz="1400" dirty="0">
                <a:solidFill>
                  <a:schemeClr val="tx1"/>
                </a:solidFill>
              </a:rPr>
              <a:t>How many times a product is taken from the shelf to fill orders.</a:t>
            </a:r>
            <a:endParaRPr lang="en-US" sz="1400" dirty="0"/>
          </a:p>
        </p:txBody>
      </p:sp>
      <p:sp>
        <p:nvSpPr>
          <p:cNvPr id="12" name="Card 56"/>
          <p:cNvSpPr/>
          <p:nvPr/>
        </p:nvSpPr>
        <p:spPr>
          <a:xfrm>
            <a:off x="457200" y="3474720"/>
            <a:ext cx="4023360" cy="1005840"/>
          </a:xfrm>
          <a:prstGeom prst="roundRect">
            <a:avLst>
              <a:gd name="adj" fmla="val 7273"/>
            </a:avLst>
          </a:prstGeom>
          <a:solidFill>
            <a:schemeClr val="bg2"/>
          </a:solidFill>
          <a:ln w="12700">
            <a:solidFill>
              <a:schemeClr val="bg2"/>
            </a:solidFill>
            <a:prstDash val="solid"/>
          </a:ln>
        </p:spPr>
      </p:sp>
      <p:sp>
        <p:nvSpPr>
          <p:cNvPr id="13" name="Dot 57"/>
          <p:cNvSpPr/>
          <p:nvPr/>
        </p:nvSpPr>
        <p:spPr>
          <a:xfrm>
            <a:off x="621792" y="3657600"/>
            <a:ext cx="164592" cy="164592"/>
          </a:xfrm>
          <a:prstGeom prst="ellipse">
            <a:avLst/>
          </a:prstGeom>
          <a:solidFill>
            <a:schemeClr val="accent2"/>
          </a:solidFill>
          <a:ln w="12700">
            <a:solidFill>
              <a:schemeClr val="accent2"/>
            </a:solidFill>
            <a:prstDash val="solid"/>
          </a:ln>
        </p:spPr>
      </p:sp>
      <p:sp>
        <p:nvSpPr>
          <p:cNvPr id="14" name="Text 58"/>
          <p:cNvSpPr txBox="1"/>
          <p:nvPr/>
        </p:nvSpPr>
        <p:spPr>
          <a:xfrm>
            <a:off x="896112" y="3566160"/>
            <a:ext cx="3474720" cy="329184"/>
          </a:xfrm>
          <a:prstGeom prst="rect">
            <a:avLst/>
          </a:prstGeom>
          <a:noFill/>
          <a:ln/>
        </p:spPr>
        <p:txBody>
          <a:bodyPr wrap="square" lIns="0" tIns="0" rIns="0" bIns="0" rtlCol="0" anchor="ctr"/>
          <a:lstStyle/>
          <a:p>
            <a:pPr algn="l" indent="0" marL="0">
              <a:buNone/>
            </a:pPr>
            <a:r>
              <a:rPr lang="en-US" sz="1600" b="1" dirty="0">
                <a:solidFill>
                  <a:schemeClr val="tx2"/>
                </a:solidFill>
              </a:rPr>
              <a:t>Seasonal demand velocity</a:t>
            </a:r>
            <a:endParaRPr lang="en-US" sz="1600" dirty="0"/>
          </a:p>
        </p:txBody>
      </p:sp>
      <p:sp>
        <p:nvSpPr>
          <p:cNvPr id="15" name="Text 59"/>
          <p:cNvSpPr txBox="1"/>
          <p:nvPr/>
        </p:nvSpPr>
        <p:spPr>
          <a:xfrm>
            <a:off x="621792" y="3931920"/>
            <a:ext cx="3703320" cy="502920"/>
          </a:xfrm>
          <a:prstGeom prst="rect">
            <a:avLst/>
          </a:prstGeom>
          <a:noFill/>
          <a:ln/>
        </p:spPr>
        <p:txBody>
          <a:bodyPr wrap="square" lIns="0" tIns="0" rIns="0" bIns="0" rtlCol="0" anchor="t"/>
          <a:lstStyle/>
          <a:p>
            <a:pPr algn="l" indent="0" marL="0">
              <a:buNone/>
            </a:pPr>
            <a:r>
              <a:rPr lang="en-US" sz="1400" dirty="0">
                <a:solidFill>
                  <a:schemeClr val="tx1"/>
                </a:solidFill>
              </a:rPr>
              <a:t>How fast a product sells in a season. Example: umbrellas in the monsoon.</a:t>
            </a:r>
            <a:endParaRPr lang="en-US" sz="1400" dirty="0"/>
          </a:p>
        </p:txBody>
      </p:sp>
      <p:sp>
        <p:nvSpPr>
          <p:cNvPr id="16" name="Card 60"/>
          <p:cNvSpPr/>
          <p:nvPr/>
        </p:nvSpPr>
        <p:spPr>
          <a:xfrm>
            <a:off x="4663440" y="1188720"/>
            <a:ext cx="4023360" cy="1005840"/>
          </a:xfrm>
          <a:prstGeom prst="roundRect">
            <a:avLst>
              <a:gd name="adj" fmla="val 7273"/>
            </a:avLst>
          </a:prstGeom>
          <a:solidFill>
            <a:schemeClr val="bg2"/>
          </a:solidFill>
          <a:ln w="12700">
            <a:solidFill>
              <a:schemeClr val="bg2"/>
            </a:solidFill>
            <a:prstDash val="solid"/>
          </a:ln>
        </p:spPr>
      </p:sp>
      <p:sp>
        <p:nvSpPr>
          <p:cNvPr id="17" name="Dot 61"/>
          <p:cNvSpPr/>
          <p:nvPr/>
        </p:nvSpPr>
        <p:spPr>
          <a:xfrm>
            <a:off x="4828032" y="1371600"/>
            <a:ext cx="164592" cy="164592"/>
          </a:xfrm>
          <a:prstGeom prst="ellipse">
            <a:avLst/>
          </a:prstGeom>
          <a:solidFill>
            <a:schemeClr val="accent3"/>
          </a:solidFill>
          <a:ln w="12700">
            <a:solidFill>
              <a:schemeClr val="accent3"/>
            </a:solidFill>
            <a:prstDash val="solid"/>
          </a:ln>
        </p:spPr>
      </p:sp>
      <p:sp>
        <p:nvSpPr>
          <p:cNvPr id="18" name="Text 62"/>
          <p:cNvSpPr txBox="1"/>
          <p:nvPr/>
        </p:nvSpPr>
        <p:spPr>
          <a:xfrm>
            <a:off x="5102352" y="1280160"/>
            <a:ext cx="3474720" cy="329184"/>
          </a:xfrm>
          <a:prstGeom prst="rect">
            <a:avLst/>
          </a:prstGeom>
          <a:noFill/>
          <a:ln/>
        </p:spPr>
        <p:txBody>
          <a:bodyPr wrap="square" lIns="0" tIns="0" rIns="0" bIns="0" rtlCol="0" anchor="ctr"/>
          <a:lstStyle/>
          <a:p>
            <a:pPr algn="l" indent="0" marL="0">
              <a:buNone/>
            </a:pPr>
            <a:r>
              <a:rPr lang="en-US" sz="1600" b="1" dirty="0">
                <a:solidFill>
                  <a:schemeClr val="tx2"/>
                </a:solidFill>
              </a:rPr>
              <a:t>Clustering</a:t>
            </a:r>
            <a:endParaRPr lang="en-US" sz="1600" dirty="0"/>
          </a:p>
        </p:txBody>
      </p:sp>
      <p:sp>
        <p:nvSpPr>
          <p:cNvPr id="19" name="Text 63"/>
          <p:cNvSpPr txBox="1"/>
          <p:nvPr/>
        </p:nvSpPr>
        <p:spPr>
          <a:xfrm>
            <a:off x="4828032" y="1645920"/>
            <a:ext cx="3703320" cy="502920"/>
          </a:xfrm>
          <a:prstGeom prst="rect">
            <a:avLst/>
          </a:prstGeom>
          <a:noFill/>
          <a:ln/>
        </p:spPr>
        <p:txBody>
          <a:bodyPr wrap="square" lIns="0" tIns="0" rIns="0" bIns="0" rtlCol="0" anchor="t"/>
          <a:lstStyle/>
          <a:p>
            <a:pPr algn="l" indent="0" marL="0">
              <a:buNone/>
            </a:pPr>
            <a:r>
              <a:rPr lang="en-US" sz="1400" dirty="0">
                <a:solidFill>
                  <a:schemeClr val="tx1"/>
                </a:solidFill>
              </a:rPr>
              <a:t>Dividing data into groups where items in a group are very similar.</a:t>
            </a:r>
            <a:endParaRPr lang="en-US" sz="1400" dirty="0"/>
          </a:p>
        </p:txBody>
      </p:sp>
      <p:sp>
        <p:nvSpPr>
          <p:cNvPr id="20" name="Card 64"/>
          <p:cNvSpPr/>
          <p:nvPr/>
        </p:nvSpPr>
        <p:spPr>
          <a:xfrm>
            <a:off x="4663440" y="2331720"/>
            <a:ext cx="4023360" cy="1005840"/>
          </a:xfrm>
          <a:prstGeom prst="roundRect">
            <a:avLst>
              <a:gd name="adj" fmla="val 7273"/>
            </a:avLst>
          </a:prstGeom>
          <a:solidFill>
            <a:schemeClr val="bg2"/>
          </a:solidFill>
          <a:ln w="12700">
            <a:solidFill>
              <a:schemeClr val="bg2"/>
            </a:solidFill>
            <a:prstDash val="solid"/>
          </a:ln>
        </p:spPr>
      </p:sp>
      <p:sp>
        <p:nvSpPr>
          <p:cNvPr id="21" name="Dot 65"/>
          <p:cNvSpPr/>
          <p:nvPr/>
        </p:nvSpPr>
        <p:spPr>
          <a:xfrm>
            <a:off x="4828032" y="2514600"/>
            <a:ext cx="164592" cy="164592"/>
          </a:xfrm>
          <a:prstGeom prst="ellipse">
            <a:avLst/>
          </a:prstGeom>
          <a:solidFill>
            <a:schemeClr val="accent3"/>
          </a:solidFill>
          <a:ln w="12700">
            <a:solidFill>
              <a:schemeClr val="accent3"/>
            </a:solidFill>
            <a:prstDash val="solid"/>
          </a:ln>
        </p:spPr>
      </p:sp>
      <p:sp>
        <p:nvSpPr>
          <p:cNvPr id="22" name="Text 66"/>
          <p:cNvSpPr txBox="1"/>
          <p:nvPr/>
        </p:nvSpPr>
        <p:spPr>
          <a:xfrm>
            <a:off x="5102352" y="2423160"/>
            <a:ext cx="3474720" cy="329184"/>
          </a:xfrm>
          <a:prstGeom prst="rect">
            <a:avLst/>
          </a:prstGeom>
          <a:noFill/>
          <a:ln/>
        </p:spPr>
        <p:txBody>
          <a:bodyPr wrap="square" lIns="0" tIns="0" rIns="0" bIns="0" rtlCol="0" anchor="ctr"/>
          <a:lstStyle/>
          <a:p>
            <a:pPr algn="l" indent="0" marL="0">
              <a:buNone/>
            </a:pPr>
            <a:r>
              <a:rPr lang="en-US" sz="1600" b="1" dirty="0">
                <a:solidFill>
                  <a:schemeClr val="tx2"/>
                </a:solidFill>
              </a:rPr>
              <a:t>Centroid</a:t>
            </a:r>
            <a:endParaRPr lang="en-US" sz="1600" dirty="0"/>
          </a:p>
        </p:txBody>
      </p:sp>
      <p:sp>
        <p:nvSpPr>
          <p:cNvPr id="23" name="Text 67"/>
          <p:cNvSpPr txBox="1"/>
          <p:nvPr/>
        </p:nvSpPr>
        <p:spPr>
          <a:xfrm>
            <a:off x="4828032" y="2788920"/>
            <a:ext cx="3703320" cy="502920"/>
          </a:xfrm>
          <a:prstGeom prst="rect">
            <a:avLst/>
          </a:prstGeom>
          <a:noFill/>
          <a:ln/>
        </p:spPr>
        <p:txBody>
          <a:bodyPr wrap="square" lIns="0" tIns="0" rIns="0" bIns="0" rtlCol="0" anchor="t"/>
          <a:lstStyle/>
          <a:p>
            <a:pPr algn="l" indent="0" marL="0">
              <a:buNone/>
            </a:pPr>
            <a:r>
              <a:rPr lang="en-US" sz="1400" dirty="0">
                <a:solidFill>
                  <a:schemeClr val="tx1"/>
                </a:solidFill>
              </a:rPr>
              <a:t>The centre (mean point) of a cluster. Each cluster has one.</a:t>
            </a:r>
            <a:endParaRPr lang="en-US" sz="1400" dirty="0"/>
          </a:p>
        </p:txBody>
      </p:sp>
      <p:sp>
        <p:nvSpPr>
          <p:cNvPr id="24" name="Card 68"/>
          <p:cNvSpPr/>
          <p:nvPr/>
        </p:nvSpPr>
        <p:spPr>
          <a:xfrm>
            <a:off x="4663440" y="3474720"/>
            <a:ext cx="4023360" cy="1005840"/>
          </a:xfrm>
          <a:prstGeom prst="roundRect">
            <a:avLst>
              <a:gd name="adj" fmla="val 7273"/>
            </a:avLst>
          </a:prstGeom>
          <a:solidFill>
            <a:schemeClr val="bg2"/>
          </a:solidFill>
          <a:ln w="12700">
            <a:solidFill>
              <a:schemeClr val="bg2"/>
            </a:solidFill>
            <a:prstDash val="solid"/>
          </a:ln>
        </p:spPr>
      </p:sp>
      <p:sp>
        <p:nvSpPr>
          <p:cNvPr id="25" name="Dot 69"/>
          <p:cNvSpPr/>
          <p:nvPr/>
        </p:nvSpPr>
        <p:spPr>
          <a:xfrm>
            <a:off x="4828032" y="3657600"/>
            <a:ext cx="164592" cy="164592"/>
          </a:xfrm>
          <a:prstGeom prst="ellipse">
            <a:avLst/>
          </a:prstGeom>
          <a:solidFill>
            <a:schemeClr val="accent3"/>
          </a:solidFill>
          <a:ln w="12700">
            <a:solidFill>
              <a:schemeClr val="accent3"/>
            </a:solidFill>
            <a:prstDash val="solid"/>
          </a:ln>
        </p:spPr>
      </p:sp>
      <p:sp>
        <p:nvSpPr>
          <p:cNvPr id="26" name="Text 70"/>
          <p:cNvSpPr txBox="1"/>
          <p:nvPr/>
        </p:nvSpPr>
        <p:spPr>
          <a:xfrm>
            <a:off x="5102352" y="3566160"/>
            <a:ext cx="3474720" cy="329184"/>
          </a:xfrm>
          <a:prstGeom prst="rect">
            <a:avLst/>
          </a:prstGeom>
          <a:noFill/>
          <a:ln/>
        </p:spPr>
        <p:txBody>
          <a:bodyPr wrap="square" lIns="0" tIns="0" rIns="0" bIns="0" rtlCol="0" anchor="ctr"/>
          <a:lstStyle/>
          <a:p>
            <a:pPr algn="l" indent="0" marL="0">
              <a:buNone/>
            </a:pPr>
            <a:r>
              <a:rPr lang="en-US" sz="1600" b="1" dirty="0">
                <a:solidFill>
                  <a:schemeClr val="tx2"/>
                </a:solidFill>
              </a:rPr>
              <a:t>Unsupervised learning</a:t>
            </a:r>
            <a:endParaRPr lang="en-US" sz="1600" dirty="0"/>
          </a:p>
        </p:txBody>
      </p:sp>
      <p:sp>
        <p:nvSpPr>
          <p:cNvPr id="27" name="Text 71"/>
          <p:cNvSpPr txBox="1"/>
          <p:nvPr/>
        </p:nvSpPr>
        <p:spPr>
          <a:xfrm>
            <a:off x="4828032" y="3931920"/>
            <a:ext cx="3703320" cy="502920"/>
          </a:xfrm>
          <a:prstGeom prst="rect">
            <a:avLst/>
          </a:prstGeom>
          <a:noFill/>
          <a:ln/>
        </p:spPr>
        <p:txBody>
          <a:bodyPr wrap="square" lIns="0" tIns="0" rIns="0" bIns="0" rtlCol="0" anchor="t"/>
          <a:lstStyle/>
          <a:p>
            <a:pPr algn="l" indent="0" marL="0">
              <a:buNone/>
            </a:pPr>
            <a:r>
              <a:rPr lang="en-US" sz="1400" dirty="0">
                <a:solidFill>
                  <a:schemeClr val="tx1"/>
                </a:solidFill>
              </a:rPr>
              <a:t>Learning from data that has no labels. The algorithm finds the groups itself.</a:t>
            </a:r>
            <a:endParaRPr lang="en-US" sz="1400" dirty="0"/>
          </a:p>
        </p:txBody>
      </p:sp>
      <p:sp>
        <p:nvSpPr>
          <p:cNvPr id="25" name="Slide Number Placeholder 0"/>
          <p:cNvSpPr>
            <a:spLocks noGrp="1"/>
          </p:cNvSpPr>
          <p:nvPr>
            <p:ph type="sldNum" sz="quarter" idx="4294967295"/>
          </p:nvPr>
        </p:nvSpPr>
        <p:spPr>
          <a:xfrm>
            <a:off x="8229600" y="472744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7315200" cy="685800"/>
          </a:xfrm>
          <a:prstGeom prst="rect">
            <a:avLst/>
          </a:prstGeom>
          <a:noFill/>
          <a:ln/>
        </p:spPr>
        <p:txBody>
          <a:bodyPr wrap="square" lIns="0" tIns="0" rIns="0" bIns="0" rtlCol="0" anchor="ctr"/>
          <a:lstStyle/>
          <a:p>
            <a:pPr algn="l" indent="0" marL="0">
              <a:buNone/>
            </a:pPr>
            <a:r>
              <a:rPr lang="en-US" sz="3600" b="1" dirty="0">
                <a:solidFill>
                  <a:schemeClr val="tx2"/>
                </a:solidFill>
              </a:rPr>
              <a:t>Unit 3 solutions we reviewed</a:t>
            </a:r>
            <a:endParaRPr lang="en-US" sz="3600" dirty="0"/>
          </a:p>
        </p:txBody>
      </p:sp>
      <p:sp>
        <p:nvSpPr>
          <p:cNvPr id="4" name="Card 72"/>
          <p:cNvSpPr/>
          <p:nvPr/>
        </p:nvSpPr>
        <p:spPr>
          <a:xfrm>
            <a:off x="457200" y="1188720"/>
            <a:ext cx="1920240" cy="2926080"/>
          </a:xfrm>
          <a:prstGeom prst="roundRect">
            <a:avLst>
              <a:gd name="adj" fmla="val 3810"/>
            </a:avLst>
          </a:prstGeom>
          <a:solidFill>
            <a:schemeClr val="accent1"/>
          </a:solidFill>
          <a:ln w="12700">
            <a:solidFill>
              <a:schemeClr val="accent1"/>
            </a:solidFill>
            <a:prstDash val="solid"/>
          </a:ln>
        </p:spPr>
      </p:sp>
      <p:sp>
        <p:nvSpPr>
          <p:cNvPr id="5" name="Text 73"/>
          <p:cNvSpPr txBox="1"/>
          <p:nvPr/>
        </p:nvSpPr>
        <p:spPr>
          <a:xfrm>
            <a:off x="594360" y="1325880"/>
            <a:ext cx="1645920" cy="274320"/>
          </a:xfrm>
          <a:prstGeom prst="rect">
            <a:avLst/>
          </a:prstGeom>
          <a:noFill/>
          <a:ln/>
        </p:spPr>
        <p:txBody>
          <a:bodyPr wrap="square" lIns="0" tIns="0" rIns="0" bIns="0" rtlCol="0" anchor="t"/>
          <a:lstStyle/>
          <a:p>
            <a:pPr algn="l" indent="0" marL="0">
              <a:buNone/>
            </a:pPr>
            <a:r>
              <a:rPr lang="en-US" sz="1100" b="1" dirty="0">
                <a:solidFill>
                  <a:schemeClr val="accent4"/>
                </a:solidFill>
              </a:rPr>
              <a:t>Centroid-based</a:t>
            </a:r>
            <a:endParaRPr lang="en-US" sz="1100" dirty="0"/>
          </a:p>
        </p:txBody>
      </p:sp>
      <p:sp>
        <p:nvSpPr>
          <p:cNvPr id="6" name="Text 74"/>
          <p:cNvSpPr txBox="1"/>
          <p:nvPr/>
        </p:nvSpPr>
        <p:spPr>
          <a:xfrm>
            <a:off x="594360" y="1627632"/>
            <a:ext cx="1645920" cy="640080"/>
          </a:xfrm>
          <a:prstGeom prst="rect">
            <a:avLst/>
          </a:prstGeom>
          <a:noFill/>
          <a:ln/>
        </p:spPr>
        <p:txBody>
          <a:bodyPr wrap="square" lIns="0" tIns="0" rIns="0" bIns="0" rtlCol="0" anchor="t"/>
          <a:lstStyle/>
          <a:p>
            <a:pPr algn="l" indent="0" marL="0">
              <a:buNone/>
            </a:pPr>
            <a:r>
              <a:rPr lang="en-US" sz="1700" b="1" dirty="0">
                <a:solidFill>
                  <a:schemeClr val="bg1"/>
                </a:solidFill>
              </a:rPr>
              <a:t>K-Means clustering</a:t>
            </a:r>
            <a:endParaRPr lang="en-US" sz="1700" dirty="0"/>
          </a:p>
        </p:txBody>
      </p:sp>
      <p:sp>
        <p:nvSpPr>
          <p:cNvPr id="7" name="Text 75"/>
          <p:cNvSpPr txBox="1"/>
          <p:nvPr/>
        </p:nvSpPr>
        <p:spPr>
          <a:xfrm>
            <a:off x="594360" y="2331720"/>
            <a:ext cx="1645920" cy="1188720"/>
          </a:xfrm>
          <a:prstGeom prst="rect">
            <a:avLst/>
          </a:prstGeom>
          <a:noFill/>
          <a:ln/>
        </p:spPr>
        <p:txBody>
          <a:bodyPr wrap="square" lIns="0" tIns="0" rIns="0" bIns="0" rtlCol="0" anchor="t"/>
          <a:lstStyle/>
          <a:p>
            <a:pPr algn="l" indent="0" marL="0">
              <a:buNone/>
            </a:pPr>
            <a:r>
              <a:rPr lang="en-US" sz="1400" dirty="0">
                <a:solidFill>
                  <a:schemeClr val="bg1"/>
                </a:solidFill>
              </a:rPr>
              <a:t>Splits data into k groups. Each item joins the nearest centre.</a:t>
            </a:r>
            <a:endParaRPr lang="en-US" sz="1400" dirty="0"/>
          </a:p>
        </p:txBody>
      </p:sp>
      <p:sp>
        <p:nvSpPr>
          <p:cNvPr id="8" name="Pill 76"/>
          <p:cNvSpPr/>
          <p:nvPr/>
        </p:nvSpPr>
        <p:spPr>
          <a:xfrm>
            <a:off x="594360" y="3611880"/>
            <a:ext cx="1188720" cy="329184"/>
          </a:xfrm>
          <a:prstGeom prst="roundRect">
            <a:avLst>
              <a:gd name="adj" fmla="val 41667"/>
            </a:avLst>
          </a:prstGeom>
          <a:solidFill>
            <a:schemeClr val="accent2"/>
          </a:solidFill>
          <a:ln>
            <a:solidFill>
              <a:schemeClr val="accent2"/>
            </a:solidFill>
          </a:ln>
        </p:spPr>
        <p:txBody>
          <a:bodyPr wrap="square" lIns="0" tIns="0" rIns="0" bIns="0" rtlCol="0" anchor="ctr"/>
          <a:lstStyle/>
          <a:p>
            <a:pPr algn="ctr" indent="0" marL="0">
              <a:buNone/>
            </a:pPr>
            <a:r>
              <a:rPr lang="en-US" sz="1300" b="1" dirty="0">
                <a:solidFill>
                  <a:schemeClr val="tx1"/>
                </a:solidFill>
              </a:rPr>
              <a:t>Our choice</a:t>
            </a:r>
            <a:endParaRPr lang="en-US" sz="1300" dirty="0"/>
          </a:p>
        </p:txBody>
      </p:sp>
      <p:sp>
        <p:nvSpPr>
          <p:cNvPr id="9" name="Card 77"/>
          <p:cNvSpPr/>
          <p:nvPr/>
        </p:nvSpPr>
        <p:spPr>
          <a:xfrm>
            <a:off x="2560320" y="1188720"/>
            <a:ext cx="1920240" cy="2926080"/>
          </a:xfrm>
          <a:prstGeom prst="roundRect">
            <a:avLst>
              <a:gd name="adj" fmla="val 3810"/>
            </a:avLst>
          </a:prstGeom>
          <a:solidFill>
            <a:schemeClr val="bg2"/>
          </a:solidFill>
          <a:ln w="12700">
            <a:solidFill>
              <a:schemeClr val="bg2"/>
            </a:solidFill>
            <a:prstDash val="solid"/>
          </a:ln>
        </p:spPr>
      </p:sp>
      <p:sp>
        <p:nvSpPr>
          <p:cNvPr id="10" name="Text 78"/>
          <p:cNvSpPr txBox="1"/>
          <p:nvPr/>
        </p:nvSpPr>
        <p:spPr>
          <a:xfrm>
            <a:off x="2697480" y="1325880"/>
            <a:ext cx="1645920" cy="274320"/>
          </a:xfrm>
          <a:prstGeom prst="rect">
            <a:avLst/>
          </a:prstGeom>
          <a:noFill/>
          <a:ln/>
        </p:spPr>
        <p:txBody>
          <a:bodyPr wrap="square" lIns="0" tIns="0" rIns="0" bIns="0" rtlCol="0" anchor="t"/>
          <a:lstStyle/>
          <a:p>
            <a:pPr algn="l" indent="0" marL="0">
              <a:buNone/>
            </a:pPr>
            <a:r>
              <a:rPr lang="en-US" sz="1100" b="1" dirty="0">
                <a:solidFill>
                  <a:schemeClr val="accent5"/>
                </a:solidFill>
              </a:rPr>
              <a:t>Distribution-based</a:t>
            </a:r>
            <a:endParaRPr lang="en-US" sz="1100" dirty="0"/>
          </a:p>
        </p:txBody>
      </p:sp>
      <p:sp>
        <p:nvSpPr>
          <p:cNvPr id="11" name="Text 79"/>
          <p:cNvSpPr txBox="1"/>
          <p:nvPr/>
        </p:nvSpPr>
        <p:spPr>
          <a:xfrm>
            <a:off x="2697480" y="1627632"/>
            <a:ext cx="1645920" cy="640080"/>
          </a:xfrm>
          <a:prstGeom prst="rect">
            <a:avLst/>
          </a:prstGeom>
          <a:noFill/>
          <a:ln/>
        </p:spPr>
        <p:txBody>
          <a:bodyPr wrap="square" lIns="0" tIns="0" rIns="0" bIns="0" rtlCol="0" anchor="t"/>
          <a:lstStyle/>
          <a:p>
            <a:pPr algn="l" indent="0" marL="0">
              <a:buNone/>
            </a:pPr>
            <a:r>
              <a:rPr lang="en-US" sz="1700" b="1" dirty="0">
                <a:solidFill>
                  <a:schemeClr val="tx2"/>
                </a:solidFill>
              </a:rPr>
              <a:t>Mixtures of Gaussians (EM)</a:t>
            </a:r>
            <a:endParaRPr lang="en-US" sz="1700" dirty="0"/>
          </a:p>
        </p:txBody>
      </p:sp>
      <p:sp>
        <p:nvSpPr>
          <p:cNvPr id="12" name="Text 80"/>
          <p:cNvSpPr txBox="1"/>
          <p:nvPr/>
        </p:nvSpPr>
        <p:spPr>
          <a:xfrm>
            <a:off x="2697480" y="2331720"/>
            <a:ext cx="1645920" cy="1188720"/>
          </a:xfrm>
          <a:prstGeom prst="rect">
            <a:avLst/>
          </a:prstGeom>
          <a:noFill/>
          <a:ln/>
        </p:spPr>
        <p:txBody>
          <a:bodyPr wrap="square" lIns="0" tIns="0" rIns="0" bIns="0" rtlCol="0" anchor="t"/>
          <a:lstStyle/>
          <a:p>
            <a:pPr algn="l" indent="0" marL="0">
              <a:buNone/>
            </a:pPr>
            <a:r>
              <a:rPr lang="en-US" sz="1400" dirty="0">
                <a:solidFill>
                  <a:schemeClr val="tx1"/>
                </a:solidFill>
              </a:rPr>
              <a:t>Soft clustering. Each item gets a probability for every group.</a:t>
            </a:r>
            <a:endParaRPr lang="en-US" sz="1400" dirty="0"/>
          </a:p>
        </p:txBody>
      </p:sp>
      <p:sp>
        <p:nvSpPr>
          <p:cNvPr id="13" name="Card 81"/>
          <p:cNvSpPr/>
          <p:nvPr/>
        </p:nvSpPr>
        <p:spPr>
          <a:xfrm>
            <a:off x="4663440" y="1188720"/>
            <a:ext cx="1920240" cy="2926080"/>
          </a:xfrm>
          <a:prstGeom prst="roundRect">
            <a:avLst>
              <a:gd name="adj" fmla="val 3810"/>
            </a:avLst>
          </a:prstGeom>
          <a:solidFill>
            <a:schemeClr val="bg2"/>
          </a:solidFill>
          <a:ln w="12700">
            <a:solidFill>
              <a:schemeClr val="bg2"/>
            </a:solidFill>
            <a:prstDash val="solid"/>
          </a:ln>
        </p:spPr>
      </p:sp>
      <p:sp>
        <p:nvSpPr>
          <p:cNvPr id="14" name="Text 82"/>
          <p:cNvSpPr txBox="1"/>
          <p:nvPr/>
        </p:nvSpPr>
        <p:spPr>
          <a:xfrm>
            <a:off x="4800600" y="1325880"/>
            <a:ext cx="1645920" cy="274320"/>
          </a:xfrm>
          <a:prstGeom prst="rect">
            <a:avLst/>
          </a:prstGeom>
          <a:noFill/>
          <a:ln/>
        </p:spPr>
        <p:txBody>
          <a:bodyPr wrap="square" lIns="0" tIns="0" rIns="0" bIns="0" rtlCol="0" anchor="t"/>
          <a:lstStyle/>
          <a:p>
            <a:pPr algn="l" indent="0" marL="0">
              <a:buNone/>
            </a:pPr>
            <a:r>
              <a:rPr lang="en-US" sz="1100" b="1" dirty="0">
                <a:solidFill>
                  <a:schemeClr val="accent5"/>
                </a:solidFill>
              </a:rPr>
              <a:t>Tree-based</a:t>
            </a:r>
            <a:endParaRPr lang="en-US" sz="1100" dirty="0"/>
          </a:p>
        </p:txBody>
      </p:sp>
      <p:sp>
        <p:nvSpPr>
          <p:cNvPr id="15" name="Text 83"/>
          <p:cNvSpPr txBox="1"/>
          <p:nvPr/>
        </p:nvSpPr>
        <p:spPr>
          <a:xfrm>
            <a:off x="4800600" y="1627632"/>
            <a:ext cx="1645920" cy="640080"/>
          </a:xfrm>
          <a:prstGeom prst="rect">
            <a:avLst/>
          </a:prstGeom>
          <a:noFill/>
          <a:ln/>
        </p:spPr>
        <p:txBody>
          <a:bodyPr wrap="square" lIns="0" tIns="0" rIns="0" bIns="0" rtlCol="0" anchor="t"/>
          <a:lstStyle/>
          <a:p>
            <a:pPr algn="l" indent="0" marL="0">
              <a:buNone/>
            </a:pPr>
            <a:r>
              <a:rPr lang="en-US" sz="1700" b="1" dirty="0">
                <a:solidFill>
                  <a:schemeClr val="tx2"/>
                </a:solidFill>
              </a:rPr>
              <a:t>Hierarchical clustering</a:t>
            </a:r>
            <a:endParaRPr lang="en-US" sz="1700" dirty="0"/>
          </a:p>
        </p:txBody>
      </p:sp>
      <p:sp>
        <p:nvSpPr>
          <p:cNvPr id="16" name="Text 84"/>
          <p:cNvSpPr txBox="1"/>
          <p:nvPr/>
        </p:nvSpPr>
        <p:spPr>
          <a:xfrm>
            <a:off x="4800600" y="2331720"/>
            <a:ext cx="1645920" cy="1188720"/>
          </a:xfrm>
          <a:prstGeom prst="rect">
            <a:avLst/>
          </a:prstGeom>
          <a:noFill/>
          <a:ln/>
        </p:spPr>
        <p:txBody>
          <a:bodyPr wrap="square" lIns="0" tIns="0" rIns="0" bIns="0" rtlCol="0" anchor="t"/>
          <a:lstStyle/>
          <a:p>
            <a:pPr algn="l" indent="0" marL="0">
              <a:buNone/>
            </a:pPr>
            <a:r>
              <a:rPr lang="en-US" sz="1400" dirty="0">
                <a:solidFill>
                  <a:schemeClr val="tx1"/>
                </a:solidFill>
              </a:rPr>
              <a:t>Builds a tree of clusters by merging or splitting step by step.</a:t>
            </a:r>
            <a:endParaRPr lang="en-US" sz="1400" dirty="0"/>
          </a:p>
        </p:txBody>
      </p:sp>
      <p:sp>
        <p:nvSpPr>
          <p:cNvPr id="17" name="Card 85"/>
          <p:cNvSpPr/>
          <p:nvPr/>
        </p:nvSpPr>
        <p:spPr>
          <a:xfrm>
            <a:off x="6766560" y="1188720"/>
            <a:ext cx="1920240" cy="2926080"/>
          </a:xfrm>
          <a:prstGeom prst="roundRect">
            <a:avLst>
              <a:gd name="adj" fmla="val 3810"/>
            </a:avLst>
          </a:prstGeom>
          <a:solidFill>
            <a:schemeClr val="bg2"/>
          </a:solidFill>
          <a:ln w="12700">
            <a:solidFill>
              <a:schemeClr val="bg2"/>
            </a:solidFill>
            <a:prstDash val="solid"/>
          </a:ln>
        </p:spPr>
      </p:sp>
      <p:sp>
        <p:nvSpPr>
          <p:cNvPr id="18" name="Text 86"/>
          <p:cNvSpPr txBox="1"/>
          <p:nvPr/>
        </p:nvSpPr>
        <p:spPr>
          <a:xfrm>
            <a:off x="6903720" y="1325880"/>
            <a:ext cx="1645920" cy="274320"/>
          </a:xfrm>
          <a:prstGeom prst="rect">
            <a:avLst/>
          </a:prstGeom>
          <a:noFill/>
          <a:ln/>
        </p:spPr>
        <p:txBody>
          <a:bodyPr wrap="square" lIns="0" tIns="0" rIns="0" bIns="0" rtlCol="0" anchor="t"/>
          <a:lstStyle/>
          <a:p>
            <a:pPr algn="l" indent="0" marL="0">
              <a:buNone/>
            </a:pPr>
            <a:r>
              <a:rPr lang="en-US" sz="1100" b="1" dirty="0">
                <a:solidFill>
                  <a:schemeClr val="accent5"/>
                </a:solidFill>
              </a:rPr>
              <a:t>Fewer features</a:t>
            </a:r>
            <a:endParaRPr lang="en-US" sz="1100" dirty="0"/>
          </a:p>
        </p:txBody>
      </p:sp>
      <p:sp>
        <p:nvSpPr>
          <p:cNvPr id="19" name="Text 87"/>
          <p:cNvSpPr txBox="1"/>
          <p:nvPr/>
        </p:nvSpPr>
        <p:spPr>
          <a:xfrm>
            <a:off x="6903720" y="1627632"/>
            <a:ext cx="1645920" cy="640080"/>
          </a:xfrm>
          <a:prstGeom prst="rect">
            <a:avLst/>
          </a:prstGeom>
          <a:noFill/>
          <a:ln/>
        </p:spPr>
        <p:txBody>
          <a:bodyPr wrap="square" lIns="0" tIns="0" rIns="0" bIns="0" rtlCol="0" anchor="t"/>
          <a:lstStyle/>
          <a:p>
            <a:pPr algn="l" indent="0" marL="0">
              <a:buNone/>
            </a:pPr>
            <a:r>
              <a:rPr lang="en-US" sz="1700" b="1" dirty="0">
                <a:solidFill>
                  <a:schemeClr val="tx2"/>
                </a:solidFill>
              </a:rPr>
              <a:t>PCA and Factor analysis</a:t>
            </a:r>
            <a:endParaRPr lang="en-US" sz="1700" dirty="0"/>
          </a:p>
        </p:txBody>
      </p:sp>
      <p:sp>
        <p:nvSpPr>
          <p:cNvPr id="20" name="Text 88"/>
          <p:cNvSpPr txBox="1"/>
          <p:nvPr/>
        </p:nvSpPr>
        <p:spPr>
          <a:xfrm>
            <a:off x="6903720" y="2331720"/>
            <a:ext cx="1645920" cy="1188720"/>
          </a:xfrm>
          <a:prstGeom prst="rect">
            <a:avLst/>
          </a:prstGeom>
          <a:noFill/>
          <a:ln/>
        </p:spPr>
        <p:txBody>
          <a:bodyPr wrap="square" lIns="0" tIns="0" rIns="0" bIns="0" rtlCol="0" anchor="t"/>
          <a:lstStyle/>
          <a:p>
            <a:pPr algn="l" indent="0" marL="0">
              <a:buNone/>
            </a:pPr>
            <a:r>
              <a:rPr lang="en-US" sz="1400" dirty="0">
                <a:solidFill>
                  <a:schemeClr val="tx1"/>
                </a:solidFill>
              </a:rPr>
              <a:t>Reduces many features to a few. It does not make groups.</a:t>
            </a:r>
            <a:endParaRPr lang="en-US" sz="1400" dirty="0"/>
          </a:p>
        </p:txBody>
      </p:sp>
      <p:sp>
        <p:nvSpPr>
          <p:cNvPr id="21" name="Text 89"/>
          <p:cNvSpPr txBox="1"/>
          <p:nvPr/>
        </p:nvSpPr>
        <p:spPr>
          <a:xfrm>
            <a:off x="457200" y="4224528"/>
            <a:ext cx="8229600" cy="274320"/>
          </a:xfrm>
          <a:prstGeom prst="rect">
            <a:avLst/>
          </a:prstGeom>
          <a:noFill/>
          <a:ln/>
        </p:spPr>
        <p:txBody>
          <a:bodyPr wrap="square" lIns="0" tIns="0" rIns="0" bIns="0" rtlCol="0" anchor="ctr"/>
          <a:lstStyle/>
          <a:p>
            <a:pPr algn="l" indent="0" marL="0">
              <a:buNone/>
            </a:pPr>
            <a:r>
              <a:rPr lang="en-US" sz="1100" dirty="0">
                <a:solidFill>
                  <a:schemeClr val="accent5"/>
                </a:solidFill>
              </a:rPr>
              <a:t>From the Unit 3 syllabus: K-means, mixtures of Gaussians, EM, factor analysis, PCA, hierarchical clustering</a:t>
            </a:r>
            <a:endParaRPr lang="en-US" sz="1100" dirty="0"/>
          </a:p>
        </p:txBody>
      </p:sp>
      <p:sp>
        <p:nvSpPr>
          <p:cNvPr id="25" name="Slide Number Placeholder 0"/>
          <p:cNvSpPr>
            <a:spLocks noGrp="1"/>
          </p:cNvSpPr>
          <p:nvPr>
            <p:ph type="sldNum" sz="quarter" idx="4294967295"/>
          </p:nvPr>
        </p:nvSpPr>
        <p:spPr>
          <a:xfrm>
            <a:off x="8229600" y="472744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7315200" cy="685800"/>
          </a:xfrm>
          <a:prstGeom prst="rect">
            <a:avLst/>
          </a:prstGeom>
          <a:noFill/>
          <a:ln/>
        </p:spPr>
        <p:txBody>
          <a:bodyPr wrap="square" lIns="0" tIns="0" rIns="0" bIns="0" rtlCol="0" anchor="ctr"/>
          <a:lstStyle/>
          <a:p>
            <a:pPr algn="l" indent="0" marL="0">
              <a:buNone/>
            </a:pPr>
            <a:r>
              <a:rPr lang="en-US" sz="3600" b="1" dirty="0">
                <a:solidFill>
                  <a:schemeClr val="tx2"/>
                </a:solidFill>
              </a:rPr>
              <a:t>Our choice: K-Means clustering</a:t>
            </a:r>
            <a:endParaRPr lang="en-US" sz="3600" dirty="0"/>
          </a:p>
        </p:txBody>
      </p:sp>
      <p:sp>
        <p:nvSpPr>
          <p:cNvPr id="4" name="Card 90"/>
          <p:cNvSpPr/>
          <p:nvPr/>
        </p:nvSpPr>
        <p:spPr>
          <a:xfrm>
            <a:off x="457200" y="1188720"/>
            <a:ext cx="3566160" cy="3200400"/>
          </a:xfrm>
          <a:prstGeom prst="roundRect">
            <a:avLst>
              <a:gd name="adj" fmla="val 2286"/>
            </a:avLst>
          </a:prstGeom>
          <a:solidFill>
            <a:schemeClr val="accent1"/>
          </a:solidFill>
          <a:ln w="12700">
            <a:solidFill>
              <a:schemeClr val="accent1"/>
            </a:solidFill>
            <a:prstDash val="solid"/>
          </a:ln>
        </p:spPr>
      </p:sp>
      <p:sp>
        <p:nvSpPr>
          <p:cNvPr id="5" name="Text 91"/>
          <p:cNvSpPr txBox="1"/>
          <p:nvPr/>
        </p:nvSpPr>
        <p:spPr>
          <a:xfrm>
            <a:off x="685800" y="1371600"/>
            <a:ext cx="3108960" cy="274320"/>
          </a:xfrm>
          <a:prstGeom prst="rect">
            <a:avLst/>
          </a:prstGeom>
          <a:noFill/>
          <a:ln/>
        </p:spPr>
        <p:txBody>
          <a:bodyPr wrap="square" lIns="0" tIns="0" rIns="0" bIns="0" rtlCol="0" anchor="t"/>
          <a:lstStyle/>
          <a:p>
            <a:pPr algn="l" indent="0" marL="0">
              <a:buNone/>
            </a:pPr>
            <a:r>
              <a:rPr lang="en-US" sz="1200" b="1" spc="200" kern="0" dirty="0">
                <a:solidFill>
                  <a:schemeClr val="accent4"/>
                </a:solidFill>
              </a:rPr>
              <a:t>DEFINITION</a:t>
            </a:r>
            <a:endParaRPr lang="en-US" sz="1200" dirty="0"/>
          </a:p>
        </p:txBody>
      </p:sp>
      <p:sp>
        <p:nvSpPr>
          <p:cNvPr id="6" name="Text 92"/>
          <p:cNvSpPr txBox="1"/>
          <p:nvPr/>
        </p:nvSpPr>
        <p:spPr>
          <a:xfrm>
            <a:off x="685800" y="1691640"/>
            <a:ext cx="3108960" cy="1143000"/>
          </a:xfrm>
          <a:prstGeom prst="rect">
            <a:avLst/>
          </a:prstGeom>
          <a:noFill/>
          <a:ln/>
        </p:spPr>
        <p:txBody>
          <a:bodyPr wrap="square" lIns="0" tIns="0" rIns="0" bIns="0" rtlCol="0" anchor="t"/>
          <a:lstStyle/>
          <a:p>
            <a:pPr algn="l" indent="0" marL="0">
              <a:buNone/>
            </a:pPr>
            <a:r>
              <a:rPr lang="en-US" sz="1800" b="1" dirty="0">
                <a:solidFill>
                  <a:schemeClr val="bg1"/>
                </a:solidFill>
              </a:rPr>
              <a:t>K-Means groups similar data points into k clusters without needing labelled data.</a:t>
            </a:r>
            <a:endParaRPr lang="en-US" sz="1800" dirty="0"/>
          </a:p>
        </p:txBody>
      </p:sp>
      <p:sp>
        <p:nvSpPr>
          <p:cNvPr id="7" name="Text 93"/>
          <p:cNvSpPr txBox="1"/>
          <p:nvPr/>
        </p:nvSpPr>
        <p:spPr>
          <a:xfrm>
            <a:off x="685800" y="2880360"/>
            <a:ext cx="3108960" cy="274320"/>
          </a:xfrm>
          <a:prstGeom prst="rect">
            <a:avLst/>
          </a:prstGeom>
          <a:noFill/>
          <a:ln/>
        </p:spPr>
        <p:txBody>
          <a:bodyPr wrap="square" lIns="0" tIns="0" rIns="0" bIns="0" rtlCol="0" anchor="t"/>
          <a:lstStyle/>
          <a:p>
            <a:pPr algn="l" indent="0" marL="0">
              <a:buNone/>
            </a:pPr>
            <a:r>
              <a:rPr lang="en-US" sz="1400" dirty="0">
                <a:solidFill>
                  <a:schemeClr val="bg2"/>
                </a:solidFill>
              </a:rPr>
              <a:t>k = the number of groups we want</a:t>
            </a:r>
            <a:endParaRPr lang="en-US" sz="1400" dirty="0"/>
          </a:p>
        </p:txBody>
      </p:sp>
      <p:sp>
        <p:nvSpPr>
          <p:cNvPr id="8" name="Dot 94"/>
          <p:cNvSpPr/>
          <p:nvPr/>
        </p:nvSpPr>
        <p:spPr>
          <a:xfrm>
            <a:off x="982614" y="3621938"/>
            <a:ext cx="118872" cy="118872"/>
          </a:xfrm>
          <a:prstGeom prst="ellipse">
            <a:avLst/>
          </a:prstGeom>
          <a:solidFill>
            <a:schemeClr val="accent2"/>
          </a:solidFill>
          <a:ln w="12700">
            <a:solidFill>
              <a:schemeClr val="accent2"/>
            </a:solidFill>
            <a:prstDash val="solid"/>
          </a:ln>
        </p:spPr>
      </p:sp>
      <p:sp>
        <p:nvSpPr>
          <p:cNvPr id="9" name="Dot 95"/>
          <p:cNvSpPr/>
          <p:nvPr/>
        </p:nvSpPr>
        <p:spPr>
          <a:xfrm>
            <a:off x="1152693" y="3480206"/>
            <a:ext cx="118872" cy="118872"/>
          </a:xfrm>
          <a:prstGeom prst="ellipse">
            <a:avLst/>
          </a:prstGeom>
          <a:solidFill>
            <a:schemeClr val="accent2"/>
          </a:solidFill>
          <a:ln w="12700">
            <a:solidFill>
              <a:schemeClr val="accent2"/>
            </a:solidFill>
            <a:prstDash val="solid"/>
          </a:ln>
        </p:spPr>
      </p:sp>
      <p:sp>
        <p:nvSpPr>
          <p:cNvPr id="10" name="Dot 96"/>
          <p:cNvSpPr/>
          <p:nvPr/>
        </p:nvSpPr>
        <p:spPr>
          <a:xfrm>
            <a:off x="1390802" y="3548238"/>
            <a:ext cx="118872" cy="118872"/>
          </a:xfrm>
          <a:prstGeom prst="ellipse">
            <a:avLst/>
          </a:prstGeom>
          <a:solidFill>
            <a:schemeClr val="accent2"/>
          </a:solidFill>
          <a:ln w="12700">
            <a:solidFill>
              <a:schemeClr val="accent2"/>
            </a:solidFill>
            <a:prstDash val="solid"/>
          </a:ln>
        </p:spPr>
      </p:sp>
      <p:sp>
        <p:nvSpPr>
          <p:cNvPr id="11" name="Dot 97"/>
          <p:cNvSpPr/>
          <p:nvPr/>
        </p:nvSpPr>
        <p:spPr>
          <a:xfrm>
            <a:off x="1481511" y="3763670"/>
            <a:ext cx="118872" cy="118872"/>
          </a:xfrm>
          <a:prstGeom prst="ellipse">
            <a:avLst/>
          </a:prstGeom>
          <a:solidFill>
            <a:schemeClr val="accent2"/>
          </a:solidFill>
          <a:ln w="12700">
            <a:solidFill>
              <a:schemeClr val="accent2"/>
            </a:solidFill>
            <a:prstDash val="solid"/>
          </a:ln>
        </p:spPr>
      </p:sp>
      <p:sp>
        <p:nvSpPr>
          <p:cNvPr id="12" name="Dot 98"/>
          <p:cNvSpPr/>
          <p:nvPr/>
        </p:nvSpPr>
        <p:spPr>
          <a:xfrm>
            <a:off x="1322771" y="3950757"/>
            <a:ext cx="118872" cy="118872"/>
          </a:xfrm>
          <a:prstGeom prst="ellipse">
            <a:avLst/>
          </a:prstGeom>
          <a:solidFill>
            <a:schemeClr val="accent2"/>
          </a:solidFill>
          <a:ln w="12700">
            <a:solidFill>
              <a:schemeClr val="accent2"/>
            </a:solidFill>
            <a:prstDash val="solid"/>
          </a:ln>
        </p:spPr>
      </p:sp>
      <p:sp>
        <p:nvSpPr>
          <p:cNvPr id="13" name="Dot 99"/>
          <p:cNvSpPr/>
          <p:nvPr/>
        </p:nvSpPr>
        <p:spPr>
          <a:xfrm>
            <a:off x="1078992" y="3905402"/>
            <a:ext cx="118872" cy="118872"/>
          </a:xfrm>
          <a:prstGeom prst="ellipse">
            <a:avLst/>
          </a:prstGeom>
          <a:solidFill>
            <a:schemeClr val="accent2"/>
          </a:solidFill>
          <a:ln w="12700">
            <a:solidFill>
              <a:schemeClr val="accent2"/>
            </a:solidFill>
            <a:prstDash val="solid"/>
          </a:ln>
        </p:spPr>
      </p:sp>
      <p:sp>
        <p:nvSpPr>
          <p:cNvPr id="14" name="Dot 100"/>
          <p:cNvSpPr/>
          <p:nvPr/>
        </p:nvSpPr>
        <p:spPr>
          <a:xfrm>
            <a:off x="937260" y="3803355"/>
            <a:ext cx="118872" cy="118872"/>
          </a:xfrm>
          <a:prstGeom prst="ellipse">
            <a:avLst/>
          </a:prstGeom>
          <a:solidFill>
            <a:schemeClr val="accent2"/>
          </a:solidFill>
          <a:ln w="12700">
            <a:solidFill>
              <a:schemeClr val="accent2"/>
            </a:solidFill>
            <a:prstDash val="solid"/>
          </a:ln>
        </p:spPr>
      </p:sp>
      <p:sp>
        <p:nvSpPr>
          <p:cNvPr id="15" name="Centroid 101"/>
          <p:cNvSpPr/>
          <p:nvPr/>
        </p:nvSpPr>
        <p:spPr>
          <a:xfrm>
            <a:off x="1196950" y="3711550"/>
            <a:ext cx="166421" cy="166421"/>
          </a:xfrm>
          <a:prstGeom prst="ellipse">
            <a:avLst/>
          </a:prstGeom>
          <a:solidFill>
            <a:schemeClr val="accent1"/>
          </a:solidFill>
          <a:ln w="22225">
            <a:solidFill>
              <a:schemeClr val="accent2"/>
            </a:solidFill>
            <a:prstDash val="solid"/>
          </a:ln>
        </p:spPr>
      </p:sp>
      <p:sp>
        <p:nvSpPr>
          <p:cNvPr id="16" name="Dot 102"/>
          <p:cNvSpPr/>
          <p:nvPr/>
        </p:nvSpPr>
        <p:spPr>
          <a:xfrm>
            <a:off x="1942734" y="3621938"/>
            <a:ext cx="118872" cy="118872"/>
          </a:xfrm>
          <a:prstGeom prst="ellipse">
            <a:avLst/>
          </a:prstGeom>
          <a:solidFill>
            <a:schemeClr val="accent4"/>
          </a:solidFill>
          <a:ln w="12700">
            <a:solidFill>
              <a:schemeClr val="accent4"/>
            </a:solidFill>
            <a:prstDash val="solid"/>
          </a:ln>
        </p:spPr>
      </p:sp>
      <p:sp>
        <p:nvSpPr>
          <p:cNvPr id="17" name="Dot 103"/>
          <p:cNvSpPr/>
          <p:nvPr/>
        </p:nvSpPr>
        <p:spPr>
          <a:xfrm>
            <a:off x="2112813" y="3480206"/>
            <a:ext cx="118872" cy="118872"/>
          </a:xfrm>
          <a:prstGeom prst="ellipse">
            <a:avLst/>
          </a:prstGeom>
          <a:solidFill>
            <a:schemeClr val="accent4"/>
          </a:solidFill>
          <a:ln w="12700">
            <a:solidFill>
              <a:schemeClr val="accent4"/>
            </a:solidFill>
            <a:prstDash val="solid"/>
          </a:ln>
        </p:spPr>
      </p:sp>
      <p:sp>
        <p:nvSpPr>
          <p:cNvPr id="18" name="Dot 104"/>
          <p:cNvSpPr/>
          <p:nvPr/>
        </p:nvSpPr>
        <p:spPr>
          <a:xfrm>
            <a:off x="2350922" y="3548238"/>
            <a:ext cx="118872" cy="118872"/>
          </a:xfrm>
          <a:prstGeom prst="ellipse">
            <a:avLst/>
          </a:prstGeom>
          <a:solidFill>
            <a:schemeClr val="accent4"/>
          </a:solidFill>
          <a:ln w="12700">
            <a:solidFill>
              <a:schemeClr val="accent4"/>
            </a:solidFill>
            <a:prstDash val="solid"/>
          </a:ln>
        </p:spPr>
      </p:sp>
      <p:sp>
        <p:nvSpPr>
          <p:cNvPr id="19" name="Dot 105"/>
          <p:cNvSpPr/>
          <p:nvPr/>
        </p:nvSpPr>
        <p:spPr>
          <a:xfrm>
            <a:off x="2441631" y="3763670"/>
            <a:ext cx="118872" cy="118872"/>
          </a:xfrm>
          <a:prstGeom prst="ellipse">
            <a:avLst/>
          </a:prstGeom>
          <a:solidFill>
            <a:schemeClr val="accent4"/>
          </a:solidFill>
          <a:ln w="12700">
            <a:solidFill>
              <a:schemeClr val="accent4"/>
            </a:solidFill>
            <a:prstDash val="solid"/>
          </a:ln>
        </p:spPr>
      </p:sp>
      <p:sp>
        <p:nvSpPr>
          <p:cNvPr id="20" name="Dot 106"/>
          <p:cNvSpPr/>
          <p:nvPr/>
        </p:nvSpPr>
        <p:spPr>
          <a:xfrm>
            <a:off x="2282891" y="3950757"/>
            <a:ext cx="118872" cy="118872"/>
          </a:xfrm>
          <a:prstGeom prst="ellipse">
            <a:avLst/>
          </a:prstGeom>
          <a:solidFill>
            <a:schemeClr val="accent4"/>
          </a:solidFill>
          <a:ln w="12700">
            <a:solidFill>
              <a:schemeClr val="accent4"/>
            </a:solidFill>
            <a:prstDash val="solid"/>
          </a:ln>
        </p:spPr>
      </p:sp>
      <p:sp>
        <p:nvSpPr>
          <p:cNvPr id="21" name="Dot 107"/>
          <p:cNvSpPr/>
          <p:nvPr/>
        </p:nvSpPr>
        <p:spPr>
          <a:xfrm>
            <a:off x="2039112" y="3905402"/>
            <a:ext cx="118872" cy="118872"/>
          </a:xfrm>
          <a:prstGeom prst="ellipse">
            <a:avLst/>
          </a:prstGeom>
          <a:solidFill>
            <a:schemeClr val="accent4"/>
          </a:solidFill>
          <a:ln w="12700">
            <a:solidFill>
              <a:schemeClr val="accent4"/>
            </a:solidFill>
            <a:prstDash val="solid"/>
          </a:ln>
        </p:spPr>
      </p:sp>
      <p:sp>
        <p:nvSpPr>
          <p:cNvPr id="22" name="Dot 108"/>
          <p:cNvSpPr/>
          <p:nvPr/>
        </p:nvSpPr>
        <p:spPr>
          <a:xfrm>
            <a:off x="1897380" y="3803355"/>
            <a:ext cx="118872" cy="118872"/>
          </a:xfrm>
          <a:prstGeom prst="ellipse">
            <a:avLst/>
          </a:prstGeom>
          <a:solidFill>
            <a:schemeClr val="accent4"/>
          </a:solidFill>
          <a:ln w="12700">
            <a:solidFill>
              <a:schemeClr val="accent4"/>
            </a:solidFill>
            <a:prstDash val="solid"/>
          </a:ln>
        </p:spPr>
      </p:sp>
      <p:sp>
        <p:nvSpPr>
          <p:cNvPr id="23" name="Centroid 109"/>
          <p:cNvSpPr/>
          <p:nvPr/>
        </p:nvSpPr>
        <p:spPr>
          <a:xfrm>
            <a:off x="2157070" y="3711550"/>
            <a:ext cx="166421" cy="166421"/>
          </a:xfrm>
          <a:prstGeom prst="ellipse">
            <a:avLst/>
          </a:prstGeom>
          <a:solidFill>
            <a:schemeClr val="accent1"/>
          </a:solidFill>
          <a:ln w="22225">
            <a:solidFill>
              <a:schemeClr val="accent4"/>
            </a:solidFill>
            <a:prstDash val="solid"/>
          </a:ln>
        </p:spPr>
      </p:sp>
      <p:sp>
        <p:nvSpPr>
          <p:cNvPr id="24" name="Dot 110"/>
          <p:cNvSpPr/>
          <p:nvPr/>
        </p:nvSpPr>
        <p:spPr>
          <a:xfrm>
            <a:off x="2902854" y="3621938"/>
            <a:ext cx="118872" cy="118872"/>
          </a:xfrm>
          <a:prstGeom prst="ellipse">
            <a:avLst/>
          </a:prstGeom>
          <a:solidFill>
            <a:schemeClr val="accent3"/>
          </a:solidFill>
          <a:ln w="12700">
            <a:solidFill>
              <a:schemeClr val="accent3"/>
            </a:solidFill>
            <a:prstDash val="solid"/>
          </a:ln>
        </p:spPr>
      </p:sp>
      <p:sp>
        <p:nvSpPr>
          <p:cNvPr id="25" name="Dot 111"/>
          <p:cNvSpPr/>
          <p:nvPr/>
        </p:nvSpPr>
        <p:spPr>
          <a:xfrm>
            <a:off x="3072933" y="3480206"/>
            <a:ext cx="118872" cy="118872"/>
          </a:xfrm>
          <a:prstGeom prst="ellipse">
            <a:avLst/>
          </a:prstGeom>
          <a:solidFill>
            <a:schemeClr val="accent3"/>
          </a:solidFill>
          <a:ln w="12700">
            <a:solidFill>
              <a:schemeClr val="accent3"/>
            </a:solidFill>
            <a:prstDash val="solid"/>
          </a:ln>
        </p:spPr>
      </p:sp>
      <p:sp>
        <p:nvSpPr>
          <p:cNvPr id="26" name="Dot 112"/>
          <p:cNvSpPr/>
          <p:nvPr/>
        </p:nvSpPr>
        <p:spPr>
          <a:xfrm>
            <a:off x="3311042" y="3548238"/>
            <a:ext cx="118872" cy="118872"/>
          </a:xfrm>
          <a:prstGeom prst="ellipse">
            <a:avLst/>
          </a:prstGeom>
          <a:solidFill>
            <a:schemeClr val="accent3"/>
          </a:solidFill>
          <a:ln w="12700">
            <a:solidFill>
              <a:schemeClr val="accent3"/>
            </a:solidFill>
            <a:prstDash val="solid"/>
          </a:ln>
        </p:spPr>
      </p:sp>
      <p:sp>
        <p:nvSpPr>
          <p:cNvPr id="27" name="Dot 113"/>
          <p:cNvSpPr/>
          <p:nvPr/>
        </p:nvSpPr>
        <p:spPr>
          <a:xfrm>
            <a:off x="3401751" y="3763670"/>
            <a:ext cx="118872" cy="118872"/>
          </a:xfrm>
          <a:prstGeom prst="ellipse">
            <a:avLst/>
          </a:prstGeom>
          <a:solidFill>
            <a:schemeClr val="accent3"/>
          </a:solidFill>
          <a:ln w="12700">
            <a:solidFill>
              <a:schemeClr val="accent3"/>
            </a:solidFill>
            <a:prstDash val="solid"/>
          </a:ln>
        </p:spPr>
      </p:sp>
      <p:sp>
        <p:nvSpPr>
          <p:cNvPr id="28" name="Dot 114"/>
          <p:cNvSpPr/>
          <p:nvPr/>
        </p:nvSpPr>
        <p:spPr>
          <a:xfrm>
            <a:off x="3243011" y="3950757"/>
            <a:ext cx="118872" cy="118872"/>
          </a:xfrm>
          <a:prstGeom prst="ellipse">
            <a:avLst/>
          </a:prstGeom>
          <a:solidFill>
            <a:schemeClr val="accent3"/>
          </a:solidFill>
          <a:ln w="12700">
            <a:solidFill>
              <a:schemeClr val="accent3"/>
            </a:solidFill>
            <a:prstDash val="solid"/>
          </a:ln>
        </p:spPr>
      </p:sp>
      <p:sp>
        <p:nvSpPr>
          <p:cNvPr id="29" name="Dot 115"/>
          <p:cNvSpPr/>
          <p:nvPr/>
        </p:nvSpPr>
        <p:spPr>
          <a:xfrm>
            <a:off x="2999232" y="3905402"/>
            <a:ext cx="118872" cy="118872"/>
          </a:xfrm>
          <a:prstGeom prst="ellipse">
            <a:avLst/>
          </a:prstGeom>
          <a:solidFill>
            <a:schemeClr val="accent3"/>
          </a:solidFill>
          <a:ln w="12700">
            <a:solidFill>
              <a:schemeClr val="accent3"/>
            </a:solidFill>
            <a:prstDash val="solid"/>
          </a:ln>
        </p:spPr>
      </p:sp>
      <p:sp>
        <p:nvSpPr>
          <p:cNvPr id="30" name="Dot 116"/>
          <p:cNvSpPr/>
          <p:nvPr/>
        </p:nvSpPr>
        <p:spPr>
          <a:xfrm>
            <a:off x="2857500" y="3803355"/>
            <a:ext cx="118872" cy="118872"/>
          </a:xfrm>
          <a:prstGeom prst="ellipse">
            <a:avLst/>
          </a:prstGeom>
          <a:solidFill>
            <a:schemeClr val="accent3"/>
          </a:solidFill>
          <a:ln w="12700">
            <a:solidFill>
              <a:schemeClr val="accent3"/>
            </a:solidFill>
            <a:prstDash val="solid"/>
          </a:ln>
        </p:spPr>
      </p:sp>
      <p:sp>
        <p:nvSpPr>
          <p:cNvPr id="31" name="Centroid 117"/>
          <p:cNvSpPr/>
          <p:nvPr/>
        </p:nvSpPr>
        <p:spPr>
          <a:xfrm>
            <a:off x="3117190" y="3711550"/>
            <a:ext cx="166421" cy="166421"/>
          </a:xfrm>
          <a:prstGeom prst="ellipse">
            <a:avLst/>
          </a:prstGeom>
          <a:solidFill>
            <a:schemeClr val="accent1"/>
          </a:solidFill>
          <a:ln w="22225">
            <a:solidFill>
              <a:schemeClr val="accent3"/>
            </a:solidFill>
            <a:prstDash val="solid"/>
          </a:ln>
        </p:spPr>
      </p:sp>
      <p:sp>
        <p:nvSpPr>
          <p:cNvPr id="32" name="Text 118"/>
          <p:cNvSpPr txBox="1"/>
          <p:nvPr/>
        </p:nvSpPr>
        <p:spPr>
          <a:xfrm>
            <a:off x="4297680" y="1188720"/>
            <a:ext cx="4389120" cy="320040"/>
          </a:xfrm>
          <a:prstGeom prst="rect">
            <a:avLst/>
          </a:prstGeom>
          <a:noFill/>
          <a:ln/>
        </p:spPr>
        <p:txBody>
          <a:bodyPr wrap="square" lIns="0" tIns="0" rIns="0" bIns="0" rtlCol="0" anchor="t"/>
          <a:lstStyle/>
          <a:p>
            <a:pPr algn="l" indent="0" marL="0">
              <a:buNone/>
            </a:pPr>
            <a:r>
              <a:rPr lang="en-US" sz="1700" b="1" dirty="0">
                <a:solidFill>
                  <a:schemeClr val="tx2"/>
                </a:solidFill>
              </a:rPr>
              <a:t>Why it suits our project</a:t>
            </a:r>
            <a:endParaRPr lang="en-US" sz="1700" dirty="0"/>
          </a:p>
        </p:txBody>
      </p:sp>
      <p:sp>
        <p:nvSpPr>
          <p:cNvPr id="33" name="Badge 119"/>
          <p:cNvSpPr/>
          <p:nvPr/>
        </p:nvSpPr>
        <p:spPr>
          <a:xfrm>
            <a:off x="4297680" y="1700784"/>
            <a:ext cx="365760" cy="365760"/>
          </a:xfrm>
          <a:prstGeom prst="ellipse">
            <a:avLst/>
          </a:prstGeom>
          <a:solidFill>
            <a:schemeClr val="accent2"/>
          </a:solidFill>
          <a:ln>
            <a:solidFill>
              <a:schemeClr val="accent2"/>
            </a:solidFill>
          </a:ln>
        </p:spPr>
        <p:txBody>
          <a:bodyPr wrap="square" lIns="0" tIns="0" rIns="0" bIns="0" rtlCol="0" anchor="ctr"/>
          <a:lstStyle/>
          <a:p>
            <a:pPr algn="ctr" indent="0" marL="0">
              <a:buNone/>
            </a:pPr>
            <a:r>
              <a:rPr lang="en-US" sz="1600" b="1" dirty="0">
                <a:solidFill>
                  <a:schemeClr val="bg1"/>
                </a:solidFill>
              </a:rPr>
              <a:t>1</a:t>
            </a:r>
            <a:endParaRPr lang="en-US" sz="1600" dirty="0"/>
          </a:p>
        </p:txBody>
      </p:sp>
      <p:sp>
        <p:nvSpPr>
          <p:cNvPr id="34" name="Text 120"/>
          <p:cNvSpPr txBox="1"/>
          <p:nvPr/>
        </p:nvSpPr>
        <p:spPr>
          <a:xfrm>
            <a:off x="4800600" y="1664208"/>
            <a:ext cx="3886200" cy="548640"/>
          </a:xfrm>
          <a:prstGeom prst="rect">
            <a:avLst/>
          </a:prstGeom>
          <a:noFill/>
          <a:ln/>
        </p:spPr>
        <p:txBody>
          <a:bodyPr wrap="square" lIns="0" tIns="0" rIns="0" bIns="0" rtlCol="0" anchor="ctr"/>
          <a:lstStyle/>
          <a:p>
            <a:pPr algn="l" indent="0" marL="0">
              <a:buNone/>
            </a:pPr>
            <a:r>
              <a:rPr lang="en-US" sz="1400" dirty="0">
                <a:solidFill>
                  <a:schemeClr val="tx1"/>
                </a:solidFill>
              </a:rPr>
              <a:t>Our task says "partition". K-Means is a partitioning method.</a:t>
            </a:r>
            <a:endParaRPr lang="en-US" sz="1400" dirty="0"/>
          </a:p>
        </p:txBody>
      </p:sp>
      <p:sp>
        <p:nvSpPr>
          <p:cNvPr id="35" name="Badge 121"/>
          <p:cNvSpPr/>
          <p:nvPr/>
        </p:nvSpPr>
        <p:spPr>
          <a:xfrm>
            <a:off x="4297680" y="2386584"/>
            <a:ext cx="365760" cy="365760"/>
          </a:xfrm>
          <a:prstGeom prst="ellipse">
            <a:avLst/>
          </a:prstGeom>
          <a:solidFill>
            <a:schemeClr val="accent2"/>
          </a:solidFill>
          <a:ln>
            <a:solidFill>
              <a:schemeClr val="accent2"/>
            </a:solidFill>
          </a:ln>
        </p:spPr>
        <p:txBody>
          <a:bodyPr wrap="square" lIns="0" tIns="0" rIns="0" bIns="0" rtlCol="0" anchor="ctr"/>
          <a:lstStyle/>
          <a:p>
            <a:pPr algn="ctr" indent="0" marL="0">
              <a:buNone/>
            </a:pPr>
            <a:r>
              <a:rPr lang="en-US" sz="1600" b="1" dirty="0">
                <a:solidFill>
                  <a:schemeClr val="bg1"/>
                </a:solidFill>
              </a:rPr>
              <a:t>2</a:t>
            </a:r>
            <a:endParaRPr lang="en-US" sz="1600" dirty="0"/>
          </a:p>
        </p:txBody>
      </p:sp>
      <p:sp>
        <p:nvSpPr>
          <p:cNvPr id="36" name="Text 122"/>
          <p:cNvSpPr txBox="1"/>
          <p:nvPr/>
        </p:nvSpPr>
        <p:spPr>
          <a:xfrm>
            <a:off x="4800600" y="2350008"/>
            <a:ext cx="3886200" cy="548640"/>
          </a:xfrm>
          <a:prstGeom prst="rect">
            <a:avLst/>
          </a:prstGeom>
          <a:noFill/>
          <a:ln/>
        </p:spPr>
        <p:txBody>
          <a:bodyPr wrap="square" lIns="0" tIns="0" rIns="0" bIns="0" rtlCol="0" anchor="ctr"/>
          <a:lstStyle/>
          <a:p>
            <a:pPr algn="l" indent="0" marL="0">
              <a:buNone/>
            </a:pPr>
            <a:r>
              <a:rPr lang="en-US" sz="1400" dirty="0">
                <a:solidFill>
                  <a:schemeClr val="tx1"/>
                </a:solidFill>
              </a:rPr>
              <a:t>Every SKU gets exactly one group, just like one storage zone.</a:t>
            </a:r>
            <a:endParaRPr lang="en-US" sz="1400" dirty="0"/>
          </a:p>
        </p:txBody>
      </p:sp>
      <p:sp>
        <p:nvSpPr>
          <p:cNvPr id="37" name="Badge 123"/>
          <p:cNvSpPr/>
          <p:nvPr/>
        </p:nvSpPr>
        <p:spPr>
          <a:xfrm>
            <a:off x="4297680" y="3072384"/>
            <a:ext cx="365760" cy="365760"/>
          </a:xfrm>
          <a:prstGeom prst="ellipse">
            <a:avLst/>
          </a:prstGeom>
          <a:solidFill>
            <a:schemeClr val="accent2"/>
          </a:solidFill>
          <a:ln>
            <a:solidFill>
              <a:schemeClr val="accent2"/>
            </a:solidFill>
          </a:ln>
        </p:spPr>
        <p:txBody>
          <a:bodyPr wrap="square" lIns="0" tIns="0" rIns="0" bIns="0" rtlCol="0" anchor="ctr"/>
          <a:lstStyle/>
          <a:p>
            <a:pPr algn="ctr" indent="0" marL="0">
              <a:buNone/>
            </a:pPr>
            <a:r>
              <a:rPr lang="en-US" sz="1600" b="1" dirty="0">
                <a:solidFill>
                  <a:schemeClr val="bg1"/>
                </a:solidFill>
              </a:rPr>
              <a:t>3</a:t>
            </a:r>
            <a:endParaRPr lang="en-US" sz="1600" dirty="0"/>
          </a:p>
        </p:txBody>
      </p:sp>
      <p:sp>
        <p:nvSpPr>
          <p:cNvPr id="38" name="Text 124"/>
          <p:cNvSpPr txBox="1"/>
          <p:nvPr/>
        </p:nvSpPr>
        <p:spPr>
          <a:xfrm>
            <a:off x="4800600" y="3035808"/>
            <a:ext cx="3886200" cy="548640"/>
          </a:xfrm>
          <a:prstGeom prst="rect">
            <a:avLst/>
          </a:prstGeom>
          <a:noFill/>
          <a:ln/>
        </p:spPr>
        <p:txBody>
          <a:bodyPr wrap="square" lIns="0" tIns="0" rIns="0" bIns="0" rtlCol="0" anchor="ctr"/>
          <a:lstStyle/>
          <a:p>
            <a:pPr algn="l" indent="0" marL="0">
              <a:buNone/>
            </a:pPr>
            <a:r>
              <a:rPr lang="en-US" sz="1400" dirty="0">
                <a:solidFill>
                  <a:schemeClr val="tx1"/>
                </a:solidFill>
              </a:rPr>
              <a:t>All four inputs can be written as numbers, so distance works.</a:t>
            </a:r>
            <a:endParaRPr lang="en-US" sz="1400" dirty="0"/>
          </a:p>
        </p:txBody>
      </p:sp>
      <p:sp>
        <p:nvSpPr>
          <p:cNvPr id="39" name="Badge 125"/>
          <p:cNvSpPr/>
          <p:nvPr/>
        </p:nvSpPr>
        <p:spPr>
          <a:xfrm>
            <a:off x="4297680" y="3758184"/>
            <a:ext cx="365760" cy="365760"/>
          </a:xfrm>
          <a:prstGeom prst="ellipse">
            <a:avLst/>
          </a:prstGeom>
          <a:solidFill>
            <a:schemeClr val="accent2"/>
          </a:solidFill>
          <a:ln>
            <a:solidFill>
              <a:schemeClr val="accent2"/>
            </a:solidFill>
          </a:ln>
        </p:spPr>
        <p:txBody>
          <a:bodyPr wrap="square" lIns="0" tIns="0" rIns="0" bIns="0" rtlCol="0" anchor="ctr"/>
          <a:lstStyle/>
          <a:p>
            <a:pPr algn="ctr" indent="0" marL="0">
              <a:buNone/>
            </a:pPr>
            <a:r>
              <a:rPr lang="en-US" sz="1600" b="1" dirty="0">
                <a:solidFill>
                  <a:schemeClr val="bg1"/>
                </a:solidFill>
              </a:rPr>
              <a:t>4</a:t>
            </a:r>
            <a:endParaRPr lang="en-US" sz="1600" dirty="0"/>
          </a:p>
        </p:txBody>
      </p:sp>
      <p:sp>
        <p:nvSpPr>
          <p:cNvPr id="40" name="Text 126"/>
          <p:cNvSpPr txBox="1"/>
          <p:nvPr/>
        </p:nvSpPr>
        <p:spPr>
          <a:xfrm>
            <a:off x="4800600" y="3721608"/>
            <a:ext cx="3886200" cy="548640"/>
          </a:xfrm>
          <a:prstGeom prst="rect">
            <a:avLst/>
          </a:prstGeom>
          <a:noFill/>
          <a:ln/>
        </p:spPr>
        <p:txBody>
          <a:bodyPr wrap="square" lIns="0" tIns="0" rIns="0" bIns="0" rtlCol="0" anchor="ctr"/>
          <a:lstStyle/>
          <a:p>
            <a:pPr algn="l" indent="0" marL="0">
              <a:buNone/>
            </a:pPr>
            <a:r>
              <a:rPr lang="en-US" sz="1400" dirty="0">
                <a:solidFill>
                  <a:schemeClr val="tx1"/>
                </a:solidFill>
              </a:rPr>
              <a:t>Simple, fast for thousands of SKUs, easy to re-run each season.</a:t>
            </a:r>
            <a:endParaRPr lang="en-US" sz="1400" dirty="0"/>
          </a:p>
        </p:txBody>
      </p:sp>
      <p:sp>
        <p:nvSpPr>
          <p:cNvPr id="25" name="Slide Number Placeholder 0"/>
          <p:cNvSpPr>
            <a:spLocks noGrp="1"/>
          </p:cNvSpPr>
          <p:nvPr>
            <p:ph type="sldNum" sz="quarter" idx="4294967295"/>
          </p:nvPr>
        </p:nvSpPr>
        <p:spPr>
          <a:xfrm>
            <a:off x="8229600" y="472744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7315200" cy="685800"/>
          </a:xfrm>
          <a:prstGeom prst="rect">
            <a:avLst/>
          </a:prstGeom>
          <a:noFill/>
          <a:ln/>
        </p:spPr>
        <p:txBody>
          <a:bodyPr wrap="square" lIns="0" tIns="0" rIns="0" bIns="0" rtlCol="0" anchor="ctr"/>
          <a:lstStyle/>
          <a:p>
            <a:pPr algn="l" indent="0" marL="0">
              <a:buNone/>
            </a:pPr>
            <a:r>
              <a:rPr lang="en-US" sz="3600" b="1" dirty="0">
                <a:solidFill>
                  <a:schemeClr val="tx2"/>
                </a:solidFill>
              </a:rPr>
              <a:t>Why not the other solutions</a:t>
            </a:r>
            <a:endParaRPr lang="en-US" sz="3600" dirty="0"/>
          </a:p>
        </p:txBody>
      </p:sp>
      <p:graphicFrame>
        <p:nvGraphicFramePr>
          <p:cNvPr id="7" name="Comparison table"/>
          <p:cNvGraphicFramePr>
            <a:graphicFrameLocks noGrp="1"/>
          </p:cNvGraphicFramePr>
          <p:nvPr>
            <p:extLst>
              <p:ext uri="{D42A27DB-BD31-4B8C-83A1-F6EECF244321}">
                <p14:modId xmlns:p14="http://schemas.microsoft.com/office/powerpoint/2010/main" val="1579011935"/>
              </p:ext>
            </p:extLst>
          </p:nvPr>
        </p:nvGraphicFramePr>
        <p:xfrm>
          <a:off x="457200" y="1188720"/>
          <a:ext cx="8229600" cy="914400"/>
        </p:xfrm>
        <a:graphic>
          <a:graphicData uri="http://schemas.openxmlformats.org/drawingml/2006/table">
            <a:tbl>
              <a:tblPr/>
              <a:tblGrid>
                <a:gridCol w="2194560"/>
                <a:gridCol w="2377440"/>
                <a:gridCol w="3657600"/>
              </a:tblGrid>
              <a:tr h="411480">
                <a:tc>
                  <a:txBody>
                    <a:bodyPr/>
                    <a:lstStyle/>
                    <a:p>
                      <a:pPr indent="0" marL="0">
                        <a:buNone/>
                      </a:pPr>
                      <a:r>
                        <a:rPr lang="en-US" sz="1400" b="1" dirty="0">
                          <a:solidFill>
                            <a:schemeClr val="bg1"/>
                          </a:solidFill>
                        </a:rPr>
                        <a:t>Method</a:t>
                      </a:r>
                      <a:endParaRPr lang="en-US" sz="1400" dirty="0"/>
                    </a:p>
                  </a:txBody>
                  <a:tcPr marL="109728" marR="109728" marT="36576" marB="36576" anchor="ctr">
                    <a:lnL w="9525" cap="flat" cmpd="sng" algn="ctr">
                      <a:solidFill>
                        <a:srgbClr val="EAF2F3"/>
                      </a:solidFill>
                      <a:prstDash val="solid"/>
                      <a:round/>
                      <a:headEnd type="none" w="med" len="med"/>
                      <a:tailEnd type="none" w="med" len="med"/>
                    </a:lnL>
                    <a:lnR w="9525" cap="flat" cmpd="sng" algn="ctr">
                      <a:solidFill>
                        <a:srgbClr val="EAF2F3"/>
                      </a:solidFill>
                      <a:prstDash val="solid"/>
                      <a:round/>
                      <a:headEnd type="none" w="med" len="med"/>
                      <a:tailEnd type="none" w="med" len="med"/>
                    </a:lnR>
                    <a:lnT w="9525" cap="flat" cmpd="sng" algn="ctr">
                      <a:solidFill>
                        <a:srgbClr val="EAF2F3"/>
                      </a:solidFill>
                      <a:prstDash val="solid"/>
                      <a:round/>
                      <a:headEnd type="none" w="med" len="med"/>
                      <a:tailEnd type="none" w="med" len="med"/>
                    </a:lnT>
                    <a:lnB w="9525" cap="flat" cmpd="sng" algn="ctr">
                      <a:solidFill>
                        <a:srgbClr val="EAF2F3"/>
                      </a:solidFill>
                      <a:prstDash val="solid"/>
                      <a:round/>
                      <a:headEnd type="none" w="med" len="med"/>
                      <a:tailEnd type="none" w="med" len="med"/>
                    </a:lnB>
                    <a:solidFill>
                      <a:schemeClr val="accent1"/>
                    </a:solidFill>
                  </a:tcPr>
                </a:tc>
                <a:tc>
                  <a:txBody>
                    <a:bodyPr/>
                    <a:lstStyle/>
                    <a:p>
                      <a:pPr indent="0" marL="0">
                        <a:buNone/>
                      </a:pPr>
                      <a:r>
                        <a:rPr lang="en-US" sz="1400" b="1" dirty="0">
                          <a:solidFill>
                            <a:schemeClr val="bg1"/>
                          </a:solidFill>
                        </a:rPr>
                        <a:t>What it gives</a:t>
                      </a:r>
                      <a:endParaRPr lang="en-US" sz="1400" dirty="0"/>
                    </a:p>
                  </a:txBody>
                  <a:tcPr marL="109728" marR="109728" marT="36576" marB="36576" anchor="ctr">
                    <a:lnL w="9525" cap="flat" cmpd="sng" algn="ctr">
                      <a:solidFill>
                        <a:srgbClr val="EAF2F3"/>
                      </a:solidFill>
                      <a:prstDash val="solid"/>
                      <a:round/>
                      <a:headEnd type="none" w="med" len="med"/>
                      <a:tailEnd type="none" w="med" len="med"/>
                    </a:lnL>
                    <a:lnR w="9525" cap="flat" cmpd="sng" algn="ctr">
                      <a:solidFill>
                        <a:srgbClr val="EAF2F3"/>
                      </a:solidFill>
                      <a:prstDash val="solid"/>
                      <a:round/>
                      <a:headEnd type="none" w="med" len="med"/>
                      <a:tailEnd type="none" w="med" len="med"/>
                    </a:lnR>
                    <a:lnT w="9525" cap="flat" cmpd="sng" algn="ctr">
                      <a:solidFill>
                        <a:srgbClr val="EAF2F3"/>
                      </a:solidFill>
                      <a:prstDash val="solid"/>
                      <a:round/>
                      <a:headEnd type="none" w="med" len="med"/>
                      <a:tailEnd type="none" w="med" len="med"/>
                    </a:lnT>
                    <a:lnB w="9525" cap="flat" cmpd="sng" algn="ctr">
                      <a:solidFill>
                        <a:srgbClr val="EAF2F3"/>
                      </a:solidFill>
                      <a:prstDash val="solid"/>
                      <a:round/>
                      <a:headEnd type="none" w="med" len="med"/>
                      <a:tailEnd type="none" w="med" len="med"/>
                    </a:lnB>
                    <a:solidFill>
                      <a:schemeClr val="accent1"/>
                    </a:solidFill>
                  </a:tcPr>
                </a:tc>
                <a:tc>
                  <a:txBody>
                    <a:bodyPr/>
                    <a:lstStyle/>
                    <a:p>
                      <a:pPr indent="0" marL="0">
                        <a:buNone/>
                      </a:pPr>
                      <a:r>
                        <a:rPr lang="en-US" sz="1400" b="1" dirty="0">
                          <a:solidFill>
                            <a:schemeClr val="bg1"/>
                          </a:solidFill>
                        </a:rPr>
                        <a:t>Fit for our problem</a:t>
                      </a:r>
                      <a:endParaRPr lang="en-US" sz="1400" dirty="0"/>
                    </a:p>
                  </a:txBody>
                  <a:tcPr marL="109728" marR="109728" marT="36576" marB="36576" anchor="ctr">
                    <a:lnL w="9525" cap="flat" cmpd="sng" algn="ctr">
                      <a:solidFill>
                        <a:srgbClr val="EAF2F3"/>
                      </a:solidFill>
                      <a:prstDash val="solid"/>
                      <a:round/>
                      <a:headEnd type="none" w="med" len="med"/>
                      <a:tailEnd type="none" w="med" len="med"/>
                    </a:lnL>
                    <a:lnR w="9525" cap="flat" cmpd="sng" algn="ctr">
                      <a:solidFill>
                        <a:srgbClr val="EAF2F3"/>
                      </a:solidFill>
                      <a:prstDash val="solid"/>
                      <a:round/>
                      <a:headEnd type="none" w="med" len="med"/>
                      <a:tailEnd type="none" w="med" len="med"/>
                    </a:lnR>
                    <a:lnT w="9525" cap="flat" cmpd="sng" algn="ctr">
                      <a:solidFill>
                        <a:srgbClr val="EAF2F3"/>
                      </a:solidFill>
                      <a:prstDash val="solid"/>
                      <a:round/>
                      <a:headEnd type="none" w="med" len="med"/>
                      <a:tailEnd type="none" w="med" len="med"/>
                    </a:lnT>
                    <a:lnB w="9525" cap="flat" cmpd="sng" algn="ctr">
                      <a:solidFill>
                        <a:srgbClr val="EAF2F3"/>
                      </a:solidFill>
                      <a:prstDash val="solid"/>
                      <a:round/>
                      <a:headEnd type="none" w="med" len="med"/>
                      <a:tailEnd type="none" w="med" len="med"/>
                    </a:lnB>
                    <a:solidFill>
                      <a:schemeClr val="accent1"/>
                    </a:solidFill>
                  </a:tcPr>
                </a:tc>
              </a:tr>
              <a:tr h="658368">
                <a:tc>
                  <a:txBody>
                    <a:bodyPr/>
                    <a:lstStyle/>
                    <a:p>
                      <a:pPr indent="0" marL="0">
                        <a:buNone/>
                      </a:pPr>
                      <a:r>
                        <a:rPr lang="en-US" sz="1400" dirty="0">
                          <a:solidFill>
                            <a:schemeClr val="tx1"/>
                          </a:solidFill>
                        </a:rPr>
                        <a:t>Mixtures of Gaussians (EM)</a:t>
                      </a:r>
                      <a:endParaRPr lang="en-US" sz="1400" dirty="0"/>
                    </a:p>
                  </a:txBody>
                  <a:tcPr marL="109728" marR="109728" marT="36576" marB="36576" anchor="ctr">
                    <a:lnL w="9525" cap="flat" cmpd="sng" algn="ctr">
                      <a:solidFill>
                        <a:srgbClr val="EAF2F3"/>
                      </a:solidFill>
                      <a:prstDash val="solid"/>
                      <a:round/>
                      <a:headEnd type="none" w="med" len="med"/>
                      <a:tailEnd type="none" w="med" len="med"/>
                    </a:lnL>
                    <a:lnR w="9525" cap="flat" cmpd="sng" algn="ctr">
                      <a:solidFill>
                        <a:srgbClr val="EAF2F3"/>
                      </a:solidFill>
                      <a:prstDash val="solid"/>
                      <a:round/>
                      <a:headEnd type="none" w="med" len="med"/>
                      <a:tailEnd type="none" w="med" len="med"/>
                    </a:lnR>
                    <a:lnT w="9525" cap="flat" cmpd="sng" algn="ctr">
                      <a:solidFill>
                        <a:srgbClr val="EAF2F3"/>
                      </a:solidFill>
                      <a:prstDash val="solid"/>
                      <a:round/>
                      <a:headEnd type="none" w="med" len="med"/>
                      <a:tailEnd type="none" w="med" len="med"/>
                    </a:lnT>
                    <a:lnB w="9525" cap="flat" cmpd="sng" algn="ctr">
                      <a:solidFill>
                        <a:srgbClr val="EAF2F3"/>
                      </a:solidFill>
                      <a:prstDash val="solid"/>
                      <a:round/>
                      <a:headEnd type="none" w="med" len="med"/>
                      <a:tailEnd type="none" w="med" len="med"/>
                    </a:lnB>
                  </a:tcPr>
                </a:tc>
                <a:tc>
                  <a:txBody>
                    <a:bodyPr/>
                    <a:lstStyle/>
                    <a:p>
                      <a:pPr indent="0" marL="0">
                        <a:buNone/>
                      </a:pPr>
                      <a:r>
                        <a:rPr lang="en-US" sz="1400" dirty="0">
                          <a:solidFill>
                            <a:schemeClr val="tx1"/>
                          </a:solidFill>
                        </a:rPr>
                        <a:t>A probability for every group (soft)</a:t>
                      </a:r>
                      <a:endParaRPr lang="en-US" sz="1400" dirty="0"/>
                    </a:p>
                  </a:txBody>
                  <a:tcPr marL="109728" marR="109728" marT="36576" marB="36576" anchor="ctr">
                    <a:lnL w="9525" cap="flat" cmpd="sng" algn="ctr">
                      <a:solidFill>
                        <a:srgbClr val="EAF2F3"/>
                      </a:solidFill>
                      <a:prstDash val="solid"/>
                      <a:round/>
                      <a:headEnd type="none" w="med" len="med"/>
                      <a:tailEnd type="none" w="med" len="med"/>
                    </a:lnL>
                    <a:lnR w="9525" cap="flat" cmpd="sng" algn="ctr">
                      <a:solidFill>
                        <a:srgbClr val="EAF2F3"/>
                      </a:solidFill>
                      <a:prstDash val="solid"/>
                      <a:round/>
                      <a:headEnd type="none" w="med" len="med"/>
                      <a:tailEnd type="none" w="med" len="med"/>
                    </a:lnR>
                    <a:lnT w="9525" cap="flat" cmpd="sng" algn="ctr">
                      <a:solidFill>
                        <a:srgbClr val="EAF2F3"/>
                      </a:solidFill>
                      <a:prstDash val="solid"/>
                      <a:round/>
                      <a:headEnd type="none" w="med" len="med"/>
                      <a:tailEnd type="none" w="med" len="med"/>
                    </a:lnT>
                    <a:lnB w="9525" cap="flat" cmpd="sng" algn="ctr">
                      <a:solidFill>
                        <a:srgbClr val="EAF2F3"/>
                      </a:solidFill>
                      <a:prstDash val="solid"/>
                      <a:round/>
                      <a:headEnd type="none" w="med" len="med"/>
                      <a:tailEnd type="none" w="med" len="med"/>
                    </a:lnB>
                  </a:tcPr>
                </a:tc>
                <a:tc>
                  <a:txBody>
                    <a:bodyPr/>
                    <a:lstStyle/>
                    <a:p>
                      <a:pPr indent="0" marL="0">
                        <a:buNone/>
                      </a:pPr>
                      <a:r>
                        <a:rPr lang="en-US" sz="1400" dirty="0">
                          <a:solidFill>
                            <a:schemeClr val="tx1"/>
                          </a:solidFill>
                        </a:rPr>
                        <a:t>A product cannot sit 60% in one zone and 40% in another.</a:t>
                      </a:r>
                      <a:endParaRPr lang="en-US" sz="1400" dirty="0"/>
                    </a:p>
                  </a:txBody>
                  <a:tcPr marL="109728" marR="109728" marT="36576" marB="36576" anchor="ctr">
                    <a:lnL w="9525" cap="flat" cmpd="sng" algn="ctr">
                      <a:solidFill>
                        <a:srgbClr val="EAF2F3"/>
                      </a:solidFill>
                      <a:prstDash val="solid"/>
                      <a:round/>
                      <a:headEnd type="none" w="med" len="med"/>
                      <a:tailEnd type="none" w="med" len="med"/>
                    </a:lnL>
                    <a:lnR w="9525" cap="flat" cmpd="sng" algn="ctr">
                      <a:solidFill>
                        <a:srgbClr val="EAF2F3"/>
                      </a:solidFill>
                      <a:prstDash val="solid"/>
                      <a:round/>
                      <a:headEnd type="none" w="med" len="med"/>
                      <a:tailEnd type="none" w="med" len="med"/>
                    </a:lnR>
                    <a:lnT w="9525" cap="flat" cmpd="sng" algn="ctr">
                      <a:solidFill>
                        <a:srgbClr val="EAF2F3"/>
                      </a:solidFill>
                      <a:prstDash val="solid"/>
                      <a:round/>
                      <a:headEnd type="none" w="med" len="med"/>
                      <a:tailEnd type="none" w="med" len="med"/>
                    </a:lnT>
                    <a:lnB w="9525" cap="flat" cmpd="sng" algn="ctr">
                      <a:solidFill>
                        <a:srgbClr val="EAF2F3"/>
                      </a:solidFill>
                      <a:prstDash val="solid"/>
                      <a:round/>
                      <a:headEnd type="none" w="med" len="med"/>
                      <a:tailEnd type="none" w="med" len="med"/>
                    </a:lnB>
                  </a:tcPr>
                </a:tc>
              </a:tr>
              <a:tr h="658368">
                <a:tc>
                  <a:txBody>
                    <a:bodyPr/>
                    <a:lstStyle/>
                    <a:p>
                      <a:pPr indent="0" marL="0">
                        <a:buNone/>
                      </a:pPr>
                      <a:r>
                        <a:rPr lang="en-US" sz="1400" dirty="0">
                          <a:solidFill>
                            <a:schemeClr val="tx1"/>
                          </a:solidFill>
                        </a:rPr>
                        <a:t>Hierarchical clustering</a:t>
                      </a:r>
                      <a:endParaRPr lang="en-US" sz="1400" dirty="0"/>
                    </a:p>
                  </a:txBody>
                  <a:tcPr marL="109728" marR="109728" marT="36576" marB="36576" anchor="ctr">
                    <a:lnL w="9525" cap="flat" cmpd="sng" algn="ctr">
                      <a:solidFill>
                        <a:srgbClr val="EAF2F3"/>
                      </a:solidFill>
                      <a:prstDash val="solid"/>
                      <a:round/>
                      <a:headEnd type="none" w="med" len="med"/>
                      <a:tailEnd type="none" w="med" len="med"/>
                    </a:lnL>
                    <a:lnR w="9525" cap="flat" cmpd="sng" algn="ctr">
                      <a:solidFill>
                        <a:srgbClr val="EAF2F3"/>
                      </a:solidFill>
                      <a:prstDash val="solid"/>
                      <a:round/>
                      <a:headEnd type="none" w="med" len="med"/>
                      <a:tailEnd type="none" w="med" len="med"/>
                    </a:lnR>
                    <a:lnT w="9525" cap="flat" cmpd="sng" algn="ctr">
                      <a:solidFill>
                        <a:srgbClr val="EAF2F3"/>
                      </a:solidFill>
                      <a:prstDash val="solid"/>
                      <a:round/>
                      <a:headEnd type="none" w="med" len="med"/>
                      <a:tailEnd type="none" w="med" len="med"/>
                    </a:lnT>
                    <a:lnB w="9525" cap="flat" cmpd="sng" algn="ctr">
                      <a:solidFill>
                        <a:srgbClr val="EAF2F3"/>
                      </a:solidFill>
                      <a:prstDash val="solid"/>
                      <a:round/>
                      <a:headEnd type="none" w="med" len="med"/>
                      <a:tailEnd type="none" w="med" len="med"/>
                    </a:lnB>
                  </a:tcPr>
                </a:tc>
                <a:tc>
                  <a:txBody>
                    <a:bodyPr/>
                    <a:lstStyle/>
                    <a:p>
                      <a:pPr indent="0" marL="0">
                        <a:buNone/>
                      </a:pPr>
                      <a:r>
                        <a:rPr lang="en-US" sz="1400" dirty="0">
                          <a:solidFill>
                            <a:schemeClr val="tx1"/>
                          </a:solidFill>
                        </a:rPr>
                        <a:t>A tree of clusters (dendrogram)</a:t>
                      </a:r>
                      <a:endParaRPr lang="en-US" sz="1400" dirty="0"/>
                    </a:p>
                  </a:txBody>
                  <a:tcPr marL="109728" marR="109728" marT="36576" marB="36576" anchor="ctr">
                    <a:lnL w="9525" cap="flat" cmpd="sng" algn="ctr">
                      <a:solidFill>
                        <a:srgbClr val="EAF2F3"/>
                      </a:solidFill>
                      <a:prstDash val="solid"/>
                      <a:round/>
                      <a:headEnd type="none" w="med" len="med"/>
                      <a:tailEnd type="none" w="med" len="med"/>
                    </a:lnL>
                    <a:lnR w="9525" cap="flat" cmpd="sng" algn="ctr">
                      <a:solidFill>
                        <a:srgbClr val="EAF2F3"/>
                      </a:solidFill>
                      <a:prstDash val="solid"/>
                      <a:round/>
                      <a:headEnd type="none" w="med" len="med"/>
                      <a:tailEnd type="none" w="med" len="med"/>
                    </a:lnR>
                    <a:lnT w="9525" cap="flat" cmpd="sng" algn="ctr">
                      <a:solidFill>
                        <a:srgbClr val="EAF2F3"/>
                      </a:solidFill>
                      <a:prstDash val="solid"/>
                      <a:round/>
                      <a:headEnd type="none" w="med" len="med"/>
                      <a:tailEnd type="none" w="med" len="med"/>
                    </a:lnT>
                    <a:lnB w="9525" cap="flat" cmpd="sng" algn="ctr">
                      <a:solidFill>
                        <a:srgbClr val="EAF2F3"/>
                      </a:solidFill>
                      <a:prstDash val="solid"/>
                      <a:round/>
                      <a:headEnd type="none" w="med" len="med"/>
                      <a:tailEnd type="none" w="med" len="med"/>
                    </a:lnB>
                  </a:tcPr>
                </a:tc>
                <a:tc>
                  <a:txBody>
                    <a:bodyPr/>
                    <a:lstStyle/>
                    <a:p>
                      <a:pPr indent="0" marL="0">
                        <a:buNone/>
                      </a:pPr>
                      <a:r>
                        <a:rPr lang="en-US" sz="1400" dirty="0">
                          <a:solidFill>
                            <a:schemeClr val="tx1"/>
                          </a:solidFill>
                        </a:rPr>
                        <a:t>Compares every pair of items, so it gets slow for thousands of SKUs.</a:t>
                      </a:r>
                      <a:endParaRPr lang="en-US" sz="1400" dirty="0"/>
                    </a:p>
                  </a:txBody>
                  <a:tcPr marL="109728" marR="109728" marT="36576" marB="36576" anchor="ctr">
                    <a:lnL w="9525" cap="flat" cmpd="sng" algn="ctr">
                      <a:solidFill>
                        <a:srgbClr val="EAF2F3"/>
                      </a:solidFill>
                      <a:prstDash val="solid"/>
                      <a:round/>
                      <a:headEnd type="none" w="med" len="med"/>
                      <a:tailEnd type="none" w="med" len="med"/>
                    </a:lnL>
                    <a:lnR w="9525" cap="flat" cmpd="sng" algn="ctr">
                      <a:solidFill>
                        <a:srgbClr val="EAF2F3"/>
                      </a:solidFill>
                      <a:prstDash val="solid"/>
                      <a:round/>
                      <a:headEnd type="none" w="med" len="med"/>
                      <a:tailEnd type="none" w="med" len="med"/>
                    </a:lnR>
                    <a:lnT w="9525" cap="flat" cmpd="sng" algn="ctr">
                      <a:solidFill>
                        <a:srgbClr val="EAF2F3"/>
                      </a:solidFill>
                      <a:prstDash val="solid"/>
                      <a:round/>
                      <a:headEnd type="none" w="med" len="med"/>
                      <a:tailEnd type="none" w="med" len="med"/>
                    </a:lnT>
                    <a:lnB w="9525" cap="flat" cmpd="sng" algn="ctr">
                      <a:solidFill>
                        <a:srgbClr val="EAF2F3"/>
                      </a:solidFill>
                      <a:prstDash val="solid"/>
                      <a:round/>
                      <a:headEnd type="none" w="med" len="med"/>
                      <a:tailEnd type="none" w="med" len="med"/>
                    </a:lnB>
                  </a:tcPr>
                </a:tc>
              </a:tr>
              <a:tr h="658368">
                <a:tc>
                  <a:txBody>
                    <a:bodyPr/>
                    <a:lstStyle/>
                    <a:p>
                      <a:pPr indent="0" marL="0">
                        <a:buNone/>
                      </a:pPr>
                      <a:r>
                        <a:rPr lang="en-US" sz="1400" dirty="0">
                          <a:solidFill>
                            <a:schemeClr val="tx1"/>
                          </a:solidFill>
                        </a:rPr>
                        <a:t>PCA / Factor analysis</a:t>
                      </a:r>
                      <a:endParaRPr lang="en-US" sz="1400" dirty="0"/>
                    </a:p>
                  </a:txBody>
                  <a:tcPr marL="109728" marR="109728" marT="36576" marB="36576" anchor="ctr">
                    <a:lnL w="9525" cap="flat" cmpd="sng" algn="ctr">
                      <a:solidFill>
                        <a:srgbClr val="EAF2F3"/>
                      </a:solidFill>
                      <a:prstDash val="solid"/>
                      <a:round/>
                      <a:headEnd type="none" w="med" len="med"/>
                      <a:tailEnd type="none" w="med" len="med"/>
                    </a:lnL>
                    <a:lnR w="9525" cap="flat" cmpd="sng" algn="ctr">
                      <a:solidFill>
                        <a:srgbClr val="EAF2F3"/>
                      </a:solidFill>
                      <a:prstDash val="solid"/>
                      <a:round/>
                      <a:headEnd type="none" w="med" len="med"/>
                      <a:tailEnd type="none" w="med" len="med"/>
                    </a:lnR>
                    <a:lnT w="9525" cap="flat" cmpd="sng" algn="ctr">
                      <a:solidFill>
                        <a:srgbClr val="EAF2F3"/>
                      </a:solidFill>
                      <a:prstDash val="solid"/>
                      <a:round/>
                      <a:headEnd type="none" w="med" len="med"/>
                      <a:tailEnd type="none" w="med" len="med"/>
                    </a:lnT>
                    <a:lnB w="9525" cap="flat" cmpd="sng" algn="ctr">
                      <a:solidFill>
                        <a:srgbClr val="EAF2F3"/>
                      </a:solidFill>
                      <a:prstDash val="solid"/>
                      <a:round/>
                      <a:headEnd type="none" w="med" len="med"/>
                      <a:tailEnd type="none" w="med" len="med"/>
                    </a:lnB>
                  </a:tcPr>
                </a:tc>
                <a:tc>
                  <a:txBody>
                    <a:bodyPr/>
                    <a:lstStyle/>
                    <a:p>
                      <a:pPr indent="0" marL="0">
                        <a:buNone/>
                      </a:pPr>
                      <a:r>
                        <a:rPr lang="en-US" sz="1400" dirty="0">
                          <a:solidFill>
                            <a:schemeClr val="tx1"/>
                          </a:solidFill>
                        </a:rPr>
                        <a:t>Fewer features</a:t>
                      </a:r>
                      <a:endParaRPr lang="en-US" sz="1400" dirty="0"/>
                    </a:p>
                  </a:txBody>
                  <a:tcPr marL="109728" marR="109728" marT="36576" marB="36576" anchor="ctr">
                    <a:lnL w="9525" cap="flat" cmpd="sng" algn="ctr">
                      <a:solidFill>
                        <a:srgbClr val="EAF2F3"/>
                      </a:solidFill>
                      <a:prstDash val="solid"/>
                      <a:round/>
                      <a:headEnd type="none" w="med" len="med"/>
                      <a:tailEnd type="none" w="med" len="med"/>
                    </a:lnL>
                    <a:lnR w="9525" cap="flat" cmpd="sng" algn="ctr">
                      <a:solidFill>
                        <a:srgbClr val="EAF2F3"/>
                      </a:solidFill>
                      <a:prstDash val="solid"/>
                      <a:round/>
                      <a:headEnd type="none" w="med" len="med"/>
                      <a:tailEnd type="none" w="med" len="med"/>
                    </a:lnR>
                    <a:lnT w="9525" cap="flat" cmpd="sng" algn="ctr">
                      <a:solidFill>
                        <a:srgbClr val="EAF2F3"/>
                      </a:solidFill>
                      <a:prstDash val="solid"/>
                      <a:round/>
                      <a:headEnd type="none" w="med" len="med"/>
                      <a:tailEnd type="none" w="med" len="med"/>
                    </a:lnT>
                    <a:lnB w="9525" cap="flat" cmpd="sng" algn="ctr">
                      <a:solidFill>
                        <a:srgbClr val="EAF2F3"/>
                      </a:solidFill>
                      <a:prstDash val="solid"/>
                      <a:round/>
                      <a:headEnd type="none" w="med" len="med"/>
                      <a:tailEnd type="none" w="med" len="med"/>
                    </a:lnB>
                  </a:tcPr>
                </a:tc>
                <a:tc>
                  <a:txBody>
                    <a:bodyPr/>
                    <a:lstStyle/>
                    <a:p>
                      <a:pPr indent="0" marL="0">
                        <a:buNone/>
                      </a:pPr>
                      <a:r>
                        <a:rPr lang="en-US" sz="1400" dirty="0">
                          <a:solidFill>
                            <a:schemeClr val="tx1"/>
                          </a:solidFill>
                        </a:rPr>
                        <a:t>Does not create groups. It can only help before clustering.</a:t>
                      </a:r>
                      <a:endParaRPr lang="en-US" sz="1400" dirty="0"/>
                    </a:p>
                  </a:txBody>
                  <a:tcPr marL="109728" marR="109728" marT="36576" marB="36576" anchor="ctr">
                    <a:lnL w="9525" cap="flat" cmpd="sng" algn="ctr">
                      <a:solidFill>
                        <a:srgbClr val="EAF2F3"/>
                      </a:solidFill>
                      <a:prstDash val="solid"/>
                      <a:round/>
                      <a:headEnd type="none" w="med" len="med"/>
                      <a:tailEnd type="none" w="med" len="med"/>
                    </a:lnL>
                    <a:lnR w="9525" cap="flat" cmpd="sng" algn="ctr">
                      <a:solidFill>
                        <a:srgbClr val="EAF2F3"/>
                      </a:solidFill>
                      <a:prstDash val="solid"/>
                      <a:round/>
                      <a:headEnd type="none" w="med" len="med"/>
                      <a:tailEnd type="none" w="med" len="med"/>
                    </a:lnR>
                    <a:lnT w="9525" cap="flat" cmpd="sng" algn="ctr">
                      <a:solidFill>
                        <a:srgbClr val="EAF2F3"/>
                      </a:solidFill>
                      <a:prstDash val="solid"/>
                      <a:round/>
                      <a:headEnd type="none" w="med" len="med"/>
                      <a:tailEnd type="none" w="med" len="med"/>
                    </a:lnT>
                    <a:lnB w="9525" cap="flat" cmpd="sng" algn="ctr">
                      <a:solidFill>
                        <a:srgbClr val="EAF2F3"/>
                      </a:solidFill>
                      <a:prstDash val="solid"/>
                      <a:round/>
                      <a:headEnd type="none" w="med" len="med"/>
                      <a:tailEnd type="none" w="med" len="med"/>
                    </a:lnB>
                  </a:tcPr>
                </a:tc>
              </a:tr>
              <a:tr h="658368">
                <a:tc>
                  <a:txBody>
                    <a:bodyPr/>
                    <a:lstStyle/>
                    <a:p>
                      <a:pPr indent="0" marL="0">
                        <a:buNone/>
                      </a:pPr>
                      <a:r>
                        <a:rPr lang="en-US" sz="1400" b="1" dirty="0">
                          <a:solidFill>
                            <a:schemeClr val="tx2"/>
                          </a:solidFill>
                        </a:rPr>
                        <a:t>K-Means clustering</a:t>
                      </a:r>
                      <a:endParaRPr lang="en-US" sz="1400" dirty="0"/>
                    </a:p>
                  </a:txBody>
                  <a:tcPr marL="109728" marR="109728" marT="36576" marB="36576" anchor="ctr">
                    <a:lnL w="9525" cap="flat" cmpd="sng" algn="ctr">
                      <a:solidFill>
                        <a:srgbClr val="EAF2F3"/>
                      </a:solidFill>
                      <a:prstDash val="solid"/>
                      <a:round/>
                      <a:headEnd type="none" w="med" len="med"/>
                      <a:tailEnd type="none" w="med" len="med"/>
                    </a:lnL>
                    <a:lnR w="9525" cap="flat" cmpd="sng" algn="ctr">
                      <a:solidFill>
                        <a:srgbClr val="EAF2F3"/>
                      </a:solidFill>
                      <a:prstDash val="solid"/>
                      <a:round/>
                      <a:headEnd type="none" w="med" len="med"/>
                      <a:tailEnd type="none" w="med" len="med"/>
                    </a:lnR>
                    <a:lnT w="9525" cap="flat" cmpd="sng" algn="ctr">
                      <a:solidFill>
                        <a:srgbClr val="EAF2F3"/>
                      </a:solidFill>
                      <a:prstDash val="solid"/>
                      <a:round/>
                      <a:headEnd type="none" w="med" len="med"/>
                      <a:tailEnd type="none" w="med" len="med"/>
                    </a:lnT>
                    <a:lnB w="9525" cap="flat" cmpd="sng" algn="ctr">
                      <a:solidFill>
                        <a:srgbClr val="EAF2F3"/>
                      </a:solidFill>
                      <a:prstDash val="solid"/>
                      <a:round/>
                      <a:headEnd type="none" w="med" len="med"/>
                      <a:tailEnd type="none" w="med" len="med"/>
                    </a:lnB>
                    <a:solidFill>
                      <a:schemeClr val="bg2"/>
                    </a:solidFill>
                  </a:tcPr>
                </a:tc>
                <a:tc>
                  <a:txBody>
                    <a:bodyPr/>
                    <a:lstStyle/>
                    <a:p>
                      <a:pPr indent="0" marL="0">
                        <a:buNone/>
                      </a:pPr>
                      <a:r>
                        <a:rPr lang="en-US" sz="1400" b="1" dirty="0">
                          <a:solidFill>
                            <a:schemeClr val="tx2"/>
                          </a:solidFill>
                        </a:rPr>
                        <a:t>k clear groups, one centre each</a:t>
                      </a:r>
                      <a:endParaRPr lang="en-US" sz="1400" dirty="0"/>
                    </a:p>
                  </a:txBody>
                  <a:tcPr marL="109728" marR="109728" marT="36576" marB="36576" anchor="ctr">
                    <a:lnL w="9525" cap="flat" cmpd="sng" algn="ctr">
                      <a:solidFill>
                        <a:srgbClr val="EAF2F3"/>
                      </a:solidFill>
                      <a:prstDash val="solid"/>
                      <a:round/>
                      <a:headEnd type="none" w="med" len="med"/>
                      <a:tailEnd type="none" w="med" len="med"/>
                    </a:lnL>
                    <a:lnR w="9525" cap="flat" cmpd="sng" algn="ctr">
                      <a:solidFill>
                        <a:srgbClr val="EAF2F3"/>
                      </a:solidFill>
                      <a:prstDash val="solid"/>
                      <a:round/>
                      <a:headEnd type="none" w="med" len="med"/>
                      <a:tailEnd type="none" w="med" len="med"/>
                    </a:lnR>
                    <a:lnT w="9525" cap="flat" cmpd="sng" algn="ctr">
                      <a:solidFill>
                        <a:srgbClr val="EAF2F3"/>
                      </a:solidFill>
                      <a:prstDash val="solid"/>
                      <a:round/>
                      <a:headEnd type="none" w="med" len="med"/>
                      <a:tailEnd type="none" w="med" len="med"/>
                    </a:lnT>
                    <a:lnB w="9525" cap="flat" cmpd="sng" algn="ctr">
                      <a:solidFill>
                        <a:srgbClr val="EAF2F3"/>
                      </a:solidFill>
                      <a:prstDash val="solid"/>
                      <a:round/>
                      <a:headEnd type="none" w="med" len="med"/>
                      <a:tailEnd type="none" w="med" len="med"/>
                    </a:lnB>
                    <a:solidFill>
                      <a:schemeClr val="bg2"/>
                    </a:solidFill>
                  </a:tcPr>
                </a:tc>
                <a:tc>
                  <a:txBody>
                    <a:bodyPr/>
                    <a:lstStyle/>
                    <a:p>
                      <a:pPr indent="0" marL="0">
                        <a:buNone/>
                      </a:pPr>
                      <a:r>
                        <a:rPr lang="en-US" sz="1400" b="1" dirty="0">
                          <a:solidFill>
                            <a:schemeClr val="tx2"/>
                          </a:solidFill>
                        </a:rPr>
                        <a:t>Fits our need: one clear group for every SKU.</a:t>
                      </a:r>
                      <a:endParaRPr lang="en-US" sz="1400" dirty="0"/>
                    </a:p>
                  </a:txBody>
                  <a:tcPr marL="109728" marR="109728" marT="36576" marB="36576" anchor="ctr">
                    <a:lnL w="9525" cap="flat" cmpd="sng" algn="ctr">
                      <a:solidFill>
                        <a:srgbClr val="EAF2F3"/>
                      </a:solidFill>
                      <a:prstDash val="solid"/>
                      <a:round/>
                      <a:headEnd type="none" w="med" len="med"/>
                      <a:tailEnd type="none" w="med" len="med"/>
                    </a:lnL>
                    <a:lnR w="9525" cap="flat" cmpd="sng" algn="ctr">
                      <a:solidFill>
                        <a:srgbClr val="EAF2F3"/>
                      </a:solidFill>
                      <a:prstDash val="solid"/>
                      <a:round/>
                      <a:headEnd type="none" w="med" len="med"/>
                      <a:tailEnd type="none" w="med" len="med"/>
                    </a:lnR>
                    <a:lnT w="9525" cap="flat" cmpd="sng" algn="ctr">
                      <a:solidFill>
                        <a:srgbClr val="EAF2F3"/>
                      </a:solidFill>
                      <a:prstDash val="solid"/>
                      <a:round/>
                      <a:headEnd type="none" w="med" len="med"/>
                      <a:tailEnd type="none" w="med" len="med"/>
                    </a:lnT>
                    <a:lnB w="9525" cap="flat" cmpd="sng" algn="ctr">
                      <a:solidFill>
                        <a:srgbClr val="EAF2F3"/>
                      </a:solidFill>
                      <a:prstDash val="solid"/>
                      <a:round/>
                      <a:headEnd type="none" w="med" len="med"/>
                      <a:tailEnd type="none" w="med" len="med"/>
                    </a:lnB>
                    <a:solidFill>
                      <a:schemeClr val="bg2"/>
                    </a:solidFill>
                  </a:tcPr>
                </a:tc>
              </a:tr>
            </a:tbl>
          </a:graphicData>
        </a:graphic>
      </p:graphicFrame>
      <p:sp>
        <p:nvSpPr>
          <p:cNvPr id="25" name="Slide Number Placeholder 0"/>
          <p:cNvSpPr>
            <a:spLocks noGrp="1"/>
          </p:cNvSpPr>
          <p:nvPr>
            <p:ph type="sldNum" sz="quarter" idx="4294967295"/>
          </p:nvPr>
        </p:nvSpPr>
        <p:spPr>
          <a:xfrm>
            <a:off x="8229600" y="472744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7315200" cy="685800"/>
          </a:xfrm>
          <a:prstGeom prst="rect">
            <a:avLst/>
          </a:prstGeom>
          <a:noFill/>
          <a:ln/>
        </p:spPr>
        <p:txBody>
          <a:bodyPr wrap="square" lIns="0" tIns="0" rIns="0" bIns="0" rtlCol="0" anchor="ctr"/>
          <a:lstStyle/>
          <a:p>
            <a:pPr algn="l" indent="0" marL="0">
              <a:buNone/>
            </a:pPr>
            <a:r>
              <a:rPr lang="en-US" sz="3600" b="1" dirty="0">
                <a:solidFill>
                  <a:schemeClr val="tx2"/>
                </a:solidFill>
              </a:rPr>
              <a:t>How K-Means works</a:t>
            </a:r>
            <a:endParaRPr lang="en-US" sz="3600" dirty="0"/>
          </a:p>
        </p:txBody>
      </p:sp>
      <p:sp>
        <p:nvSpPr>
          <p:cNvPr id="4" name="Arrow 127"/>
          <p:cNvSpPr/>
          <p:nvPr/>
        </p:nvSpPr>
        <p:spPr>
          <a:xfrm>
            <a:off x="1024128" y="1463040"/>
            <a:ext cx="1097280" cy="0"/>
          </a:xfrm>
          <a:prstGeom prst="line">
            <a:avLst/>
          </a:prstGeom>
          <a:noFill/>
          <a:ln w="19050">
            <a:solidFill>
              <a:schemeClr val="accent5"/>
            </a:solidFill>
            <a:prstDash val="solid"/>
            <a:tailEnd type="triangle"/>
          </a:ln>
        </p:spPr>
      </p:sp>
      <p:sp>
        <p:nvSpPr>
          <p:cNvPr id="5" name="Badge 128"/>
          <p:cNvSpPr/>
          <p:nvPr/>
        </p:nvSpPr>
        <p:spPr>
          <a:xfrm>
            <a:off x="457200" y="1216152"/>
            <a:ext cx="502920" cy="502920"/>
          </a:xfrm>
          <a:prstGeom prst="ellipse">
            <a:avLst/>
          </a:prstGeom>
          <a:solidFill>
            <a:schemeClr val="accent2"/>
          </a:solidFill>
          <a:ln>
            <a:solidFill>
              <a:schemeClr val="accent2"/>
            </a:solidFill>
          </a:ln>
        </p:spPr>
        <p:txBody>
          <a:bodyPr wrap="square" lIns="0" tIns="0" rIns="0" bIns="0" rtlCol="0" anchor="ctr"/>
          <a:lstStyle/>
          <a:p>
            <a:pPr algn="ctr" indent="0" marL="0">
              <a:buNone/>
            </a:pPr>
            <a:r>
              <a:rPr lang="en-US" sz="2000" b="1" dirty="0">
                <a:solidFill>
                  <a:schemeClr val="bg1"/>
                </a:solidFill>
              </a:rPr>
              <a:t>1</a:t>
            </a:r>
            <a:endParaRPr lang="en-US" sz="2000" dirty="0"/>
          </a:p>
        </p:txBody>
      </p:sp>
      <p:sp>
        <p:nvSpPr>
          <p:cNvPr id="6" name="Text 129"/>
          <p:cNvSpPr txBox="1"/>
          <p:nvPr/>
        </p:nvSpPr>
        <p:spPr>
          <a:xfrm>
            <a:off x="457200" y="1874520"/>
            <a:ext cx="1499616" cy="502920"/>
          </a:xfrm>
          <a:prstGeom prst="rect">
            <a:avLst/>
          </a:prstGeom>
          <a:noFill/>
          <a:ln/>
        </p:spPr>
        <p:txBody>
          <a:bodyPr wrap="square" lIns="0" tIns="0" rIns="0" bIns="0" rtlCol="0" anchor="t"/>
          <a:lstStyle/>
          <a:p>
            <a:pPr algn="l" indent="0" marL="0">
              <a:buNone/>
            </a:pPr>
            <a:r>
              <a:rPr lang="en-US" sz="1500" b="1" dirty="0">
                <a:solidFill>
                  <a:schemeClr val="tx2"/>
                </a:solidFill>
              </a:rPr>
              <a:t>Pick k centres</a:t>
            </a:r>
            <a:endParaRPr lang="en-US" sz="1500" dirty="0"/>
          </a:p>
        </p:txBody>
      </p:sp>
      <p:sp>
        <p:nvSpPr>
          <p:cNvPr id="7" name="Text 130"/>
          <p:cNvSpPr txBox="1"/>
          <p:nvPr/>
        </p:nvSpPr>
        <p:spPr>
          <a:xfrm>
            <a:off x="457200" y="2395728"/>
            <a:ext cx="1499616" cy="1234440"/>
          </a:xfrm>
          <a:prstGeom prst="rect">
            <a:avLst/>
          </a:prstGeom>
          <a:noFill/>
          <a:ln/>
        </p:spPr>
        <p:txBody>
          <a:bodyPr wrap="square" lIns="0" tIns="0" rIns="0" bIns="0" rtlCol="0" anchor="t"/>
          <a:lstStyle/>
          <a:p>
            <a:pPr algn="l" indent="0" marL="0">
              <a:buNone/>
            </a:pPr>
            <a:r>
              <a:rPr lang="en-US" sz="1400" dirty="0">
                <a:solidFill>
                  <a:schemeClr val="tx1"/>
                </a:solidFill>
              </a:rPr>
              <a:t>Choose k centroids at random to start.</a:t>
            </a:r>
            <a:endParaRPr lang="en-US" sz="1400" dirty="0"/>
          </a:p>
        </p:txBody>
      </p:sp>
      <p:sp>
        <p:nvSpPr>
          <p:cNvPr id="8" name="Arrow 131"/>
          <p:cNvSpPr/>
          <p:nvPr/>
        </p:nvSpPr>
        <p:spPr>
          <a:xfrm>
            <a:off x="2706624" y="1463040"/>
            <a:ext cx="1097280" cy="0"/>
          </a:xfrm>
          <a:prstGeom prst="line">
            <a:avLst/>
          </a:prstGeom>
          <a:noFill/>
          <a:ln w="19050">
            <a:solidFill>
              <a:schemeClr val="accent5"/>
            </a:solidFill>
            <a:prstDash val="solid"/>
            <a:tailEnd type="triangle"/>
          </a:ln>
        </p:spPr>
      </p:sp>
      <p:sp>
        <p:nvSpPr>
          <p:cNvPr id="9" name="Badge 132"/>
          <p:cNvSpPr/>
          <p:nvPr/>
        </p:nvSpPr>
        <p:spPr>
          <a:xfrm>
            <a:off x="2139696" y="1216152"/>
            <a:ext cx="502920" cy="502920"/>
          </a:xfrm>
          <a:prstGeom prst="ellipse">
            <a:avLst/>
          </a:prstGeom>
          <a:solidFill>
            <a:schemeClr val="accent2"/>
          </a:solidFill>
          <a:ln>
            <a:solidFill>
              <a:schemeClr val="accent2"/>
            </a:solidFill>
          </a:ln>
        </p:spPr>
        <p:txBody>
          <a:bodyPr wrap="square" lIns="0" tIns="0" rIns="0" bIns="0" rtlCol="0" anchor="ctr"/>
          <a:lstStyle/>
          <a:p>
            <a:pPr algn="ctr" indent="0" marL="0">
              <a:buNone/>
            </a:pPr>
            <a:r>
              <a:rPr lang="en-US" sz="2000" b="1" dirty="0">
                <a:solidFill>
                  <a:schemeClr val="bg1"/>
                </a:solidFill>
              </a:rPr>
              <a:t>2</a:t>
            </a:r>
            <a:endParaRPr lang="en-US" sz="2000" dirty="0"/>
          </a:p>
        </p:txBody>
      </p:sp>
      <p:sp>
        <p:nvSpPr>
          <p:cNvPr id="10" name="Text 133"/>
          <p:cNvSpPr txBox="1"/>
          <p:nvPr/>
        </p:nvSpPr>
        <p:spPr>
          <a:xfrm>
            <a:off x="2139696" y="1874520"/>
            <a:ext cx="1499616" cy="502920"/>
          </a:xfrm>
          <a:prstGeom prst="rect">
            <a:avLst/>
          </a:prstGeom>
          <a:noFill/>
          <a:ln/>
        </p:spPr>
        <p:txBody>
          <a:bodyPr wrap="square" lIns="0" tIns="0" rIns="0" bIns="0" rtlCol="0" anchor="t"/>
          <a:lstStyle/>
          <a:p>
            <a:pPr algn="l" indent="0" marL="0">
              <a:buNone/>
            </a:pPr>
            <a:r>
              <a:rPr lang="en-US" sz="1500" b="1" dirty="0">
                <a:solidFill>
                  <a:schemeClr val="tx2"/>
                </a:solidFill>
              </a:rPr>
              <a:t>Measure distance</a:t>
            </a:r>
            <a:endParaRPr lang="en-US" sz="1500" dirty="0"/>
          </a:p>
        </p:txBody>
      </p:sp>
      <p:sp>
        <p:nvSpPr>
          <p:cNvPr id="11" name="Text 134"/>
          <p:cNvSpPr txBox="1"/>
          <p:nvPr/>
        </p:nvSpPr>
        <p:spPr>
          <a:xfrm>
            <a:off x="2139696" y="2395728"/>
            <a:ext cx="1499616" cy="1234440"/>
          </a:xfrm>
          <a:prstGeom prst="rect">
            <a:avLst/>
          </a:prstGeom>
          <a:noFill/>
          <a:ln/>
        </p:spPr>
        <p:txBody>
          <a:bodyPr wrap="square" lIns="0" tIns="0" rIns="0" bIns="0" rtlCol="0" anchor="t"/>
          <a:lstStyle/>
          <a:p>
            <a:pPr algn="l" indent="0" marL="0">
              <a:buNone/>
            </a:pPr>
            <a:r>
              <a:rPr lang="en-US" sz="1400" dirty="0">
                <a:solidFill>
                  <a:schemeClr val="tx1"/>
                </a:solidFill>
              </a:rPr>
              <a:t>Find the distance from each SKU to every centroid.</a:t>
            </a:r>
            <a:endParaRPr lang="en-US" sz="1400" dirty="0"/>
          </a:p>
        </p:txBody>
      </p:sp>
      <p:sp>
        <p:nvSpPr>
          <p:cNvPr id="12" name="Arrow 135"/>
          <p:cNvSpPr/>
          <p:nvPr/>
        </p:nvSpPr>
        <p:spPr>
          <a:xfrm>
            <a:off x="4389120" y="1463040"/>
            <a:ext cx="1097280" cy="0"/>
          </a:xfrm>
          <a:prstGeom prst="line">
            <a:avLst/>
          </a:prstGeom>
          <a:noFill/>
          <a:ln w="19050">
            <a:solidFill>
              <a:schemeClr val="accent5"/>
            </a:solidFill>
            <a:prstDash val="solid"/>
            <a:tailEnd type="triangle"/>
          </a:ln>
        </p:spPr>
      </p:sp>
      <p:sp>
        <p:nvSpPr>
          <p:cNvPr id="13" name="Badge 136"/>
          <p:cNvSpPr/>
          <p:nvPr/>
        </p:nvSpPr>
        <p:spPr>
          <a:xfrm>
            <a:off x="3822192" y="1216152"/>
            <a:ext cx="502920" cy="502920"/>
          </a:xfrm>
          <a:prstGeom prst="ellipse">
            <a:avLst/>
          </a:prstGeom>
          <a:solidFill>
            <a:schemeClr val="accent2"/>
          </a:solidFill>
          <a:ln>
            <a:solidFill>
              <a:schemeClr val="accent2"/>
            </a:solidFill>
          </a:ln>
        </p:spPr>
        <p:txBody>
          <a:bodyPr wrap="square" lIns="0" tIns="0" rIns="0" bIns="0" rtlCol="0" anchor="ctr"/>
          <a:lstStyle/>
          <a:p>
            <a:pPr algn="ctr" indent="0" marL="0">
              <a:buNone/>
            </a:pPr>
            <a:r>
              <a:rPr lang="en-US" sz="2000" b="1" dirty="0">
                <a:solidFill>
                  <a:schemeClr val="bg1"/>
                </a:solidFill>
              </a:rPr>
              <a:t>3</a:t>
            </a:r>
            <a:endParaRPr lang="en-US" sz="2000" dirty="0"/>
          </a:p>
        </p:txBody>
      </p:sp>
      <p:sp>
        <p:nvSpPr>
          <p:cNvPr id="14" name="Text 137"/>
          <p:cNvSpPr txBox="1"/>
          <p:nvPr/>
        </p:nvSpPr>
        <p:spPr>
          <a:xfrm>
            <a:off x="3822192" y="1874520"/>
            <a:ext cx="1499616" cy="502920"/>
          </a:xfrm>
          <a:prstGeom prst="rect">
            <a:avLst/>
          </a:prstGeom>
          <a:noFill/>
          <a:ln/>
        </p:spPr>
        <p:txBody>
          <a:bodyPr wrap="square" lIns="0" tIns="0" rIns="0" bIns="0" rtlCol="0" anchor="t"/>
          <a:lstStyle/>
          <a:p>
            <a:pPr algn="l" indent="0" marL="0">
              <a:buNone/>
            </a:pPr>
            <a:r>
              <a:rPr lang="en-US" sz="1500" b="1" dirty="0">
                <a:solidFill>
                  <a:schemeClr val="tx2"/>
                </a:solidFill>
              </a:rPr>
              <a:t>Assign</a:t>
            </a:r>
            <a:endParaRPr lang="en-US" sz="1500" dirty="0"/>
          </a:p>
        </p:txBody>
      </p:sp>
      <p:sp>
        <p:nvSpPr>
          <p:cNvPr id="15" name="Text 138"/>
          <p:cNvSpPr txBox="1"/>
          <p:nvPr/>
        </p:nvSpPr>
        <p:spPr>
          <a:xfrm>
            <a:off x="3822192" y="2395728"/>
            <a:ext cx="1499616" cy="1234440"/>
          </a:xfrm>
          <a:prstGeom prst="rect">
            <a:avLst/>
          </a:prstGeom>
          <a:noFill/>
          <a:ln/>
        </p:spPr>
        <p:txBody>
          <a:bodyPr wrap="square" lIns="0" tIns="0" rIns="0" bIns="0" rtlCol="0" anchor="t"/>
          <a:lstStyle/>
          <a:p>
            <a:pPr algn="l" indent="0" marL="0">
              <a:buNone/>
            </a:pPr>
            <a:r>
              <a:rPr lang="en-US" sz="1400" dirty="0">
                <a:solidFill>
                  <a:schemeClr val="tx1"/>
                </a:solidFill>
              </a:rPr>
              <a:t>Put each SKU in the cluster with the nearest centroid.</a:t>
            </a:r>
            <a:endParaRPr lang="en-US" sz="1400" dirty="0"/>
          </a:p>
        </p:txBody>
      </p:sp>
      <p:sp>
        <p:nvSpPr>
          <p:cNvPr id="16" name="Arrow 139"/>
          <p:cNvSpPr/>
          <p:nvPr/>
        </p:nvSpPr>
        <p:spPr>
          <a:xfrm>
            <a:off x="6071616" y="1463040"/>
            <a:ext cx="1097280" cy="0"/>
          </a:xfrm>
          <a:prstGeom prst="line">
            <a:avLst/>
          </a:prstGeom>
          <a:noFill/>
          <a:ln w="19050">
            <a:solidFill>
              <a:schemeClr val="accent5"/>
            </a:solidFill>
            <a:prstDash val="solid"/>
            <a:tailEnd type="triangle"/>
          </a:ln>
        </p:spPr>
      </p:sp>
      <p:sp>
        <p:nvSpPr>
          <p:cNvPr id="17" name="Badge 140"/>
          <p:cNvSpPr/>
          <p:nvPr/>
        </p:nvSpPr>
        <p:spPr>
          <a:xfrm>
            <a:off x="5504688" y="1216152"/>
            <a:ext cx="502920" cy="502920"/>
          </a:xfrm>
          <a:prstGeom prst="ellipse">
            <a:avLst/>
          </a:prstGeom>
          <a:solidFill>
            <a:schemeClr val="accent2"/>
          </a:solidFill>
          <a:ln>
            <a:solidFill>
              <a:schemeClr val="accent2"/>
            </a:solidFill>
          </a:ln>
        </p:spPr>
        <p:txBody>
          <a:bodyPr wrap="square" lIns="0" tIns="0" rIns="0" bIns="0" rtlCol="0" anchor="ctr"/>
          <a:lstStyle/>
          <a:p>
            <a:pPr algn="ctr" indent="0" marL="0">
              <a:buNone/>
            </a:pPr>
            <a:r>
              <a:rPr lang="en-US" sz="2000" b="1" dirty="0">
                <a:solidFill>
                  <a:schemeClr val="bg1"/>
                </a:solidFill>
              </a:rPr>
              <a:t>4</a:t>
            </a:r>
            <a:endParaRPr lang="en-US" sz="2000" dirty="0"/>
          </a:p>
        </p:txBody>
      </p:sp>
      <p:sp>
        <p:nvSpPr>
          <p:cNvPr id="18" name="Text 141"/>
          <p:cNvSpPr txBox="1"/>
          <p:nvPr/>
        </p:nvSpPr>
        <p:spPr>
          <a:xfrm>
            <a:off x="5504688" y="1874520"/>
            <a:ext cx="1499616" cy="502920"/>
          </a:xfrm>
          <a:prstGeom prst="rect">
            <a:avLst/>
          </a:prstGeom>
          <a:noFill/>
          <a:ln/>
        </p:spPr>
        <p:txBody>
          <a:bodyPr wrap="square" lIns="0" tIns="0" rIns="0" bIns="0" rtlCol="0" anchor="t"/>
          <a:lstStyle/>
          <a:p>
            <a:pPr algn="l" indent="0" marL="0">
              <a:buNone/>
            </a:pPr>
            <a:r>
              <a:rPr lang="en-US" sz="1500" b="1" dirty="0">
                <a:solidFill>
                  <a:schemeClr val="tx2"/>
                </a:solidFill>
              </a:rPr>
              <a:t>Update centres</a:t>
            </a:r>
            <a:endParaRPr lang="en-US" sz="1500" dirty="0"/>
          </a:p>
        </p:txBody>
      </p:sp>
      <p:sp>
        <p:nvSpPr>
          <p:cNvPr id="19" name="Text 142"/>
          <p:cNvSpPr txBox="1"/>
          <p:nvPr/>
        </p:nvSpPr>
        <p:spPr>
          <a:xfrm>
            <a:off x="5504688" y="2395728"/>
            <a:ext cx="1499616" cy="1234440"/>
          </a:xfrm>
          <a:prstGeom prst="rect">
            <a:avLst/>
          </a:prstGeom>
          <a:noFill/>
          <a:ln/>
        </p:spPr>
        <p:txBody>
          <a:bodyPr wrap="square" lIns="0" tIns="0" rIns="0" bIns="0" rtlCol="0" anchor="t"/>
          <a:lstStyle/>
          <a:p>
            <a:pPr algn="l" indent="0" marL="0">
              <a:buNone/>
            </a:pPr>
            <a:r>
              <a:rPr lang="en-US" sz="1400" dirty="0">
                <a:solidFill>
                  <a:schemeClr val="tx1"/>
                </a:solidFill>
              </a:rPr>
              <a:t>Move each centroid to the mean of its SKUs.</a:t>
            </a:r>
            <a:endParaRPr lang="en-US" sz="1400" dirty="0"/>
          </a:p>
        </p:txBody>
      </p:sp>
      <p:sp>
        <p:nvSpPr>
          <p:cNvPr id="20" name="Badge 143"/>
          <p:cNvSpPr/>
          <p:nvPr/>
        </p:nvSpPr>
        <p:spPr>
          <a:xfrm>
            <a:off x="7187184" y="1216152"/>
            <a:ext cx="502920" cy="502920"/>
          </a:xfrm>
          <a:prstGeom prst="ellipse">
            <a:avLst/>
          </a:prstGeom>
          <a:solidFill>
            <a:schemeClr val="accent3"/>
          </a:solidFill>
          <a:ln>
            <a:solidFill>
              <a:schemeClr val="accent3"/>
            </a:solidFill>
          </a:ln>
        </p:spPr>
        <p:txBody>
          <a:bodyPr wrap="square" lIns="0" tIns="0" rIns="0" bIns="0" rtlCol="0" anchor="ctr"/>
          <a:lstStyle/>
          <a:p>
            <a:pPr algn="ctr" indent="0" marL="0">
              <a:buNone/>
            </a:pPr>
            <a:r>
              <a:rPr lang="en-US" sz="2000" b="1" dirty="0">
                <a:solidFill>
                  <a:schemeClr val="bg1"/>
                </a:solidFill>
              </a:rPr>
              <a:t>5</a:t>
            </a:r>
            <a:endParaRPr lang="en-US" sz="2000" dirty="0"/>
          </a:p>
        </p:txBody>
      </p:sp>
      <p:sp>
        <p:nvSpPr>
          <p:cNvPr id="21" name="Text 144"/>
          <p:cNvSpPr txBox="1"/>
          <p:nvPr/>
        </p:nvSpPr>
        <p:spPr>
          <a:xfrm>
            <a:off x="7187184" y="1874520"/>
            <a:ext cx="1499616" cy="502920"/>
          </a:xfrm>
          <a:prstGeom prst="rect">
            <a:avLst/>
          </a:prstGeom>
          <a:noFill/>
          <a:ln/>
        </p:spPr>
        <p:txBody>
          <a:bodyPr wrap="square" lIns="0" tIns="0" rIns="0" bIns="0" rtlCol="0" anchor="t"/>
          <a:lstStyle/>
          <a:p>
            <a:pPr algn="l" indent="0" marL="0">
              <a:buNone/>
            </a:pPr>
            <a:r>
              <a:rPr lang="en-US" sz="1500" b="1" dirty="0">
                <a:solidFill>
                  <a:schemeClr val="tx2"/>
                </a:solidFill>
              </a:rPr>
              <a:t>Repeat</a:t>
            </a:r>
            <a:endParaRPr lang="en-US" sz="1500" dirty="0"/>
          </a:p>
        </p:txBody>
      </p:sp>
      <p:sp>
        <p:nvSpPr>
          <p:cNvPr id="22" name="Text 145"/>
          <p:cNvSpPr txBox="1"/>
          <p:nvPr/>
        </p:nvSpPr>
        <p:spPr>
          <a:xfrm>
            <a:off x="7187184" y="2395728"/>
            <a:ext cx="1499616" cy="1234440"/>
          </a:xfrm>
          <a:prstGeom prst="rect">
            <a:avLst/>
          </a:prstGeom>
          <a:noFill/>
          <a:ln/>
        </p:spPr>
        <p:txBody>
          <a:bodyPr wrap="square" lIns="0" tIns="0" rIns="0" bIns="0" rtlCol="0" anchor="t"/>
          <a:lstStyle/>
          <a:p>
            <a:pPr algn="l" indent="0" marL="0">
              <a:buNone/>
            </a:pPr>
            <a:r>
              <a:rPr lang="en-US" sz="1400" dirty="0">
                <a:solidFill>
                  <a:schemeClr val="tx1"/>
                </a:solidFill>
              </a:rPr>
              <a:t>Do steps 2 to 4 again until no SKU changes its cluster.</a:t>
            </a:r>
            <a:endParaRPr lang="en-US" sz="1400" dirty="0"/>
          </a:p>
        </p:txBody>
      </p:sp>
      <p:sp>
        <p:nvSpPr>
          <p:cNvPr id="23" name="Card 146"/>
          <p:cNvSpPr/>
          <p:nvPr/>
        </p:nvSpPr>
        <p:spPr>
          <a:xfrm>
            <a:off x="457200" y="3794760"/>
            <a:ext cx="8229600" cy="566928"/>
          </a:xfrm>
          <a:prstGeom prst="roundRect">
            <a:avLst>
              <a:gd name="adj" fmla="val 12903"/>
            </a:avLst>
          </a:prstGeom>
          <a:solidFill>
            <a:schemeClr val="bg2"/>
          </a:solidFill>
          <a:ln w="12700">
            <a:solidFill>
              <a:schemeClr val="bg2"/>
            </a:solidFill>
            <a:prstDash val="solid"/>
          </a:ln>
        </p:spPr>
      </p:sp>
      <p:sp>
        <p:nvSpPr>
          <p:cNvPr id="24" name="Text 147"/>
          <p:cNvSpPr txBox="1"/>
          <p:nvPr/>
        </p:nvSpPr>
        <p:spPr>
          <a:xfrm>
            <a:off x="640080" y="3794760"/>
            <a:ext cx="7863840" cy="566928"/>
          </a:xfrm>
          <a:prstGeom prst="rect">
            <a:avLst/>
          </a:prstGeom>
          <a:noFill/>
          <a:ln/>
        </p:spPr>
        <p:txBody>
          <a:bodyPr wrap="square" lIns="0" tIns="0" rIns="0" bIns="0" rtlCol="0" anchor="ctr"/>
          <a:lstStyle/>
          <a:p>
            <a:pPr algn="l" indent="0" marL="0">
              <a:buNone/>
            </a:pPr>
            <a:r>
              <a:rPr lang="en-US" sz="1400" b="1" dirty="0">
                <a:solidFill>
                  <a:schemeClr val="tx2"/>
                </a:solidFill>
              </a:rPr>
              <a:t>Distance used: </a:t>
            </a:r>
            <a:pPr algn="l" indent="0" marL="0">
              <a:buNone/>
            </a:pPr>
            <a:r>
              <a:rPr lang="en-US" sz="1400" dirty="0">
                <a:solidFill>
                  <a:schemeClr val="tx1"/>
                </a:solidFill>
              </a:rPr>
              <a:t>Euclidean distance, the straight-line distance between two points.</a:t>
            </a:r>
            <a:endParaRPr lang="en-US" sz="1400" dirty="0"/>
          </a:p>
        </p:txBody>
      </p:sp>
      <p:sp>
        <p:nvSpPr>
          <p:cNvPr id="25" name="Slide Number Placeholder 0"/>
          <p:cNvSpPr>
            <a:spLocks noGrp="1"/>
          </p:cNvSpPr>
          <p:nvPr>
            <p:ph type="sldNum" sz="quarter" idx="4294967295"/>
          </p:nvPr>
        </p:nvSpPr>
        <p:spPr>
          <a:xfrm>
            <a:off x="8229600" y="472744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7315200" cy="685800"/>
          </a:xfrm>
          <a:prstGeom prst="rect">
            <a:avLst/>
          </a:prstGeom>
          <a:noFill/>
          <a:ln/>
        </p:spPr>
        <p:txBody>
          <a:bodyPr wrap="square" lIns="0" tIns="0" rIns="0" bIns="0" rtlCol="0" anchor="ctr"/>
          <a:lstStyle/>
          <a:p>
            <a:pPr algn="l" indent="0" marL="0">
              <a:buNone/>
            </a:pPr>
            <a:r>
              <a:rPr lang="en-US" sz="3600" b="1" dirty="0">
                <a:solidFill>
                  <a:schemeClr val="tx2"/>
                </a:solidFill>
              </a:rPr>
              <a:t>Step 1: Prepare the SKU data</a:t>
            </a:r>
            <a:endParaRPr lang="en-US" sz="3600" dirty="0"/>
          </a:p>
        </p:txBody>
      </p:sp>
      <p:sp>
        <p:nvSpPr>
          <p:cNvPr id="4" name="Text 148"/>
          <p:cNvSpPr txBox="1"/>
          <p:nvPr/>
        </p:nvSpPr>
        <p:spPr>
          <a:xfrm>
            <a:off x="457200" y="1115568"/>
            <a:ext cx="4846320" cy="256032"/>
          </a:xfrm>
          <a:prstGeom prst="rect">
            <a:avLst/>
          </a:prstGeom>
          <a:noFill/>
          <a:ln/>
        </p:spPr>
        <p:txBody>
          <a:bodyPr wrap="square" lIns="0" tIns="0" rIns="0" bIns="0" rtlCol="0" anchor="ctr"/>
          <a:lstStyle/>
          <a:p>
            <a:pPr algn="l" indent="0" marL="0">
              <a:buNone/>
            </a:pPr>
            <a:r>
              <a:rPr lang="en-US" sz="1100" dirty="0">
                <a:solidFill>
                  <a:schemeClr val="accent5"/>
                </a:solidFill>
              </a:rPr>
              <a:t>Example data (made up to show the idea)</a:t>
            </a:r>
            <a:endParaRPr lang="en-US" sz="1100" dirty="0"/>
          </a:p>
        </p:txBody>
      </p:sp>
      <p:graphicFrame>
        <p:nvGraphicFramePr>
          <p:cNvPr id="9" name="Example SKU table"/>
          <p:cNvGraphicFramePr>
            <a:graphicFrameLocks noGrp="1"/>
          </p:cNvGraphicFramePr>
          <p:nvPr>
            <p:extLst>
              <p:ext uri="{D42A27DB-BD31-4B8C-83A1-F6EECF244321}">
                <p14:modId xmlns:p14="http://schemas.microsoft.com/office/powerpoint/2010/main" val="1579011935"/>
              </p:ext>
            </p:extLst>
          </p:nvPr>
        </p:nvGraphicFramePr>
        <p:xfrm>
          <a:off x="457200" y="1417320"/>
          <a:ext cx="4846320" cy="914400"/>
        </p:xfrm>
        <a:graphic>
          <a:graphicData uri="http://schemas.openxmlformats.org/drawingml/2006/table">
            <a:tbl>
              <a:tblPr/>
              <a:tblGrid>
                <a:gridCol w="731520"/>
                <a:gridCol w="1051560"/>
                <a:gridCol w="1097280"/>
                <a:gridCol w="1051560"/>
                <a:gridCol w="914400"/>
              </a:tblGrid>
              <a:tr h="566928">
                <a:tc>
                  <a:txBody>
                    <a:bodyPr/>
                    <a:lstStyle/>
                    <a:p>
                      <a:pPr algn="ctr" indent="0" marL="0">
                        <a:buNone/>
                      </a:pPr>
                      <a:r>
                        <a:rPr lang="en-US" sz="1400" b="1" dirty="0">
                          <a:solidFill>
                            <a:schemeClr val="bg1"/>
                          </a:solidFill>
                        </a:rPr>
                        <a:t>SKU</a:t>
                      </a:r>
                      <a:endParaRPr lang="en-US" sz="1400" dirty="0"/>
                    </a:p>
                  </a:txBody>
                  <a:tcPr marL="73152" marR="73152" marT="27432" marB="27432" anchor="ctr">
                    <a:lnL w="9525" cap="flat" cmpd="sng" algn="ctr">
                      <a:solidFill>
                        <a:srgbClr val="EAF2F3"/>
                      </a:solidFill>
                      <a:prstDash val="solid"/>
                      <a:round/>
                      <a:headEnd type="none" w="med" len="med"/>
                      <a:tailEnd type="none" w="med" len="med"/>
                    </a:lnL>
                    <a:lnR w="9525" cap="flat" cmpd="sng" algn="ctr">
                      <a:solidFill>
                        <a:srgbClr val="EAF2F3"/>
                      </a:solidFill>
                      <a:prstDash val="solid"/>
                      <a:round/>
                      <a:headEnd type="none" w="med" len="med"/>
                      <a:tailEnd type="none" w="med" len="med"/>
                    </a:lnR>
                    <a:lnT w="9525" cap="flat" cmpd="sng" algn="ctr">
                      <a:solidFill>
                        <a:srgbClr val="EAF2F3"/>
                      </a:solidFill>
                      <a:prstDash val="solid"/>
                      <a:round/>
                      <a:headEnd type="none" w="med" len="med"/>
                      <a:tailEnd type="none" w="med" len="med"/>
                    </a:lnT>
                    <a:lnB w="9525" cap="flat" cmpd="sng" algn="ctr">
                      <a:solidFill>
                        <a:srgbClr val="EAF2F3"/>
                      </a:solidFill>
                      <a:prstDash val="solid"/>
                      <a:round/>
                      <a:headEnd type="none" w="med" len="med"/>
                      <a:tailEnd type="none" w="med" len="med"/>
                    </a:lnB>
                    <a:solidFill>
                      <a:schemeClr val="accent1"/>
                    </a:solidFill>
                  </a:tcPr>
                </a:tc>
                <a:tc>
                  <a:txBody>
                    <a:bodyPr/>
                    <a:lstStyle/>
                    <a:p>
                      <a:pPr algn="ctr" indent="0" marL="0">
                        <a:buNone/>
                      </a:pPr>
                      <a:r>
                        <a:rPr lang="en-US" sz="1400" b="1" dirty="0">
                          <a:solidFill>
                            <a:schemeClr val="bg1"/>
                          </a:solidFill>
                        </a:rPr>
                        <a:t>Picks / week</a:t>
                      </a:r>
                      <a:endParaRPr lang="en-US" sz="1400" dirty="0"/>
                    </a:p>
                  </a:txBody>
                  <a:tcPr marL="73152" marR="73152" marT="27432" marB="27432" anchor="ctr">
                    <a:lnL w="9525" cap="flat" cmpd="sng" algn="ctr">
                      <a:solidFill>
                        <a:srgbClr val="EAF2F3"/>
                      </a:solidFill>
                      <a:prstDash val="solid"/>
                      <a:round/>
                      <a:headEnd type="none" w="med" len="med"/>
                      <a:tailEnd type="none" w="med" len="med"/>
                    </a:lnL>
                    <a:lnR w="9525" cap="flat" cmpd="sng" algn="ctr">
                      <a:solidFill>
                        <a:srgbClr val="EAF2F3"/>
                      </a:solidFill>
                      <a:prstDash val="solid"/>
                      <a:round/>
                      <a:headEnd type="none" w="med" len="med"/>
                      <a:tailEnd type="none" w="med" len="med"/>
                    </a:lnR>
                    <a:lnT w="9525" cap="flat" cmpd="sng" algn="ctr">
                      <a:solidFill>
                        <a:srgbClr val="EAF2F3"/>
                      </a:solidFill>
                      <a:prstDash val="solid"/>
                      <a:round/>
                      <a:headEnd type="none" w="med" len="med"/>
                      <a:tailEnd type="none" w="med" len="med"/>
                    </a:lnT>
                    <a:lnB w="9525" cap="flat" cmpd="sng" algn="ctr">
                      <a:solidFill>
                        <a:srgbClr val="EAF2F3"/>
                      </a:solidFill>
                      <a:prstDash val="solid"/>
                      <a:round/>
                      <a:headEnd type="none" w="med" len="med"/>
                      <a:tailEnd type="none" w="med" len="med"/>
                    </a:lnB>
                    <a:solidFill>
                      <a:schemeClr val="accent1"/>
                    </a:solidFill>
                  </a:tcPr>
                </a:tc>
                <a:tc>
                  <a:txBody>
                    <a:bodyPr/>
                    <a:lstStyle/>
                    <a:p>
                      <a:pPr algn="ctr" indent="0" marL="0">
                        <a:buNone/>
                      </a:pPr>
                      <a:r>
                        <a:rPr lang="en-US" sz="1400" b="1" dirty="0">
                          <a:solidFill>
                            <a:schemeClr val="bg1"/>
                          </a:solidFill>
                        </a:rPr>
                        <a:t>Season index</a:t>
                      </a:r>
                      <a:endParaRPr lang="en-US" sz="1400" dirty="0"/>
                    </a:p>
                  </a:txBody>
                  <a:tcPr marL="73152" marR="73152" marT="27432" marB="27432" anchor="ctr">
                    <a:lnL w="9525" cap="flat" cmpd="sng" algn="ctr">
                      <a:solidFill>
                        <a:srgbClr val="EAF2F3"/>
                      </a:solidFill>
                      <a:prstDash val="solid"/>
                      <a:round/>
                      <a:headEnd type="none" w="med" len="med"/>
                      <a:tailEnd type="none" w="med" len="med"/>
                    </a:lnL>
                    <a:lnR w="9525" cap="flat" cmpd="sng" algn="ctr">
                      <a:solidFill>
                        <a:srgbClr val="EAF2F3"/>
                      </a:solidFill>
                      <a:prstDash val="solid"/>
                      <a:round/>
                      <a:headEnd type="none" w="med" len="med"/>
                      <a:tailEnd type="none" w="med" len="med"/>
                    </a:lnR>
                    <a:lnT w="9525" cap="flat" cmpd="sng" algn="ctr">
                      <a:solidFill>
                        <a:srgbClr val="EAF2F3"/>
                      </a:solidFill>
                      <a:prstDash val="solid"/>
                      <a:round/>
                      <a:headEnd type="none" w="med" len="med"/>
                      <a:tailEnd type="none" w="med" len="med"/>
                    </a:lnT>
                    <a:lnB w="9525" cap="flat" cmpd="sng" algn="ctr">
                      <a:solidFill>
                        <a:srgbClr val="EAF2F3"/>
                      </a:solidFill>
                      <a:prstDash val="solid"/>
                      <a:round/>
                      <a:headEnd type="none" w="med" len="med"/>
                      <a:tailEnd type="none" w="med" len="med"/>
                    </a:lnB>
                    <a:solidFill>
                      <a:schemeClr val="accent1"/>
                    </a:solidFill>
                  </a:tcPr>
                </a:tc>
                <a:tc>
                  <a:txBody>
                    <a:bodyPr/>
                    <a:lstStyle/>
                    <a:p>
                      <a:pPr algn="ctr" indent="0" marL="0">
                        <a:buNone/>
                      </a:pPr>
                      <a:r>
                        <a:rPr lang="en-US" sz="1400" b="1" dirty="0">
                          <a:solidFill>
                            <a:schemeClr val="bg1"/>
                          </a:solidFill>
                        </a:rPr>
                        <a:t>Volume (L)</a:t>
                      </a:r>
                      <a:endParaRPr lang="en-US" sz="1400" dirty="0"/>
                    </a:p>
                  </a:txBody>
                  <a:tcPr marL="73152" marR="73152" marT="27432" marB="27432" anchor="ctr">
                    <a:lnL w="9525" cap="flat" cmpd="sng" algn="ctr">
                      <a:solidFill>
                        <a:srgbClr val="EAF2F3"/>
                      </a:solidFill>
                      <a:prstDash val="solid"/>
                      <a:round/>
                      <a:headEnd type="none" w="med" len="med"/>
                      <a:tailEnd type="none" w="med" len="med"/>
                    </a:lnL>
                    <a:lnR w="9525" cap="flat" cmpd="sng" algn="ctr">
                      <a:solidFill>
                        <a:srgbClr val="EAF2F3"/>
                      </a:solidFill>
                      <a:prstDash val="solid"/>
                      <a:round/>
                      <a:headEnd type="none" w="med" len="med"/>
                      <a:tailEnd type="none" w="med" len="med"/>
                    </a:lnR>
                    <a:lnT w="9525" cap="flat" cmpd="sng" algn="ctr">
                      <a:solidFill>
                        <a:srgbClr val="EAF2F3"/>
                      </a:solidFill>
                      <a:prstDash val="solid"/>
                      <a:round/>
                      <a:headEnd type="none" w="med" len="med"/>
                      <a:tailEnd type="none" w="med" len="med"/>
                    </a:lnT>
                    <a:lnB w="9525" cap="flat" cmpd="sng" algn="ctr">
                      <a:solidFill>
                        <a:srgbClr val="EAF2F3"/>
                      </a:solidFill>
                      <a:prstDash val="solid"/>
                      <a:round/>
                      <a:headEnd type="none" w="med" len="med"/>
                      <a:tailEnd type="none" w="med" len="med"/>
                    </a:lnB>
                    <a:solidFill>
                      <a:schemeClr val="accent1"/>
                    </a:solidFill>
                  </a:tcPr>
                </a:tc>
                <a:tc>
                  <a:txBody>
                    <a:bodyPr/>
                    <a:lstStyle/>
                    <a:p>
                      <a:pPr algn="ctr" indent="0" marL="0">
                        <a:buNone/>
                      </a:pPr>
                      <a:r>
                        <a:rPr lang="en-US" sz="1400" b="1" dirty="0">
                          <a:solidFill>
                            <a:schemeClr val="bg1"/>
                          </a:solidFill>
                        </a:rPr>
                        <a:t>Fragile</a:t>
                      </a:r>
                      <a:endParaRPr lang="en-US" sz="1400" dirty="0"/>
                    </a:p>
                  </a:txBody>
                  <a:tcPr marL="73152" marR="73152" marT="27432" marB="27432" anchor="ctr">
                    <a:lnL w="9525" cap="flat" cmpd="sng" algn="ctr">
                      <a:solidFill>
                        <a:srgbClr val="EAF2F3"/>
                      </a:solidFill>
                      <a:prstDash val="solid"/>
                      <a:round/>
                      <a:headEnd type="none" w="med" len="med"/>
                      <a:tailEnd type="none" w="med" len="med"/>
                    </a:lnL>
                    <a:lnR w="9525" cap="flat" cmpd="sng" algn="ctr">
                      <a:solidFill>
                        <a:srgbClr val="EAF2F3"/>
                      </a:solidFill>
                      <a:prstDash val="solid"/>
                      <a:round/>
                      <a:headEnd type="none" w="med" len="med"/>
                      <a:tailEnd type="none" w="med" len="med"/>
                    </a:lnR>
                    <a:lnT w="9525" cap="flat" cmpd="sng" algn="ctr">
                      <a:solidFill>
                        <a:srgbClr val="EAF2F3"/>
                      </a:solidFill>
                      <a:prstDash val="solid"/>
                      <a:round/>
                      <a:headEnd type="none" w="med" len="med"/>
                      <a:tailEnd type="none" w="med" len="med"/>
                    </a:lnT>
                    <a:lnB w="9525" cap="flat" cmpd="sng" algn="ctr">
                      <a:solidFill>
                        <a:srgbClr val="EAF2F3"/>
                      </a:solidFill>
                      <a:prstDash val="solid"/>
                      <a:round/>
                      <a:headEnd type="none" w="med" len="med"/>
                      <a:tailEnd type="none" w="med" len="med"/>
                    </a:lnB>
                    <a:solidFill>
                      <a:schemeClr val="accent1"/>
                    </a:solidFill>
                  </a:tcPr>
                </a:tc>
              </a:tr>
              <a:tr h="384048">
                <a:tc>
                  <a:txBody>
                    <a:bodyPr/>
                    <a:lstStyle/>
                    <a:p>
                      <a:pPr indent="0" marL="0">
                        <a:buNone/>
                      </a:pPr>
                      <a:r>
                        <a:rPr lang="en-US" sz="1400" dirty="0">
                          <a:solidFill>
                            <a:schemeClr val="tx1"/>
                          </a:solidFill>
                        </a:rPr>
                        <a:t>A101</a:t>
                      </a:r>
                      <a:endParaRPr lang="en-US" sz="1400" dirty="0"/>
                    </a:p>
                  </a:txBody>
                  <a:tcPr marL="73152" marR="73152" marT="27432" marB="27432" anchor="ctr">
                    <a:lnL w="9525" cap="flat" cmpd="sng" algn="ctr">
                      <a:solidFill>
                        <a:srgbClr val="EAF2F3"/>
                      </a:solidFill>
                      <a:prstDash val="solid"/>
                      <a:round/>
                      <a:headEnd type="none" w="med" len="med"/>
                      <a:tailEnd type="none" w="med" len="med"/>
                    </a:lnL>
                    <a:lnR w="9525" cap="flat" cmpd="sng" algn="ctr">
                      <a:solidFill>
                        <a:srgbClr val="EAF2F3"/>
                      </a:solidFill>
                      <a:prstDash val="solid"/>
                      <a:round/>
                      <a:headEnd type="none" w="med" len="med"/>
                      <a:tailEnd type="none" w="med" len="med"/>
                    </a:lnR>
                    <a:lnT w="9525" cap="flat" cmpd="sng" algn="ctr">
                      <a:solidFill>
                        <a:srgbClr val="EAF2F3"/>
                      </a:solidFill>
                      <a:prstDash val="solid"/>
                      <a:round/>
                      <a:headEnd type="none" w="med" len="med"/>
                      <a:tailEnd type="none" w="med" len="med"/>
                    </a:lnT>
                    <a:lnB w="9525" cap="flat" cmpd="sng" algn="ctr">
                      <a:solidFill>
                        <a:srgbClr val="EAF2F3"/>
                      </a:solidFill>
                      <a:prstDash val="solid"/>
                      <a:round/>
                      <a:headEnd type="none" w="med" len="med"/>
                      <a:tailEnd type="none" w="med" len="med"/>
                    </a:lnB>
                  </a:tcPr>
                </a:tc>
                <a:tc>
                  <a:txBody>
                    <a:bodyPr/>
                    <a:lstStyle/>
                    <a:p>
                      <a:pPr algn="ctr" indent="0" marL="0">
                        <a:buNone/>
                      </a:pPr>
                      <a:r>
                        <a:rPr lang="en-US" sz="1400" dirty="0">
                          <a:solidFill>
                            <a:schemeClr val="tx1"/>
                          </a:solidFill>
                        </a:rPr>
                        <a:t>120</a:t>
                      </a:r>
                      <a:endParaRPr lang="en-US" sz="1400" dirty="0"/>
                    </a:p>
                  </a:txBody>
                  <a:tcPr marL="73152" marR="73152" marT="27432" marB="27432" anchor="ctr">
                    <a:lnL w="9525" cap="flat" cmpd="sng" algn="ctr">
                      <a:solidFill>
                        <a:srgbClr val="EAF2F3"/>
                      </a:solidFill>
                      <a:prstDash val="solid"/>
                      <a:round/>
                      <a:headEnd type="none" w="med" len="med"/>
                      <a:tailEnd type="none" w="med" len="med"/>
                    </a:lnL>
                    <a:lnR w="9525" cap="flat" cmpd="sng" algn="ctr">
                      <a:solidFill>
                        <a:srgbClr val="EAF2F3"/>
                      </a:solidFill>
                      <a:prstDash val="solid"/>
                      <a:round/>
                      <a:headEnd type="none" w="med" len="med"/>
                      <a:tailEnd type="none" w="med" len="med"/>
                    </a:lnR>
                    <a:lnT w="9525" cap="flat" cmpd="sng" algn="ctr">
                      <a:solidFill>
                        <a:srgbClr val="EAF2F3"/>
                      </a:solidFill>
                      <a:prstDash val="solid"/>
                      <a:round/>
                      <a:headEnd type="none" w="med" len="med"/>
                      <a:tailEnd type="none" w="med" len="med"/>
                    </a:lnT>
                    <a:lnB w="9525" cap="flat" cmpd="sng" algn="ctr">
                      <a:solidFill>
                        <a:srgbClr val="EAF2F3"/>
                      </a:solidFill>
                      <a:prstDash val="solid"/>
                      <a:round/>
                      <a:headEnd type="none" w="med" len="med"/>
                      <a:tailEnd type="none" w="med" len="med"/>
                    </a:lnB>
                  </a:tcPr>
                </a:tc>
                <a:tc>
                  <a:txBody>
                    <a:bodyPr/>
                    <a:lstStyle/>
                    <a:p>
                      <a:pPr algn="ctr" indent="0" marL="0">
                        <a:buNone/>
                      </a:pPr>
                      <a:r>
                        <a:rPr lang="en-US" sz="1400" dirty="0">
                          <a:solidFill>
                            <a:schemeClr val="tx1"/>
                          </a:solidFill>
                        </a:rPr>
                        <a:t>1.1</a:t>
                      </a:r>
                      <a:endParaRPr lang="en-US" sz="1400" dirty="0"/>
                    </a:p>
                  </a:txBody>
                  <a:tcPr marL="73152" marR="73152" marT="27432" marB="27432" anchor="ctr">
                    <a:lnL w="9525" cap="flat" cmpd="sng" algn="ctr">
                      <a:solidFill>
                        <a:srgbClr val="EAF2F3"/>
                      </a:solidFill>
                      <a:prstDash val="solid"/>
                      <a:round/>
                      <a:headEnd type="none" w="med" len="med"/>
                      <a:tailEnd type="none" w="med" len="med"/>
                    </a:lnL>
                    <a:lnR w="9525" cap="flat" cmpd="sng" algn="ctr">
                      <a:solidFill>
                        <a:srgbClr val="EAF2F3"/>
                      </a:solidFill>
                      <a:prstDash val="solid"/>
                      <a:round/>
                      <a:headEnd type="none" w="med" len="med"/>
                      <a:tailEnd type="none" w="med" len="med"/>
                    </a:lnR>
                    <a:lnT w="9525" cap="flat" cmpd="sng" algn="ctr">
                      <a:solidFill>
                        <a:srgbClr val="EAF2F3"/>
                      </a:solidFill>
                      <a:prstDash val="solid"/>
                      <a:round/>
                      <a:headEnd type="none" w="med" len="med"/>
                      <a:tailEnd type="none" w="med" len="med"/>
                    </a:lnT>
                    <a:lnB w="9525" cap="flat" cmpd="sng" algn="ctr">
                      <a:solidFill>
                        <a:srgbClr val="EAF2F3"/>
                      </a:solidFill>
                      <a:prstDash val="solid"/>
                      <a:round/>
                      <a:headEnd type="none" w="med" len="med"/>
                      <a:tailEnd type="none" w="med" len="med"/>
                    </a:lnB>
                  </a:tcPr>
                </a:tc>
                <a:tc>
                  <a:txBody>
                    <a:bodyPr/>
                    <a:lstStyle/>
                    <a:p>
                      <a:pPr algn="ctr" indent="0" marL="0">
                        <a:buNone/>
                      </a:pPr>
                      <a:r>
                        <a:rPr lang="en-US" sz="1400" dirty="0">
                          <a:solidFill>
                            <a:schemeClr val="tx1"/>
                          </a:solidFill>
                        </a:rPr>
                        <a:t>2</a:t>
                      </a:r>
                      <a:endParaRPr lang="en-US" sz="1400" dirty="0"/>
                    </a:p>
                  </a:txBody>
                  <a:tcPr marL="73152" marR="73152" marT="27432" marB="27432" anchor="ctr">
                    <a:lnL w="9525" cap="flat" cmpd="sng" algn="ctr">
                      <a:solidFill>
                        <a:srgbClr val="EAF2F3"/>
                      </a:solidFill>
                      <a:prstDash val="solid"/>
                      <a:round/>
                      <a:headEnd type="none" w="med" len="med"/>
                      <a:tailEnd type="none" w="med" len="med"/>
                    </a:lnL>
                    <a:lnR w="9525" cap="flat" cmpd="sng" algn="ctr">
                      <a:solidFill>
                        <a:srgbClr val="EAF2F3"/>
                      </a:solidFill>
                      <a:prstDash val="solid"/>
                      <a:round/>
                      <a:headEnd type="none" w="med" len="med"/>
                      <a:tailEnd type="none" w="med" len="med"/>
                    </a:lnR>
                    <a:lnT w="9525" cap="flat" cmpd="sng" algn="ctr">
                      <a:solidFill>
                        <a:srgbClr val="EAF2F3"/>
                      </a:solidFill>
                      <a:prstDash val="solid"/>
                      <a:round/>
                      <a:headEnd type="none" w="med" len="med"/>
                      <a:tailEnd type="none" w="med" len="med"/>
                    </a:lnT>
                    <a:lnB w="9525" cap="flat" cmpd="sng" algn="ctr">
                      <a:solidFill>
                        <a:srgbClr val="EAF2F3"/>
                      </a:solidFill>
                      <a:prstDash val="solid"/>
                      <a:round/>
                      <a:headEnd type="none" w="med" len="med"/>
                      <a:tailEnd type="none" w="med" len="med"/>
                    </a:lnB>
                  </a:tcPr>
                </a:tc>
                <a:tc>
                  <a:txBody>
                    <a:bodyPr/>
                    <a:lstStyle/>
                    <a:p>
                      <a:pPr algn="ctr" indent="0" marL="0">
                        <a:buNone/>
                      </a:pPr>
                      <a:r>
                        <a:rPr lang="en-US" sz="1400" dirty="0">
                          <a:solidFill>
                            <a:schemeClr val="tx1"/>
                          </a:solidFill>
                        </a:rPr>
                        <a:t>0</a:t>
                      </a:r>
                      <a:endParaRPr lang="en-US" sz="1400" dirty="0"/>
                    </a:p>
                  </a:txBody>
                  <a:tcPr marL="73152" marR="73152" marT="27432" marB="27432" anchor="ctr">
                    <a:lnL w="9525" cap="flat" cmpd="sng" algn="ctr">
                      <a:solidFill>
                        <a:srgbClr val="EAF2F3"/>
                      </a:solidFill>
                      <a:prstDash val="solid"/>
                      <a:round/>
                      <a:headEnd type="none" w="med" len="med"/>
                      <a:tailEnd type="none" w="med" len="med"/>
                    </a:lnL>
                    <a:lnR w="9525" cap="flat" cmpd="sng" algn="ctr">
                      <a:solidFill>
                        <a:srgbClr val="EAF2F3"/>
                      </a:solidFill>
                      <a:prstDash val="solid"/>
                      <a:round/>
                      <a:headEnd type="none" w="med" len="med"/>
                      <a:tailEnd type="none" w="med" len="med"/>
                    </a:lnR>
                    <a:lnT w="9525" cap="flat" cmpd="sng" algn="ctr">
                      <a:solidFill>
                        <a:srgbClr val="EAF2F3"/>
                      </a:solidFill>
                      <a:prstDash val="solid"/>
                      <a:round/>
                      <a:headEnd type="none" w="med" len="med"/>
                      <a:tailEnd type="none" w="med" len="med"/>
                    </a:lnT>
                    <a:lnB w="9525" cap="flat" cmpd="sng" algn="ctr">
                      <a:solidFill>
                        <a:srgbClr val="EAF2F3"/>
                      </a:solidFill>
                      <a:prstDash val="solid"/>
                      <a:round/>
                      <a:headEnd type="none" w="med" len="med"/>
                      <a:tailEnd type="none" w="med" len="med"/>
                    </a:lnB>
                  </a:tcPr>
                </a:tc>
              </a:tr>
              <a:tr h="384048">
                <a:tc>
                  <a:txBody>
                    <a:bodyPr/>
                    <a:lstStyle/>
                    <a:p>
                      <a:pPr indent="0" marL="0">
                        <a:buNone/>
                      </a:pPr>
                      <a:r>
                        <a:rPr lang="en-US" sz="1400" dirty="0">
                          <a:solidFill>
                            <a:schemeClr val="tx1"/>
                          </a:solidFill>
                        </a:rPr>
                        <a:t>B205</a:t>
                      </a:r>
                      <a:endParaRPr lang="en-US" sz="1400" dirty="0"/>
                    </a:p>
                  </a:txBody>
                  <a:tcPr marL="73152" marR="73152" marT="27432" marB="27432" anchor="ctr">
                    <a:lnL w="9525" cap="flat" cmpd="sng" algn="ctr">
                      <a:solidFill>
                        <a:srgbClr val="EAF2F3"/>
                      </a:solidFill>
                      <a:prstDash val="solid"/>
                      <a:round/>
                      <a:headEnd type="none" w="med" len="med"/>
                      <a:tailEnd type="none" w="med" len="med"/>
                    </a:lnL>
                    <a:lnR w="9525" cap="flat" cmpd="sng" algn="ctr">
                      <a:solidFill>
                        <a:srgbClr val="EAF2F3"/>
                      </a:solidFill>
                      <a:prstDash val="solid"/>
                      <a:round/>
                      <a:headEnd type="none" w="med" len="med"/>
                      <a:tailEnd type="none" w="med" len="med"/>
                    </a:lnR>
                    <a:lnT w="9525" cap="flat" cmpd="sng" algn="ctr">
                      <a:solidFill>
                        <a:srgbClr val="EAF2F3"/>
                      </a:solidFill>
                      <a:prstDash val="solid"/>
                      <a:round/>
                      <a:headEnd type="none" w="med" len="med"/>
                      <a:tailEnd type="none" w="med" len="med"/>
                    </a:lnT>
                    <a:lnB w="9525" cap="flat" cmpd="sng" algn="ctr">
                      <a:solidFill>
                        <a:srgbClr val="EAF2F3"/>
                      </a:solidFill>
                      <a:prstDash val="solid"/>
                      <a:round/>
                      <a:headEnd type="none" w="med" len="med"/>
                      <a:tailEnd type="none" w="med" len="med"/>
                    </a:lnB>
                  </a:tcPr>
                </a:tc>
                <a:tc>
                  <a:txBody>
                    <a:bodyPr/>
                    <a:lstStyle/>
                    <a:p>
                      <a:pPr algn="ctr" indent="0" marL="0">
                        <a:buNone/>
                      </a:pPr>
                      <a:r>
                        <a:rPr lang="en-US" sz="1400" dirty="0">
                          <a:solidFill>
                            <a:schemeClr val="tx1"/>
                          </a:solidFill>
                        </a:rPr>
                        <a:t>8</a:t>
                      </a:r>
                      <a:endParaRPr lang="en-US" sz="1400" dirty="0"/>
                    </a:p>
                  </a:txBody>
                  <a:tcPr marL="73152" marR="73152" marT="27432" marB="27432" anchor="ctr">
                    <a:lnL w="9525" cap="flat" cmpd="sng" algn="ctr">
                      <a:solidFill>
                        <a:srgbClr val="EAF2F3"/>
                      </a:solidFill>
                      <a:prstDash val="solid"/>
                      <a:round/>
                      <a:headEnd type="none" w="med" len="med"/>
                      <a:tailEnd type="none" w="med" len="med"/>
                    </a:lnL>
                    <a:lnR w="9525" cap="flat" cmpd="sng" algn="ctr">
                      <a:solidFill>
                        <a:srgbClr val="EAF2F3"/>
                      </a:solidFill>
                      <a:prstDash val="solid"/>
                      <a:round/>
                      <a:headEnd type="none" w="med" len="med"/>
                      <a:tailEnd type="none" w="med" len="med"/>
                    </a:lnR>
                    <a:lnT w="9525" cap="flat" cmpd="sng" algn="ctr">
                      <a:solidFill>
                        <a:srgbClr val="EAF2F3"/>
                      </a:solidFill>
                      <a:prstDash val="solid"/>
                      <a:round/>
                      <a:headEnd type="none" w="med" len="med"/>
                      <a:tailEnd type="none" w="med" len="med"/>
                    </a:lnT>
                    <a:lnB w="9525" cap="flat" cmpd="sng" algn="ctr">
                      <a:solidFill>
                        <a:srgbClr val="EAF2F3"/>
                      </a:solidFill>
                      <a:prstDash val="solid"/>
                      <a:round/>
                      <a:headEnd type="none" w="med" len="med"/>
                      <a:tailEnd type="none" w="med" len="med"/>
                    </a:lnB>
                  </a:tcPr>
                </a:tc>
                <a:tc>
                  <a:txBody>
                    <a:bodyPr/>
                    <a:lstStyle/>
                    <a:p>
                      <a:pPr algn="ctr" indent="0" marL="0">
                        <a:buNone/>
                      </a:pPr>
                      <a:r>
                        <a:rPr lang="en-US" sz="1400" dirty="0">
                          <a:solidFill>
                            <a:schemeClr val="tx1"/>
                          </a:solidFill>
                        </a:rPr>
                        <a:t>3.5</a:t>
                      </a:r>
                      <a:endParaRPr lang="en-US" sz="1400" dirty="0"/>
                    </a:p>
                  </a:txBody>
                  <a:tcPr marL="73152" marR="73152" marT="27432" marB="27432" anchor="ctr">
                    <a:lnL w="9525" cap="flat" cmpd="sng" algn="ctr">
                      <a:solidFill>
                        <a:srgbClr val="EAF2F3"/>
                      </a:solidFill>
                      <a:prstDash val="solid"/>
                      <a:round/>
                      <a:headEnd type="none" w="med" len="med"/>
                      <a:tailEnd type="none" w="med" len="med"/>
                    </a:lnL>
                    <a:lnR w="9525" cap="flat" cmpd="sng" algn="ctr">
                      <a:solidFill>
                        <a:srgbClr val="EAF2F3"/>
                      </a:solidFill>
                      <a:prstDash val="solid"/>
                      <a:round/>
                      <a:headEnd type="none" w="med" len="med"/>
                      <a:tailEnd type="none" w="med" len="med"/>
                    </a:lnR>
                    <a:lnT w="9525" cap="flat" cmpd="sng" algn="ctr">
                      <a:solidFill>
                        <a:srgbClr val="EAF2F3"/>
                      </a:solidFill>
                      <a:prstDash val="solid"/>
                      <a:round/>
                      <a:headEnd type="none" w="med" len="med"/>
                      <a:tailEnd type="none" w="med" len="med"/>
                    </a:lnT>
                    <a:lnB w="9525" cap="flat" cmpd="sng" algn="ctr">
                      <a:solidFill>
                        <a:srgbClr val="EAF2F3"/>
                      </a:solidFill>
                      <a:prstDash val="solid"/>
                      <a:round/>
                      <a:headEnd type="none" w="med" len="med"/>
                      <a:tailEnd type="none" w="med" len="med"/>
                    </a:lnB>
                  </a:tcPr>
                </a:tc>
                <a:tc>
                  <a:txBody>
                    <a:bodyPr/>
                    <a:lstStyle/>
                    <a:p>
                      <a:pPr algn="ctr" indent="0" marL="0">
                        <a:buNone/>
                      </a:pPr>
                      <a:r>
                        <a:rPr lang="en-US" sz="1400" dirty="0">
                          <a:solidFill>
                            <a:schemeClr val="tx1"/>
                          </a:solidFill>
                        </a:rPr>
                        <a:t>15</a:t>
                      </a:r>
                      <a:endParaRPr lang="en-US" sz="1400" dirty="0"/>
                    </a:p>
                  </a:txBody>
                  <a:tcPr marL="73152" marR="73152" marT="27432" marB="27432" anchor="ctr">
                    <a:lnL w="9525" cap="flat" cmpd="sng" algn="ctr">
                      <a:solidFill>
                        <a:srgbClr val="EAF2F3"/>
                      </a:solidFill>
                      <a:prstDash val="solid"/>
                      <a:round/>
                      <a:headEnd type="none" w="med" len="med"/>
                      <a:tailEnd type="none" w="med" len="med"/>
                    </a:lnL>
                    <a:lnR w="9525" cap="flat" cmpd="sng" algn="ctr">
                      <a:solidFill>
                        <a:srgbClr val="EAF2F3"/>
                      </a:solidFill>
                      <a:prstDash val="solid"/>
                      <a:round/>
                      <a:headEnd type="none" w="med" len="med"/>
                      <a:tailEnd type="none" w="med" len="med"/>
                    </a:lnR>
                    <a:lnT w="9525" cap="flat" cmpd="sng" algn="ctr">
                      <a:solidFill>
                        <a:srgbClr val="EAF2F3"/>
                      </a:solidFill>
                      <a:prstDash val="solid"/>
                      <a:round/>
                      <a:headEnd type="none" w="med" len="med"/>
                      <a:tailEnd type="none" w="med" len="med"/>
                    </a:lnT>
                    <a:lnB w="9525" cap="flat" cmpd="sng" algn="ctr">
                      <a:solidFill>
                        <a:srgbClr val="EAF2F3"/>
                      </a:solidFill>
                      <a:prstDash val="solid"/>
                      <a:round/>
                      <a:headEnd type="none" w="med" len="med"/>
                      <a:tailEnd type="none" w="med" len="med"/>
                    </a:lnB>
                  </a:tcPr>
                </a:tc>
                <a:tc>
                  <a:txBody>
                    <a:bodyPr/>
                    <a:lstStyle/>
                    <a:p>
                      <a:pPr algn="ctr" indent="0" marL="0">
                        <a:buNone/>
                      </a:pPr>
                      <a:r>
                        <a:rPr lang="en-US" sz="1400" dirty="0">
                          <a:solidFill>
                            <a:schemeClr val="tx1"/>
                          </a:solidFill>
                        </a:rPr>
                        <a:t>0</a:t>
                      </a:r>
                      <a:endParaRPr lang="en-US" sz="1400" dirty="0"/>
                    </a:p>
                  </a:txBody>
                  <a:tcPr marL="73152" marR="73152" marT="27432" marB="27432" anchor="ctr">
                    <a:lnL w="9525" cap="flat" cmpd="sng" algn="ctr">
                      <a:solidFill>
                        <a:srgbClr val="EAF2F3"/>
                      </a:solidFill>
                      <a:prstDash val="solid"/>
                      <a:round/>
                      <a:headEnd type="none" w="med" len="med"/>
                      <a:tailEnd type="none" w="med" len="med"/>
                    </a:lnL>
                    <a:lnR w="9525" cap="flat" cmpd="sng" algn="ctr">
                      <a:solidFill>
                        <a:srgbClr val="EAF2F3"/>
                      </a:solidFill>
                      <a:prstDash val="solid"/>
                      <a:round/>
                      <a:headEnd type="none" w="med" len="med"/>
                      <a:tailEnd type="none" w="med" len="med"/>
                    </a:lnR>
                    <a:lnT w="9525" cap="flat" cmpd="sng" algn="ctr">
                      <a:solidFill>
                        <a:srgbClr val="EAF2F3"/>
                      </a:solidFill>
                      <a:prstDash val="solid"/>
                      <a:round/>
                      <a:headEnd type="none" w="med" len="med"/>
                      <a:tailEnd type="none" w="med" len="med"/>
                    </a:lnT>
                    <a:lnB w="9525" cap="flat" cmpd="sng" algn="ctr">
                      <a:solidFill>
                        <a:srgbClr val="EAF2F3"/>
                      </a:solidFill>
                      <a:prstDash val="solid"/>
                      <a:round/>
                      <a:headEnd type="none" w="med" len="med"/>
                      <a:tailEnd type="none" w="med" len="med"/>
                    </a:lnB>
                  </a:tcPr>
                </a:tc>
              </a:tr>
              <a:tr h="384048">
                <a:tc>
                  <a:txBody>
                    <a:bodyPr/>
                    <a:lstStyle/>
                    <a:p>
                      <a:pPr indent="0" marL="0">
                        <a:buNone/>
                      </a:pPr>
                      <a:r>
                        <a:rPr lang="en-US" sz="1400" dirty="0">
                          <a:solidFill>
                            <a:schemeClr val="tx1"/>
                          </a:solidFill>
                        </a:rPr>
                        <a:t>C310</a:t>
                      </a:r>
                      <a:endParaRPr lang="en-US" sz="1400" dirty="0"/>
                    </a:p>
                  </a:txBody>
                  <a:tcPr marL="73152" marR="73152" marT="27432" marB="27432" anchor="ctr">
                    <a:lnL w="9525" cap="flat" cmpd="sng" algn="ctr">
                      <a:solidFill>
                        <a:srgbClr val="EAF2F3"/>
                      </a:solidFill>
                      <a:prstDash val="solid"/>
                      <a:round/>
                      <a:headEnd type="none" w="med" len="med"/>
                      <a:tailEnd type="none" w="med" len="med"/>
                    </a:lnL>
                    <a:lnR w="9525" cap="flat" cmpd="sng" algn="ctr">
                      <a:solidFill>
                        <a:srgbClr val="EAF2F3"/>
                      </a:solidFill>
                      <a:prstDash val="solid"/>
                      <a:round/>
                      <a:headEnd type="none" w="med" len="med"/>
                      <a:tailEnd type="none" w="med" len="med"/>
                    </a:lnR>
                    <a:lnT w="9525" cap="flat" cmpd="sng" algn="ctr">
                      <a:solidFill>
                        <a:srgbClr val="EAF2F3"/>
                      </a:solidFill>
                      <a:prstDash val="solid"/>
                      <a:round/>
                      <a:headEnd type="none" w="med" len="med"/>
                      <a:tailEnd type="none" w="med" len="med"/>
                    </a:lnT>
                    <a:lnB w="9525" cap="flat" cmpd="sng" algn="ctr">
                      <a:solidFill>
                        <a:srgbClr val="EAF2F3"/>
                      </a:solidFill>
                      <a:prstDash val="solid"/>
                      <a:round/>
                      <a:headEnd type="none" w="med" len="med"/>
                      <a:tailEnd type="none" w="med" len="med"/>
                    </a:lnB>
                  </a:tcPr>
                </a:tc>
                <a:tc>
                  <a:txBody>
                    <a:bodyPr/>
                    <a:lstStyle/>
                    <a:p>
                      <a:pPr algn="ctr" indent="0" marL="0">
                        <a:buNone/>
                      </a:pPr>
                      <a:r>
                        <a:rPr lang="en-US" sz="1400" dirty="0">
                          <a:solidFill>
                            <a:schemeClr val="tx1"/>
                          </a:solidFill>
                        </a:rPr>
                        <a:t>15</a:t>
                      </a:r>
                      <a:endParaRPr lang="en-US" sz="1400" dirty="0"/>
                    </a:p>
                  </a:txBody>
                  <a:tcPr marL="73152" marR="73152" marT="27432" marB="27432" anchor="ctr">
                    <a:lnL w="9525" cap="flat" cmpd="sng" algn="ctr">
                      <a:solidFill>
                        <a:srgbClr val="EAF2F3"/>
                      </a:solidFill>
                      <a:prstDash val="solid"/>
                      <a:round/>
                      <a:headEnd type="none" w="med" len="med"/>
                      <a:tailEnd type="none" w="med" len="med"/>
                    </a:lnL>
                    <a:lnR w="9525" cap="flat" cmpd="sng" algn="ctr">
                      <a:solidFill>
                        <a:srgbClr val="EAF2F3"/>
                      </a:solidFill>
                      <a:prstDash val="solid"/>
                      <a:round/>
                      <a:headEnd type="none" w="med" len="med"/>
                      <a:tailEnd type="none" w="med" len="med"/>
                    </a:lnR>
                    <a:lnT w="9525" cap="flat" cmpd="sng" algn="ctr">
                      <a:solidFill>
                        <a:srgbClr val="EAF2F3"/>
                      </a:solidFill>
                      <a:prstDash val="solid"/>
                      <a:round/>
                      <a:headEnd type="none" w="med" len="med"/>
                      <a:tailEnd type="none" w="med" len="med"/>
                    </a:lnT>
                    <a:lnB w="9525" cap="flat" cmpd="sng" algn="ctr">
                      <a:solidFill>
                        <a:srgbClr val="EAF2F3"/>
                      </a:solidFill>
                      <a:prstDash val="solid"/>
                      <a:round/>
                      <a:headEnd type="none" w="med" len="med"/>
                      <a:tailEnd type="none" w="med" len="med"/>
                    </a:lnB>
                  </a:tcPr>
                </a:tc>
                <a:tc>
                  <a:txBody>
                    <a:bodyPr/>
                    <a:lstStyle/>
                    <a:p>
                      <a:pPr algn="ctr" indent="0" marL="0">
                        <a:buNone/>
                      </a:pPr>
                      <a:r>
                        <a:rPr lang="en-US" sz="1400" dirty="0">
                          <a:solidFill>
                            <a:schemeClr val="tx1"/>
                          </a:solidFill>
                        </a:rPr>
                        <a:t>1.0</a:t>
                      </a:r>
                      <a:endParaRPr lang="en-US" sz="1400" dirty="0"/>
                    </a:p>
                  </a:txBody>
                  <a:tcPr marL="73152" marR="73152" marT="27432" marB="27432" anchor="ctr">
                    <a:lnL w="9525" cap="flat" cmpd="sng" algn="ctr">
                      <a:solidFill>
                        <a:srgbClr val="EAF2F3"/>
                      </a:solidFill>
                      <a:prstDash val="solid"/>
                      <a:round/>
                      <a:headEnd type="none" w="med" len="med"/>
                      <a:tailEnd type="none" w="med" len="med"/>
                    </a:lnL>
                    <a:lnR w="9525" cap="flat" cmpd="sng" algn="ctr">
                      <a:solidFill>
                        <a:srgbClr val="EAF2F3"/>
                      </a:solidFill>
                      <a:prstDash val="solid"/>
                      <a:round/>
                      <a:headEnd type="none" w="med" len="med"/>
                      <a:tailEnd type="none" w="med" len="med"/>
                    </a:lnR>
                    <a:lnT w="9525" cap="flat" cmpd="sng" algn="ctr">
                      <a:solidFill>
                        <a:srgbClr val="EAF2F3"/>
                      </a:solidFill>
                      <a:prstDash val="solid"/>
                      <a:round/>
                      <a:headEnd type="none" w="med" len="med"/>
                      <a:tailEnd type="none" w="med" len="med"/>
                    </a:lnT>
                    <a:lnB w="9525" cap="flat" cmpd="sng" algn="ctr">
                      <a:solidFill>
                        <a:srgbClr val="EAF2F3"/>
                      </a:solidFill>
                      <a:prstDash val="solid"/>
                      <a:round/>
                      <a:headEnd type="none" w="med" len="med"/>
                      <a:tailEnd type="none" w="med" len="med"/>
                    </a:lnB>
                  </a:tcPr>
                </a:tc>
                <a:tc>
                  <a:txBody>
                    <a:bodyPr/>
                    <a:lstStyle/>
                    <a:p>
                      <a:pPr algn="ctr" indent="0" marL="0">
                        <a:buNone/>
                      </a:pPr>
                      <a:r>
                        <a:rPr lang="en-US" sz="1400" dirty="0">
                          <a:solidFill>
                            <a:schemeClr val="tx1"/>
                          </a:solidFill>
                        </a:rPr>
                        <a:t>180</a:t>
                      </a:r>
                      <a:endParaRPr lang="en-US" sz="1400" dirty="0"/>
                    </a:p>
                  </a:txBody>
                  <a:tcPr marL="73152" marR="73152" marT="27432" marB="27432" anchor="ctr">
                    <a:lnL w="9525" cap="flat" cmpd="sng" algn="ctr">
                      <a:solidFill>
                        <a:srgbClr val="EAF2F3"/>
                      </a:solidFill>
                      <a:prstDash val="solid"/>
                      <a:round/>
                      <a:headEnd type="none" w="med" len="med"/>
                      <a:tailEnd type="none" w="med" len="med"/>
                    </a:lnL>
                    <a:lnR w="9525" cap="flat" cmpd="sng" algn="ctr">
                      <a:solidFill>
                        <a:srgbClr val="EAF2F3"/>
                      </a:solidFill>
                      <a:prstDash val="solid"/>
                      <a:round/>
                      <a:headEnd type="none" w="med" len="med"/>
                      <a:tailEnd type="none" w="med" len="med"/>
                    </a:lnR>
                    <a:lnT w="9525" cap="flat" cmpd="sng" algn="ctr">
                      <a:solidFill>
                        <a:srgbClr val="EAF2F3"/>
                      </a:solidFill>
                      <a:prstDash val="solid"/>
                      <a:round/>
                      <a:headEnd type="none" w="med" len="med"/>
                      <a:tailEnd type="none" w="med" len="med"/>
                    </a:lnT>
                    <a:lnB w="9525" cap="flat" cmpd="sng" algn="ctr">
                      <a:solidFill>
                        <a:srgbClr val="EAF2F3"/>
                      </a:solidFill>
                      <a:prstDash val="solid"/>
                      <a:round/>
                      <a:headEnd type="none" w="med" len="med"/>
                      <a:tailEnd type="none" w="med" len="med"/>
                    </a:lnB>
                  </a:tcPr>
                </a:tc>
                <a:tc>
                  <a:txBody>
                    <a:bodyPr/>
                    <a:lstStyle/>
                    <a:p>
                      <a:pPr algn="ctr" indent="0" marL="0">
                        <a:buNone/>
                      </a:pPr>
                      <a:r>
                        <a:rPr lang="en-US" sz="1400" dirty="0">
                          <a:solidFill>
                            <a:schemeClr val="tx1"/>
                          </a:solidFill>
                        </a:rPr>
                        <a:t>0</a:t>
                      </a:r>
                      <a:endParaRPr lang="en-US" sz="1400" dirty="0"/>
                    </a:p>
                  </a:txBody>
                  <a:tcPr marL="73152" marR="73152" marT="27432" marB="27432" anchor="ctr">
                    <a:lnL w="9525" cap="flat" cmpd="sng" algn="ctr">
                      <a:solidFill>
                        <a:srgbClr val="EAF2F3"/>
                      </a:solidFill>
                      <a:prstDash val="solid"/>
                      <a:round/>
                      <a:headEnd type="none" w="med" len="med"/>
                      <a:tailEnd type="none" w="med" len="med"/>
                    </a:lnL>
                    <a:lnR w="9525" cap="flat" cmpd="sng" algn="ctr">
                      <a:solidFill>
                        <a:srgbClr val="EAF2F3"/>
                      </a:solidFill>
                      <a:prstDash val="solid"/>
                      <a:round/>
                      <a:headEnd type="none" w="med" len="med"/>
                      <a:tailEnd type="none" w="med" len="med"/>
                    </a:lnR>
                    <a:lnT w="9525" cap="flat" cmpd="sng" algn="ctr">
                      <a:solidFill>
                        <a:srgbClr val="EAF2F3"/>
                      </a:solidFill>
                      <a:prstDash val="solid"/>
                      <a:round/>
                      <a:headEnd type="none" w="med" len="med"/>
                      <a:tailEnd type="none" w="med" len="med"/>
                    </a:lnT>
                    <a:lnB w="9525" cap="flat" cmpd="sng" algn="ctr">
                      <a:solidFill>
                        <a:srgbClr val="EAF2F3"/>
                      </a:solidFill>
                      <a:prstDash val="solid"/>
                      <a:round/>
                      <a:headEnd type="none" w="med" len="med"/>
                      <a:tailEnd type="none" w="med" len="med"/>
                    </a:lnB>
                  </a:tcPr>
                </a:tc>
              </a:tr>
              <a:tr h="384048">
                <a:tc>
                  <a:txBody>
                    <a:bodyPr/>
                    <a:lstStyle/>
                    <a:p>
                      <a:pPr indent="0" marL="0">
                        <a:buNone/>
                      </a:pPr>
                      <a:r>
                        <a:rPr lang="en-US" sz="1400" dirty="0">
                          <a:solidFill>
                            <a:schemeClr val="tx1"/>
                          </a:solidFill>
                        </a:rPr>
                        <a:t>D412</a:t>
                      </a:r>
                      <a:endParaRPr lang="en-US" sz="1400" dirty="0"/>
                    </a:p>
                  </a:txBody>
                  <a:tcPr marL="73152" marR="73152" marT="27432" marB="27432" anchor="ctr">
                    <a:lnL w="9525" cap="flat" cmpd="sng" algn="ctr">
                      <a:solidFill>
                        <a:srgbClr val="EAF2F3"/>
                      </a:solidFill>
                      <a:prstDash val="solid"/>
                      <a:round/>
                      <a:headEnd type="none" w="med" len="med"/>
                      <a:tailEnd type="none" w="med" len="med"/>
                    </a:lnL>
                    <a:lnR w="9525" cap="flat" cmpd="sng" algn="ctr">
                      <a:solidFill>
                        <a:srgbClr val="EAF2F3"/>
                      </a:solidFill>
                      <a:prstDash val="solid"/>
                      <a:round/>
                      <a:headEnd type="none" w="med" len="med"/>
                      <a:tailEnd type="none" w="med" len="med"/>
                    </a:lnR>
                    <a:lnT w="9525" cap="flat" cmpd="sng" algn="ctr">
                      <a:solidFill>
                        <a:srgbClr val="EAF2F3"/>
                      </a:solidFill>
                      <a:prstDash val="solid"/>
                      <a:round/>
                      <a:headEnd type="none" w="med" len="med"/>
                      <a:tailEnd type="none" w="med" len="med"/>
                    </a:lnT>
                    <a:lnB w="9525" cap="flat" cmpd="sng" algn="ctr">
                      <a:solidFill>
                        <a:srgbClr val="EAF2F3"/>
                      </a:solidFill>
                      <a:prstDash val="solid"/>
                      <a:round/>
                      <a:headEnd type="none" w="med" len="med"/>
                      <a:tailEnd type="none" w="med" len="med"/>
                    </a:lnB>
                  </a:tcPr>
                </a:tc>
                <a:tc>
                  <a:txBody>
                    <a:bodyPr/>
                    <a:lstStyle/>
                    <a:p>
                      <a:pPr algn="ctr" indent="0" marL="0">
                        <a:buNone/>
                      </a:pPr>
                      <a:r>
                        <a:rPr lang="en-US" sz="1400" dirty="0">
                          <a:solidFill>
                            <a:schemeClr val="tx1"/>
                          </a:solidFill>
                        </a:rPr>
                        <a:t>60</a:t>
                      </a:r>
                      <a:endParaRPr lang="en-US" sz="1400" dirty="0"/>
                    </a:p>
                  </a:txBody>
                  <a:tcPr marL="73152" marR="73152" marT="27432" marB="27432" anchor="ctr">
                    <a:lnL w="9525" cap="flat" cmpd="sng" algn="ctr">
                      <a:solidFill>
                        <a:srgbClr val="EAF2F3"/>
                      </a:solidFill>
                      <a:prstDash val="solid"/>
                      <a:round/>
                      <a:headEnd type="none" w="med" len="med"/>
                      <a:tailEnd type="none" w="med" len="med"/>
                    </a:lnL>
                    <a:lnR w="9525" cap="flat" cmpd="sng" algn="ctr">
                      <a:solidFill>
                        <a:srgbClr val="EAF2F3"/>
                      </a:solidFill>
                      <a:prstDash val="solid"/>
                      <a:round/>
                      <a:headEnd type="none" w="med" len="med"/>
                      <a:tailEnd type="none" w="med" len="med"/>
                    </a:lnR>
                    <a:lnT w="9525" cap="flat" cmpd="sng" algn="ctr">
                      <a:solidFill>
                        <a:srgbClr val="EAF2F3"/>
                      </a:solidFill>
                      <a:prstDash val="solid"/>
                      <a:round/>
                      <a:headEnd type="none" w="med" len="med"/>
                      <a:tailEnd type="none" w="med" len="med"/>
                    </a:lnT>
                    <a:lnB w="9525" cap="flat" cmpd="sng" algn="ctr">
                      <a:solidFill>
                        <a:srgbClr val="EAF2F3"/>
                      </a:solidFill>
                      <a:prstDash val="solid"/>
                      <a:round/>
                      <a:headEnd type="none" w="med" len="med"/>
                      <a:tailEnd type="none" w="med" len="med"/>
                    </a:lnB>
                  </a:tcPr>
                </a:tc>
                <a:tc>
                  <a:txBody>
                    <a:bodyPr/>
                    <a:lstStyle/>
                    <a:p>
                      <a:pPr algn="ctr" indent="0" marL="0">
                        <a:buNone/>
                      </a:pPr>
                      <a:r>
                        <a:rPr lang="en-US" sz="1400" dirty="0">
                          <a:solidFill>
                            <a:schemeClr val="tx1"/>
                          </a:solidFill>
                        </a:rPr>
                        <a:t>1.2</a:t>
                      </a:r>
                      <a:endParaRPr lang="en-US" sz="1400" dirty="0"/>
                    </a:p>
                  </a:txBody>
                  <a:tcPr marL="73152" marR="73152" marT="27432" marB="27432" anchor="ctr">
                    <a:lnL w="9525" cap="flat" cmpd="sng" algn="ctr">
                      <a:solidFill>
                        <a:srgbClr val="EAF2F3"/>
                      </a:solidFill>
                      <a:prstDash val="solid"/>
                      <a:round/>
                      <a:headEnd type="none" w="med" len="med"/>
                      <a:tailEnd type="none" w="med" len="med"/>
                    </a:lnL>
                    <a:lnR w="9525" cap="flat" cmpd="sng" algn="ctr">
                      <a:solidFill>
                        <a:srgbClr val="EAF2F3"/>
                      </a:solidFill>
                      <a:prstDash val="solid"/>
                      <a:round/>
                      <a:headEnd type="none" w="med" len="med"/>
                      <a:tailEnd type="none" w="med" len="med"/>
                    </a:lnR>
                    <a:lnT w="9525" cap="flat" cmpd="sng" algn="ctr">
                      <a:solidFill>
                        <a:srgbClr val="EAF2F3"/>
                      </a:solidFill>
                      <a:prstDash val="solid"/>
                      <a:round/>
                      <a:headEnd type="none" w="med" len="med"/>
                      <a:tailEnd type="none" w="med" len="med"/>
                    </a:lnT>
                    <a:lnB w="9525" cap="flat" cmpd="sng" algn="ctr">
                      <a:solidFill>
                        <a:srgbClr val="EAF2F3"/>
                      </a:solidFill>
                      <a:prstDash val="solid"/>
                      <a:round/>
                      <a:headEnd type="none" w="med" len="med"/>
                      <a:tailEnd type="none" w="med" len="med"/>
                    </a:lnB>
                  </a:tcPr>
                </a:tc>
                <a:tc>
                  <a:txBody>
                    <a:bodyPr/>
                    <a:lstStyle/>
                    <a:p>
                      <a:pPr algn="ctr" indent="0" marL="0">
                        <a:buNone/>
                      </a:pPr>
                      <a:r>
                        <a:rPr lang="en-US" sz="1400" dirty="0">
                          <a:solidFill>
                            <a:schemeClr val="tx1"/>
                          </a:solidFill>
                        </a:rPr>
                        <a:t>4</a:t>
                      </a:r>
                      <a:endParaRPr lang="en-US" sz="1400" dirty="0"/>
                    </a:p>
                  </a:txBody>
                  <a:tcPr marL="73152" marR="73152" marT="27432" marB="27432" anchor="ctr">
                    <a:lnL w="9525" cap="flat" cmpd="sng" algn="ctr">
                      <a:solidFill>
                        <a:srgbClr val="EAF2F3"/>
                      </a:solidFill>
                      <a:prstDash val="solid"/>
                      <a:round/>
                      <a:headEnd type="none" w="med" len="med"/>
                      <a:tailEnd type="none" w="med" len="med"/>
                    </a:lnL>
                    <a:lnR w="9525" cap="flat" cmpd="sng" algn="ctr">
                      <a:solidFill>
                        <a:srgbClr val="EAF2F3"/>
                      </a:solidFill>
                      <a:prstDash val="solid"/>
                      <a:round/>
                      <a:headEnd type="none" w="med" len="med"/>
                      <a:tailEnd type="none" w="med" len="med"/>
                    </a:lnR>
                    <a:lnT w="9525" cap="flat" cmpd="sng" algn="ctr">
                      <a:solidFill>
                        <a:srgbClr val="EAF2F3"/>
                      </a:solidFill>
                      <a:prstDash val="solid"/>
                      <a:round/>
                      <a:headEnd type="none" w="med" len="med"/>
                      <a:tailEnd type="none" w="med" len="med"/>
                    </a:lnT>
                    <a:lnB w="9525" cap="flat" cmpd="sng" algn="ctr">
                      <a:solidFill>
                        <a:srgbClr val="EAF2F3"/>
                      </a:solidFill>
                      <a:prstDash val="solid"/>
                      <a:round/>
                      <a:headEnd type="none" w="med" len="med"/>
                      <a:tailEnd type="none" w="med" len="med"/>
                    </a:lnB>
                  </a:tcPr>
                </a:tc>
                <a:tc>
                  <a:txBody>
                    <a:bodyPr/>
                    <a:lstStyle/>
                    <a:p>
                      <a:pPr algn="ctr" indent="0" marL="0">
                        <a:buNone/>
                      </a:pPr>
                      <a:r>
                        <a:rPr lang="en-US" sz="1400" dirty="0">
                          <a:solidFill>
                            <a:schemeClr val="tx1"/>
                          </a:solidFill>
                        </a:rPr>
                        <a:t>1</a:t>
                      </a:r>
                      <a:endParaRPr lang="en-US" sz="1400" dirty="0"/>
                    </a:p>
                  </a:txBody>
                  <a:tcPr marL="73152" marR="73152" marT="27432" marB="27432" anchor="ctr">
                    <a:lnL w="9525" cap="flat" cmpd="sng" algn="ctr">
                      <a:solidFill>
                        <a:srgbClr val="EAF2F3"/>
                      </a:solidFill>
                      <a:prstDash val="solid"/>
                      <a:round/>
                      <a:headEnd type="none" w="med" len="med"/>
                      <a:tailEnd type="none" w="med" len="med"/>
                    </a:lnL>
                    <a:lnR w="9525" cap="flat" cmpd="sng" algn="ctr">
                      <a:solidFill>
                        <a:srgbClr val="EAF2F3"/>
                      </a:solidFill>
                      <a:prstDash val="solid"/>
                      <a:round/>
                      <a:headEnd type="none" w="med" len="med"/>
                      <a:tailEnd type="none" w="med" len="med"/>
                    </a:lnR>
                    <a:lnT w="9525" cap="flat" cmpd="sng" algn="ctr">
                      <a:solidFill>
                        <a:srgbClr val="EAF2F3"/>
                      </a:solidFill>
                      <a:prstDash val="solid"/>
                      <a:round/>
                      <a:headEnd type="none" w="med" len="med"/>
                      <a:tailEnd type="none" w="med" len="med"/>
                    </a:lnT>
                    <a:lnB w="9525" cap="flat" cmpd="sng" algn="ctr">
                      <a:solidFill>
                        <a:srgbClr val="EAF2F3"/>
                      </a:solidFill>
                      <a:prstDash val="solid"/>
                      <a:round/>
                      <a:headEnd type="none" w="med" len="med"/>
                      <a:tailEnd type="none" w="med" len="med"/>
                    </a:lnB>
                  </a:tcPr>
                </a:tc>
              </a:tr>
            </a:tbl>
          </a:graphicData>
        </a:graphic>
      </p:graphicFrame>
      <p:sp>
        <p:nvSpPr>
          <p:cNvPr id="6" name="Card 149"/>
          <p:cNvSpPr/>
          <p:nvPr/>
        </p:nvSpPr>
        <p:spPr>
          <a:xfrm>
            <a:off x="457200" y="3730752"/>
            <a:ext cx="4846320" cy="621792"/>
          </a:xfrm>
          <a:prstGeom prst="roundRect">
            <a:avLst>
              <a:gd name="adj" fmla="val 11765"/>
            </a:avLst>
          </a:prstGeom>
          <a:solidFill>
            <a:schemeClr val="bg2"/>
          </a:solidFill>
          <a:ln w="12700">
            <a:solidFill>
              <a:schemeClr val="bg2"/>
            </a:solidFill>
            <a:prstDash val="solid"/>
          </a:ln>
        </p:spPr>
      </p:sp>
      <p:sp>
        <p:nvSpPr>
          <p:cNvPr id="7" name="Text 150"/>
          <p:cNvSpPr txBox="1"/>
          <p:nvPr/>
        </p:nvSpPr>
        <p:spPr>
          <a:xfrm>
            <a:off x="621792" y="3730752"/>
            <a:ext cx="4526280" cy="621792"/>
          </a:xfrm>
          <a:prstGeom prst="rect">
            <a:avLst/>
          </a:prstGeom>
          <a:noFill/>
          <a:ln/>
        </p:spPr>
        <p:txBody>
          <a:bodyPr wrap="square" lIns="0" tIns="0" rIns="0" bIns="0" rtlCol="0" anchor="ctr"/>
          <a:lstStyle/>
          <a:p>
            <a:pPr algn="l" indent="0" marL="0">
              <a:buNone/>
            </a:pPr>
            <a:r>
              <a:rPr lang="en-US" sz="1400" b="1" dirty="0">
                <a:solidFill>
                  <a:schemeClr val="tx2"/>
                </a:solidFill>
              </a:rPr>
              <a:t>Season index </a:t>
            </a:r>
            <a:pPr algn="l" indent="0" marL="0">
              <a:buNone/>
            </a:pPr>
            <a:r>
              <a:rPr lang="en-US" sz="1400" dirty="0">
                <a:solidFill>
                  <a:schemeClr val="tx1"/>
                </a:solidFill>
              </a:rPr>
              <a:t>= peak-season sales divided by average sales</a:t>
            </a:r>
            <a:endParaRPr lang="en-US" sz="1400" dirty="0"/>
          </a:p>
        </p:txBody>
      </p:sp>
      <p:sp>
        <p:nvSpPr>
          <p:cNvPr id="8" name="Badge 151"/>
          <p:cNvSpPr/>
          <p:nvPr/>
        </p:nvSpPr>
        <p:spPr>
          <a:xfrm>
            <a:off x="5577840" y="1188720"/>
            <a:ext cx="365760" cy="365760"/>
          </a:xfrm>
          <a:prstGeom prst="ellipse">
            <a:avLst/>
          </a:prstGeom>
          <a:solidFill>
            <a:schemeClr val="accent2"/>
          </a:solidFill>
          <a:ln>
            <a:solidFill>
              <a:schemeClr val="accent2"/>
            </a:solidFill>
          </a:ln>
        </p:spPr>
        <p:txBody>
          <a:bodyPr wrap="square" lIns="0" tIns="0" rIns="0" bIns="0" rtlCol="0" anchor="ctr"/>
          <a:lstStyle/>
          <a:p>
            <a:pPr algn="ctr" indent="0" marL="0">
              <a:buNone/>
            </a:pPr>
            <a:r>
              <a:rPr lang="en-US" sz="1600" b="1" dirty="0">
                <a:solidFill>
                  <a:schemeClr val="bg1"/>
                </a:solidFill>
              </a:rPr>
              <a:t>1</a:t>
            </a:r>
            <a:endParaRPr lang="en-US" sz="1600" dirty="0"/>
          </a:p>
        </p:txBody>
      </p:sp>
      <p:sp>
        <p:nvSpPr>
          <p:cNvPr id="9" name="Text 152"/>
          <p:cNvSpPr txBox="1"/>
          <p:nvPr/>
        </p:nvSpPr>
        <p:spPr>
          <a:xfrm>
            <a:off x="6053328" y="1188720"/>
            <a:ext cx="2633472" cy="310896"/>
          </a:xfrm>
          <a:prstGeom prst="rect">
            <a:avLst/>
          </a:prstGeom>
          <a:noFill/>
          <a:ln/>
        </p:spPr>
        <p:txBody>
          <a:bodyPr wrap="square" lIns="0" tIns="0" rIns="0" bIns="0" rtlCol="0" anchor="ctr"/>
          <a:lstStyle/>
          <a:p>
            <a:pPr algn="l" indent="0" marL="0">
              <a:buNone/>
            </a:pPr>
            <a:r>
              <a:rPr lang="en-US" sz="1500" b="1" dirty="0">
                <a:solidFill>
                  <a:schemeClr val="tx2"/>
                </a:solidFill>
              </a:rPr>
              <a:t>One row per SKU</a:t>
            </a:r>
            <a:endParaRPr lang="en-US" sz="1500" dirty="0"/>
          </a:p>
        </p:txBody>
      </p:sp>
      <p:sp>
        <p:nvSpPr>
          <p:cNvPr id="10" name="Text 153"/>
          <p:cNvSpPr txBox="1"/>
          <p:nvPr/>
        </p:nvSpPr>
        <p:spPr>
          <a:xfrm>
            <a:off x="6053328" y="1517904"/>
            <a:ext cx="2633472" cy="685800"/>
          </a:xfrm>
          <a:prstGeom prst="rect">
            <a:avLst/>
          </a:prstGeom>
          <a:noFill/>
          <a:ln/>
        </p:spPr>
        <p:txBody>
          <a:bodyPr wrap="square" lIns="0" tIns="0" rIns="0" bIns="0" rtlCol="0" anchor="t"/>
          <a:lstStyle/>
          <a:p>
            <a:pPr algn="l" indent="0" marL="0">
              <a:buNone/>
            </a:pPr>
            <a:r>
              <a:rPr lang="en-US" sz="1400" dirty="0">
                <a:solidFill>
                  <a:schemeClr val="tx1"/>
                </a:solidFill>
              </a:rPr>
              <a:t>Each product becomes a row of numbers (a vector).</a:t>
            </a:r>
            <a:endParaRPr lang="en-US" sz="1400" dirty="0"/>
          </a:p>
        </p:txBody>
      </p:sp>
      <p:sp>
        <p:nvSpPr>
          <p:cNvPr id="11" name="Badge 154"/>
          <p:cNvSpPr/>
          <p:nvPr/>
        </p:nvSpPr>
        <p:spPr>
          <a:xfrm>
            <a:off x="5577840" y="2258568"/>
            <a:ext cx="365760" cy="365760"/>
          </a:xfrm>
          <a:prstGeom prst="ellipse">
            <a:avLst/>
          </a:prstGeom>
          <a:solidFill>
            <a:schemeClr val="accent2"/>
          </a:solidFill>
          <a:ln>
            <a:solidFill>
              <a:schemeClr val="accent2"/>
            </a:solidFill>
          </a:ln>
        </p:spPr>
        <p:txBody>
          <a:bodyPr wrap="square" lIns="0" tIns="0" rIns="0" bIns="0" rtlCol="0" anchor="ctr"/>
          <a:lstStyle/>
          <a:p>
            <a:pPr algn="ctr" indent="0" marL="0">
              <a:buNone/>
            </a:pPr>
            <a:r>
              <a:rPr lang="en-US" sz="1600" b="1" dirty="0">
                <a:solidFill>
                  <a:schemeClr val="bg1"/>
                </a:solidFill>
              </a:rPr>
              <a:t>2</a:t>
            </a:r>
            <a:endParaRPr lang="en-US" sz="1600" dirty="0"/>
          </a:p>
        </p:txBody>
      </p:sp>
      <p:sp>
        <p:nvSpPr>
          <p:cNvPr id="12" name="Text 155"/>
          <p:cNvSpPr txBox="1"/>
          <p:nvPr/>
        </p:nvSpPr>
        <p:spPr>
          <a:xfrm>
            <a:off x="6053328" y="2258568"/>
            <a:ext cx="2633472" cy="310896"/>
          </a:xfrm>
          <a:prstGeom prst="rect">
            <a:avLst/>
          </a:prstGeom>
          <a:noFill/>
          <a:ln/>
        </p:spPr>
        <p:txBody>
          <a:bodyPr wrap="square" lIns="0" tIns="0" rIns="0" bIns="0" rtlCol="0" anchor="ctr"/>
          <a:lstStyle/>
          <a:p>
            <a:pPr algn="l" indent="0" marL="0">
              <a:buNone/>
            </a:pPr>
            <a:r>
              <a:rPr lang="en-US" sz="1500" b="1" dirty="0">
                <a:solidFill>
                  <a:schemeClr val="tx2"/>
                </a:solidFill>
              </a:rPr>
              <a:t>Everything as numbers</a:t>
            </a:r>
            <a:endParaRPr lang="en-US" sz="1500" dirty="0"/>
          </a:p>
        </p:txBody>
      </p:sp>
      <p:sp>
        <p:nvSpPr>
          <p:cNvPr id="13" name="Text 156"/>
          <p:cNvSpPr txBox="1"/>
          <p:nvPr/>
        </p:nvSpPr>
        <p:spPr>
          <a:xfrm>
            <a:off x="6053328" y="2587752"/>
            <a:ext cx="2633472" cy="685800"/>
          </a:xfrm>
          <a:prstGeom prst="rect">
            <a:avLst/>
          </a:prstGeom>
          <a:noFill/>
          <a:ln/>
        </p:spPr>
        <p:txBody>
          <a:bodyPr wrap="square" lIns="0" tIns="0" rIns="0" bIns="0" rtlCol="0" anchor="t"/>
          <a:lstStyle/>
          <a:p>
            <a:pPr algn="l" indent="0" marL="0">
              <a:buNone/>
            </a:pPr>
            <a:r>
              <a:rPr lang="en-US" sz="1400" dirty="0">
                <a:solidFill>
                  <a:schemeClr val="tx1"/>
                </a:solidFill>
              </a:rPr>
              <a:t>Handling needs become 0 / 1 flags such as fragile or heavy.</a:t>
            </a:r>
            <a:endParaRPr lang="en-US" sz="1400" dirty="0"/>
          </a:p>
        </p:txBody>
      </p:sp>
      <p:sp>
        <p:nvSpPr>
          <p:cNvPr id="14" name="Badge 157"/>
          <p:cNvSpPr/>
          <p:nvPr/>
        </p:nvSpPr>
        <p:spPr>
          <a:xfrm>
            <a:off x="5577840" y="3328416"/>
            <a:ext cx="365760" cy="365760"/>
          </a:xfrm>
          <a:prstGeom prst="ellipse">
            <a:avLst/>
          </a:prstGeom>
          <a:solidFill>
            <a:schemeClr val="accent2"/>
          </a:solidFill>
          <a:ln>
            <a:solidFill>
              <a:schemeClr val="accent2"/>
            </a:solidFill>
          </a:ln>
        </p:spPr>
        <p:txBody>
          <a:bodyPr wrap="square" lIns="0" tIns="0" rIns="0" bIns="0" rtlCol="0" anchor="ctr"/>
          <a:lstStyle/>
          <a:p>
            <a:pPr algn="ctr" indent="0" marL="0">
              <a:buNone/>
            </a:pPr>
            <a:r>
              <a:rPr lang="en-US" sz="1600" b="1" dirty="0">
                <a:solidFill>
                  <a:schemeClr val="bg1"/>
                </a:solidFill>
              </a:rPr>
              <a:t>3</a:t>
            </a:r>
            <a:endParaRPr lang="en-US" sz="1600" dirty="0"/>
          </a:p>
        </p:txBody>
      </p:sp>
      <p:sp>
        <p:nvSpPr>
          <p:cNvPr id="15" name="Text 158"/>
          <p:cNvSpPr txBox="1"/>
          <p:nvPr/>
        </p:nvSpPr>
        <p:spPr>
          <a:xfrm>
            <a:off x="6053328" y="3328416"/>
            <a:ext cx="2633472" cy="310896"/>
          </a:xfrm>
          <a:prstGeom prst="rect">
            <a:avLst/>
          </a:prstGeom>
          <a:noFill/>
          <a:ln/>
        </p:spPr>
        <p:txBody>
          <a:bodyPr wrap="square" lIns="0" tIns="0" rIns="0" bIns="0" rtlCol="0" anchor="ctr"/>
          <a:lstStyle/>
          <a:p>
            <a:pPr algn="l" indent="0" marL="0">
              <a:buNone/>
            </a:pPr>
            <a:r>
              <a:rPr lang="en-US" sz="1500" b="1" dirty="0">
                <a:solidFill>
                  <a:schemeClr val="tx2"/>
                </a:solidFill>
              </a:rPr>
              <a:t>Scale the features</a:t>
            </a:r>
            <a:endParaRPr lang="en-US" sz="1500" dirty="0"/>
          </a:p>
        </p:txBody>
      </p:sp>
      <p:sp>
        <p:nvSpPr>
          <p:cNvPr id="16" name="Text 159"/>
          <p:cNvSpPr txBox="1"/>
          <p:nvPr/>
        </p:nvSpPr>
        <p:spPr>
          <a:xfrm>
            <a:off x="6053328" y="3657600"/>
            <a:ext cx="2633472" cy="685800"/>
          </a:xfrm>
          <a:prstGeom prst="rect">
            <a:avLst/>
          </a:prstGeom>
          <a:noFill/>
          <a:ln/>
        </p:spPr>
        <p:txBody>
          <a:bodyPr wrap="square" lIns="0" tIns="0" rIns="0" bIns="0" rtlCol="0" anchor="t"/>
          <a:lstStyle/>
          <a:p>
            <a:pPr algn="l" indent="0" marL="0">
              <a:buNone/>
            </a:pPr>
            <a:r>
              <a:rPr lang="en-US" sz="1400" dirty="0">
                <a:solidFill>
                  <a:schemeClr val="tx1"/>
                </a:solidFill>
              </a:rPr>
              <a:t>Bring all columns to the same range so big numbers do not dominate.</a:t>
            </a:r>
            <a:endParaRPr lang="en-US" sz="1400" dirty="0"/>
          </a:p>
        </p:txBody>
      </p:sp>
      <p:sp>
        <p:nvSpPr>
          <p:cNvPr id="25" name="Slide Number Placeholder 0"/>
          <p:cNvSpPr>
            <a:spLocks noGrp="1"/>
          </p:cNvSpPr>
          <p:nvPr>
            <p:ph type="sldNum" sz="quarter" idx="4294967295"/>
          </p:nvPr>
        </p:nvSpPr>
        <p:spPr>
          <a:xfrm>
            <a:off x="8229600" y="472744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7315200" cy="685800"/>
          </a:xfrm>
          <a:prstGeom prst="rect">
            <a:avLst/>
          </a:prstGeom>
          <a:noFill/>
          <a:ln/>
        </p:spPr>
        <p:txBody>
          <a:bodyPr wrap="square" lIns="0" tIns="0" rIns="0" bIns="0" rtlCol="0" anchor="ctr"/>
          <a:lstStyle/>
          <a:p>
            <a:pPr algn="l" indent="0" marL="0">
              <a:buNone/>
            </a:pPr>
            <a:r>
              <a:rPr lang="en-US" sz="3600" b="1" dirty="0">
                <a:solidFill>
                  <a:schemeClr val="tx2"/>
                </a:solidFill>
              </a:rPr>
              <a:t>Step 2: Choose the value of k</a:t>
            </a:r>
            <a:endParaRPr lang="en-US" sz="3600" dirty="0"/>
          </a:p>
        </p:txBody>
      </p:sp>
      <p:graphicFrame>
        <p:nvGraphicFramePr>
          <p:cNvPr id="4" name="Elbow chart" descr=""/>
          <p:cNvGraphicFramePr/>
          <p:nvPr/>
        </p:nvGraphicFramePr>
        <p:xfrm>
          <a:off x="457200" y="1188720"/>
          <a:ext cx="4754880" cy="3246120"/>
        </p:xfrm>
        <a:graphic xmlns:a="http://schemas.openxmlformats.org/drawingml/2006/main">
          <a:graphicData uri="http://schemas.openxmlformats.org/drawingml/2006/chart">
            <c:chart xmlns:c="http://schemas.openxmlformats.org/drawingml/2006/chart" r:id="rId1"/>
          </a:graphicData>
        </a:graphic>
      </p:graphicFrame>
      <p:sp>
        <p:nvSpPr>
          <p:cNvPr id="5" name="Badge 160"/>
          <p:cNvSpPr/>
          <p:nvPr/>
        </p:nvSpPr>
        <p:spPr>
          <a:xfrm>
            <a:off x="5486400" y="1188720"/>
            <a:ext cx="365760" cy="365760"/>
          </a:xfrm>
          <a:prstGeom prst="ellipse">
            <a:avLst/>
          </a:prstGeom>
          <a:solidFill>
            <a:schemeClr val="accent2"/>
          </a:solidFill>
          <a:ln>
            <a:solidFill>
              <a:schemeClr val="accent2"/>
            </a:solidFill>
          </a:ln>
        </p:spPr>
        <p:txBody>
          <a:bodyPr wrap="square" lIns="0" tIns="0" rIns="0" bIns="0" rtlCol="0" anchor="ctr"/>
          <a:lstStyle/>
          <a:p>
            <a:pPr algn="ctr" indent="0" marL="0">
              <a:buNone/>
            </a:pPr>
            <a:r>
              <a:rPr lang="en-US" sz="1600" b="1" dirty="0">
                <a:solidFill>
                  <a:schemeClr val="bg1"/>
                </a:solidFill>
              </a:rPr>
              <a:t>1</a:t>
            </a:r>
            <a:endParaRPr lang="en-US" sz="1600" dirty="0"/>
          </a:p>
        </p:txBody>
      </p:sp>
      <p:sp>
        <p:nvSpPr>
          <p:cNvPr id="6" name="Text 161"/>
          <p:cNvSpPr txBox="1"/>
          <p:nvPr/>
        </p:nvSpPr>
        <p:spPr>
          <a:xfrm>
            <a:off x="5961888" y="1188720"/>
            <a:ext cx="2724912" cy="310896"/>
          </a:xfrm>
          <a:prstGeom prst="rect">
            <a:avLst/>
          </a:prstGeom>
          <a:noFill/>
          <a:ln/>
        </p:spPr>
        <p:txBody>
          <a:bodyPr wrap="square" lIns="0" tIns="0" rIns="0" bIns="0" rtlCol="0" anchor="ctr"/>
          <a:lstStyle/>
          <a:p>
            <a:pPr algn="l" indent="0" marL="0">
              <a:buNone/>
            </a:pPr>
            <a:r>
              <a:rPr lang="en-US" sz="1500" b="1" dirty="0">
                <a:solidFill>
                  <a:schemeClr val="tx2"/>
                </a:solidFill>
              </a:rPr>
              <a:t>Try many values</a:t>
            </a:r>
            <a:endParaRPr lang="en-US" sz="1500" dirty="0"/>
          </a:p>
        </p:txBody>
      </p:sp>
      <p:sp>
        <p:nvSpPr>
          <p:cNvPr id="7" name="Text 162"/>
          <p:cNvSpPr txBox="1"/>
          <p:nvPr/>
        </p:nvSpPr>
        <p:spPr>
          <a:xfrm>
            <a:off x="5961888" y="1517904"/>
            <a:ext cx="2724912" cy="566928"/>
          </a:xfrm>
          <a:prstGeom prst="rect">
            <a:avLst/>
          </a:prstGeom>
          <a:noFill/>
          <a:ln/>
        </p:spPr>
        <p:txBody>
          <a:bodyPr wrap="square" lIns="0" tIns="0" rIns="0" bIns="0" rtlCol="0" anchor="t"/>
          <a:lstStyle/>
          <a:p>
            <a:pPr algn="l" indent="0" marL="0">
              <a:buNone/>
            </a:pPr>
            <a:r>
              <a:rPr lang="en-US" sz="1400" dirty="0">
                <a:solidFill>
                  <a:schemeClr val="tx1"/>
                </a:solidFill>
              </a:rPr>
              <a:t>Run K-Means for k = 1, 2, 3 and so on. Note the error each time.</a:t>
            </a:r>
            <a:endParaRPr lang="en-US" sz="1400" dirty="0"/>
          </a:p>
        </p:txBody>
      </p:sp>
      <p:sp>
        <p:nvSpPr>
          <p:cNvPr id="8" name="Badge 163"/>
          <p:cNvSpPr/>
          <p:nvPr/>
        </p:nvSpPr>
        <p:spPr>
          <a:xfrm>
            <a:off x="5486400" y="2130552"/>
            <a:ext cx="365760" cy="365760"/>
          </a:xfrm>
          <a:prstGeom prst="ellipse">
            <a:avLst/>
          </a:prstGeom>
          <a:solidFill>
            <a:schemeClr val="accent2"/>
          </a:solidFill>
          <a:ln>
            <a:solidFill>
              <a:schemeClr val="accent2"/>
            </a:solidFill>
          </a:ln>
        </p:spPr>
        <p:txBody>
          <a:bodyPr wrap="square" lIns="0" tIns="0" rIns="0" bIns="0" rtlCol="0" anchor="ctr"/>
          <a:lstStyle/>
          <a:p>
            <a:pPr algn="ctr" indent="0" marL="0">
              <a:buNone/>
            </a:pPr>
            <a:r>
              <a:rPr lang="en-US" sz="1600" b="1" dirty="0">
                <a:solidFill>
                  <a:schemeClr val="bg1"/>
                </a:solidFill>
              </a:rPr>
              <a:t>2</a:t>
            </a:r>
            <a:endParaRPr lang="en-US" sz="1600" dirty="0"/>
          </a:p>
        </p:txBody>
      </p:sp>
      <p:sp>
        <p:nvSpPr>
          <p:cNvPr id="9" name="Text 164"/>
          <p:cNvSpPr txBox="1"/>
          <p:nvPr/>
        </p:nvSpPr>
        <p:spPr>
          <a:xfrm>
            <a:off x="5961888" y="2130552"/>
            <a:ext cx="2724912" cy="310896"/>
          </a:xfrm>
          <a:prstGeom prst="rect">
            <a:avLst/>
          </a:prstGeom>
          <a:noFill/>
          <a:ln/>
        </p:spPr>
        <p:txBody>
          <a:bodyPr wrap="square" lIns="0" tIns="0" rIns="0" bIns="0" rtlCol="0" anchor="ctr"/>
          <a:lstStyle/>
          <a:p>
            <a:pPr algn="l" indent="0" marL="0">
              <a:buNone/>
            </a:pPr>
            <a:r>
              <a:rPr lang="en-US" sz="1500" b="1" dirty="0">
                <a:solidFill>
                  <a:schemeClr val="tx2"/>
                </a:solidFill>
              </a:rPr>
              <a:t>Plot the curve</a:t>
            </a:r>
            <a:endParaRPr lang="en-US" sz="1500" dirty="0"/>
          </a:p>
        </p:txBody>
      </p:sp>
      <p:sp>
        <p:nvSpPr>
          <p:cNvPr id="10" name="Text 165"/>
          <p:cNvSpPr txBox="1"/>
          <p:nvPr/>
        </p:nvSpPr>
        <p:spPr>
          <a:xfrm>
            <a:off x="5961888" y="2459736"/>
            <a:ext cx="2724912" cy="566928"/>
          </a:xfrm>
          <a:prstGeom prst="rect">
            <a:avLst/>
          </a:prstGeom>
          <a:noFill/>
          <a:ln/>
        </p:spPr>
        <p:txBody>
          <a:bodyPr wrap="square" lIns="0" tIns="0" rIns="0" bIns="0" rtlCol="0" anchor="t"/>
          <a:lstStyle/>
          <a:p>
            <a:pPr algn="l" indent="0" marL="0">
              <a:buNone/>
            </a:pPr>
            <a:r>
              <a:rPr lang="en-US" sz="1400" dirty="0">
                <a:solidFill>
                  <a:schemeClr val="tx1"/>
                </a:solidFill>
              </a:rPr>
              <a:t>Error = within-cluster variance. It falls as k grows.</a:t>
            </a:r>
            <a:endParaRPr lang="en-US" sz="1400" dirty="0"/>
          </a:p>
        </p:txBody>
      </p:sp>
      <p:sp>
        <p:nvSpPr>
          <p:cNvPr id="11" name="Badge 166"/>
          <p:cNvSpPr/>
          <p:nvPr/>
        </p:nvSpPr>
        <p:spPr>
          <a:xfrm>
            <a:off x="5486400" y="3072384"/>
            <a:ext cx="365760" cy="365760"/>
          </a:xfrm>
          <a:prstGeom prst="ellipse">
            <a:avLst/>
          </a:prstGeom>
          <a:solidFill>
            <a:schemeClr val="accent2"/>
          </a:solidFill>
          <a:ln>
            <a:solidFill>
              <a:schemeClr val="accent2"/>
            </a:solidFill>
          </a:ln>
        </p:spPr>
        <p:txBody>
          <a:bodyPr wrap="square" lIns="0" tIns="0" rIns="0" bIns="0" rtlCol="0" anchor="ctr"/>
          <a:lstStyle/>
          <a:p>
            <a:pPr algn="ctr" indent="0" marL="0">
              <a:buNone/>
            </a:pPr>
            <a:r>
              <a:rPr lang="en-US" sz="1600" b="1" dirty="0">
                <a:solidFill>
                  <a:schemeClr val="bg1"/>
                </a:solidFill>
              </a:rPr>
              <a:t>3</a:t>
            </a:r>
            <a:endParaRPr lang="en-US" sz="1600" dirty="0"/>
          </a:p>
        </p:txBody>
      </p:sp>
      <p:sp>
        <p:nvSpPr>
          <p:cNvPr id="12" name="Text 167"/>
          <p:cNvSpPr txBox="1"/>
          <p:nvPr/>
        </p:nvSpPr>
        <p:spPr>
          <a:xfrm>
            <a:off x="5961888" y="3072384"/>
            <a:ext cx="2724912" cy="310896"/>
          </a:xfrm>
          <a:prstGeom prst="rect">
            <a:avLst/>
          </a:prstGeom>
          <a:noFill/>
          <a:ln/>
        </p:spPr>
        <p:txBody>
          <a:bodyPr wrap="square" lIns="0" tIns="0" rIns="0" bIns="0" rtlCol="0" anchor="ctr"/>
          <a:lstStyle/>
          <a:p>
            <a:pPr algn="l" indent="0" marL="0">
              <a:buNone/>
            </a:pPr>
            <a:r>
              <a:rPr lang="en-US" sz="1500" b="1" dirty="0">
                <a:solidFill>
                  <a:schemeClr val="tx2"/>
                </a:solidFill>
              </a:rPr>
              <a:t>Find the elbow</a:t>
            </a:r>
            <a:endParaRPr lang="en-US" sz="1500" dirty="0"/>
          </a:p>
        </p:txBody>
      </p:sp>
      <p:sp>
        <p:nvSpPr>
          <p:cNvPr id="13" name="Text 168"/>
          <p:cNvSpPr txBox="1"/>
          <p:nvPr/>
        </p:nvSpPr>
        <p:spPr>
          <a:xfrm>
            <a:off x="5961888" y="3401568"/>
            <a:ext cx="2724912" cy="566928"/>
          </a:xfrm>
          <a:prstGeom prst="rect">
            <a:avLst/>
          </a:prstGeom>
          <a:noFill/>
          <a:ln/>
        </p:spPr>
        <p:txBody>
          <a:bodyPr wrap="square" lIns="0" tIns="0" rIns="0" bIns="0" rtlCol="0" anchor="t"/>
          <a:lstStyle/>
          <a:p>
            <a:pPr algn="l" indent="0" marL="0">
              <a:buNone/>
            </a:pPr>
            <a:r>
              <a:rPr lang="en-US" sz="1400" dirty="0">
                <a:solidFill>
                  <a:schemeClr val="tx1"/>
                </a:solidFill>
              </a:rPr>
              <a:t>Pick the k where the curve bends. More clusters after it help very little.</a:t>
            </a:r>
            <a:endParaRPr lang="en-US" sz="1400" dirty="0"/>
          </a:p>
        </p:txBody>
      </p:sp>
      <p:sp>
        <p:nvSpPr>
          <p:cNvPr id="14" name="Pill 169"/>
          <p:cNvSpPr/>
          <p:nvPr/>
        </p:nvSpPr>
        <p:spPr>
          <a:xfrm>
            <a:off x="5486400" y="4041648"/>
            <a:ext cx="3200400" cy="393192"/>
          </a:xfrm>
          <a:prstGeom prst="roundRect">
            <a:avLst>
              <a:gd name="adj" fmla="val 34884"/>
            </a:avLst>
          </a:prstGeom>
          <a:solidFill>
            <a:schemeClr val="accent2"/>
          </a:solidFill>
          <a:ln>
            <a:solidFill>
              <a:schemeClr val="accent2"/>
            </a:solidFill>
          </a:ln>
        </p:spPr>
        <p:txBody>
          <a:bodyPr wrap="square" lIns="0" tIns="0" rIns="0" bIns="0" rtlCol="0" anchor="ctr"/>
          <a:lstStyle/>
          <a:p>
            <a:pPr algn="ctr" indent="0" marL="0">
              <a:buNone/>
            </a:pPr>
            <a:r>
              <a:rPr lang="en-US" sz="1500" b="1" dirty="0">
                <a:solidFill>
                  <a:schemeClr val="tx1"/>
                </a:solidFill>
              </a:rPr>
              <a:t>In this example: k = 4</a:t>
            </a:r>
            <a:endParaRPr lang="en-US" sz="1500" dirty="0"/>
          </a:p>
        </p:txBody>
      </p:sp>
      <p:sp>
        <p:nvSpPr>
          <p:cNvPr id="25" name="Slide Number Placeholder 0"/>
          <p:cNvSpPr>
            <a:spLocks noGrp="1"/>
          </p:cNvSpPr>
          <p:nvPr>
            <p:ph type="sldNum" sz="quarter" idx="4294967295"/>
          </p:nvPr>
        </p:nvSpPr>
        <p:spPr>
          <a:xfrm>
            <a:off x="8229600" y="472744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7315200" cy="685800"/>
          </a:xfrm>
          <a:prstGeom prst="rect">
            <a:avLst/>
          </a:prstGeom>
          <a:noFill/>
          <a:ln/>
        </p:spPr>
        <p:txBody>
          <a:bodyPr wrap="square" lIns="0" tIns="0" rIns="0" bIns="0" rtlCol="0" anchor="ctr"/>
          <a:lstStyle/>
          <a:p>
            <a:pPr algn="l" indent="0" marL="0">
              <a:buNone/>
            </a:pPr>
            <a:r>
              <a:rPr lang="en-US" sz="3600" b="1" dirty="0">
                <a:solidFill>
                  <a:schemeClr val="tx2"/>
                </a:solidFill>
              </a:rPr>
              <a:t>Step 3: Clusters become zones</a:t>
            </a:r>
            <a:endParaRPr lang="en-US" sz="3600" dirty="0"/>
          </a:p>
        </p:txBody>
      </p:sp>
      <p:graphicFrame>
        <p:nvGraphicFramePr>
          <p:cNvPr id="11" name="Cluster to zone table"/>
          <p:cNvGraphicFramePr>
            <a:graphicFrameLocks noGrp="1"/>
          </p:cNvGraphicFramePr>
          <p:nvPr>
            <p:extLst>
              <p:ext uri="{D42A27DB-BD31-4B8C-83A1-F6EECF244321}">
                <p14:modId xmlns:p14="http://schemas.microsoft.com/office/powerpoint/2010/main" val="1579011935"/>
              </p:ext>
            </p:extLst>
          </p:nvPr>
        </p:nvGraphicFramePr>
        <p:xfrm>
          <a:off x="457200" y="1188720"/>
          <a:ext cx="5120640" cy="914400"/>
        </p:xfrm>
        <a:graphic>
          <a:graphicData uri="http://schemas.openxmlformats.org/drawingml/2006/table">
            <a:tbl>
              <a:tblPr/>
              <a:tblGrid>
                <a:gridCol w="1508760"/>
                <a:gridCol w="1737360"/>
                <a:gridCol w="1874520"/>
              </a:tblGrid>
              <a:tr h="411480">
                <a:tc>
                  <a:txBody>
                    <a:bodyPr/>
                    <a:lstStyle/>
                    <a:p>
                      <a:pPr indent="0" marL="0">
                        <a:buNone/>
                      </a:pPr>
                      <a:r>
                        <a:rPr lang="en-US" sz="1400" b="1" dirty="0">
                          <a:solidFill>
                            <a:schemeClr val="bg1"/>
                          </a:solidFill>
                        </a:rPr>
                        <a:t>Cluster</a:t>
                      </a:r>
                      <a:endParaRPr lang="en-US" sz="1400" dirty="0"/>
                    </a:p>
                  </a:txBody>
                  <a:tcPr marL="91440" marR="91440" marT="36576" marB="36576" anchor="ctr">
                    <a:lnL w="9525" cap="flat" cmpd="sng" algn="ctr">
                      <a:solidFill>
                        <a:srgbClr val="EAF2F3"/>
                      </a:solidFill>
                      <a:prstDash val="solid"/>
                      <a:round/>
                      <a:headEnd type="none" w="med" len="med"/>
                      <a:tailEnd type="none" w="med" len="med"/>
                    </a:lnL>
                    <a:lnR w="9525" cap="flat" cmpd="sng" algn="ctr">
                      <a:solidFill>
                        <a:srgbClr val="EAF2F3"/>
                      </a:solidFill>
                      <a:prstDash val="solid"/>
                      <a:round/>
                      <a:headEnd type="none" w="med" len="med"/>
                      <a:tailEnd type="none" w="med" len="med"/>
                    </a:lnR>
                    <a:lnT w="9525" cap="flat" cmpd="sng" algn="ctr">
                      <a:solidFill>
                        <a:srgbClr val="EAF2F3"/>
                      </a:solidFill>
                      <a:prstDash val="solid"/>
                      <a:round/>
                      <a:headEnd type="none" w="med" len="med"/>
                      <a:tailEnd type="none" w="med" len="med"/>
                    </a:lnT>
                    <a:lnB w="9525" cap="flat" cmpd="sng" algn="ctr">
                      <a:solidFill>
                        <a:srgbClr val="EAF2F3"/>
                      </a:solidFill>
                      <a:prstDash val="solid"/>
                      <a:round/>
                      <a:headEnd type="none" w="med" len="med"/>
                      <a:tailEnd type="none" w="med" len="med"/>
                    </a:lnB>
                    <a:solidFill>
                      <a:schemeClr val="accent1"/>
                    </a:solidFill>
                  </a:tcPr>
                </a:tc>
                <a:tc>
                  <a:txBody>
                    <a:bodyPr/>
                    <a:lstStyle/>
                    <a:p>
                      <a:pPr indent="0" marL="0">
                        <a:buNone/>
                      </a:pPr>
                      <a:r>
                        <a:rPr lang="en-US" sz="1400" b="1" dirty="0">
                          <a:solidFill>
                            <a:schemeClr val="bg1"/>
                          </a:solidFill>
                        </a:rPr>
                        <a:t>SKUs in it</a:t>
                      </a:r>
                      <a:endParaRPr lang="en-US" sz="1400" dirty="0"/>
                    </a:p>
                  </a:txBody>
                  <a:tcPr marL="91440" marR="91440" marT="36576" marB="36576" anchor="ctr">
                    <a:lnL w="9525" cap="flat" cmpd="sng" algn="ctr">
                      <a:solidFill>
                        <a:srgbClr val="EAF2F3"/>
                      </a:solidFill>
                      <a:prstDash val="solid"/>
                      <a:round/>
                      <a:headEnd type="none" w="med" len="med"/>
                      <a:tailEnd type="none" w="med" len="med"/>
                    </a:lnL>
                    <a:lnR w="9525" cap="flat" cmpd="sng" algn="ctr">
                      <a:solidFill>
                        <a:srgbClr val="EAF2F3"/>
                      </a:solidFill>
                      <a:prstDash val="solid"/>
                      <a:round/>
                      <a:headEnd type="none" w="med" len="med"/>
                      <a:tailEnd type="none" w="med" len="med"/>
                    </a:lnR>
                    <a:lnT w="9525" cap="flat" cmpd="sng" algn="ctr">
                      <a:solidFill>
                        <a:srgbClr val="EAF2F3"/>
                      </a:solidFill>
                      <a:prstDash val="solid"/>
                      <a:round/>
                      <a:headEnd type="none" w="med" len="med"/>
                      <a:tailEnd type="none" w="med" len="med"/>
                    </a:lnT>
                    <a:lnB w="9525" cap="flat" cmpd="sng" algn="ctr">
                      <a:solidFill>
                        <a:srgbClr val="EAF2F3"/>
                      </a:solidFill>
                      <a:prstDash val="solid"/>
                      <a:round/>
                      <a:headEnd type="none" w="med" len="med"/>
                      <a:tailEnd type="none" w="med" len="med"/>
                    </a:lnB>
                    <a:solidFill>
                      <a:schemeClr val="accent1"/>
                    </a:solidFill>
                  </a:tcPr>
                </a:tc>
                <a:tc>
                  <a:txBody>
                    <a:bodyPr/>
                    <a:lstStyle/>
                    <a:p>
                      <a:pPr indent="0" marL="0">
                        <a:buNone/>
                      </a:pPr>
                      <a:r>
                        <a:rPr lang="en-US" sz="1400" b="1" dirty="0">
                          <a:solidFill>
                            <a:schemeClr val="bg1"/>
                          </a:solidFill>
                        </a:rPr>
                        <a:t>Where to place</a:t>
                      </a:r>
                      <a:endParaRPr lang="en-US" sz="1400" dirty="0"/>
                    </a:p>
                  </a:txBody>
                  <a:tcPr marL="91440" marR="91440" marT="36576" marB="36576" anchor="ctr">
                    <a:lnL w="9525" cap="flat" cmpd="sng" algn="ctr">
                      <a:solidFill>
                        <a:srgbClr val="EAF2F3"/>
                      </a:solidFill>
                      <a:prstDash val="solid"/>
                      <a:round/>
                      <a:headEnd type="none" w="med" len="med"/>
                      <a:tailEnd type="none" w="med" len="med"/>
                    </a:lnL>
                    <a:lnR w="9525" cap="flat" cmpd="sng" algn="ctr">
                      <a:solidFill>
                        <a:srgbClr val="EAF2F3"/>
                      </a:solidFill>
                      <a:prstDash val="solid"/>
                      <a:round/>
                      <a:headEnd type="none" w="med" len="med"/>
                      <a:tailEnd type="none" w="med" len="med"/>
                    </a:lnR>
                    <a:lnT w="9525" cap="flat" cmpd="sng" algn="ctr">
                      <a:solidFill>
                        <a:srgbClr val="EAF2F3"/>
                      </a:solidFill>
                      <a:prstDash val="solid"/>
                      <a:round/>
                      <a:headEnd type="none" w="med" len="med"/>
                      <a:tailEnd type="none" w="med" len="med"/>
                    </a:lnT>
                    <a:lnB w="9525" cap="flat" cmpd="sng" algn="ctr">
                      <a:solidFill>
                        <a:srgbClr val="EAF2F3"/>
                      </a:solidFill>
                      <a:prstDash val="solid"/>
                      <a:round/>
                      <a:headEnd type="none" w="med" len="med"/>
                      <a:tailEnd type="none" w="med" len="med"/>
                    </a:lnB>
                    <a:solidFill>
                      <a:schemeClr val="accent1"/>
                    </a:solidFill>
                  </a:tcPr>
                </a:tc>
              </a:tr>
              <a:tr h="621792">
                <a:tc>
                  <a:txBody>
                    <a:bodyPr/>
                    <a:lstStyle/>
                    <a:p>
                      <a:pPr indent="0" marL="0">
                        <a:buNone/>
                      </a:pPr>
                      <a:r>
                        <a:rPr lang="en-US" sz="1400" b="1" dirty="0">
                          <a:solidFill>
                            <a:schemeClr val="tx2"/>
                          </a:solidFill>
                        </a:rPr>
                        <a:t>1  Fast movers</a:t>
                      </a:r>
                      <a:endParaRPr lang="en-US" sz="1400" dirty="0"/>
                    </a:p>
                  </a:txBody>
                  <a:tcPr marL="91440" marR="91440" marT="36576" marB="36576" anchor="ctr">
                    <a:lnL w="9525" cap="flat" cmpd="sng" algn="ctr">
                      <a:solidFill>
                        <a:srgbClr val="EAF2F3"/>
                      </a:solidFill>
                      <a:prstDash val="solid"/>
                      <a:round/>
                      <a:headEnd type="none" w="med" len="med"/>
                      <a:tailEnd type="none" w="med" len="med"/>
                    </a:lnL>
                    <a:lnR w="9525" cap="flat" cmpd="sng" algn="ctr">
                      <a:solidFill>
                        <a:srgbClr val="EAF2F3"/>
                      </a:solidFill>
                      <a:prstDash val="solid"/>
                      <a:round/>
                      <a:headEnd type="none" w="med" len="med"/>
                      <a:tailEnd type="none" w="med" len="med"/>
                    </a:lnR>
                    <a:lnT w="9525" cap="flat" cmpd="sng" algn="ctr">
                      <a:solidFill>
                        <a:srgbClr val="EAF2F3"/>
                      </a:solidFill>
                      <a:prstDash val="solid"/>
                      <a:round/>
                      <a:headEnd type="none" w="med" len="med"/>
                      <a:tailEnd type="none" w="med" len="med"/>
                    </a:lnT>
                    <a:lnB w="9525" cap="flat" cmpd="sng" algn="ctr">
                      <a:solidFill>
                        <a:srgbClr val="EAF2F3"/>
                      </a:solidFill>
                      <a:prstDash val="solid"/>
                      <a:round/>
                      <a:headEnd type="none" w="med" len="med"/>
                      <a:tailEnd type="none" w="med" len="med"/>
                    </a:lnB>
                  </a:tcPr>
                </a:tc>
                <a:tc>
                  <a:txBody>
                    <a:bodyPr/>
                    <a:lstStyle/>
                    <a:p>
                      <a:pPr indent="0" marL="0">
                        <a:buNone/>
                      </a:pPr>
                      <a:r>
                        <a:rPr lang="en-US" sz="1400" dirty="0">
                          <a:solidFill>
                            <a:schemeClr val="tx1"/>
                          </a:solidFill>
                        </a:rPr>
                        <a:t>Picked very often, small</a:t>
                      </a:r>
                      <a:endParaRPr lang="en-US" sz="1400" dirty="0"/>
                    </a:p>
                  </a:txBody>
                  <a:tcPr marL="91440" marR="91440" marT="36576" marB="36576" anchor="ctr">
                    <a:lnL w="9525" cap="flat" cmpd="sng" algn="ctr">
                      <a:solidFill>
                        <a:srgbClr val="EAF2F3"/>
                      </a:solidFill>
                      <a:prstDash val="solid"/>
                      <a:round/>
                      <a:headEnd type="none" w="med" len="med"/>
                      <a:tailEnd type="none" w="med" len="med"/>
                    </a:lnL>
                    <a:lnR w="9525" cap="flat" cmpd="sng" algn="ctr">
                      <a:solidFill>
                        <a:srgbClr val="EAF2F3"/>
                      </a:solidFill>
                      <a:prstDash val="solid"/>
                      <a:round/>
                      <a:headEnd type="none" w="med" len="med"/>
                      <a:tailEnd type="none" w="med" len="med"/>
                    </a:lnR>
                    <a:lnT w="9525" cap="flat" cmpd="sng" algn="ctr">
                      <a:solidFill>
                        <a:srgbClr val="EAF2F3"/>
                      </a:solidFill>
                      <a:prstDash val="solid"/>
                      <a:round/>
                      <a:headEnd type="none" w="med" len="med"/>
                      <a:tailEnd type="none" w="med" len="med"/>
                    </a:lnT>
                    <a:lnB w="9525" cap="flat" cmpd="sng" algn="ctr">
                      <a:solidFill>
                        <a:srgbClr val="EAF2F3"/>
                      </a:solidFill>
                      <a:prstDash val="solid"/>
                      <a:round/>
                      <a:headEnd type="none" w="med" len="med"/>
                      <a:tailEnd type="none" w="med" len="med"/>
                    </a:lnB>
                  </a:tcPr>
                </a:tc>
                <a:tc>
                  <a:txBody>
                    <a:bodyPr/>
                    <a:lstStyle/>
                    <a:p>
                      <a:pPr indent="0" marL="0">
                        <a:buNone/>
                      </a:pPr>
                      <a:r>
                        <a:rPr lang="en-US" sz="1400" dirty="0">
                          <a:solidFill>
                            <a:schemeClr val="tx1"/>
                          </a:solidFill>
                        </a:rPr>
                        <a:t>Front racks, near packing</a:t>
                      </a:r>
                      <a:endParaRPr lang="en-US" sz="1400" dirty="0"/>
                    </a:p>
                  </a:txBody>
                  <a:tcPr marL="91440" marR="91440" marT="36576" marB="36576" anchor="ctr">
                    <a:lnL w="9525" cap="flat" cmpd="sng" algn="ctr">
                      <a:solidFill>
                        <a:srgbClr val="EAF2F3"/>
                      </a:solidFill>
                      <a:prstDash val="solid"/>
                      <a:round/>
                      <a:headEnd type="none" w="med" len="med"/>
                      <a:tailEnd type="none" w="med" len="med"/>
                    </a:lnL>
                    <a:lnR w="9525" cap="flat" cmpd="sng" algn="ctr">
                      <a:solidFill>
                        <a:srgbClr val="EAF2F3"/>
                      </a:solidFill>
                      <a:prstDash val="solid"/>
                      <a:round/>
                      <a:headEnd type="none" w="med" len="med"/>
                      <a:tailEnd type="none" w="med" len="med"/>
                    </a:lnR>
                    <a:lnT w="9525" cap="flat" cmpd="sng" algn="ctr">
                      <a:solidFill>
                        <a:srgbClr val="EAF2F3"/>
                      </a:solidFill>
                      <a:prstDash val="solid"/>
                      <a:round/>
                      <a:headEnd type="none" w="med" len="med"/>
                      <a:tailEnd type="none" w="med" len="med"/>
                    </a:lnT>
                    <a:lnB w="9525" cap="flat" cmpd="sng" algn="ctr">
                      <a:solidFill>
                        <a:srgbClr val="EAF2F3"/>
                      </a:solidFill>
                      <a:prstDash val="solid"/>
                      <a:round/>
                      <a:headEnd type="none" w="med" len="med"/>
                      <a:tailEnd type="none" w="med" len="med"/>
                    </a:lnB>
                  </a:tcPr>
                </a:tc>
              </a:tr>
              <a:tr h="621792">
                <a:tc>
                  <a:txBody>
                    <a:bodyPr/>
                    <a:lstStyle/>
                    <a:p>
                      <a:pPr indent="0" marL="0">
                        <a:buNone/>
                      </a:pPr>
                      <a:r>
                        <a:rPr lang="en-US" sz="1400" b="1" dirty="0">
                          <a:solidFill>
                            <a:schemeClr val="tx2"/>
                          </a:solidFill>
                        </a:rPr>
                        <a:t>2  Seasonal</a:t>
                      </a:r>
                      <a:endParaRPr lang="en-US" sz="1400" dirty="0"/>
                    </a:p>
                  </a:txBody>
                  <a:tcPr marL="91440" marR="91440" marT="36576" marB="36576" anchor="ctr">
                    <a:lnL w="9525" cap="flat" cmpd="sng" algn="ctr">
                      <a:solidFill>
                        <a:srgbClr val="EAF2F3"/>
                      </a:solidFill>
                      <a:prstDash val="solid"/>
                      <a:round/>
                      <a:headEnd type="none" w="med" len="med"/>
                      <a:tailEnd type="none" w="med" len="med"/>
                    </a:lnL>
                    <a:lnR w="9525" cap="flat" cmpd="sng" algn="ctr">
                      <a:solidFill>
                        <a:srgbClr val="EAF2F3"/>
                      </a:solidFill>
                      <a:prstDash val="solid"/>
                      <a:round/>
                      <a:headEnd type="none" w="med" len="med"/>
                      <a:tailEnd type="none" w="med" len="med"/>
                    </a:lnR>
                    <a:lnT w="9525" cap="flat" cmpd="sng" algn="ctr">
                      <a:solidFill>
                        <a:srgbClr val="EAF2F3"/>
                      </a:solidFill>
                      <a:prstDash val="solid"/>
                      <a:round/>
                      <a:headEnd type="none" w="med" len="med"/>
                      <a:tailEnd type="none" w="med" len="med"/>
                    </a:lnT>
                    <a:lnB w="9525" cap="flat" cmpd="sng" algn="ctr">
                      <a:solidFill>
                        <a:srgbClr val="EAF2F3"/>
                      </a:solidFill>
                      <a:prstDash val="solid"/>
                      <a:round/>
                      <a:headEnd type="none" w="med" len="med"/>
                      <a:tailEnd type="none" w="med" len="med"/>
                    </a:lnB>
                  </a:tcPr>
                </a:tc>
                <a:tc>
                  <a:txBody>
                    <a:bodyPr/>
                    <a:lstStyle/>
                    <a:p>
                      <a:pPr indent="0" marL="0">
                        <a:buNone/>
                      </a:pPr>
                      <a:r>
                        <a:rPr lang="en-US" sz="1400" dirty="0">
                          <a:solidFill>
                            <a:schemeClr val="tx1"/>
                          </a:solidFill>
                        </a:rPr>
                        <a:t>Sell fast in some months</a:t>
                      </a:r>
                      <a:endParaRPr lang="en-US" sz="1400" dirty="0"/>
                    </a:p>
                  </a:txBody>
                  <a:tcPr marL="91440" marR="91440" marT="36576" marB="36576" anchor="ctr">
                    <a:lnL w="9525" cap="flat" cmpd="sng" algn="ctr">
                      <a:solidFill>
                        <a:srgbClr val="EAF2F3"/>
                      </a:solidFill>
                      <a:prstDash val="solid"/>
                      <a:round/>
                      <a:headEnd type="none" w="med" len="med"/>
                      <a:tailEnd type="none" w="med" len="med"/>
                    </a:lnL>
                    <a:lnR w="9525" cap="flat" cmpd="sng" algn="ctr">
                      <a:solidFill>
                        <a:srgbClr val="EAF2F3"/>
                      </a:solidFill>
                      <a:prstDash val="solid"/>
                      <a:round/>
                      <a:headEnd type="none" w="med" len="med"/>
                      <a:tailEnd type="none" w="med" len="med"/>
                    </a:lnR>
                    <a:lnT w="9525" cap="flat" cmpd="sng" algn="ctr">
                      <a:solidFill>
                        <a:srgbClr val="EAF2F3"/>
                      </a:solidFill>
                      <a:prstDash val="solid"/>
                      <a:round/>
                      <a:headEnd type="none" w="med" len="med"/>
                      <a:tailEnd type="none" w="med" len="med"/>
                    </a:lnT>
                    <a:lnB w="9525" cap="flat" cmpd="sng" algn="ctr">
                      <a:solidFill>
                        <a:srgbClr val="EAF2F3"/>
                      </a:solidFill>
                      <a:prstDash val="solid"/>
                      <a:round/>
                      <a:headEnd type="none" w="med" len="med"/>
                      <a:tailEnd type="none" w="med" len="med"/>
                    </a:lnB>
                  </a:tcPr>
                </a:tc>
                <a:tc>
                  <a:txBody>
                    <a:bodyPr/>
                    <a:lstStyle/>
                    <a:p>
                      <a:pPr indent="0" marL="0">
                        <a:buNone/>
                      </a:pPr>
                      <a:r>
                        <a:rPr lang="en-US" sz="1400" dirty="0">
                          <a:solidFill>
                            <a:schemeClr val="tx1"/>
                          </a:solidFill>
                        </a:rPr>
                        <a:t>Flexible zone, moved forward in season</a:t>
                      </a:r>
                      <a:endParaRPr lang="en-US" sz="1400" dirty="0"/>
                    </a:p>
                  </a:txBody>
                  <a:tcPr marL="91440" marR="91440" marT="36576" marB="36576" anchor="ctr">
                    <a:lnL w="9525" cap="flat" cmpd="sng" algn="ctr">
                      <a:solidFill>
                        <a:srgbClr val="EAF2F3"/>
                      </a:solidFill>
                      <a:prstDash val="solid"/>
                      <a:round/>
                      <a:headEnd type="none" w="med" len="med"/>
                      <a:tailEnd type="none" w="med" len="med"/>
                    </a:lnL>
                    <a:lnR w="9525" cap="flat" cmpd="sng" algn="ctr">
                      <a:solidFill>
                        <a:srgbClr val="EAF2F3"/>
                      </a:solidFill>
                      <a:prstDash val="solid"/>
                      <a:round/>
                      <a:headEnd type="none" w="med" len="med"/>
                      <a:tailEnd type="none" w="med" len="med"/>
                    </a:lnR>
                    <a:lnT w="9525" cap="flat" cmpd="sng" algn="ctr">
                      <a:solidFill>
                        <a:srgbClr val="EAF2F3"/>
                      </a:solidFill>
                      <a:prstDash val="solid"/>
                      <a:round/>
                      <a:headEnd type="none" w="med" len="med"/>
                      <a:tailEnd type="none" w="med" len="med"/>
                    </a:lnT>
                    <a:lnB w="9525" cap="flat" cmpd="sng" algn="ctr">
                      <a:solidFill>
                        <a:srgbClr val="EAF2F3"/>
                      </a:solidFill>
                      <a:prstDash val="solid"/>
                      <a:round/>
                      <a:headEnd type="none" w="med" len="med"/>
                      <a:tailEnd type="none" w="med" len="med"/>
                    </a:lnB>
                  </a:tcPr>
                </a:tc>
              </a:tr>
              <a:tr h="621792">
                <a:tc>
                  <a:txBody>
                    <a:bodyPr/>
                    <a:lstStyle/>
                    <a:p>
                      <a:pPr indent="0" marL="0">
                        <a:buNone/>
                      </a:pPr>
                      <a:r>
                        <a:rPr lang="en-US" sz="1400" b="1" dirty="0">
                          <a:solidFill>
                            <a:schemeClr val="tx2"/>
                          </a:solidFill>
                        </a:rPr>
                        <a:t>3  Bulky / heavy</a:t>
                      </a:r>
                      <a:endParaRPr lang="en-US" sz="1400" dirty="0"/>
                    </a:p>
                  </a:txBody>
                  <a:tcPr marL="91440" marR="91440" marT="36576" marB="36576" anchor="ctr">
                    <a:lnL w="9525" cap="flat" cmpd="sng" algn="ctr">
                      <a:solidFill>
                        <a:srgbClr val="EAF2F3"/>
                      </a:solidFill>
                      <a:prstDash val="solid"/>
                      <a:round/>
                      <a:headEnd type="none" w="med" len="med"/>
                      <a:tailEnd type="none" w="med" len="med"/>
                    </a:lnL>
                    <a:lnR w="9525" cap="flat" cmpd="sng" algn="ctr">
                      <a:solidFill>
                        <a:srgbClr val="EAF2F3"/>
                      </a:solidFill>
                      <a:prstDash val="solid"/>
                      <a:round/>
                      <a:headEnd type="none" w="med" len="med"/>
                      <a:tailEnd type="none" w="med" len="med"/>
                    </a:lnR>
                    <a:lnT w="9525" cap="flat" cmpd="sng" algn="ctr">
                      <a:solidFill>
                        <a:srgbClr val="EAF2F3"/>
                      </a:solidFill>
                      <a:prstDash val="solid"/>
                      <a:round/>
                      <a:headEnd type="none" w="med" len="med"/>
                      <a:tailEnd type="none" w="med" len="med"/>
                    </a:lnT>
                    <a:lnB w="9525" cap="flat" cmpd="sng" algn="ctr">
                      <a:solidFill>
                        <a:srgbClr val="EAF2F3"/>
                      </a:solidFill>
                      <a:prstDash val="solid"/>
                      <a:round/>
                      <a:headEnd type="none" w="med" len="med"/>
                      <a:tailEnd type="none" w="med" len="med"/>
                    </a:lnB>
                  </a:tcPr>
                </a:tc>
                <a:tc>
                  <a:txBody>
                    <a:bodyPr/>
                    <a:lstStyle/>
                    <a:p>
                      <a:pPr indent="0" marL="0">
                        <a:buNone/>
                      </a:pPr>
                      <a:r>
                        <a:rPr lang="en-US" sz="1400" dirty="0">
                          <a:solidFill>
                            <a:schemeClr val="tx1"/>
                          </a:solidFill>
                        </a:rPr>
                        <a:t>Large or heavy items</a:t>
                      </a:r>
                      <a:endParaRPr lang="en-US" sz="1400" dirty="0"/>
                    </a:p>
                  </a:txBody>
                  <a:tcPr marL="91440" marR="91440" marT="36576" marB="36576" anchor="ctr">
                    <a:lnL w="9525" cap="flat" cmpd="sng" algn="ctr">
                      <a:solidFill>
                        <a:srgbClr val="EAF2F3"/>
                      </a:solidFill>
                      <a:prstDash val="solid"/>
                      <a:round/>
                      <a:headEnd type="none" w="med" len="med"/>
                      <a:tailEnd type="none" w="med" len="med"/>
                    </a:lnL>
                    <a:lnR w="9525" cap="flat" cmpd="sng" algn="ctr">
                      <a:solidFill>
                        <a:srgbClr val="EAF2F3"/>
                      </a:solidFill>
                      <a:prstDash val="solid"/>
                      <a:round/>
                      <a:headEnd type="none" w="med" len="med"/>
                      <a:tailEnd type="none" w="med" len="med"/>
                    </a:lnR>
                    <a:lnT w="9525" cap="flat" cmpd="sng" algn="ctr">
                      <a:solidFill>
                        <a:srgbClr val="EAF2F3"/>
                      </a:solidFill>
                      <a:prstDash val="solid"/>
                      <a:round/>
                      <a:headEnd type="none" w="med" len="med"/>
                      <a:tailEnd type="none" w="med" len="med"/>
                    </a:lnT>
                    <a:lnB w="9525" cap="flat" cmpd="sng" algn="ctr">
                      <a:solidFill>
                        <a:srgbClr val="EAF2F3"/>
                      </a:solidFill>
                      <a:prstDash val="solid"/>
                      <a:round/>
                      <a:headEnd type="none" w="med" len="med"/>
                      <a:tailEnd type="none" w="med" len="med"/>
                    </a:lnB>
                  </a:tcPr>
                </a:tc>
                <a:tc>
                  <a:txBody>
                    <a:bodyPr/>
                    <a:lstStyle/>
                    <a:p>
                      <a:pPr indent="0" marL="0">
                        <a:buNone/>
                      </a:pPr>
                      <a:r>
                        <a:rPr lang="en-US" sz="1400" dirty="0">
                          <a:solidFill>
                            <a:schemeClr val="tx1"/>
                          </a:solidFill>
                        </a:rPr>
                        <a:t>Ground level, near loading dock</a:t>
                      </a:r>
                      <a:endParaRPr lang="en-US" sz="1400" dirty="0"/>
                    </a:p>
                  </a:txBody>
                  <a:tcPr marL="91440" marR="91440" marT="36576" marB="36576" anchor="ctr">
                    <a:lnL w="9525" cap="flat" cmpd="sng" algn="ctr">
                      <a:solidFill>
                        <a:srgbClr val="EAF2F3"/>
                      </a:solidFill>
                      <a:prstDash val="solid"/>
                      <a:round/>
                      <a:headEnd type="none" w="med" len="med"/>
                      <a:tailEnd type="none" w="med" len="med"/>
                    </a:lnL>
                    <a:lnR w="9525" cap="flat" cmpd="sng" algn="ctr">
                      <a:solidFill>
                        <a:srgbClr val="EAF2F3"/>
                      </a:solidFill>
                      <a:prstDash val="solid"/>
                      <a:round/>
                      <a:headEnd type="none" w="med" len="med"/>
                      <a:tailEnd type="none" w="med" len="med"/>
                    </a:lnR>
                    <a:lnT w="9525" cap="flat" cmpd="sng" algn="ctr">
                      <a:solidFill>
                        <a:srgbClr val="EAF2F3"/>
                      </a:solidFill>
                      <a:prstDash val="solid"/>
                      <a:round/>
                      <a:headEnd type="none" w="med" len="med"/>
                      <a:tailEnd type="none" w="med" len="med"/>
                    </a:lnT>
                    <a:lnB w="9525" cap="flat" cmpd="sng" algn="ctr">
                      <a:solidFill>
                        <a:srgbClr val="EAF2F3"/>
                      </a:solidFill>
                      <a:prstDash val="solid"/>
                      <a:round/>
                      <a:headEnd type="none" w="med" len="med"/>
                      <a:tailEnd type="none" w="med" len="med"/>
                    </a:lnB>
                  </a:tcPr>
                </a:tc>
              </a:tr>
              <a:tr h="621792">
                <a:tc>
                  <a:txBody>
                    <a:bodyPr/>
                    <a:lstStyle/>
                    <a:p>
                      <a:pPr indent="0" marL="0">
                        <a:buNone/>
                      </a:pPr>
                      <a:r>
                        <a:rPr lang="en-US" sz="1400" b="1" dirty="0">
                          <a:solidFill>
                            <a:schemeClr val="tx2"/>
                          </a:solidFill>
                        </a:rPr>
                        <a:t>4  Special care</a:t>
                      </a:r>
                      <a:endParaRPr lang="en-US" sz="1400" dirty="0"/>
                    </a:p>
                  </a:txBody>
                  <a:tcPr marL="91440" marR="91440" marT="36576" marB="36576" anchor="ctr">
                    <a:lnL w="9525" cap="flat" cmpd="sng" algn="ctr">
                      <a:solidFill>
                        <a:srgbClr val="EAF2F3"/>
                      </a:solidFill>
                      <a:prstDash val="solid"/>
                      <a:round/>
                      <a:headEnd type="none" w="med" len="med"/>
                      <a:tailEnd type="none" w="med" len="med"/>
                    </a:lnL>
                    <a:lnR w="9525" cap="flat" cmpd="sng" algn="ctr">
                      <a:solidFill>
                        <a:srgbClr val="EAF2F3"/>
                      </a:solidFill>
                      <a:prstDash val="solid"/>
                      <a:round/>
                      <a:headEnd type="none" w="med" len="med"/>
                      <a:tailEnd type="none" w="med" len="med"/>
                    </a:lnR>
                    <a:lnT w="9525" cap="flat" cmpd="sng" algn="ctr">
                      <a:solidFill>
                        <a:srgbClr val="EAF2F3"/>
                      </a:solidFill>
                      <a:prstDash val="solid"/>
                      <a:round/>
                      <a:headEnd type="none" w="med" len="med"/>
                      <a:tailEnd type="none" w="med" len="med"/>
                    </a:lnT>
                    <a:lnB w="9525" cap="flat" cmpd="sng" algn="ctr">
                      <a:solidFill>
                        <a:srgbClr val="EAF2F3"/>
                      </a:solidFill>
                      <a:prstDash val="solid"/>
                      <a:round/>
                      <a:headEnd type="none" w="med" len="med"/>
                      <a:tailEnd type="none" w="med" len="med"/>
                    </a:lnB>
                  </a:tcPr>
                </a:tc>
                <a:tc>
                  <a:txBody>
                    <a:bodyPr/>
                    <a:lstStyle/>
                    <a:p>
                      <a:pPr indent="0" marL="0">
                        <a:buNone/>
                      </a:pPr>
                      <a:r>
                        <a:rPr lang="en-US" sz="1400" dirty="0">
                          <a:solidFill>
                            <a:schemeClr val="tx1"/>
                          </a:solidFill>
                        </a:rPr>
                        <a:t>Fragile items</a:t>
                      </a:r>
                      <a:endParaRPr lang="en-US" sz="1400" dirty="0"/>
                    </a:p>
                  </a:txBody>
                  <a:tcPr marL="91440" marR="91440" marT="36576" marB="36576" anchor="ctr">
                    <a:lnL w="9525" cap="flat" cmpd="sng" algn="ctr">
                      <a:solidFill>
                        <a:srgbClr val="EAF2F3"/>
                      </a:solidFill>
                      <a:prstDash val="solid"/>
                      <a:round/>
                      <a:headEnd type="none" w="med" len="med"/>
                      <a:tailEnd type="none" w="med" len="med"/>
                    </a:lnL>
                    <a:lnR w="9525" cap="flat" cmpd="sng" algn="ctr">
                      <a:solidFill>
                        <a:srgbClr val="EAF2F3"/>
                      </a:solidFill>
                      <a:prstDash val="solid"/>
                      <a:round/>
                      <a:headEnd type="none" w="med" len="med"/>
                      <a:tailEnd type="none" w="med" len="med"/>
                    </a:lnR>
                    <a:lnT w="9525" cap="flat" cmpd="sng" algn="ctr">
                      <a:solidFill>
                        <a:srgbClr val="EAF2F3"/>
                      </a:solidFill>
                      <a:prstDash val="solid"/>
                      <a:round/>
                      <a:headEnd type="none" w="med" len="med"/>
                      <a:tailEnd type="none" w="med" len="med"/>
                    </a:lnT>
                    <a:lnB w="9525" cap="flat" cmpd="sng" algn="ctr">
                      <a:solidFill>
                        <a:srgbClr val="EAF2F3"/>
                      </a:solidFill>
                      <a:prstDash val="solid"/>
                      <a:round/>
                      <a:headEnd type="none" w="med" len="med"/>
                      <a:tailEnd type="none" w="med" len="med"/>
                    </a:lnB>
                  </a:tcPr>
                </a:tc>
                <a:tc>
                  <a:txBody>
                    <a:bodyPr/>
                    <a:lstStyle/>
                    <a:p>
                      <a:pPr indent="0" marL="0">
                        <a:buNone/>
                      </a:pPr>
                      <a:r>
                        <a:rPr lang="en-US" sz="1400" dirty="0">
                          <a:solidFill>
                            <a:schemeClr val="tx1"/>
                          </a:solidFill>
                        </a:rPr>
                        <a:t>Separate protected area</a:t>
                      </a:r>
                      <a:endParaRPr lang="en-US" sz="1400" dirty="0"/>
                    </a:p>
                  </a:txBody>
                  <a:tcPr marL="91440" marR="91440" marT="36576" marB="36576" anchor="ctr">
                    <a:lnL w="9525" cap="flat" cmpd="sng" algn="ctr">
                      <a:solidFill>
                        <a:srgbClr val="EAF2F3"/>
                      </a:solidFill>
                      <a:prstDash val="solid"/>
                      <a:round/>
                      <a:headEnd type="none" w="med" len="med"/>
                      <a:tailEnd type="none" w="med" len="med"/>
                    </a:lnL>
                    <a:lnR w="9525" cap="flat" cmpd="sng" algn="ctr">
                      <a:solidFill>
                        <a:srgbClr val="EAF2F3"/>
                      </a:solidFill>
                      <a:prstDash val="solid"/>
                      <a:round/>
                      <a:headEnd type="none" w="med" len="med"/>
                      <a:tailEnd type="none" w="med" len="med"/>
                    </a:lnR>
                    <a:lnT w="9525" cap="flat" cmpd="sng" algn="ctr">
                      <a:solidFill>
                        <a:srgbClr val="EAF2F3"/>
                      </a:solidFill>
                      <a:prstDash val="solid"/>
                      <a:round/>
                      <a:headEnd type="none" w="med" len="med"/>
                      <a:tailEnd type="none" w="med" len="med"/>
                    </a:lnT>
                    <a:lnB w="9525" cap="flat" cmpd="sng" algn="ctr">
                      <a:solidFill>
                        <a:srgbClr val="EAF2F3"/>
                      </a:solidFill>
                      <a:prstDash val="solid"/>
                      <a:round/>
                      <a:headEnd type="none" w="med" len="med"/>
                      <a:tailEnd type="none" w="med" len="med"/>
                    </a:lnB>
                  </a:tcPr>
                </a:tc>
              </a:tr>
            </a:tbl>
          </a:graphicData>
        </a:graphic>
      </p:graphicFrame>
      <p:sp>
        <p:nvSpPr>
          <p:cNvPr id="5" name="Text 170"/>
          <p:cNvSpPr txBox="1"/>
          <p:nvPr/>
        </p:nvSpPr>
        <p:spPr>
          <a:xfrm>
            <a:off x="457200" y="4187952"/>
            <a:ext cx="5120640" cy="274320"/>
          </a:xfrm>
          <a:prstGeom prst="rect">
            <a:avLst/>
          </a:prstGeom>
          <a:noFill/>
          <a:ln/>
        </p:spPr>
        <p:txBody>
          <a:bodyPr wrap="square" lIns="0" tIns="0" rIns="0" bIns="0" rtlCol="0" anchor="ctr"/>
          <a:lstStyle/>
          <a:p>
            <a:pPr algn="l" indent="0" marL="0">
              <a:buNone/>
            </a:pPr>
            <a:r>
              <a:rPr lang="en-US" sz="1100" dirty="0">
                <a:solidFill>
                  <a:schemeClr val="accent5"/>
                </a:solidFill>
              </a:rPr>
              <a:t>Example clusters. The real clusters come from the data.</a:t>
            </a:r>
            <a:endParaRPr lang="en-US" sz="1100" dirty="0"/>
          </a:p>
        </p:txBody>
      </p:sp>
      <p:sp>
        <p:nvSpPr>
          <p:cNvPr id="6" name="Card 171"/>
          <p:cNvSpPr/>
          <p:nvPr/>
        </p:nvSpPr>
        <p:spPr>
          <a:xfrm>
            <a:off x="5852160" y="1188720"/>
            <a:ext cx="2834640" cy="3246120"/>
          </a:xfrm>
          <a:prstGeom prst="roundRect">
            <a:avLst>
              <a:gd name="adj" fmla="val 2581"/>
            </a:avLst>
          </a:prstGeom>
          <a:solidFill>
            <a:schemeClr val="bg2"/>
          </a:solidFill>
          <a:ln w="12700">
            <a:solidFill>
              <a:schemeClr val="bg2"/>
            </a:solidFill>
            <a:prstDash val="solid"/>
          </a:ln>
        </p:spPr>
      </p:sp>
      <p:sp>
        <p:nvSpPr>
          <p:cNvPr id="7" name="Text 172"/>
          <p:cNvSpPr txBox="1"/>
          <p:nvPr/>
        </p:nvSpPr>
        <p:spPr>
          <a:xfrm>
            <a:off x="5989320" y="1261872"/>
            <a:ext cx="1463040" cy="256032"/>
          </a:xfrm>
          <a:prstGeom prst="rect">
            <a:avLst/>
          </a:prstGeom>
          <a:noFill/>
          <a:ln/>
        </p:spPr>
        <p:txBody>
          <a:bodyPr wrap="square" lIns="0" tIns="0" rIns="0" bIns="0" rtlCol="0" anchor="ctr"/>
          <a:lstStyle/>
          <a:p>
            <a:pPr algn="l" indent="0" marL="0">
              <a:buNone/>
            </a:pPr>
            <a:r>
              <a:rPr lang="en-US" sz="1100" b="1" dirty="0">
                <a:solidFill>
                  <a:schemeClr val="tx2"/>
                </a:solidFill>
              </a:rPr>
              <a:t>Example floor plan</a:t>
            </a:r>
            <a:endParaRPr lang="en-US" sz="1100" dirty="0"/>
          </a:p>
        </p:txBody>
      </p:sp>
      <p:sp>
        <p:nvSpPr>
          <p:cNvPr id="8" name="Text 173"/>
          <p:cNvSpPr txBox="1"/>
          <p:nvPr/>
        </p:nvSpPr>
        <p:spPr>
          <a:xfrm>
            <a:off x="7315200" y="1261872"/>
            <a:ext cx="1234440" cy="256032"/>
          </a:xfrm>
          <a:prstGeom prst="rect">
            <a:avLst/>
          </a:prstGeom>
          <a:noFill/>
          <a:ln/>
        </p:spPr>
        <p:txBody>
          <a:bodyPr wrap="square" lIns="0" tIns="0" rIns="0" bIns="0" rtlCol="0" anchor="ctr"/>
          <a:lstStyle/>
          <a:p>
            <a:pPr algn="r" indent="0" marL="0">
              <a:buNone/>
            </a:pPr>
            <a:r>
              <a:rPr lang="en-US" sz="1100" dirty="0">
                <a:solidFill>
                  <a:schemeClr val="accent5"/>
                </a:solidFill>
              </a:rPr>
              <a:t>Loading dock</a:t>
            </a:r>
            <a:endParaRPr lang="en-US" sz="1100" dirty="0"/>
          </a:p>
        </p:txBody>
      </p:sp>
      <p:sp>
        <p:nvSpPr>
          <p:cNvPr id="9" name="Zone 174"/>
          <p:cNvSpPr/>
          <p:nvPr/>
        </p:nvSpPr>
        <p:spPr>
          <a:xfrm>
            <a:off x="5989320" y="1572768"/>
            <a:ext cx="1188720" cy="960120"/>
          </a:xfrm>
          <a:prstGeom prst="roundRect">
            <a:avLst>
              <a:gd name="adj" fmla="val 5714"/>
            </a:avLst>
          </a:prstGeom>
          <a:solidFill>
            <a:schemeClr val="accent4"/>
          </a:solidFill>
          <a:ln>
            <a:solidFill>
              <a:schemeClr val="accent4"/>
            </a:solidFill>
          </a:ln>
        </p:spPr>
        <p:txBody>
          <a:bodyPr wrap="square" lIns="508" tIns="508" rIns="508" bIns="508" rtlCol="0" anchor="ctr"/>
          <a:lstStyle/>
          <a:p>
            <a:pPr algn="ctr" indent="0" marL="0">
              <a:buNone/>
            </a:pPr>
            <a:r>
              <a:rPr lang="en-US" sz="2200" b="1" dirty="0">
                <a:solidFill>
                  <a:schemeClr val="tx1"/>
                </a:solidFill>
              </a:rPr>
              <a:t>2</a:t>
            </a:r>
            <a:endParaRPr lang="en-US" sz="2200" dirty="0"/>
          </a:p>
          <a:p>
            <a:pPr algn="ctr" indent="0" marL="0">
              <a:buNone/>
            </a:pPr>
            <a:r>
              <a:rPr lang="en-US" sz="1200" b="1" dirty="0">
                <a:solidFill>
                  <a:schemeClr val="tx1"/>
                </a:solidFill>
              </a:rPr>
              <a:t>Seasonal</a:t>
            </a:r>
            <a:endParaRPr lang="en-US" sz="2200" dirty="0"/>
          </a:p>
        </p:txBody>
      </p:sp>
      <p:sp>
        <p:nvSpPr>
          <p:cNvPr id="10" name="Zone 175"/>
          <p:cNvSpPr/>
          <p:nvPr/>
        </p:nvSpPr>
        <p:spPr>
          <a:xfrm>
            <a:off x="7360920" y="1572768"/>
            <a:ext cx="1188720" cy="960120"/>
          </a:xfrm>
          <a:prstGeom prst="roundRect">
            <a:avLst>
              <a:gd name="adj" fmla="val 5714"/>
            </a:avLst>
          </a:prstGeom>
          <a:solidFill>
            <a:schemeClr val="accent5"/>
          </a:solidFill>
          <a:ln>
            <a:solidFill>
              <a:schemeClr val="accent5"/>
            </a:solidFill>
          </a:ln>
        </p:spPr>
        <p:txBody>
          <a:bodyPr wrap="square" lIns="508" tIns="508" rIns="508" bIns="508" rtlCol="0" anchor="ctr"/>
          <a:lstStyle/>
          <a:p>
            <a:pPr algn="ctr" indent="0" marL="0">
              <a:buNone/>
            </a:pPr>
            <a:r>
              <a:rPr lang="en-US" sz="2200" b="1" dirty="0">
                <a:solidFill>
                  <a:schemeClr val="bg1"/>
                </a:solidFill>
              </a:rPr>
              <a:t>3</a:t>
            </a:r>
            <a:endParaRPr lang="en-US" sz="2200" dirty="0"/>
          </a:p>
          <a:p>
            <a:pPr algn="ctr" indent="0" marL="0">
              <a:buNone/>
            </a:pPr>
            <a:r>
              <a:rPr lang="en-US" sz="1200" b="1" dirty="0">
                <a:solidFill>
                  <a:schemeClr val="bg1"/>
                </a:solidFill>
              </a:rPr>
              <a:t>Bulky / heavy</a:t>
            </a:r>
            <a:endParaRPr lang="en-US" sz="2200" dirty="0"/>
          </a:p>
        </p:txBody>
      </p:sp>
      <p:sp>
        <p:nvSpPr>
          <p:cNvPr id="11" name="Zone 176"/>
          <p:cNvSpPr/>
          <p:nvPr/>
        </p:nvSpPr>
        <p:spPr>
          <a:xfrm>
            <a:off x="5989320" y="2670048"/>
            <a:ext cx="1188720" cy="960120"/>
          </a:xfrm>
          <a:prstGeom prst="roundRect">
            <a:avLst>
              <a:gd name="adj" fmla="val 5714"/>
            </a:avLst>
          </a:prstGeom>
          <a:solidFill>
            <a:schemeClr val="accent2"/>
          </a:solidFill>
          <a:ln>
            <a:solidFill>
              <a:schemeClr val="accent2"/>
            </a:solidFill>
          </a:ln>
        </p:spPr>
        <p:txBody>
          <a:bodyPr wrap="square" lIns="508" tIns="508" rIns="508" bIns="508" rtlCol="0" anchor="ctr"/>
          <a:lstStyle/>
          <a:p>
            <a:pPr algn="ctr" indent="0" marL="0">
              <a:buNone/>
            </a:pPr>
            <a:r>
              <a:rPr lang="en-US" sz="2200" b="1" dirty="0">
                <a:solidFill>
                  <a:schemeClr val="tx1"/>
                </a:solidFill>
              </a:rPr>
              <a:t>1</a:t>
            </a:r>
            <a:endParaRPr lang="en-US" sz="2200" dirty="0"/>
          </a:p>
          <a:p>
            <a:pPr algn="ctr" indent="0" marL="0">
              <a:buNone/>
            </a:pPr>
            <a:r>
              <a:rPr lang="en-US" sz="1200" b="1" dirty="0">
                <a:solidFill>
                  <a:schemeClr val="tx1"/>
                </a:solidFill>
              </a:rPr>
              <a:t>Fast movers</a:t>
            </a:r>
            <a:endParaRPr lang="en-US" sz="2200" dirty="0"/>
          </a:p>
        </p:txBody>
      </p:sp>
      <p:sp>
        <p:nvSpPr>
          <p:cNvPr id="12" name="Zone 177"/>
          <p:cNvSpPr/>
          <p:nvPr/>
        </p:nvSpPr>
        <p:spPr>
          <a:xfrm>
            <a:off x="7360920" y="2670048"/>
            <a:ext cx="1188720" cy="960120"/>
          </a:xfrm>
          <a:prstGeom prst="roundRect">
            <a:avLst>
              <a:gd name="adj" fmla="val 5714"/>
            </a:avLst>
          </a:prstGeom>
          <a:solidFill>
            <a:schemeClr val="accent6"/>
          </a:solidFill>
          <a:ln>
            <a:solidFill>
              <a:schemeClr val="accent6"/>
            </a:solidFill>
          </a:ln>
        </p:spPr>
        <p:txBody>
          <a:bodyPr wrap="square" lIns="508" tIns="508" rIns="508" bIns="508" rtlCol="0" anchor="ctr"/>
          <a:lstStyle/>
          <a:p>
            <a:pPr algn="ctr" indent="0" marL="0">
              <a:buNone/>
            </a:pPr>
            <a:r>
              <a:rPr lang="en-US" sz="2200" b="1" dirty="0">
                <a:solidFill>
                  <a:schemeClr val="bg1"/>
                </a:solidFill>
              </a:rPr>
              <a:t>4</a:t>
            </a:r>
            <a:endParaRPr lang="en-US" sz="2200" dirty="0"/>
          </a:p>
          <a:p>
            <a:pPr algn="ctr" indent="0" marL="0">
              <a:buNone/>
            </a:pPr>
            <a:r>
              <a:rPr lang="en-US" sz="1200" b="1" dirty="0">
                <a:solidFill>
                  <a:schemeClr val="bg1"/>
                </a:solidFill>
              </a:rPr>
              <a:t>Special care</a:t>
            </a:r>
            <a:endParaRPr lang="en-US" sz="2200" dirty="0"/>
          </a:p>
        </p:txBody>
      </p:sp>
      <p:sp>
        <p:nvSpPr>
          <p:cNvPr id="13" name="Packing 178"/>
          <p:cNvSpPr/>
          <p:nvPr/>
        </p:nvSpPr>
        <p:spPr>
          <a:xfrm>
            <a:off x="5989320" y="3794760"/>
            <a:ext cx="2560320" cy="457200"/>
          </a:xfrm>
          <a:prstGeom prst="roundRect">
            <a:avLst>
              <a:gd name="adj" fmla="val 12000"/>
            </a:avLst>
          </a:prstGeom>
          <a:solidFill>
            <a:schemeClr val="accent1"/>
          </a:solidFill>
          <a:ln>
            <a:solidFill>
              <a:schemeClr val="accent1"/>
            </a:solidFill>
          </a:ln>
        </p:spPr>
        <p:txBody>
          <a:bodyPr wrap="square" lIns="0" tIns="0" rIns="0" bIns="0" rtlCol="0" anchor="ctr"/>
          <a:lstStyle/>
          <a:p>
            <a:pPr algn="ctr" indent="0" marL="0">
              <a:buNone/>
            </a:pPr>
            <a:r>
              <a:rPr lang="en-US" sz="1300" b="1" dirty="0">
                <a:solidFill>
                  <a:schemeClr val="bg1"/>
                </a:solidFill>
              </a:rPr>
              <a:t>Packing and dispatch</a:t>
            </a:r>
            <a:endParaRPr lang="en-US" sz="1300" dirty="0"/>
          </a:p>
        </p:txBody>
      </p:sp>
      <p:sp>
        <p:nvSpPr>
          <p:cNvPr id="25" name="Slide Number Placeholder 0"/>
          <p:cNvSpPr>
            <a:spLocks noGrp="1"/>
          </p:cNvSpPr>
          <p:nvPr>
            <p:ph type="sldNum" sz="quarter" idx="4294967295"/>
          </p:nvPr>
        </p:nvSpPr>
        <p:spPr>
          <a:xfrm>
            <a:off x="8229600" y="472744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7315200" cy="685800"/>
          </a:xfrm>
          <a:prstGeom prst="rect">
            <a:avLst/>
          </a:prstGeom>
          <a:noFill/>
          <a:ln/>
        </p:spPr>
        <p:txBody>
          <a:bodyPr wrap="square" lIns="0" tIns="0" rIns="0" bIns="0" rtlCol="0" anchor="ctr"/>
          <a:lstStyle/>
          <a:p>
            <a:pPr algn="l" indent="0" marL="0">
              <a:buNone/>
            </a:pPr>
            <a:r>
              <a:rPr lang="en-US" sz="3600" b="1" dirty="0">
                <a:solidFill>
                  <a:schemeClr val="tx2"/>
                </a:solidFill>
              </a:rPr>
              <a:t>How this solves our problem</a:t>
            </a:r>
            <a:endParaRPr lang="en-US" sz="3600" dirty="0"/>
          </a:p>
        </p:txBody>
      </p:sp>
      <p:sp>
        <p:nvSpPr>
          <p:cNvPr id="4" name="Card 179"/>
          <p:cNvSpPr/>
          <p:nvPr/>
        </p:nvSpPr>
        <p:spPr>
          <a:xfrm>
            <a:off x="457200" y="1188720"/>
            <a:ext cx="2624328" cy="2194560"/>
          </a:xfrm>
          <a:prstGeom prst="roundRect">
            <a:avLst>
              <a:gd name="adj" fmla="val 3333"/>
            </a:avLst>
          </a:prstGeom>
          <a:solidFill>
            <a:schemeClr val="bg2"/>
          </a:solidFill>
          <a:ln w="12700">
            <a:solidFill>
              <a:schemeClr val="bg2"/>
            </a:solidFill>
            <a:prstDash val="solid"/>
          </a:ln>
        </p:spPr>
      </p:sp>
      <p:sp>
        <p:nvSpPr>
          <p:cNvPr id="5" name="Badge 180"/>
          <p:cNvSpPr/>
          <p:nvPr/>
        </p:nvSpPr>
        <p:spPr>
          <a:xfrm>
            <a:off x="640080" y="1353312"/>
            <a:ext cx="502920" cy="502920"/>
          </a:xfrm>
          <a:prstGeom prst="ellipse">
            <a:avLst/>
          </a:prstGeom>
          <a:solidFill>
            <a:schemeClr val="accent2"/>
          </a:solidFill>
          <a:ln>
            <a:solidFill>
              <a:schemeClr val="accent2"/>
            </a:solidFill>
          </a:ln>
        </p:spPr>
        <p:txBody>
          <a:bodyPr wrap="square" lIns="0" tIns="0" rIns="0" bIns="0" rtlCol="0" anchor="ctr"/>
          <a:lstStyle/>
          <a:p>
            <a:pPr algn="ctr" indent="0" marL="0">
              <a:buNone/>
            </a:pPr>
            <a:r>
              <a:rPr lang="en-US" sz="2000" b="1" dirty="0">
                <a:solidFill>
                  <a:schemeClr val="bg1"/>
                </a:solidFill>
              </a:rPr>
              <a:t>1</a:t>
            </a:r>
            <a:endParaRPr lang="en-US" sz="2000" dirty="0"/>
          </a:p>
        </p:txBody>
      </p:sp>
      <p:sp>
        <p:nvSpPr>
          <p:cNvPr id="6" name="Text 181"/>
          <p:cNvSpPr txBox="1"/>
          <p:nvPr/>
        </p:nvSpPr>
        <p:spPr>
          <a:xfrm>
            <a:off x="640080" y="1965960"/>
            <a:ext cx="2286000" cy="347472"/>
          </a:xfrm>
          <a:prstGeom prst="rect">
            <a:avLst/>
          </a:prstGeom>
          <a:noFill/>
          <a:ln/>
        </p:spPr>
        <p:txBody>
          <a:bodyPr wrap="square" lIns="0" tIns="0" rIns="0" bIns="0" rtlCol="0" anchor="ctr"/>
          <a:lstStyle/>
          <a:p>
            <a:pPr algn="l" indent="0" marL="0">
              <a:buNone/>
            </a:pPr>
            <a:r>
              <a:rPr lang="en-US" sz="1800" b="1" dirty="0">
                <a:solidFill>
                  <a:schemeClr val="tx2"/>
                </a:solidFill>
              </a:rPr>
              <a:t>Less walking</a:t>
            </a:r>
            <a:endParaRPr lang="en-US" sz="1800" dirty="0"/>
          </a:p>
        </p:txBody>
      </p:sp>
      <p:sp>
        <p:nvSpPr>
          <p:cNvPr id="7" name="Text 182"/>
          <p:cNvSpPr txBox="1"/>
          <p:nvPr/>
        </p:nvSpPr>
        <p:spPr>
          <a:xfrm>
            <a:off x="640080" y="2340864"/>
            <a:ext cx="2286000" cy="960120"/>
          </a:xfrm>
          <a:prstGeom prst="rect">
            <a:avLst/>
          </a:prstGeom>
          <a:noFill/>
          <a:ln/>
        </p:spPr>
        <p:txBody>
          <a:bodyPr wrap="square" lIns="0" tIns="0" rIns="0" bIns="0" rtlCol="0" anchor="t"/>
          <a:lstStyle/>
          <a:p>
            <a:pPr algn="l" indent="0" marL="0">
              <a:buNone/>
            </a:pPr>
            <a:r>
              <a:rPr lang="en-US" sz="1400" dirty="0">
                <a:solidFill>
                  <a:schemeClr val="tx1"/>
                </a:solidFill>
              </a:rPr>
              <a:t>Fast movers sit closest to packing, so pickers travel less for most orders.</a:t>
            </a:r>
            <a:endParaRPr lang="en-US" sz="1400" dirty="0"/>
          </a:p>
        </p:txBody>
      </p:sp>
      <p:sp>
        <p:nvSpPr>
          <p:cNvPr id="8" name="Card 183"/>
          <p:cNvSpPr/>
          <p:nvPr/>
        </p:nvSpPr>
        <p:spPr>
          <a:xfrm>
            <a:off x="3264408" y="1188720"/>
            <a:ext cx="2624328" cy="2194560"/>
          </a:xfrm>
          <a:prstGeom prst="roundRect">
            <a:avLst>
              <a:gd name="adj" fmla="val 3333"/>
            </a:avLst>
          </a:prstGeom>
          <a:solidFill>
            <a:schemeClr val="bg2"/>
          </a:solidFill>
          <a:ln w="12700">
            <a:solidFill>
              <a:schemeClr val="bg2"/>
            </a:solidFill>
            <a:prstDash val="solid"/>
          </a:ln>
        </p:spPr>
      </p:sp>
      <p:sp>
        <p:nvSpPr>
          <p:cNvPr id="9" name="Badge 184"/>
          <p:cNvSpPr/>
          <p:nvPr/>
        </p:nvSpPr>
        <p:spPr>
          <a:xfrm>
            <a:off x="3447288" y="1353312"/>
            <a:ext cx="502920" cy="502920"/>
          </a:xfrm>
          <a:prstGeom prst="ellipse">
            <a:avLst/>
          </a:prstGeom>
          <a:solidFill>
            <a:schemeClr val="accent3"/>
          </a:solidFill>
          <a:ln>
            <a:solidFill>
              <a:schemeClr val="accent3"/>
            </a:solidFill>
          </a:ln>
        </p:spPr>
        <p:txBody>
          <a:bodyPr wrap="square" lIns="0" tIns="0" rIns="0" bIns="0" rtlCol="0" anchor="ctr"/>
          <a:lstStyle/>
          <a:p>
            <a:pPr algn="ctr" indent="0" marL="0">
              <a:buNone/>
            </a:pPr>
            <a:r>
              <a:rPr lang="en-US" sz="2000" b="1" dirty="0">
                <a:solidFill>
                  <a:schemeClr val="bg1"/>
                </a:solidFill>
              </a:rPr>
              <a:t>2</a:t>
            </a:r>
            <a:endParaRPr lang="en-US" sz="2000" dirty="0"/>
          </a:p>
        </p:txBody>
      </p:sp>
      <p:sp>
        <p:nvSpPr>
          <p:cNvPr id="10" name="Text 185"/>
          <p:cNvSpPr txBox="1"/>
          <p:nvPr/>
        </p:nvSpPr>
        <p:spPr>
          <a:xfrm>
            <a:off x="3447288" y="1965960"/>
            <a:ext cx="2286000" cy="347472"/>
          </a:xfrm>
          <a:prstGeom prst="rect">
            <a:avLst/>
          </a:prstGeom>
          <a:noFill/>
          <a:ln/>
        </p:spPr>
        <p:txBody>
          <a:bodyPr wrap="square" lIns="0" tIns="0" rIns="0" bIns="0" rtlCol="0" anchor="ctr"/>
          <a:lstStyle/>
          <a:p>
            <a:pPr algn="l" indent="0" marL="0">
              <a:buNone/>
            </a:pPr>
            <a:r>
              <a:rPr lang="en-US" sz="1800" b="1" dirty="0">
                <a:solidFill>
                  <a:schemeClr val="tx2"/>
                </a:solidFill>
              </a:rPr>
              <a:t>Better placement</a:t>
            </a:r>
            <a:endParaRPr lang="en-US" sz="1800" dirty="0"/>
          </a:p>
        </p:txBody>
      </p:sp>
      <p:sp>
        <p:nvSpPr>
          <p:cNvPr id="11" name="Text 186"/>
          <p:cNvSpPr txBox="1"/>
          <p:nvPr/>
        </p:nvSpPr>
        <p:spPr>
          <a:xfrm>
            <a:off x="3447288" y="2340864"/>
            <a:ext cx="2286000" cy="960120"/>
          </a:xfrm>
          <a:prstGeom prst="rect">
            <a:avLst/>
          </a:prstGeom>
          <a:noFill/>
          <a:ln/>
        </p:spPr>
        <p:txBody>
          <a:bodyPr wrap="square" lIns="0" tIns="0" rIns="0" bIns="0" rtlCol="0" anchor="t"/>
          <a:lstStyle/>
          <a:p>
            <a:pPr algn="l" indent="0" marL="0">
              <a:buNone/>
            </a:pPr>
            <a:r>
              <a:rPr lang="en-US" sz="1400" dirty="0">
                <a:solidFill>
                  <a:schemeClr val="tx1"/>
                </a:solidFill>
              </a:rPr>
              <a:t>Each zone holds products with similar size and handling needs.</a:t>
            </a:r>
            <a:endParaRPr lang="en-US" sz="1400" dirty="0"/>
          </a:p>
        </p:txBody>
      </p:sp>
      <p:sp>
        <p:nvSpPr>
          <p:cNvPr id="12" name="Card 187"/>
          <p:cNvSpPr/>
          <p:nvPr/>
        </p:nvSpPr>
        <p:spPr>
          <a:xfrm>
            <a:off x="6071616" y="1188720"/>
            <a:ext cx="2624328" cy="2194560"/>
          </a:xfrm>
          <a:prstGeom prst="roundRect">
            <a:avLst>
              <a:gd name="adj" fmla="val 3333"/>
            </a:avLst>
          </a:prstGeom>
          <a:solidFill>
            <a:schemeClr val="bg2"/>
          </a:solidFill>
          <a:ln w="12700">
            <a:solidFill>
              <a:schemeClr val="bg2"/>
            </a:solidFill>
            <a:prstDash val="solid"/>
          </a:ln>
        </p:spPr>
      </p:sp>
      <p:sp>
        <p:nvSpPr>
          <p:cNvPr id="13" name="Badge 188"/>
          <p:cNvSpPr/>
          <p:nvPr/>
        </p:nvSpPr>
        <p:spPr>
          <a:xfrm>
            <a:off x="6254496" y="1353312"/>
            <a:ext cx="502920" cy="502920"/>
          </a:xfrm>
          <a:prstGeom prst="ellipse">
            <a:avLst/>
          </a:prstGeom>
          <a:solidFill>
            <a:schemeClr val="accent6"/>
          </a:solidFill>
          <a:ln>
            <a:solidFill>
              <a:schemeClr val="accent6"/>
            </a:solidFill>
          </a:ln>
        </p:spPr>
        <p:txBody>
          <a:bodyPr wrap="square" lIns="0" tIns="0" rIns="0" bIns="0" rtlCol="0" anchor="ctr"/>
          <a:lstStyle/>
          <a:p>
            <a:pPr algn="ctr" indent="0" marL="0">
              <a:buNone/>
            </a:pPr>
            <a:r>
              <a:rPr lang="en-US" sz="2000" b="1" dirty="0">
                <a:solidFill>
                  <a:schemeClr val="bg1"/>
                </a:solidFill>
              </a:rPr>
              <a:t>3</a:t>
            </a:r>
            <a:endParaRPr lang="en-US" sz="2000" dirty="0"/>
          </a:p>
        </p:txBody>
      </p:sp>
      <p:sp>
        <p:nvSpPr>
          <p:cNvPr id="14" name="Text 189"/>
          <p:cNvSpPr txBox="1"/>
          <p:nvPr/>
        </p:nvSpPr>
        <p:spPr>
          <a:xfrm>
            <a:off x="6254496" y="1965960"/>
            <a:ext cx="2286000" cy="347472"/>
          </a:xfrm>
          <a:prstGeom prst="rect">
            <a:avLst/>
          </a:prstGeom>
          <a:noFill/>
          <a:ln/>
        </p:spPr>
        <p:txBody>
          <a:bodyPr wrap="square" lIns="0" tIns="0" rIns="0" bIns="0" rtlCol="0" anchor="ctr"/>
          <a:lstStyle/>
          <a:p>
            <a:pPr algn="l" indent="0" marL="0">
              <a:buNone/>
            </a:pPr>
            <a:r>
              <a:rPr lang="en-US" sz="1800" b="1" dirty="0">
                <a:solidFill>
                  <a:schemeClr val="tx2"/>
                </a:solidFill>
              </a:rPr>
              <a:t>Season ready</a:t>
            </a:r>
            <a:endParaRPr lang="en-US" sz="1800" dirty="0"/>
          </a:p>
        </p:txBody>
      </p:sp>
      <p:sp>
        <p:nvSpPr>
          <p:cNvPr id="15" name="Text 190"/>
          <p:cNvSpPr txBox="1"/>
          <p:nvPr/>
        </p:nvSpPr>
        <p:spPr>
          <a:xfrm>
            <a:off x="6254496" y="2340864"/>
            <a:ext cx="2286000" cy="960120"/>
          </a:xfrm>
          <a:prstGeom prst="rect">
            <a:avLst/>
          </a:prstGeom>
          <a:noFill/>
          <a:ln/>
        </p:spPr>
        <p:txBody>
          <a:bodyPr wrap="square" lIns="0" tIns="0" rIns="0" bIns="0" rtlCol="0" anchor="t"/>
          <a:lstStyle/>
          <a:p>
            <a:pPr algn="l" indent="0" marL="0">
              <a:buNone/>
            </a:pPr>
            <a:r>
              <a:rPr lang="en-US" sz="1400" dirty="0">
                <a:solidFill>
                  <a:schemeClr val="tx1"/>
                </a:solidFill>
              </a:rPr>
              <a:t>Re-run K-Means with new sales data and the zones update.</a:t>
            </a:r>
            <a:endParaRPr lang="en-US" sz="1400" dirty="0"/>
          </a:p>
        </p:txBody>
      </p:sp>
      <p:sp>
        <p:nvSpPr>
          <p:cNvPr id="16" name="Card 191"/>
          <p:cNvSpPr/>
          <p:nvPr/>
        </p:nvSpPr>
        <p:spPr>
          <a:xfrm>
            <a:off x="457200" y="3584448"/>
            <a:ext cx="8229600" cy="822960"/>
          </a:xfrm>
          <a:prstGeom prst="roundRect">
            <a:avLst>
              <a:gd name="adj" fmla="val 8889"/>
            </a:avLst>
          </a:prstGeom>
          <a:solidFill>
            <a:schemeClr val="bg2"/>
          </a:solidFill>
          <a:ln w="12700">
            <a:solidFill>
              <a:schemeClr val="bg2"/>
            </a:solidFill>
            <a:prstDash val="solid"/>
          </a:ln>
        </p:spPr>
      </p:sp>
      <p:sp>
        <p:nvSpPr>
          <p:cNvPr id="17" name="Text 192"/>
          <p:cNvSpPr txBox="1"/>
          <p:nvPr/>
        </p:nvSpPr>
        <p:spPr>
          <a:xfrm>
            <a:off x="640080" y="3584448"/>
            <a:ext cx="7863840" cy="822960"/>
          </a:xfrm>
          <a:prstGeom prst="rect">
            <a:avLst/>
          </a:prstGeom>
          <a:noFill/>
          <a:ln/>
        </p:spPr>
        <p:txBody>
          <a:bodyPr wrap="square" lIns="0" tIns="0" rIns="0" bIns="0" rtlCol="0" anchor="ctr"/>
          <a:lstStyle/>
          <a:p>
            <a:pPr algn="l" indent="0" marL="0">
              <a:buNone/>
            </a:pPr>
            <a:r>
              <a:rPr lang="en-US" sz="1400" b="1" dirty="0">
                <a:solidFill>
                  <a:schemeClr val="tx2"/>
                </a:solidFill>
              </a:rPr>
              <a:t>How we check the clusters: </a:t>
            </a:r>
            <a:pPr algn="l" indent="0" marL="0">
              <a:buNone/>
            </a:pPr>
            <a:r>
              <a:rPr lang="en-US" sz="1400" dirty="0">
                <a:solidFill>
                  <a:schemeClr val="tx1"/>
                </a:solidFill>
              </a:rPr>
              <a:t>SKUs inside a cluster should look alike (low within-cluster variance), and each centroid should read like a typical product.</a:t>
            </a:r>
            <a:endParaRPr lang="en-US" sz="1400" dirty="0"/>
          </a:p>
        </p:txBody>
      </p:sp>
      <p:sp>
        <p:nvSpPr>
          <p:cNvPr id="25" name="Slide Number Placeholder 0"/>
          <p:cNvSpPr>
            <a:spLocks noGrp="1"/>
          </p:cNvSpPr>
          <p:nvPr>
            <p:ph type="sldNum" sz="quarter" idx="4294967295"/>
          </p:nvPr>
        </p:nvSpPr>
        <p:spPr>
          <a:xfrm>
            <a:off x="8229600" y="472744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title" hasCustomPrompt="1"/>
          </p:nvPr>
        </p:nvSpPr>
        <p:spPr>
          <a:xfrm>
            <a:off x="548640" y="411480"/>
            <a:ext cx="5120640" cy="731520"/>
          </a:xfrm>
          <a:prstGeom prst="rect">
            <a:avLst/>
          </a:prstGeom>
          <a:noFill/>
          <a:ln/>
        </p:spPr>
        <p:txBody>
          <a:bodyPr wrap="square" lIns="0" tIns="0" rIns="0" bIns="0" rtlCol="0" anchor="ctr"/>
          <a:lstStyle/>
          <a:p>
            <a:pPr algn="l" indent="0" marL="0">
              <a:buNone/>
            </a:pPr>
            <a:r>
              <a:rPr lang="en-US" sz="3600" b="1" dirty="0">
                <a:solidFill>
                  <a:schemeClr val="bg1"/>
                </a:solidFill>
              </a:rPr>
              <a:t>Conclusion</a:t>
            </a:r>
            <a:endParaRPr lang="en-US" sz="3600" dirty="0"/>
          </a:p>
        </p:txBody>
      </p:sp>
      <p:sp>
        <p:nvSpPr>
          <p:cNvPr id="3" name="Badge 193"/>
          <p:cNvSpPr/>
          <p:nvPr/>
        </p:nvSpPr>
        <p:spPr>
          <a:xfrm>
            <a:off x="548640" y="1463040"/>
            <a:ext cx="384048" cy="384048"/>
          </a:xfrm>
          <a:prstGeom prst="ellipse">
            <a:avLst/>
          </a:prstGeom>
          <a:solidFill>
            <a:schemeClr val="accent2"/>
          </a:solidFill>
          <a:ln>
            <a:solidFill>
              <a:schemeClr val="accent2"/>
            </a:solidFill>
          </a:ln>
        </p:spPr>
        <p:txBody>
          <a:bodyPr wrap="square" lIns="0" tIns="0" rIns="0" bIns="0" rtlCol="0" anchor="ctr"/>
          <a:lstStyle/>
          <a:p>
            <a:pPr algn="ctr" indent="0" marL="0">
              <a:buNone/>
            </a:pPr>
            <a:r>
              <a:rPr lang="en-US" sz="1600" b="1" dirty="0">
                <a:solidFill>
                  <a:schemeClr val="bg1"/>
                </a:solidFill>
              </a:rPr>
              <a:t>1</a:t>
            </a:r>
            <a:endParaRPr lang="en-US" sz="1600" dirty="0"/>
          </a:p>
        </p:txBody>
      </p:sp>
      <p:sp>
        <p:nvSpPr>
          <p:cNvPr id="4" name="Text 194"/>
          <p:cNvSpPr txBox="1"/>
          <p:nvPr/>
        </p:nvSpPr>
        <p:spPr>
          <a:xfrm>
            <a:off x="1097280" y="1371600"/>
            <a:ext cx="4480560" cy="566928"/>
          </a:xfrm>
          <a:prstGeom prst="rect">
            <a:avLst/>
          </a:prstGeom>
          <a:noFill/>
          <a:ln/>
        </p:spPr>
        <p:txBody>
          <a:bodyPr wrap="square" lIns="0" tIns="0" rIns="0" bIns="0" rtlCol="0" anchor="ctr"/>
          <a:lstStyle/>
          <a:p>
            <a:pPr algn="l" indent="0" marL="0">
              <a:buNone/>
            </a:pPr>
            <a:r>
              <a:rPr lang="en-US" sz="1600" dirty="0">
                <a:solidFill>
                  <a:schemeClr val="bg1"/>
                </a:solidFill>
              </a:rPr>
              <a:t>Problem: group warehouse SKUs so that pickers travel less.</a:t>
            </a:r>
            <a:endParaRPr lang="en-US" sz="1600" dirty="0"/>
          </a:p>
        </p:txBody>
      </p:sp>
      <p:sp>
        <p:nvSpPr>
          <p:cNvPr id="5" name="Badge 195"/>
          <p:cNvSpPr/>
          <p:nvPr/>
        </p:nvSpPr>
        <p:spPr>
          <a:xfrm>
            <a:off x="548640" y="2286000"/>
            <a:ext cx="384048" cy="384048"/>
          </a:xfrm>
          <a:prstGeom prst="ellipse">
            <a:avLst/>
          </a:prstGeom>
          <a:solidFill>
            <a:schemeClr val="accent2"/>
          </a:solidFill>
          <a:ln>
            <a:solidFill>
              <a:schemeClr val="accent2"/>
            </a:solidFill>
          </a:ln>
        </p:spPr>
        <p:txBody>
          <a:bodyPr wrap="square" lIns="0" tIns="0" rIns="0" bIns="0" rtlCol="0" anchor="ctr"/>
          <a:lstStyle/>
          <a:p>
            <a:pPr algn="ctr" indent="0" marL="0">
              <a:buNone/>
            </a:pPr>
            <a:r>
              <a:rPr lang="en-US" sz="1600" b="1" dirty="0">
                <a:solidFill>
                  <a:schemeClr val="bg1"/>
                </a:solidFill>
              </a:rPr>
              <a:t>2</a:t>
            </a:r>
            <a:endParaRPr lang="en-US" sz="1600" dirty="0"/>
          </a:p>
        </p:txBody>
      </p:sp>
      <p:sp>
        <p:nvSpPr>
          <p:cNvPr id="6" name="Text 196"/>
          <p:cNvSpPr txBox="1"/>
          <p:nvPr/>
        </p:nvSpPr>
        <p:spPr>
          <a:xfrm>
            <a:off x="1097280" y="2194560"/>
            <a:ext cx="4480560" cy="566928"/>
          </a:xfrm>
          <a:prstGeom prst="rect">
            <a:avLst/>
          </a:prstGeom>
          <a:noFill/>
          <a:ln/>
        </p:spPr>
        <p:txBody>
          <a:bodyPr wrap="square" lIns="0" tIns="0" rIns="0" bIns="0" rtlCol="0" anchor="ctr"/>
          <a:lstStyle/>
          <a:p>
            <a:pPr algn="l" indent="0" marL="0">
              <a:buNone/>
            </a:pPr>
            <a:r>
              <a:rPr lang="en-US" sz="1600" dirty="0">
                <a:solidFill>
                  <a:schemeClr val="bg1"/>
                </a:solidFill>
              </a:rPr>
              <a:t>Chosen from Unit 3: K-Means clustering, a simple partitioning method.</a:t>
            </a:r>
            <a:endParaRPr lang="en-US" sz="1600" dirty="0"/>
          </a:p>
        </p:txBody>
      </p:sp>
      <p:sp>
        <p:nvSpPr>
          <p:cNvPr id="7" name="Badge 197"/>
          <p:cNvSpPr/>
          <p:nvPr/>
        </p:nvSpPr>
        <p:spPr>
          <a:xfrm>
            <a:off x="548640" y="3108960"/>
            <a:ext cx="384048" cy="384048"/>
          </a:xfrm>
          <a:prstGeom prst="ellipse">
            <a:avLst/>
          </a:prstGeom>
          <a:solidFill>
            <a:schemeClr val="accent2"/>
          </a:solidFill>
          <a:ln>
            <a:solidFill>
              <a:schemeClr val="accent2"/>
            </a:solidFill>
          </a:ln>
        </p:spPr>
        <p:txBody>
          <a:bodyPr wrap="square" lIns="0" tIns="0" rIns="0" bIns="0" rtlCol="0" anchor="ctr"/>
          <a:lstStyle/>
          <a:p>
            <a:pPr algn="ctr" indent="0" marL="0">
              <a:buNone/>
            </a:pPr>
            <a:r>
              <a:rPr lang="en-US" sz="1600" b="1" dirty="0">
                <a:solidFill>
                  <a:schemeClr val="bg1"/>
                </a:solidFill>
              </a:rPr>
              <a:t>3</a:t>
            </a:r>
            <a:endParaRPr lang="en-US" sz="1600" dirty="0"/>
          </a:p>
        </p:txBody>
      </p:sp>
      <p:sp>
        <p:nvSpPr>
          <p:cNvPr id="8" name="Text 198"/>
          <p:cNvSpPr txBox="1"/>
          <p:nvPr/>
        </p:nvSpPr>
        <p:spPr>
          <a:xfrm>
            <a:off x="1097280" y="3017520"/>
            <a:ext cx="4480560" cy="566928"/>
          </a:xfrm>
          <a:prstGeom prst="rect">
            <a:avLst/>
          </a:prstGeom>
          <a:noFill/>
          <a:ln/>
        </p:spPr>
        <p:txBody>
          <a:bodyPr wrap="square" lIns="0" tIns="0" rIns="0" bIns="0" rtlCol="0" anchor="ctr"/>
          <a:lstStyle/>
          <a:p>
            <a:pPr algn="l" indent="0" marL="0">
              <a:buNone/>
            </a:pPr>
            <a:r>
              <a:rPr lang="en-US" sz="1600" dirty="0">
                <a:solidFill>
                  <a:schemeClr val="bg1"/>
                </a:solidFill>
              </a:rPr>
              <a:t>Outcome: clear clusters that map directly to warehouse zones.</a:t>
            </a:r>
            <a:endParaRPr lang="en-US" sz="1600" dirty="0"/>
          </a:p>
        </p:txBody>
      </p:sp>
      <p:sp>
        <p:nvSpPr>
          <p:cNvPr id="9" name="Text 199"/>
          <p:cNvSpPr txBox="1"/>
          <p:nvPr/>
        </p:nvSpPr>
        <p:spPr>
          <a:xfrm>
            <a:off x="548640" y="3931920"/>
            <a:ext cx="5029200" cy="457200"/>
          </a:xfrm>
          <a:prstGeom prst="rect">
            <a:avLst/>
          </a:prstGeom>
          <a:noFill/>
          <a:ln/>
        </p:spPr>
        <p:txBody>
          <a:bodyPr wrap="square" lIns="0" tIns="0" rIns="0" bIns="0" rtlCol="0" anchor="ctr"/>
          <a:lstStyle/>
          <a:p>
            <a:pPr algn="l" indent="0" marL="0">
              <a:buNone/>
            </a:pPr>
            <a:r>
              <a:rPr lang="en-US" sz="1400" dirty="0">
                <a:solidFill>
                  <a:schemeClr val="bg2"/>
                </a:solidFill>
              </a:rPr>
              <a:t>Next step: test with real SKU data and compare different values of k.</a:t>
            </a:r>
            <a:endParaRPr lang="en-US" sz="1400" dirty="0"/>
          </a:p>
        </p:txBody>
      </p:sp>
      <p:sp>
        <p:nvSpPr>
          <p:cNvPr id="10" name="Card 200"/>
          <p:cNvSpPr/>
          <p:nvPr/>
        </p:nvSpPr>
        <p:spPr>
          <a:xfrm>
            <a:off x="5943600" y="1371600"/>
            <a:ext cx="2743200" cy="2103120"/>
          </a:xfrm>
          <a:prstGeom prst="roundRect">
            <a:avLst>
              <a:gd name="adj" fmla="val 3478"/>
            </a:avLst>
          </a:prstGeom>
          <a:solidFill>
            <a:schemeClr val="bg1">
              <a:alpha val="12000"/>
            </a:schemeClr>
          </a:solidFill>
          <a:ln w="12700">
            <a:solidFill>
              <a:schemeClr val="bg1">
                <a:alpha val="0"/>
              </a:schemeClr>
            </a:solidFill>
            <a:prstDash val="solid"/>
          </a:ln>
        </p:spPr>
      </p:sp>
      <p:sp>
        <p:nvSpPr>
          <p:cNvPr id="11" name="Text 201"/>
          <p:cNvSpPr txBox="1"/>
          <p:nvPr/>
        </p:nvSpPr>
        <p:spPr>
          <a:xfrm>
            <a:off x="5943600" y="1874520"/>
            <a:ext cx="2743200" cy="548640"/>
          </a:xfrm>
          <a:prstGeom prst="rect">
            <a:avLst/>
          </a:prstGeom>
          <a:noFill/>
          <a:ln/>
        </p:spPr>
        <p:txBody>
          <a:bodyPr wrap="square" lIns="0" tIns="0" rIns="0" bIns="0" rtlCol="0" anchor="ctr"/>
          <a:lstStyle/>
          <a:p>
            <a:pPr algn="ctr" indent="0" marL="0">
              <a:buNone/>
            </a:pPr>
            <a:r>
              <a:rPr lang="en-US" sz="3200" b="1" dirty="0">
                <a:solidFill>
                  <a:schemeClr val="bg1"/>
                </a:solidFill>
              </a:rPr>
              <a:t>Thank you</a:t>
            </a:r>
            <a:endParaRPr lang="en-US" sz="3200" dirty="0"/>
          </a:p>
        </p:txBody>
      </p:sp>
      <p:sp>
        <p:nvSpPr>
          <p:cNvPr id="12" name="Text 202"/>
          <p:cNvSpPr txBox="1"/>
          <p:nvPr/>
        </p:nvSpPr>
        <p:spPr>
          <a:xfrm>
            <a:off x="5943600" y="2514600"/>
            <a:ext cx="2743200" cy="365760"/>
          </a:xfrm>
          <a:prstGeom prst="rect">
            <a:avLst/>
          </a:prstGeom>
          <a:noFill/>
          <a:ln/>
        </p:spPr>
        <p:txBody>
          <a:bodyPr wrap="square" lIns="0" tIns="0" rIns="0" bIns="0" rtlCol="0" anchor="ctr"/>
          <a:lstStyle/>
          <a:p>
            <a:pPr algn="ctr" indent="0" marL="0">
              <a:buNone/>
            </a:pPr>
            <a:r>
              <a:rPr lang="en-US" sz="1400" dirty="0">
                <a:solidFill>
                  <a:schemeClr val="bg2"/>
                </a:solidFill>
              </a:rPr>
              <a:t>Questions are welcome</a:t>
            </a:r>
            <a:endParaRPr lang="en-US" sz="1400" dirty="0"/>
          </a:p>
        </p:txBody>
      </p:sp>
      <p:sp>
        <p:nvSpPr>
          <p:cNvPr id="13" name="Dot 203"/>
          <p:cNvSpPr/>
          <p:nvPr/>
        </p:nvSpPr>
        <p:spPr>
          <a:xfrm>
            <a:off x="6194694" y="3896258"/>
            <a:ext cx="118872" cy="118872"/>
          </a:xfrm>
          <a:prstGeom prst="ellipse">
            <a:avLst/>
          </a:prstGeom>
          <a:solidFill>
            <a:schemeClr val="accent2"/>
          </a:solidFill>
          <a:ln w="12700">
            <a:solidFill>
              <a:schemeClr val="accent2"/>
            </a:solidFill>
            <a:prstDash val="solid"/>
          </a:ln>
        </p:spPr>
      </p:sp>
      <p:sp>
        <p:nvSpPr>
          <p:cNvPr id="14" name="Dot 204"/>
          <p:cNvSpPr/>
          <p:nvPr/>
        </p:nvSpPr>
        <p:spPr>
          <a:xfrm>
            <a:off x="6364773" y="3754526"/>
            <a:ext cx="118872" cy="118872"/>
          </a:xfrm>
          <a:prstGeom prst="ellipse">
            <a:avLst/>
          </a:prstGeom>
          <a:solidFill>
            <a:schemeClr val="accent2"/>
          </a:solidFill>
          <a:ln w="12700">
            <a:solidFill>
              <a:schemeClr val="accent2"/>
            </a:solidFill>
            <a:prstDash val="solid"/>
          </a:ln>
        </p:spPr>
      </p:sp>
      <p:sp>
        <p:nvSpPr>
          <p:cNvPr id="15" name="Dot 205"/>
          <p:cNvSpPr/>
          <p:nvPr/>
        </p:nvSpPr>
        <p:spPr>
          <a:xfrm>
            <a:off x="6602882" y="3822558"/>
            <a:ext cx="118872" cy="118872"/>
          </a:xfrm>
          <a:prstGeom prst="ellipse">
            <a:avLst/>
          </a:prstGeom>
          <a:solidFill>
            <a:schemeClr val="accent2"/>
          </a:solidFill>
          <a:ln w="12700">
            <a:solidFill>
              <a:schemeClr val="accent2"/>
            </a:solidFill>
            <a:prstDash val="solid"/>
          </a:ln>
        </p:spPr>
      </p:sp>
      <p:sp>
        <p:nvSpPr>
          <p:cNvPr id="16" name="Dot 206"/>
          <p:cNvSpPr/>
          <p:nvPr/>
        </p:nvSpPr>
        <p:spPr>
          <a:xfrm>
            <a:off x="6693591" y="4037990"/>
            <a:ext cx="118872" cy="118872"/>
          </a:xfrm>
          <a:prstGeom prst="ellipse">
            <a:avLst/>
          </a:prstGeom>
          <a:solidFill>
            <a:schemeClr val="accent2"/>
          </a:solidFill>
          <a:ln w="12700">
            <a:solidFill>
              <a:schemeClr val="accent2"/>
            </a:solidFill>
            <a:prstDash val="solid"/>
          </a:ln>
        </p:spPr>
      </p:sp>
      <p:sp>
        <p:nvSpPr>
          <p:cNvPr id="17" name="Dot 207"/>
          <p:cNvSpPr/>
          <p:nvPr/>
        </p:nvSpPr>
        <p:spPr>
          <a:xfrm>
            <a:off x="6534851" y="4225077"/>
            <a:ext cx="118872" cy="118872"/>
          </a:xfrm>
          <a:prstGeom prst="ellipse">
            <a:avLst/>
          </a:prstGeom>
          <a:solidFill>
            <a:schemeClr val="accent2"/>
          </a:solidFill>
          <a:ln w="12700">
            <a:solidFill>
              <a:schemeClr val="accent2"/>
            </a:solidFill>
            <a:prstDash val="solid"/>
          </a:ln>
        </p:spPr>
      </p:sp>
      <p:sp>
        <p:nvSpPr>
          <p:cNvPr id="18" name="Dot 208"/>
          <p:cNvSpPr/>
          <p:nvPr/>
        </p:nvSpPr>
        <p:spPr>
          <a:xfrm>
            <a:off x="6291072" y="4179722"/>
            <a:ext cx="118872" cy="118872"/>
          </a:xfrm>
          <a:prstGeom prst="ellipse">
            <a:avLst/>
          </a:prstGeom>
          <a:solidFill>
            <a:schemeClr val="accent2"/>
          </a:solidFill>
          <a:ln w="12700">
            <a:solidFill>
              <a:schemeClr val="accent2"/>
            </a:solidFill>
            <a:prstDash val="solid"/>
          </a:ln>
        </p:spPr>
      </p:sp>
      <p:sp>
        <p:nvSpPr>
          <p:cNvPr id="19" name="Dot 209"/>
          <p:cNvSpPr/>
          <p:nvPr/>
        </p:nvSpPr>
        <p:spPr>
          <a:xfrm>
            <a:off x="6149340" y="4077675"/>
            <a:ext cx="118872" cy="118872"/>
          </a:xfrm>
          <a:prstGeom prst="ellipse">
            <a:avLst/>
          </a:prstGeom>
          <a:solidFill>
            <a:schemeClr val="accent2"/>
          </a:solidFill>
          <a:ln w="12700">
            <a:solidFill>
              <a:schemeClr val="accent2"/>
            </a:solidFill>
            <a:prstDash val="solid"/>
          </a:ln>
        </p:spPr>
      </p:sp>
      <p:sp>
        <p:nvSpPr>
          <p:cNvPr id="20" name="Centroid 210"/>
          <p:cNvSpPr/>
          <p:nvPr/>
        </p:nvSpPr>
        <p:spPr>
          <a:xfrm>
            <a:off x="6409030" y="3985870"/>
            <a:ext cx="166421" cy="166421"/>
          </a:xfrm>
          <a:prstGeom prst="ellipse">
            <a:avLst/>
          </a:prstGeom>
          <a:solidFill>
            <a:schemeClr val="tx2"/>
          </a:solidFill>
          <a:ln w="22225">
            <a:solidFill>
              <a:schemeClr val="accent2"/>
            </a:solidFill>
            <a:prstDash val="solid"/>
          </a:ln>
        </p:spPr>
      </p:sp>
      <p:sp>
        <p:nvSpPr>
          <p:cNvPr id="21" name="Dot 211"/>
          <p:cNvSpPr/>
          <p:nvPr/>
        </p:nvSpPr>
        <p:spPr>
          <a:xfrm>
            <a:off x="7017654" y="3896258"/>
            <a:ext cx="118872" cy="118872"/>
          </a:xfrm>
          <a:prstGeom prst="ellipse">
            <a:avLst/>
          </a:prstGeom>
          <a:solidFill>
            <a:schemeClr val="accent4"/>
          </a:solidFill>
          <a:ln w="12700">
            <a:solidFill>
              <a:schemeClr val="accent4"/>
            </a:solidFill>
            <a:prstDash val="solid"/>
          </a:ln>
        </p:spPr>
      </p:sp>
      <p:sp>
        <p:nvSpPr>
          <p:cNvPr id="22" name="Dot 212"/>
          <p:cNvSpPr/>
          <p:nvPr/>
        </p:nvSpPr>
        <p:spPr>
          <a:xfrm>
            <a:off x="7187733" y="3754526"/>
            <a:ext cx="118872" cy="118872"/>
          </a:xfrm>
          <a:prstGeom prst="ellipse">
            <a:avLst/>
          </a:prstGeom>
          <a:solidFill>
            <a:schemeClr val="accent4"/>
          </a:solidFill>
          <a:ln w="12700">
            <a:solidFill>
              <a:schemeClr val="accent4"/>
            </a:solidFill>
            <a:prstDash val="solid"/>
          </a:ln>
        </p:spPr>
      </p:sp>
      <p:sp>
        <p:nvSpPr>
          <p:cNvPr id="23" name="Dot 213"/>
          <p:cNvSpPr/>
          <p:nvPr/>
        </p:nvSpPr>
        <p:spPr>
          <a:xfrm>
            <a:off x="7425842" y="3822558"/>
            <a:ext cx="118872" cy="118872"/>
          </a:xfrm>
          <a:prstGeom prst="ellipse">
            <a:avLst/>
          </a:prstGeom>
          <a:solidFill>
            <a:schemeClr val="accent4"/>
          </a:solidFill>
          <a:ln w="12700">
            <a:solidFill>
              <a:schemeClr val="accent4"/>
            </a:solidFill>
            <a:prstDash val="solid"/>
          </a:ln>
        </p:spPr>
      </p:sp>
      <p:sp>
        <p:nvSpPr>
          <p:cNvPr id="24" name="Dot 214"/>
          <p:cNvSpPr/>
          <p:nvPr/>
        </p:nvSpPr>
        <p:spPr>
          <a:xfrm>
            <a:off x="7516551" y="4037990"/>
            <a:ext cx="118872" cy="118872"/>
          </a:xfrm>
          <a:prstGeom prst="ellipse">
            <a:avLst/>
          </a:prstGeom>
          <a:solidFill>
            <a:schemeClr val="accent4"/>
          </a:solidFill>
          <a:ln w="12700">
            <a:solidFill>
              <a:schemeClr val="accent4"/>
            </a:solidFill>
            <a:prstDash val="solid"/>
          </a:ln>
        </p:spPr>
      </p:sp>
      <p:sp>
        <p:nvSpPr>
          <p:cNvPr id="25" name="Dot 215"/>
          <p:cNvSpPr/>
          <p:nvPr/>
        </p:nvSpPr>
        <p:spPr>
          <a:xfrm>
            <a:off x="7357811" y="4225077"/>
            <a:ext cx="118872" cy="118872"/>
          </a:xfrm>
          <a:prstGeom prst="ellipse">
            <a:avLst/>
          </a:prstGeom>
          <a:solidFill>
            <a:schemeClr val="accent4"/>
          </a:solidFill>
          <a:ln w="12700">
            <a:solidFill>
              <a:schemeClr val="accent4"/>
            </a:solidFill>
            <a:prstDash val="solid"/>
          </a:ln>
        </p:spPr>
      </p:sp>
      <p:sp>
        <p:nvSpPr>
          <p:cNvPr id="26" name="Dot 216"/>
          <p:cNvSpPr/>
          <p:nvPr/>
        </p:nvSpPr>
        <p:spPr>
          <a:xfrm>
            <a:off x="7114032" y="4179722"/>
            <a:ext cx="118872" cy="118872"/>
          </a:xfrm>
          <a:prstGeom prst="ellipse">
            <a:avLst/>
          </a:prstGeom>
          <a:solidFill>
            <a:schemeClr val="accent4"/>
          </a:solidFill>
          <a:ln w="12700">
            <a:solidFill>
              <a:schemeClr val="accent4"/>
            </a:solidFill>
            <a:prstDash val="solid"/>
          </a:ln>
        </p:spPr>
      </p:sp>
      <p:sp>
        <p:nvSpPr>
          <p:cNvPr id="27" name="Dot 217"/>
          <p:cNvSpPr/>
          <p:nvPr/>
        </p:nvSpPr>
        <p:spPr>
          <a:xfrm>
            <a:off x="6972300" y="4077675"/>
            <a:ext cx="118872" cy="118872"/>
          </a:xfrm>
          <a:prstGeom prst="ellipse">
            <a:avLst/>
          </a:prstGeom>
          <a:solidFill>
            <a:schemeClr val="accent4"/>
          </a:solidFill>
          <a:ln w="12700">
            <a:solidFill>
              <a:schemeClr val="accent4"/>
            </a:solidFill>
            <a:prstDash val="solid"/>
          </a:ln>
        </p:spPr>
      </p:sp>
      <p:sp>
        <p:nvSpPr>
          <p:cNvPr id="28" name="Centroid 218"/>
          <p:cNvSpPr/>
          <p:nvPr/>
        </p:nvSpPr>
        <p:spPr>
          <a:xfrm>
            <a:off x="7231990" y="3985870"/>
            <a:ext cx="166421" cy="166421"/>
          </a:xfrm>
          <a:prstGeom prst="ellipse">
            <a:avLst/>
          </a:prstGeom>
          <a:solidFill>
            <a:schemeClr val="tx2"/>
          </a:solidFill>
          <a:ln w="22225">
            <a:solidFill>
              <a:schemeClr val="accent4"/>
            </a:solidFill>
            <a:prstDash val="solid"/>
          </a:ln>
        </p:spPr>
      </p:sp>
      <p:sp>
        <p:nvSpPr>
          <p:cNvPr id="29" name="Dot 219"/>
          <p:cNvSpPr/>
          <p:nvPr/>
        </p:nvSpPr>
        <p:spPr>
          <a:xfrm>
            <a:off x="7840614" y="3896258"/>
            <a:ext cx="118872" cy="118872"/>
          </a:xfrm>
          <a:prstGeom prst="ellipse">
            <a:avLst/>
          </a:prstGeom>
          <a:solidFill>
            <a:schemeClr val="accent3"/>
          </a:solidFill>
          <a:ln w="12700">
            <a:solidFill>
              <a:schemeClr val="accent3"/>
            </a:solidFill>
            <a:prstDash val="solid"/>
          </a:ln>
        </p:spPr>
      </p:sp>
      <p:sp>
        <p:nvSpPr>
          <p:cNvPr id="30" name="Dot 220"/>
          <p:cNvSpPr/>
          <p:nvPr/>
        </p:nvSpPr>
        <p:spPr>
          <a:xfrm>
            <a:off x="8010693" y="3754526"/>
            <a:ext cx="118872" cy="118872"/>
          </a:xfrm>
          <a:prstGeom prst="ellipse">
            <a:avLst/>
          </a:prstGeom>
          <a:solidFill>
            <a:schemeClr val="accent3"/>
          </a:solidFill>
          <a:ln w="12700">
            <a:solidFill>
              <a:schemeClr val="accent3"/>
            </a:solidFill>
            <a:prstDash val="solid"/>
          </a:ln>
        </p:spPr>
      </p:sp>
      <p:sp>
        <p:nvSpPr>
          <p:cNvPr id="31" name="Dot 221"/>
          <p:cNvSpPr/>
          <p:nvPr/>
        </p:nvSpPr>
        <p:spPr>
          <a:xfrm>
            <a:off x="8248802" y="3822558"/>
            <a:ext cx="118872" cy="118872"/>
          </a:xfrm>
          <a:prstGeom prst="ellipse">
            <a:avLst/>
          </a:prstGeom>
          <a:solidFill>
            <a:schemeClr val="accent3"/>
          </a:solidFill>
          <a:ln w="12700">
            <a:solidFill>
              <a:schemeClr val="accent3"/>
            </a:solidFill>
            <a:prstDash val="solid"/>
          </a:ln>
        </p:spPr>
      </p:sp>
      <p:sp>
        <p:nvSpPr>
          <p:cNvPr id="32" name="Dot 222"/>
          <p:cNvSpPr/>
          <p:nvPr/>
        </p:nvSpPr>
        <p:spPr>
          <a:xfrm>
            <a:off x="8339511" y="4037990"/>
            <a:ext cx="118872" cy="118872"/>
          </a:xfrm>
          <a:prstGeom prst="ellipse">
            <a:avLst/>
          </a:prstGeom>
          <a:solidFill>
            <a:schemeClr val="accent3"/>
          </a:solidFill>
          <a:ln w="12700">
            <a:solidFill>
              <a:schemeClr val="accent3"/>
            </a:solidFill>
            <a:prstDash val="solid"/>
          </a:ln>
        </p:spPr>
      </p:sp>
      <p:sp>
        <p:nvSpPr>
          <p:cNvPr id="33" name="Dot 223"/>
          <p:cNvSpPr/>
          <p:nvPr/>
        </p:nvSpPr>
        <p:spPr>
          <a:xfrm>
            <a:off x="8180771" y="4225077"/>
            <a:ext cx="118872" cy="118872"/>
          </a:xfrm>
          <a:prstGeom prst="ellipse">
            <a:avLst/>
          </a:prstGeom>
          <a:solidFill>
            <a:schemeClr val="accent3"/>
          </a:solidFill>
          <a:ln w="12700">
            <a:solidFill>
              <a:schemeClr val="accent3"/>
            </a:solidFill>
            <a:prstDash val="solid"/>
          </a:ln>
        </p:spPr>
      </p:sp>
      <p:sp>
        <p:nvSpPr>
          <p:cNvPr id="34" name="Dot 224"/>
          <p:cNvSpPr/>
          <p:nvPr/>
        </p:nvSpPr>
        <p:spPr>
          <a:xfrm>
            <a:off x="7936992" y="4179722"/>
            <a:ext cx="118872" cy="118872"/>
          </a:xfrm>
          <a:prstGeom prst="ellipse">
            <a:avLst/>
          </a:prstGeom>
          <a:solidFill>
            <a:schemeClr val="accent3"/>
          </a:solidFill>
          <a:ln w="12700">
            <a:solidFill>
              <a:schemeClr val="accent3"/>
            </a:solidFill>
            <a:prstDash val="solid"/>
          </a:ln>
        </p:spPr>
      </p:sp>
      <p:sp>
        <p:nvSpPr>
          <p:cNvPr id="35" name="Dot 225"/>
          <p:cNvSpPr/>
          <p:nvPr/>
        </p:nvSpPr>
        <p:spPr>
          <a:xfrm>
            <a:off x="7795260" y="4077675"/>
            <a:ext cx="118872" cy="118872"/>
          </a:xfrm>
          <a:prstGeom prst="ellipse">
            <a:avLst/>
          </a:prstGeom>
          <a:solidFill>
            <a:schemeClr val="accent3"/>
          </a:solidFill>
          <a:ln w="12700">
            <a:solidFill>
              <a:schemeClr val="accent3"/>
            </a:solidFill>
            <a:prstDash val="solid"/>
          </a:ln>
        </p:spPr>
      </p:sp>
      <p:sp>
        <p:nvSpPr>
          <p:cNvPr id="36" name="Centroid 226"/>
          <p:cNvSpPr/>
          <p:nvPr/>
        </p:nvSpPr>
        <p:spPr>
          <a:xfrm>
            <a:off x="8054950" y="3985870"/>
            <a:ext cx="166421" cy="166421"/>
          </a:xfrm>
          <a:prstGeom prst="ellipse">
            <a:avLst/>
          </a:prstGeom>
          <a:solidFill>
            <a:schemeClr val="tx2"/>
          </a:solidFill>
          <a:ln w="22225">
            <a:solidFill>
              <a:schemeClr val="accent3"/>
            </a:solidFill>
            <a:prstDash val="solid"/>
          </a:ln>
        </p:spPr>
      </p:sp>
      <p:sp>
        <p:nvSpPr>
          <p:cNvPr id="25" name="Slide Number Placeholder 0"/>
          <p:cNvSpPr>
            <a:spLocks noGrp="1"/>
          </p:cNvSpPr>
          <p:nvPr>
            <p:ph type="sldNum" sz="quarter" idx="4294967295"/>
          </p:nvPr>
        </p:nvSpPr>
        <p:spPr>
          <a:xfrm>
            <a:off x="8229600" y="472744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bg2"/>
                </a:solidFill>
              </a:defRPr>
            </a:lvl1pPr>
          </a:lstStyle>
          <a:p>
            <a:pPr algn="r"/>
            <a:fld id="{F7021451-1387-4CA6-816F-3879F97B5CBC}" type="slidenum">
              <a:rPr b="0" lang="en-US"/>
              <a:t>12</a:t>
            </a:fld>
            <a:endParaRPr lang="en-US"/>
          </a:p>
        </p:txBody>
      </p:sp>
    </p:spTree>
  </p:cSld>
  <p:clrMapOvr>
    <a:masterClrMapping/>
  </p:clrMapOvr>
</p:sld>
</file>

<file path=ppt/theme/theme1.xml><?xml version="1.0" encoding="utf-8"?>
<a:theme xmlns:a="http://schemas.openxmlformats.org/drawingml/2006/main" name="Warehouse Clusters">
  <a:themeElements>
    <a:clrScheme name="Warehouse Clusters">
      <a:dk1>
        <a:srgbClr val="16212B"/>
      </a:dk1>
      <a:lt1>
        <a:srgbClr val="FFFFFF"/>
      </a:lt1>
      <a:dk2>
        <a:srgbClr val="0F4C5C"/>
      </a:dk2>
      <a:lt2>
        <a:srgbClr val="EAF2F3"/>
      </a:lt2>
      <a:accent1>
        <a:srgbClr val="0F4C5C"/>
      </a:accent1>
      <a:accent2>
        <a:srgbClr val="F28C28"/>
      </a:accent2>
      <a:accent3>
        <a:srgbClr val="2A9D8F"/>
      </a:accent3>
      <a:accent4>
        <a:srgbClr val="E9C46A"/>
      </a:accent4>
      <a:accent5>
        <a:srgbClr val="5F7180"/>
      </a:accent5>
      <a:accent6>
        <a:srgbClr val="D1495B"/>
      </a:accent6>
      <a:hlink>
        <a:srgbClr val="0F4C5C"/>
      </a:hlink>
      <a:folHlink>
        <a:srgbClr val="5F7180"/>
      </a:folHlink>
    </a:clrScheme>
    <a:fontScheme name="Warehouse Clusters">
      <a:majorFont>
        <a:latin typeface="Calibri"/>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12</Slides>
  <Notes>12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12</vt:i4>
      </vt:variant>
    </vt:vector>
  </HeadingPairs>
  <TitlesOfParts>
    <vt:vector size="1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Warehouse SKU Clustering with K-Means</dc:title>
  <dc:subject>Project Review 3, Machine Learning Unit 3</dc:subject>
  <dc:creator>Team Cash guard</dc:creator>
  <cp:lastModifiedBy>Team Cash guard</cp:lastModifiedBy>
  <cp:revision>1</cp:revision>
  <dcterms:created xsi:type="dcterms:W3CDTF">2026-10-13T05:48:57Z</dcterms:created>
  <dcterms:modified xsi:type="dcterms:W3CDTF">2026-10-13T05:48:57Z</dcterms:modified>
</cp:coreProperties>
</file>