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04b5fd4c-d15a-0013-9e89-cd1b8c9f18e1}">
          <p14:sldIdLst>
            <p14:sldId id="256"/>
            <p14:sldId id="257"/>
            <p14:sldId id="258"/>
          </p14:sldIdLst>
        </p14:section>
        <p14:section name="Choosing the solution" id="{f7ffc76c-05dc-2732-1bb6-eb9780c7d120}">
          <p14:sldIdLst>
            <p14:sldId id="259"/>
            <p14:sldId id="260"/>
            <p14:sldId id="261"/>
          </p14:sldIdLst>
        </p14:section>
        <p14:section name="Applying K-Means" id="{da5b0630-31ec-6cc5-5325-7ddc06f37602}">
          <p14:sldIdLst>
            <p14:sldId id="262"/>
            <p14:sldId id="263"/>
            <p14:sldId id="264"/>
            <p14:sldId id="265"/>
          </p14:sldIdLst>
        </p14:section>
        <p14:section name="Conclusion" id="{658f8e6a-05b0-e5a3-7a84-51a87b2df996}">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4C5C"/>
                </a:solidFill>
                <a:latin typeface="+mn-lt"/>
              </a:defRPr>
            </a:pPr>
            <a:r>
              <a:rPr sz="1200" b="0" i="0" u="none" strike="noStrike">
                <a:solidFill>
                  <a:srgbClr val="0F4C5C"/>
                </a:solidFill>
                <a:latin typeface="+mn-lt"/>
              </a:rPr>
              <a:t>Elbow curve on the real data (383 SKUs)</a:t>
            </a:r>
          </a:p>
        </c:rich>
      </c:tx>
      <c:layout/>
      <c:overlay val="0"/>
    </c:title>
    <c:autoTitleDeleted val="0"/>
    <c:plotArea>
      <c:layout/>
      <c:lineChart>
        <c:varyColors val="0"/>
        <c:ser>
          <c:idx val="0"/>
          <c:order val="0"/>
          <c:tx>
            <c:strRef>
              <c:f>Sheet1!$B$1</c:f>
              <c:strCache>
                <c:ptCount val="1"/>
                <c:pt idx="0">
                  <c:v>Within-cluster variance</c:v>
                </c:pt>
              </c:strCache>
            </c:strRef>
          </c:tx>
          <c:spPr>
            <a:solidFill>
              <a:srgbClr val="F28C28"/>
            </a:solidFill>
            <a:ln w="38100" cap="flat">
              <a:solidFill>
                <a:srgbClr val="F28C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28C28"/>
              </a:solidFill>
              <a:ln w="9525" cap="flat">
                <a:solidFill>
                  <a:srgbClr val="F28C28"/>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1532</c:v>
                </c:pt>
                <c:pt idx="1">
                  <c:v>1025.2</c:v>
                </c:pt>
                <c:pt idx="2">
                  <c:v>772.5</c:v>
                </c:pt>
                <c:pt idx="3">
                  <c:v>600.1</c:v>
                </c:pt>
                <c:pt idx="4">
                  <c:v>511</c:v>
                </c:pt>
                <c:pt idx="5">
                  <c:v>453.9</c:v>
                </c:pt>
                <c:pt idx="6">
                  <c:v>410.9</c:v>
                </c:pt>
                <c:pt idx="7">
                  <c:v>368.2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7180"/>
                    </a:solidFill>
                    <a:latin typeface="+mn-lt"/>
                  </a:defRPr>
                </a:pPr>
                <a:r>
                  <a:rPr sz="1100" b="0" i="0" u="none" strike="noStrike">
                    <a:solidFill>
                      <a:srgbClr val="5F7180"/>
                    </a:solidFill>
                    <a:latin typeface="+mn-lt"/>
                  </a:rPr>
                  <a:t>Number of clusters (k)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AF2F3"/>
              </a:solidFill>
              <a:prstDash val="solid"/>
              <a:round/>
            </a:ln>
          </c:spPr>
        </c:majorGridlines>
        <c:title>
          <c:tx>
            <c:rich>
              <a:bodyPr/>
              <a:lstStyle/>
              <a:p>
                <a:pPr>
                  <a:defRPr sz="1100" b="0" i="0" u="none" strike="noStrike">
                    <a:solidFill>
                      <a:srgbClr val="5F7180"/>
                    </a:solidFill>
                    <a:latin typeface="+mn-lt"/>
                  </a:defRPr>
                </a:pPr>
                <a:r>
                  <a:rPr sz="1100" b="0" i="0" u="none" strike="noStrike">
                    <a:solidFill>
                      <a:srgbClr val="5F7180"/>
                    </a:solidFill>
                    <a:latin typeface="+mn-lt"/>
                  </a:rPr>
                  <a:t>Within-cluster variance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We group warehouse products using K-Means clustering, the solution we picked from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problem in simple words. A warehouse has thousands of products. If similar products are grouped, managers can decide where to keep each group, and workers walk less. We group using four things shown in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term in one line before going further. SKU is one product type. Pick frequency and seasonal demand describe how a product moves. Clustering, centroid and unsupervised learning are the machine learning words we use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gives four families of solutions. K-Means and hierarchical clustering make groups. Mixtures of Gaussians make soft groups with probabilities. PCA and factor analysis only reduce the number of features. We compared all of them for our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we selected. Say the definition slowly. Then give the four reasons. The strongest reason: our problem says partition, and K-Means is a partitioning method where every item gets exactly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 will ask why we did not pick the others. Mixtures of Gaussians give probabilities, but a product needs one fixed zone. Hierarchical clustering compares every pair, so it is slow for a big warehouse. PCA and factor analysis do not make groups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steps from Unit 3. Start with k random centres. Measure the distance of every SKU to every centre. Assign each SKU to the nearest centre. Move each centre to the mean of its SKUs. Repeat until no SKU changes its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real data: the public e-commerce dataset from Olist, with about ninety-nine thousand orders from 2016 to 2018. We kept the 383 products that were ordered at least 30 times. Each SKU becomes a row of four numbers: orders, season index, volume and weight. Weight stands for handling needs, because the dataset has no handling field. Orders, volume and weight are very uneven, so we take their log, and then bring every column to the same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needs k before it starts. We used the elbow method from Unit 3 on the real data. We ran K-Means for k from 1 to 8 and plotted the within-cluster variance. The error falls by 33, 25 and 22 percent up to k equal to 4, and then only by 15 percent. So the bend is at 4, and we use 4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clusters K-Means found in the real data. Fast movers: 76 SKUs, ordered about 160 times each, so they go closest to packing. Bulky and heavy: 84 SKUs, about 47 litres and 7.6 kilos, kept at ground level. Seasonal: 25 SKUs whose orders bunch into one month, kept in a flexible zone. Regular small items: 198 SKUs, on the back 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problem statement. Fast movers sit closest to packing. In our simple one-aisle model the walk per pick falls from about 64 metres to about 47 metres, which is 27 percent less. Say clearly that this is a model, not a measurement. Bulky and heavy products get their own ground-level zone, and seasonal products are one group that is easy to move forward in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the problem, the chosen solution, and the test on real data. Point to the live demo and the Colab code,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365760"/>
            <a:ext cx="2514600" cy="1024128"/>
          </a:xfrm>
          <a:prstGeom prst="roundRect">
            <a:avLst>
              <a:gd name="adj" fmla="val 7143"/>
            </a:avLst>
          </a:prstGeom>
          <a:solidFill>
            <a:schemeClr val="bg1"/>
          </a:solidFill>
          <a:ln>
            <a:solidFill>
              <a:schemeClr val="bg1"/>
            </a:solidFill>
          </a:ln>
        </p:spPr>
        <p:txBody>
          <a:bodyPr wrap="square" rtlCol="0" anchor="ctr"/>
          <a:lstStyle/>
          <a:p>
            <a:pPr indent="0" marL="0">
              <a:buNone/>
            </a:pPr>
            <a:endParaRPr lang="en-US" dirty="0"/>
          </a:p>
        </p:txBody>
      </p:sp>
      <p:pic>
        <p:nvPicPr>
          <p:cNvPr id="3" name="Image 0" descr="SRM Institute of Science and Technology logo">    </p:cNvPr>
          <p:cNvPicPr>
            <a:picLocks noChangeAspect="1"/>
          </p:cNvPicPr>
          <p:nvPr/>
        </p:nvPicPr>
        <p:blipFill>
          <a:blip r:embed="rId1"/>
          <a:stretch>
            <a:fillRect/>
          </a:stretch>
        </p:blipFill>
        <p:spPr>
          <a:xfrm>
            <a:off x="685800" y="434340"/>
            <a:ext cx="2240280" cy="886968"/>
          </a:xfrm>
          <a:prstGeom prst="rect">
            <a:avLst/>
          </a:prstGeom>
        </p:spPr>
      </p:pic>
      <p:sp>
        <p:nvSpPr>
          <p:cNvPr id="4" name="Text 1"/>
          <p:cNvSpPr/>
          <p:nvPr>
            <p:ph idx="102" type="title" hasCustomPrompt="1"/>
          </p:nvPr>
        </p:nvSpPr>
        <p:spPr>
          <a:xfrm>
            <a:off x="548640" y="1645920"/>
            <a:ext cx="512064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1"/>
          <p:cNvSpPr/>
          <p:nvPr>
            <p:ph idx="103" type="body" hasCustomPrompt="1"/>
          </p:nvPr>
        </p:nvSpPr>
        <p:spPr>
          <a:xfrm>
            <a:off x="548640" y="3291840"/>
            <a:ext cx="5120640"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7973568" y="521208"/>
            <a:ext cx="182880" cy="182880"/>
          </a:xfrm>
          <a:prstGeom prst="ellipse">
            <a:avLst/>
          </a:prstGeom>
          <a:solidFill>
            <a:schemeClr val="accent2"/>
          </a:solidFill>
          <a:ln>
            <a:solidFill>
              <a:schemeClr val="accent2"/>
            </a:solidFill>
          </a:ln>
        </p:spPr>
        <p:txBody>
          <a:bodyPr wrap="square" rtlCol="0" anchor="ctr"/>
          <a:lstStyle/>
          <a:p>
            <a:pPr indent="0" marL="0">
              <a:buNone/>
            </a:pPr>
            <a:endParaRPr lang="en-US" dirty="0"/>
          </a:p>
        </p:txBody>
      </p:sp>
      <p:sp>
        <p:nvSpPr>
          <p:cNvPr id="4" name="Text 1"/>
          <p:cNvSpPr/>
          <p:nvPr/>
        </p:nvSpPr>
        <p:spPr>
          <a:xfrm>
            <a:off x="8229600" y="521208"/>
            <a:ext cx="182880" cy="182880"/>
          </a:xfrm>
          <a:prstGeom prst="ellipse">
            <a:avLst/>
          </a:prstGeom>
          <a:solidFill>
            <a:schemeClr val="accent3"/>
          </a:solidFill>
          <a:ln>
            <a:solidFill>
              <a:schemeClr val="accent3"/>
            </a:solidFill>
          </a:ln>
        </p:spPr>
        <p:txBody>
          <a:bodyPr wrap="square" rtlCol="0" anchor="ctr"/>
          <a:lstStyle/>
          <a:p>
            <a:pPr indent="0" marL="0">
              <a:buNone/>
            </a:pPr>
            <a:endParaRPr lang="en-US" dirty="0"/>
          </a:p>
        </p:txBody>
      </p:sp>
      <p:sp>
        <p:nvSpPr>
          <p:cNvPr id="5" name="Text 2"/>
          <p:cNvSpPr/>
          <p:nvPr/>
        </p:nvSpPr>
        <p:spPr>
          <a:xfrm>
            <a:off x="8485632" y="521208"/>
            <a:ext cx="182880" cy="182880"/>
          </a:xfrm>
          <a:prstGeom prst="ellipse">
            <a:avLst/>
          </a:prstGeom>
          <a:solidFill>
            <a:schemeClr val="accent4"/>
          </a:solidFill>
          <a:ln>
            <a:solidFill>
              <a:schemeClr val="accent4"/>
            </a:solidFill>
          </a:ln>
        </p:spPr>
        <p:txBody>
          <a:bodyPr wrap="square" rtlCol="0" anchor="ctr"/>
          <a:lstStyle/>
          <a:p>
            <a:pPr indent="0" marL="0">
              <a:buNone/>
            </a:pPr>
            <a:endParaRPr lang="en-US" dirty="0"/>
          </a:p>
        </p:txBody>
      </p:sp>
      <p:sp>
        <p:nvSpPr>
          <p:cNvPr id="6" name="Text 3"/>
          <p:cNvSpPr/>
          <p:nvPr/>
        </p:nvSpPr>
        <p:spPr>
          <a:xfrm>
            <a:off x="457200" y="4727448"/>
            <a:ext cx="5486400" cy="274320"/>
          </a:xfrm>
          <a:prstGeom prst="rect">
            <a:avLst/>
          </a:prstGeom>
          <a:noFill/>
          <a:ln/>
        </p:spPr>
        <p:txBody>
          <a:bodyPr wrap="square" lIns="0" tIns="0" rIns="0" bIns="0" rtlCol="0" anchor="ctr"/>
          <a:lstStyle/>
          <a:p>
            <a:pPr algn="l" indent="0" marL="0">
              <a:buNone/>
            </a:pPr>
            <a:r>
              <a:rPr lang="en-US" sz="1000" dirty="0">
                <a:solidFill>
                  <a:schemeClr val="accent5"/>
                </a:solidFill>
              </a:rPr>
              <a:t>Warehouse SKU clustering  |  Project Review 3</a:t>
            </a:r>
            <a:endParaRPr lang="en-US" sz="10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1645920"/>
            <a:ext cx="5120640" cy="1600200"/>
          </a:xfrm>
          <a:prstGeom prst="rect">
            <a:avLst/>
          </a:prstGeom>
          <a:noFill/>
          <a:ln/>
        </p:spPr>
        <p:txBody>
          <a:bodyPr wrap="square" lIns="0" tIns="0" rIns="0" bIns="0" rtlCol="0" anchor="t"/>
          <a:lstStyle/>
          <a:p>
            <a:pPr algn="l" indent="0" marL="0">
              <a:buNone/>
            </a:pPr>
            <a:r>
              <a:rPr lang="en-US" sz="3400" b="1" dirty="0">
                <a:solidFill>
                  <a:schemeClr val="bg1"/>
                </a:solidFill>
              </a:rPr>
              <a:t>Grouping Warehouse Products with K-Means Clustering</a:t>
            </a:r>
            <a:endParaRPr lang="en-US" sz="3400" dirty="0"/>
          </a:p>
        </p:txBody>
      </p:sp>
      <p:sp>
        <p:nvSpPr>
          <p:cNvPr id="3" name="Text 1"/>
          <p:cNvSpPr/>
          <p:nvPr>
            <p:ph idx="103" type="body" hasCustomPrompt="1"/>
          </p:nvPr>
        </p:nvSpPr>
        <p:spPr>
          <a:xfrm>
            <a:off x="548640" y="3291840"/>
            <a:ext cx="5120640" cy="365760"/>
          </a:xfrm>
          <a:prstGeom prst="rect">
            <a:avLst/>
          </a:prstGeom>
          <a:noFill/>
          <a:ln/>
        </p:spPr>
        <p:txBody>
          <a:bodyPr wrap="square" lIns="0" tIns="0" rIns="0" bIns="0" rtlCol="0" anchor="ctr"/>
          <a:lstStyle/>
          <a:p>
            <a:pPr algn="l" indent="0" marL="0">
              <a:buNone/>
            </a:pPr>
            <a:r>
              <a:rPr lang="en-US" sz="1600" dirty="0">
                <a:solidFill>
                  <a:schemeClr val="bg2"/>
                </a:solidFill>
              </a:rPr>
              <a:t>Project Review 3  |  Unit 3</a:t>
            </a:r>
            <a:endParaRPr lang="en-US" sz="1600" dirty="0"/>
          </a:p>
        </p:txBody>
      </p:sp>
      <p:sp>
        <p:nvSpPr>
          <p:cNvPr id="4" name="Text 1"/>
          <p:cNvSpPr txBox="1"/>
          <p:nvPr/>
        </p:nvSpPr>
        <p:spPr>
          <a:xfrm>
            <a:off x="3291840" y="365760"/>
            <a:ext cx="2377440" cy="1024128"/>
          </a:xfrm>
          <a:prstGeom prst="rect">
            <a:avLst/>
          </a:prstGeom>
          <a:noFill/>
          <a:ln/>
        </p:spPr>
        <p:txBody>
          <a:bodyPr wrap="square" lIns="0" tIns="0" rIns="0" bIns="0" rtlCol="0" anchor="ctr"/>
          <a:lstStyle/>
          <a:p>
            <a:pPr algn="l" indent="0" marL="0">
              <a:buNone/>
            </a:pPr>
            <a:r>
              <a:rPr lang="en-US" sz="1800" b="1" dirty="0">
                <a:solidFill>
                  <a:schemeClr val="accent4"/>
                </a:solidFill>
              </a:rPr>
              <a:t>21CSC305P</a:t>
            </a:r>
            <a:endParaRPr lang="en-US" sz="1400" dirty="0"/>
          </a:p>
          <a:p>
            <a:pPr algn="l" indent="0" marL="0">
              <a:buNone/>
            </a:pPr>
            <a:r>
              <a:rPr lang="en-US" sz="1800" b="1" dirty="0">
                <a:solidFill>
                  <a:schemeClr val="bg1"/>
                </a:solidFill>
              </a:rPr>
              <a:t>MACHINE LEARNING</a:t>
            </a:r>
            <a:endParaRPr lang="en-US" sz="1400" dirty="0"/>
          </a:p>
        </p:txBody>
      </p:sp>
      <p:sp>
        <p:nvSpPr>
          <p:cNvPr id="5" name="Text 2"/>
          <p:cNvSpPr txBox="1"/>
          <p:nvPr/>
        </p:nvSpPr>
        <p:spPr>
          <a:xfrm>
            <a:off x="548640" y="3767328"/>
            <a:ext cx="5120640" cy="914400"/>
          </a:xfrm>
          <a:prstGeom prst="rect">
            <a:avLst/>
          </a:prstGeom>
          <a:noFill/>
          <a:ln/>
        </p:spPr>
        <p:txBody>
          <a:bodyPr wrap="square" lIns="0" tIns="0" rIns="0" bIns="0" rtlCol="0" anchor="t"/>
          <a:lstStyle/>
          <a:p>
            <a:pPr algn="l" indent="0" marL="0">
              <a:spcAft>
                <a:spcPts val="600"/>
              </a:spcAft>
              <a:buNone/>
            </a:pPr>
            <a:r>
              <a:rPr lang="en-US" sz="1500" b="1" dirty="0">
                <a:solidFill>
                  <a:schemeClr val="accent4"/>
                </a:solidFill>
              </a:rPr>
              <a:t>Team: Cash guard (No. 17)</a:t>
            </a:r>
            <a:endParaRPr lang="en-US" sz="1400" dirty="0"/>
          </a:p>
          <a:p>
            <a:pPr algn="l" indent="0" marL="0">
              <a:spcAft>
                <a:spcPts val="600"/>
              </a:spcAft>
              <a:buNone/>
            </a:pPr>
            <a:r>
              <a:rPr lang="en-US" sz="1400" dirty="0">
                <a:solidFill>
                  <a:schemeClr val="bg1"/>
                </a:solidFill>
              </a:rPr>
              <a:t>V. Anbu Chelvan,  S Roopesh,  B. Charith Reddy,  Y Rupesh Reddy</a:t>
            </a:r>
            <a:endParaRPr lang="en-US" sz="1400" dirty="0"/>
          </a:p>
          <a:p>
            <a:pPr algn="l" indent="0" marL="0">
              <a:spcAft>
                <a:spcPts val="600"/>
              </a:spcAft>
              <a:buNone/>
            </a:pPr>
            <a:r>
              <a:rPr lang="en-US" sz="1200" dirty="0">
                <a:solidFill>
                  <a:schemeClr val="bg2"/>
                </a:solidFill>
              </a:rPr>
              <a:t>13 October 2026</a:t>
            </a:r>
            <a:endParaRPr lang="en-US" sz="1400" dirty="0"/>
          </a:p>
        </p:txBody>
      </p:sp>
      <p:sp>
        <p:nvSpPr>
          <p:cNvPr id="6" name="Dot 3"/>
          <p:cNvSpPr/>
          <p:nvPr/>
        </p:nvSpPr>
        <p:spPr>
          <a:xfrm>
            <a:off x="6318504" y="1124712"/>
            <a:ext cx="219456" cy="219456"/>
          </a:xfrm>
          <a:prstGeom prst="ellipse">
            <a:avLst/>
          </a:prstGeom>
          <a:solidFill>
            <a:schemeClr val="accent2"/>
          </a:solidFill>
          <a:ln w="12700">
            <a:solidFill>
              <a:schemeClr val="accent2"/>
            </a:solidFill>
            <a:prstDash val="solid"/>
          </a:ln>
        </p:spPr>
      </p:sp>
      <p:sp>
        <p:nvSpPr>
          <p:cNvPr id="7" name="Dot 4"/>
          <p:cNvSpPr/>
          <p:nvPr/>
        </p:nvSpPr>
        <p:spPr>
          <a:xfrm>
            <a:off x="6592824" y="896112"/>
            <a:ext cx="219456" cy="219456"/>
          </a:xfrm>
          <a:prstGeom prst="ellipse">
            <a:avLst/>
          </a:prstGeom>
          <a:solidFill>
            <a:schemeClr val="accent2"/>
          </a:solidFill>
          <a:ln w="12700">
            <a:solidFill>
              <a:schemeClr val="accent2"/>
            </a:solidFill>
            <a:prstDash val="solid"/>
          </a:ln>
        </p:spPr>
      </p:sp>
      <p:sp>
        <p:nvSpPr>
          <p:cNvPr id="8" name="Dot 5"/>
          <p:cNvSpPr/>
          <p:nvPr/>
        </p:nvSpPr>
        <p:spPr>
          <a:xfrm>
            <a:off x="6976872" y="1005840"/>
            <a:ext cx="219456" cy="219456"/>
          </a:xfrm>
          <a:prstGeom prst="ellipse">
            <a:avLst/>
          </a:prstGeom>
          <a:solidFill>
            <a:schemeClr val="accent2"/>
          </a:solidFill>
          <a:ln w="12700">
            <a:solidFill>
              <a:schemeClr val="accent2"/>
            </a:solidFill>
            <a:prstDash val="solid"/>
          </a:ln>
        </p:spPr>
      </p:sp>
      <p:sp>
        <p:nvSpPr>
          <p:cNvPr id="9" name="Dot 6"/>
          <p:cNvSpPr/>
          <p:nvPr/>
        </p:nvSpPr>
        <p:spPr>
          <a:xfrm>
            <a:off x="7123176" y="1353312"/>
            <a:ext cx="219456" cy="219456"/>
          </a:xfrm>
          <a:prstGeom prst="ellipse">
            <a:avLst/>
          </a:prstGeom>
          <a:solidFill>
            <a:schemeClr val="accent2"/>
          </a:solidFill>
          <a:ln w="12700">
            <a:solidFill>
              <a:schemeClr val="accent2"/>
            </a:solidFill>
            <a:prstDash val="solid"/>
          </a:ln>
        </p:spPr>
      </p:sp>
      <p:sp>
        <p:nvSpPr>
          <p:cNvPr id="10" name="Dot 7"/>
          <p:cNvSpPr/>
          <p:nvPr/>
        </p:nvSpPr>
        <p:spPr>
          <a:xfrm>
            <a:off x="6867144" y="1655064"/>
            <a:ext cx="219456" cy="219456"/>
          </a:xfrm>
          <a:prstGeom prst="ellipse">
            <a:avLst/>
          </a:prstGeom>
          <a:solidFill>
            <a:schemeClr val="accent2"/>
          </a:solidFill>
          <a:ln w="12700">
            <a:solidFill>
              <a:schemeClr val="accent2"/>
            </a:solidFill>
            <a:prstDash val="solid"/>
          </a:ln>
        </p:spPr>
      </p:sp>
      <p:sp>
        <p:nvSpPr>
          <p:cNvPr id="11" name="Dot 8"/>
          <p:cNvSpPr/>
          <p:nvPr/>
        </p:nvSpPr>
        <p:spPr>
          <a:xfrm>
            <a:off x="6473952" y="1581912"/>
            <a:ext cx="219456" cy="219456"/>
          </a:xfrm>
          <a:prstGeom prst="ellipse">
            <a:avLst/>
          </a:prstGeom>
          <a:solidFill>
            <a:schemeClr val="accent2"/>
          </a:solidFill>
          <a:ln w="12700">
            <a:solidFill>
              <a:schemeClr val="accent2"/>
            </a:solidFill>
            <a:prstDash val="solid"/>
          </a:ln>
        </p:spPr>
      </p:sp>
      <p:sp>
        <p:nvSpPr>
          <p:cNvPr id="12" name="Dot 9"/>
          <p:cNvSpPr/>
          <p:nvPr/>
        </p:nvSpPr>
        <p:spPr>
          <a:xfrm>
            <a:off x="6245352" y="1417320"/>
            <a:ext cx="219456" cy="219456"/>
          </a:xfrm>
          <a:prstGeom prst="ellipse">
            <a:avLst/>
          </a:prstGeom>
          <a:solidFill>
            <a:schemeClr val="accent2"/>
          </a:solidFill>
          <a:ln w="12700">
            <a:solidFill>
              <a:schemeClr val="accent2"/>
            </a:solidFill>
            <a:prstDash val="solid"/>
          </a:ln>
        </p:spPr>
      </p:sp>
      <p:sp>
        <p:nvSpPr>
          <p:cNvPr id="13" name="Centroid 10"/>
          <p:cNvSpPr/>
          <p:nvPr/>
        </p:nvSpPr>
        <p:spPr>
          <a:xfrm>
            <a:off x="6693408" y="1298448"/>
            <a:ext cx="237744" cy="237744"/>
          </a:xfrm>
          <a:prstGeom prst="ellipse">
            <a:avLst/>
          </a:prstGeom>
          <a:solidFill>
            <a:schemeClr val="tx2"/>
          </a:solidFill>
          <a:ln w="31750">
            <a:solidFill>
              <a:schemeClr val="accent2"/>
            </a:solidFill>
            <a:prstDash val="solid"/>
          </a:ln>
        </p:spPr>
      </p:sp>
      <p:sp>
        <p:nvSpPr>
          <p:cNvPr id="14" name="Dot 11"/>
          <p:cNvSpPr/>
          <p:nvPr/>
        </p:nvSpPr>
        <p:spPr>
          <a:xfrm>
            <a:off x="7415784" y="2313432"/>
            <a:ext cx="219456" cy="219456"/>
          </a:xfrm>
          <a:prstGeom prst="ellipse">
            <a:avLst/>
          </a:prstGeom>
          <a:solidFill>
            <a:schemeClr val="accent4"/>
          </a:solidFill>
          <a:ln w="12700">
            <a:solidFill>
              <a:schemeClr val="accent4"/>
            </a:solidFill>
            <a:prstDash val="solid"/>
          </a:ln>
        </p:spPr>
      </p:sp>
      <p:sp>
        <p:nvSpPr>
          <p:cNvPr id="15" name="Dot 12"/>
          <p:cNvSpPr/>
          <p:nvPr/>
        </p:nvSpPr>
        <p:spPr>
          <a:xfrm>
            <a:off x="7690104" y="2084832"/>
            <a:ext cx="219456" cy="219456"/>
          </a:xfrm>
          <a:prstGeom prst="ellipse">
            <a:avLst/>
          </a:prstGeom>
          <a:solidFill>
            <a:schemeClr val="accent4"/>
          </a:solidFill>
          <a:ln w="12700">
            <a:solidFill>
              <a:schemeClr val="accent4"/>
            </a:solidFill>
            <a:prstDash val="solid"/>
          </a:ln>
        </p:spPr>
      </p:sp>
      <p:sp>
        <p:nvSpPr>
          <p:cNvPr id="16" name="Dot 13"/>
          <p:cNvSpPr/>
          <p:nvPr/>
        </p:nvSpPr>
        <p:spPr>
          <a:xfrm>
            <a:off x="8074152" y="2194560"/>
            <a:ext cx="219456" cy="219456"/>
          </a:xfrm>
          <a:prstGeom prst="ellipse">
            <a:avLst/>
          </a:prstGeom>
          <a:solidFill>
            <a:schemeClr val="accent4"/>
          </a:solidFill>
          <a:ln w="12700">
            <a:solidFill>
              <a:schemeClr val="accent4"/>
            </a:solidFill>
            <a:prstDash val="solid"/>
          </a:ln>
        </p:spPr>
      </p:sp>
      <p:sp>
        <p:nvSpPr>
          <p:cNvPr id="17" name="Dot 14"/>
          <p:cNvSpPr/>
          <p:nvPr/>
        </p:nvSpPr>
        <p:spPr>
          <a:xfrm>
            <a:off x="8220456" y="2542032"/>
            <a:ext cx="219456" cy="219456"/>
          </a:xfrm>
          <a:prstGeom prst="ellipse">
            <a:avLst/>
          </a:prstGeom>
          <a:solidFill>
            <a:schemeClr val="accent4"/>
          </a:solidFill>
          <a:ln w="12700">
            <a:solidFill>
              <a:schemeClr val="accent4"/>
            </a:solidFill>
            <a:prstDash val="solid"/>
          </a:ln>
        </p:spPr>
      </p:sp>
      <p:sp>
        <p:nvSpPr>
          <p:cNvPr id="18" name="Dot 15"/>
          <p:cNvSpPr/>
          <p:nvPr/>
        </p:nvSpPr>
        <p:spPr>
          <a:xfrm>
            <a:off x="7964424" y="2843784"/>
            <a:ext cx="219456" cy="219456"/>
          </a:xfrm>
          <a:prstGeom prst="ellipse">
            <a:avLst/>
          </a:prstGeom>
          <a:solidFill>
            <a:schemeClr val="accent4"/>
          </a:solidFill>
          <a:ln w="12700">
            <a:solidFill>
              <a:schemeClr val="accent4"/>
            </a:solidFill>
            <a:prstDash val="solid"/>
          </a:ln>
        </p:spPr>
      </p:sp>
      <p:sp>
        <p:nvSpPr>
          <p:cNvPr id="19" name="Dot 16"/>
          <p:cNvSpPr/>
          <p:nvPr/>
        </p:nvSpPr>
        <p:spPr>
          <a:xfrm>
            <a:off x="7571232" y="2770632"/>
            <a:ext cx="219456" cy="219456"/>
          </a:xfrm>
          <a:prstGeom prst="ellipse">
            <a:avLst/>
          </a:prstGeom>
          <a:solidFill>
            <a:schemeClr val="accent4"/>
          </a:solidFill>
          <a:ln w="12700">
            <a:solidFill>
              <a:schemeClr val="accent4"/>
            </a:solidFill>
            <a:prstDash val="solid"/>
          </a:ln>
        </p:spPr>
      </p:sp>
      <p:sp>
        <p:nvSpPr>
          <p:cNvPr id="20" name="Dot 17"/>
          <p:cNvSpPr/>
          <p:nvPr/>
        </p:nvSpPr>
        <p:spPr>
          <a:xfrm>
            <a:off x="7342632" y="2606040"/>
            <a:ext cx="219456" cy="219456"/>
          </a:xfrm>
          <a:prstGeom prst="ellipse">
            <a:avLst/>
          </a:prstGeom>
          <a:solidFill>
            <a:schemeClr val="accent4"/>
          </a:solidFill>
          <a:ln w="12700">
            <a:solidFill>
              <a:schemeClr val="accent4"/>
            </a:solidFill>
            <a:prstDash val="solid"/>
          </a:ln>
        </p:spPr>
      </p:sp>
      <p:sp>
        <p:nvSpPr>
          <p:cNvPr id="21" name="Centroid 18"/>
          <p:cNvSpPr/>
          <p:nvPr/>
        </p:nvSpPr>
        <p:spPr>
          <a:xfrm>
            <a:off x="7790688" y="2487168"/>
            <a:ext cx="237744" cy="237744"/>
          </a:xfrm>
          <a:prstGeom prst="ellipse">
            <a:avLst/>
          </a:prstGeom>
          <a:solidFill>
            <a:schemeClr val="tx2"/>
          </a:solidFill>
          <a:ln w="31750">
            <a:solidFill>
              <a:schemeClr val="accent4"/>
            </a:solidFill>
            <a:prstDash val="solid"/>
          </a:ln>
        </p:spPr>
      </p:sp>
      <p:sp>
        <p:nvSpPr>
          <p:cNvPr id="22" name="Dot 19"/>
          <p:cNvSpPr/>
          <p:nvPr/>
        </p:nvSpPr>
        <p:spPr>
          <a:xfrm>
            <a:off x="6227064" y="3364992"/>
            <a:ext cx="219456" cy="219456"/>
          </a:xfrm>
          <a:prstGeom prst="ellipse">
            <a:avLst/>
          </a:prstGeom>
          <a:solidFill>
            <a:schemeClr val="accent3"/>
          </a:solidFill>
          <a:ln w="12700">
            <a:solidFill>
              <a:schemeClr val="accent3"/>
            </a:solidFill>
            <a:prstDash val="solid"/>
          </a:ln>
        </p:spPr>
      </p:sp>
      <p:sp>
        <p:nvSpPr>
          <p:cNvPr id="23" name="Dot 20"/>
          <p:cNvSpPr/>
          <p:nvPr/>
        </p:nvSpPr>
        <p:spPr>
          <a:xfrm>
            <a:off x="6501384" y="3136392"/>
            <a:ext cx="219456" cy="219456"/>
          </a:xfrm>
          <a:prstGeom prst="ellipse">
            <a:avLst/>
          </a:prstGeom>
          <a:solidFill>
            <a:schemeClr val="accent3"/>
          </a:solidFill>
          <a:ln w="12700">
            <a:solidFill>
              <a:schemeClr val="accent3"/>
            </a:solidFill>
            <a:prstDash val="solid"/>
          </a:ln>
        </p:spPr>
      </p:sp>
      <p:sp>
        <p:nvSpPr>
          <p:cNvPr id="24" name="Dot 21"/>
          <p:cNvSpPr/>
          <p:nvPr/>
        </p:nvSpPr>
        <p:spPr>
          <a:xfrm>
            <a:off x="6885432" y="3246120"/>
            <a:ext cx="219456" cy="219456"/>
          </a:xfrm>
          <a:prstGeom prst="ellipse">
            <a:avLst/>
          </a:prstGeom>
          <a:solidFill>
            <a:schemeClr val="accent3"/>
          </a:solidFill>
          <a:ln w="12700">
            <a:solidFill>
              <a:schemeClr val="accent3"/>
            </a:solidFill>
            <a:prstDash val="solid"/>
          </a:ln>
        </p:spPr>
      </p:sp>
      <p:sp>
        <p:nvSpPr>
          <p:cNvPr id="25" name="Dot 22"/>
          <p:cNvSpPr/>
          <p:nvPr/>
        </p:nvSpPr>
        <p:spPr>
          <a:xfrm>
            <a:off x="7031736" y="3593592"/>
            <a:ext cx="219456" cy="219456"/>
          </a:xfrm>
          <a:prstGeom prst="ellipse">
            <a:avLst/>
          </a:prstGeom>
          <a:solidFill>
            <a:schemeClr val="accent3"/>
          </a:solidFill>
          <a:ln w="12700">
            <a:solidFill>
              <a:schemeClr val="accent3"/>
            </a:solidFill>
            <a:prstDash val="solid"/>
          </a:ln>
        </p:spPr>
      </p:sp>
      <p:sp>
        <p:nvSpPr>
          <p:cNvPr id="26" name="Dot 23"/>
          <p:cNvSpPr/>
          <p:nvPr/>
        </p:nvSpPr>
        <p:spPr>
          <a:xfrm>
            <a:off x="6775704" y="3895344"/>
            <a:ext cx="219456" cy="219456"/>
          </a:xfrm>
          <a:prstGeom prst="ellipse">
            <a:avLst/>
          </a:prstGeom>
          <a:solidFill>
            <a:schemeClr val="accent3"/>
          </a:solidFill>
          <a:ln w="12700">
            <a:solidFill>
              <a:schemeClr val="accent3"/>
            </a:solidFill>
            <a:prstDash val="solid"/>
          </a:ln>
        </p:spPr>
      </p:sp>
      <p:sp>
        <p:nvSpPr>
          <p:cNvPr id="27" name="Dot 24"/>
          <p:cNvSpPr/>
          <p:nvPr/>
        </p:nvSpPr>
        <p:spPr>
          <a:xfrm>
            <a:off x="6382512" y="3822192"/>
            <a:ext cx="219456" cy="219456"/>
          </a:xfrm>
          <a:prstGeom prst="ellipse">
            <a:avLst/>
          </a:prstGeom>
          <a:solidFill>
            <a:schemeClr val="accent3"/>
          </a:solidFill>
          <a:ln w="12700">
            <a:solidFill>
              <a:schemeClr val="accent3"/>
            </a:solidFill>
            <a:prstDash val="solid"/>
          </a:ln>
        </p:spPr>
      </p:sp>
      <p:sp>
        <p:nvSpPr>
          <p:cNvPr id="28" name="Dot 25"/>
          <p:cNvSpPr/>
          <p:nvPr/>
        </p:nvSpPr>
        <p:spPr>
          <a:xfrm>
            <a:off x="6153912" y="3657600"/>
            <a:ext cx="219456" cy="219456"/>
          </a:xfrm>
          <a:prstGeom prst="ellipse">
            <a:avLst/>
          </a:prstGeom>
          <a:solidFill>
            <a:schemeClr val="accent3"/>
          </a:solidFill>
          <a:ln w="12700">
            <a:solidFill>
              <a:schemeClr val="accent3"/>
            </a:solidFill>
            <a:prstDash val="solid"/>
          </a:ln>
        </p:spPr>
      </p:sp>
      <p:sp>
        <p:nvSpPr>
          <p:cNvPr id="29" name="Centroid 26"/>
          <p:cNvSpPr/>
          <p:nvPr/>
        </p:nvSpPr>
        <p:spPr>
          <a:xfrm>
            <a:off x="6601968" y="3538728"/>
            <a:ext cx="237744" cy="237744"/>
          </a:xfrm>
          <a:prstGeom prst="ellipse">
            <a:avLst/>
          </a:prstGeom>
          <a:solidFill>
            <a:schemeClr val="tx2"/>
          </a:solidFill>
          <a:ln w="3175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problem statement</a:t>
            </a:r>
            <a:endParaRPr lang="en-US" sz="3600" dirty="0"/>
          </a:p>
        </p:txBody>
      </p:sp>
      <p:sp>
        <p:nvSpPr>
          <p:cNvPr id="4" name="Card 27"/>
          <p:cNvSpPr/>
          <p:nvPr/>
        </p:nvSpPr>
        <p:spPr>
          <a:xfrm>
            <a:off x="457200" y="1143000"/>
            <a:ext cx="8229600" cy="868680"/>
          </a:xfrm>
          <a:prstGeom prst="roundRect">
            <a:avLst>
              <a:gd name="adj" fmla="val 8421"/>
            </a:avLst>
          </a:prstGeom>
          <a:solidFill>
            <a:schemeClr val="bg2"/>
          </a:solidFill>
          <a:ln w="12700">
            <a:solidFill>
              <a:schemeClr val="bg2"/>
            </a:solidFill>
            <a:prstDash val="solid"/>
          </a:ln>
        </p:spPr>
      </p:sp>
      <p:sp>
        <p:nvSpPr>
          <p:cNvPr id="5" name="Text 28"/>
          <p:cNvSpPr txBox="1"/>
          <p:nvPr/>
        </p:nvSpPr>
        <p:spPr>
          <a:xfrm>
            <a:off x="640080" y="1143000"/>
            <a:ext cx="7863840" cy="868680"/>
          </a:xfrm>
          <a:prstGeom prst="rect">
            <a:avLst/>
          </a:prstGeom>
          <a:noFill/>
          <a:ln/>
        </p:spPr>
        <p:txBody>
          <a:bodyPr wrap="square" lIns="0" tIns="0" rIns="0" bIns="0" rtlCol="0" anchor="ctr"/>
          <a:lstStyle/>
          <a:p>
            <a:pPr algn="l" indent="0" marL="0">
              <a:buNone/>
            </a:pPr>
            <a:r>
              <a:rPr lang="en-US" sz="1700" dirty="0">
                <a:solidFill>
                  <a:schemeClr val="tx1"/>
                </a:solidFill>
              </a:rPr>
              <a:t>Group warehouse products (SKUs) that behave alike, so managers can place them smartly and workers walk less while picking orders.</a:t>
            </a:r>
            <a:endParaRPr lang="en-US" sz="1700" dirty="0"/>
          </a:p>
        </p:txBody>
      </p:sp>
      <p:sp>
        <p:nvSpPr>
          <p:cNvPr id="6" name="Text 29"/>
          <p:cNvSpPr txBox="1"/>
          <p:nvPr/>
        </p:nvSpPr>
        <p:spPr>
          <a:xfrm>
            <a:off x="457200" y="2130552"/>
            <a:ext cx="8229600" cy="274320"/>
          </a:xfrm>
          <a:prstGeom prst="rect">
            <a:avLst/>
          </a:prstGeom>
          <a:noFill/>
          <a:ln/>
        </p:spPr>
        <p:txBody>
          <a:bodyPr wrap="square" lIns="0" tIns="0" rIns="0" bIns="0" rtlCol="0" anchor="t"/>
          <a:lstStyle/>
          <a:p>
            <a:pPr algn="l" indent="0" marL="0">
              <a:buNone/>
            </a:pPr>
            <a:r>
              <a:rPr lang="en-US" sz="1500" b="1" dirty="0">
                <a:solidFill>
                  <a:schemeClr val="tx2"/>
                </a:solidFill>
              </a:rPr>
              <a:t>We group the SKUs using four things</a:t>
            </a:r>
            <a:endParaRPr lang="en-US" sz="1500" dirty="0"/>
          </a:p>
        </p:txBody>
      </p:sp>
      <p:sp>
        <p:nvSpPr>
          <p:cNvPr id="7" name="Card 30"/>
          <p:cNvSpPr/>
          <p:nvPr/>
        </p:nvSpPr>
        <p:spPr>
          <a:xfrm>
            <a:off x="457200" y="2468880"/>
            <a:ext cx="1920240" cy="1371600"/>
          </a:xfrm>
          <a:prstGeom prst="roundRect">
            <a:avLst>
              <a:gd name="adj" fmla="val 5333"/>
            </a:avLst>
          </a:prstGeom>
          <a:solidFill>
            <a:schemeClr val="bg2"/>
          </a:solidFill>
          <a:ln w="12700">
            <a:solidFill>
              <a:schemeClr val="bg2"/>
            </a:solidFill>
            <a:prstDash val="solid"/>
          </a:ln>
        </p:spPr>
      </p:sp>
      <p:sp>
        <p:nvSpPr>
          <p:cNvPr id="8" name="Badge 31"/>
          <p:cNvSpPr/>
          <p:nvPr/>
        </p:nvSpPr>
        <p:spPr>
          <a:xfrm>
            <a:off x="594360" y="2578608"/>
            <a:ext cx="347472" cy="347472"/>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32"/>
          <p:cNvSpPr txBox="1"/>
          <p:nvPr/>
        </p:nvSpPr>
        <p:spPr>
          <a:xfrm>
            <a:off x="59436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Pick frequency</a:t>
            </a:r>
            <a:endParaRPr lang="en-US" sz="1500" dirty="0"/>
          </a:p>
        </p:txBody>
      </p:sp>
      <p:sp>
        <p:nvSpPr>
          <p:cNvPr id="10" name="Text 33"/>
          <p:cNvSpPr txBox="1"/>
          <p:nvPr/>
        </p:nvSpPr>
        <p:spPr>
          <a:xfrm>
            <a:off x="59436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often it is picked for orders</a:t>
            </a:r>
            <a:endParaRPr lang="en-US" sz="1400" dirty="0"/>
          </a:p>
        </p:txBody>
      </p:sp>
      <p:sp>
        <p:nvSpPr>
          <p:cNvPr id="11" name="Card 34"/>
          <p:cNvSpPr/>
          <p:nvPr/>
        </p:nvSpPr>
        <p:spPr>
          <a:xfrm>
            <a:off x="2560320" y="2468880"/>
            <a:ext cx="1920240" cy="1371600"/>
          </a:xfrm>
          <a:prstGeom prst="roundRect">
            <a:avLst>
              <a:gd name="adj" fmla="val 5333"/>
            </a:avLst>
          </a:prstGeom>
          <a:solidFill>
            <a:schemeClr val="bg2"/>
          </a:solidFill>
          <a:ln w="12700">
            <a:solidFill>
              <a:schemeClr val="bg2"/>
            </a:solidFill>
            <a:prstDash val="solid"/>
          </a:ln>
        </p:spPr>
      </p:sp>
      <p:sp>
        <p:nvSpPr>
          <p:cNvPr id="12" name="Badge 35"/>
          <p:cNvSpPr/>
          <p:nvPr/>
        </p:nvSpPr>
        <p:spPr>
          <a:xfrm>
            <a:off x="2697480" y="2578608"/>
            <a:ext cx="347472" cy="347472"/>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36"/>
          <p:cNvSpPr txBox="1"/>
          <p:nvPr/>
        </p:nvSpPr>
        <p:spPr>
          <a:xfrm>
            <a:off x="269748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Seasonal demand</a:t>
            </a:r>
            <a:endParaRPr lang="en-US" sz="1500" dirty="0"/>
          </a:p>
        </p:txBody>
      </p:sp>
      <p:sp>
        <p:nvSpPr>
          <p:cNvPr id="14" name="Text 37"/>
          <p:cNvSpPr txBox="1"/>
          <p:nvPr/>
        </p:nvSpPr>
        <p:spPr>
          <a:xfrm>
            <a:off x="269748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fast it sells in each season</a:t>
            </a:r>
            <a:endParaRPr lang="en-US" sz="1400" dirty="0"/>
          </a:p>
        </p:txBody>
      </p:sp>
      <p:sp>
        <p:nvSpPr>
          <p:cNvPr id="15" name="Card 38"/>
          <p:cNvSpPr/>
          <p:nvPr/>
        </p:nvSpPr>
        <p:spPr>
          <a:xfrm>
            <a:off x="4663440" y="2468880"/>
            <a:ext cx="1920240" cy="1371600"/>
          </a:xfrm>
          <a:prstGeom prst="roundRect">
            <a:avLst>
              <a:gd name="adj" fmla="val 5333"/>
            </a:avLst>
          </a:prstGeom>
          <a:solidFill>
            <a:schemeClr val="bg2"/>
          </a:solidFill>
          <a:ln w="12700">
            <a:solidFill>
              <a:schemeClr val="bg2"/>
            </a:solidFill>
            <a:prstDash val="solid"/>
          </a:ln>
        </p:spPr>
      </p:sp>
      <p:sp>
        <p:nvSpPr>
          <p:cNvPr id="16" name="Badge 39"/>
          <p:cNvSpPr/>
          <p:nvPr/>
        </p:nvSpPr>
        <p:spPr>
          <a:xfrm>
            <a:off x="4800600" y="2578608"/>
            <a:ext cx="347472" cy="347472"/>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40"/>
          <p:cNvSpPr txBox="1"/>
          <p:nvPr/>
        </p:nvSpPr>
        <p:spPr>
          <a:xfrm>
            <a:off x="480060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Physical size</a:t>
            </a:r>
            <a:endParaRPr lang="en-US" sz="1500" dirty="0"/>
          </a:p>
        </p:txBody>
      </p:sp>
      <p:sp>
        <p:nvSpPr>
          <p:cNvPr id="18" name="Text 41"/>
          <p:cNvSpPr txBox="1"/>
          <p:nvPr/>
        </p:nvSpPr>
        <p:spPr>
          <a:xfrm>
            <a:off x="480060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Length, width, height and weight</a:t>
            </a:r>
            <a:endParaRPr lang="en-US" sz="1400" dirty="0"/>
          </a:p>
        </p:txBody>
      </p:sp>
      <p:sp>
        <p:nvSpPr>
          <p:cNvPr id="19" name="Card 42"/>
          <p:cNvSpPr/>
          <p:nvPr/>
        </p:nvSpPr>
        <p:spPr>
          <a:xfrm>
            <a:off x="6766560" y="2468880"/>
            <a:ext cx="1920240" cy="1371600"/>
          </a:xfrm>
          <a:prstGeom prst="roundRect">
            <a:avLst>
              <a:gd name="adj" fmla="val 5333"/>
            </a:avLst>
          </a:prstGeom>
          <a:solidFill>
            <a:schemeClr val="bg2"/>
          </a:solidFill>
          <a:ln w="12700">
            <a:solidFill>
              <a:schemeClr val="bg2"/>
            </a:solidFill>
            <a:prstDash val="solid"/>
          </a:ln>
        </p:spPr>
      </p:sp>
      <p:sp>
        <p:nvSpPr>
          <p:cNvPr id="20" name="Badge 43"/>
          <p:cNvSpPr/>
          <p:nvPr/>
        </p:nvSpPr>
        <p:spPr>
          <a:xfrm>
            <a:off x="6903720" y="2578608"/>
            <a:ext cx="347472" cy="347472"/>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44"/>
          <p:cNvSpPr txBox="1"/>
          <p:nvPr/>
        </p:nvSpPr>
        <p:spPr>
          <a:xfrm>
            <a:off x="690372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Handling needs</a:t>
            </a:r>
            <a:endParaRPr lang="en-US" sz="1500" dirty="0"/>
          </a:p>
        </p:txBody>
      </p:sp>
      <p:sp>
        <p:nvSpPr>
          <p:cNvPr id="22" name="Text 45"/>
          <p:cNvSpPr txBox="1"/>
          <p:nvPr/>
        </p:nvSpPr>
        <p:spPr>
          <a:xfrm>
            <a:off x="690372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Fragile, heavy or needs special care</a:t>
            </a:r>
            <a:endParaRPr lang="en-US" sz="1400" dirty="0"/>
          </a:p>
        </p:txBody>
      </p:sp>
      <p:sp>
        <p:nvSpPr>
          <p:cNvPr id="23" name="Card 46"/>
          <p:cNvSpPr/>
          <p:nvPr/>
        </p:nvSpPr>
        <p:spPr>
          <a:xfrm>
            <a:off x="457200" y="4005072"/>
            <a:ext cx="8229600" cy="457200"/>
          </a:xfrm>
          <a:prstGeom prst="roundRect">
            <a:avLst>
              <a:gd name="adj" fmla="val 16000"/>
            </a:avLst>
          </a:prstGeom>
          <a:solidFill>
            <a:schemeClr val="accent1"/>
          </a:solidFill>
          <a:ln w="12700">
            <a:solidFill>
              <a:schemeClr val="accent1"/>
            </a:solidFill>
            <a:prstDash val="solid"/>
          </a:ln>
        </p:spPr>
      </p:sp>
      <p:sp>
        <p:nvSpPr>
          <p:cNvPr id="24" name="Text 47"/>
          <p:cNvSpPr txBox="1"/>
          <p:nvPr/>
        </p:nvSpPr>
        <p:spPr>
          <a:xfrm>
            <a:off x="640080" y="4005072"/>
            <a:ext cx="7863840" cy="457200"/>
          </a:xfrm>
          <a:prstGeom prst="rect">
            <a:avLst/>
          </a:prstGeom>
          <a:noFill/>
          <a:ln/>
        </p:spPr>
        <p:txBody>
          <a:bodyPr wrap="square" lIns="0" tIns="0" rIns="0" bIns="0" rtlCol="0" anchor="ctr"/>
          <a:lstStyle/>
          <a:p>
            <a:pPr algn="l" indent="0" marL="0">
              <a:buNone/>
            </a:pPr>
            <a:r>
              <a:rPr lang="en-US" sz="1500" b="1" dirty="0">
                <a:solidFill>
                  <a:schemeClr val="bg1"/>
                </a:solidFill>
              </a:rPr>
              <a:t>Goal: better inventory placement and less travel time during order fulfilment</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Key terms in simple words</a:t>
            </a:r>
            <a:endParaRPr lang="en-US" sz="3600" dirty="0"/>
          </a:p>
        </p:txBody>
      </p:sp>
      <p:sp>
        <p:nvSpPr>
          <p:cNvPr id="4" name="Card 48"/>
          <p:cNvSpPr/>
          <p:nvPr/>
        </p:nvSpPr>
        <p:spPr>
          <a:xfrm>
            <a:off x="457200" y="1188720"/>
            <a:ext cx="4023360" cy="1005840"/>
          </a:xfrm>
          <a:prstGeom prst="roundRect">
            <a:avLst>
              <a:gd name="adj" fmla="val 7273"/>
            </a:avLst>
          </a:prstGeom>
          <a:solidFill>
            <a:schemeClr val="bg2"/>
          </a:solidFill>
          <a:ln w="12700">
            <a:solidFill>
              <a:schemeClr val="bg2"/>
            </a:solidFill>
            <a:prstDash val="solid"/>
          </a:ln>
        </p:spPr>
      </p:sp>
      <p:sp>
        <p:nvSpPr>
          <p:cNvPr id="5" name="Dot 49"/>
          <p:cNvSpPr/>
          <p:nvPr/>
        </p:nvSpPr>
        <p:spPr>
          <a:xfrm>
            <a:off x="621792" y="1371600"/>
            <a:ext cx="164592" cy="164592"/>
          </a:xfrm>
          <a:prstGeom prst="ellipse">
            <a:avLst/>
          </a:prstGeom>
          <a:solidFill>
            <a:schemeClr val="accent2"/>
          </a:solidFill>
          <a:ln w="12700">
            <a:solidFill>
              <a:schemeClr val="accent2"/>
            </a:solidFill>
            <a:prstDash val="solid"/>
          </a:ln>
        </p:spPr>
      </p:sp>
      <p:sp>
        <p:nvSpPr>
          <p:cNvPr id="6" name="Text 50"/>
          <p:cNvSpPr txBox="1"/>
          <p:nvPr/>
        </p:nvSpPr>
        <p:spPr>
          <a:xfrm>
            <a:off x="89611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SKU</a:t>
            </a:r>
            <a:endParaRPr lang="en-US" sz="1600" dirty="0"/>
          </a:p>
        </p:txBody>
      </p:sp>
      <p:sp>
        <p:nvSpPr>
          <p:cNvPr id="7" name="Text 51"/>
          <p:cNvSpPr txBox="1"/>
          <p:nvPr/>
        </p:nvSpPr>
        <p:spPr>
          <a:xfrm>
            <a:off x="62179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Stock Keeping Unit: one unique product type stored in the warehouse.</a:t>
            </a:r>
            <a:endParaRPr lang="en-US" sz="1400" dirty="0"/>
          </a:p>
        </p:txBody>
      </p:sp>
      <p:sp>
        <p:nvSpPr>
          <p:cNvPr id="8" name="Card 52"/>
          <p:cNvSpPr/>
          <p:nvPr/>
        </p:nvSpPr>
        <p:spPr>
          <a:xfrm>
            <a:off x="457200" y="2331720"/>
            <a:ext cx="4023360" cy="1005840"/>
          </a:xfrm>
          <a:prstGeom prst="roundRect">
            <a:avLst>
              <a:gd name="adj" fmla="val 7273"/>
            </a:avLst>
          </a:prstGeom>
          <a:solidFill>
            <a:schemeClr val="bg2"/>
          </a:solidFill>
          <a:ln w="12700">
            <a:solidFill>
              <a:schemeClr val="bg2"/>
            </a:solidFill>
            <a:prstDash val="solid"/>
          </a:ln>
        </p:spPr>
      </p:sp>
      <p:sp>
        <p:nvSpPr>
          <p:cNvPr id="9" name="Dot 53"/>
          <p:cNvSpPr/>
          <p:nvPr/>
        </p:nvSpPr>
        <p:spPr>
          <a:xfrm>
            <a:off x="621792" y="2514600"/>
            <a:ext cx="164592" cy="164592"/>
          </a:xfrm>
          <a:prstGeom prst="ellipse">
            <a:avLst/>
          </a:prstGeom>
          <a:solidFill>
            <a:schemeClr val="accent2"/>
          </a:solidFill>
          <a:ln w="12700">
            <a:solidFill>
              <a:schemeClr val="accent2"/>
            </a:solidFill>
            <a:prstDash val="solid"/>
          </a:ln>
        </p:spPr>
      </p:sp>
      <p:sp>
        <p:nvSpPr>
          <p:cNvPr id="10" name="Text 54"/>
          <p:cNvSpPr txBox="1"/>
          <p:nvPr/>
        </p:nvSpPr>
        <p:spPr>
          <a:xfrm>
            <a:off x="89611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Pick frequency</a:t>
            </a:r>
            <a:endParaRPr lang="en-US" sz="1600" dirty="0"/>
          </a:p>
        </p:txBody>
      </p:sp>
      <p:sp>
        <p:nvSpPr>
          <p:cNvPr id="11" name="Text 55"/>
          <p:cNvSpPr txBox="1"/>
          <p:nvPr/>
        </p:nvSpPr>
        <p:spPr>
          <a:xfrm>
            <a:off x="62179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many times a product is taken from the shelf to fill orders.</a:t>
            </a:r>
            <a:endParaRPr lang="en-US" sz="1400" dirty="0"/>
          </a:p>
        </p:txBody>
      </p:sp>
      <p:sp>
        <p:nvSpPr>
          <p:cNvPr id="12" name="Card 56"/>
          <p:cNvSpPr/>
          <p:nvPr/>
        </p:nvSpPr>
        <p:spPr>
          <a:xfrm>
            <a:off x="457200" y="3474720"/>
            <a:ext cx="4023360" cy="1005840"/>
          </a:xfrm>
          <a:prstGeom prst="roundRect">
            <a:avLst>
              <a:gd name="adj" fmla="val 7273"/>
            </a:avLst>
          </a:prstGeom>
          <a:solidFill>
            <a:schemeClr val="bg2"/>
          </a:solidFill>
          <a:ln w="12700">
            <a:solidFill>
              <a:schemeClr val="bg2"/>
            </a:solidFill>
            <a:prstDash val="solid"/>
          </a:ln>
        </p:spPr>
      </p:sp>
      <p:sp>
        <p:nvSpPr>
          <p:cNvPr id="13" name="Dot 57"/>
          <p:cNvSpPr/>
          <p:nvPr/>
        </p:nvSpPr>
        <p:spPr>
          <a:xfrm>
            <a:off x="621792" y="3657600"/>
            <a:ext cx="164592" cy="164592"/>
          </a:xfrm>
          <a:prstGeom prst="ellipse">
            <a:avLst/>
          </a:prstGeom>
          <a:solidFill>
            <a:schemeClr val="accent2"/>
          </a:solidFill>
          <a:ln w="12700">
            <a:solidFill>
              <a:schemeClr val="accent2"/>
            </a:solidFill>
            <a:prstDash val="solid"/>
          </a:ln>
        </p:spPr>
      </p:sp>
      <p:sp>
        <p:nvSpPr>
          <p:cNvPr id="14" name="Text 58"/>
          <p:cNvSpPr txBox="1"/>
          <p:nvPr/>
        </p:nvSpPr>
        <p:spPr>
          <a:xfrm>
            <a:off x="89611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Seasonal demand velocity</a:t>
            </a:r>
            <a:endParaRPr lang="en-US" sz="1600" dirty="0"/>
          </a:p>
        </p:txBody>
      </p:sp>
      <p:sp>
        <p:nvSpPr>
          <p:cNvPr id="15" name="Text 59"/>
          <p:cNvSpPr txBox="1"/>
          <p:nvPr/>
        </p:nvSpPr>
        <p:spPr>
          <a:xfrm>
            <a:off x="62179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fast a product sells in a season. Example: umbrellas in the monsoon.</a:t>
            </a:r>
            <a:endParaRPr lang="en-US" sz="1400" dirty="0"/>
          </a:p>
        </p:txBody>
      </p:sp>
      <p:sp>
        <p:nvSpPr>
          <p:cNvPr id="16" name="Card 60"/>
          <p:cNvSpPr/>
          <p:nvPr/>
        </p:nvSpPr>
        <p:spPr>
          <a:xfrm>
            <a:off x="4663440" y="1188720"/>
            <a:ext cx="4023360" cy="1005840"/>
          </a:xfrm>
          <a:prstGeom prst="roundRect">
            <a:avLst>
              <a:gd name="adj" fmla="val 7273"/>
            </a:avLst>
          </a:prstGeom>
          <a:solidFill>
            <a:schemeClr val="bg2"/>
          </a:solidFill>
          <a:ln w="12700">
            <a:solidFill>
              <a:schemeClr val="bg2"/>
            </a:solidFill>
            <a:prstDash val="solid"/>
          </a:ln>
        </p:spPr>
      </p:sp>
      <p:sp>
        <p:nvSpPr>
          <p:cNvPr id="17" name="Dot 61"/>
          <p:cNvSpPr/>
          <p:nvPr/>
        </p:nvSpPr>
        <p:spPr>
          <a:xfrm>
            <a:off x="4828032" y="1371600"/>
            <a:ext cx="164592" cy="164592"/>
          </a:xfrm>
          <a:prstGeom prst="ellipse">
            <a:avLst/>
          </a:prstGeom>
          <a:solidFill>
            <a:schemeClr val="accent3"/>
          </a:solidFill>
          <a:ln w="12700">
            <a:solidFill>
              <a:schemeClr val="accent3"/>
            </a:solidFill>
            <a:prstDash val="solid"/>
          </a:ln>
        </p:spPr>
      </p:sp>
      <p:sp>
        <p:nvSpPr>
          <p:cNvPr id="18" name="Text 62"/>
          <p:cNvSpPr txBox="1"/>
          <p:nvPr/>
        </p:nvSpPr>
        <p:spPr>
          <a:xfrm>
            <a:off x="510235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Clustering</a:t>
            </a:r>
            <a:endParaRPr lang="en-US" sz="1600" dirty="0"/>
          </a:p>
        </p:txBody>
      </p:sp>
      <p:sp>
        <p:nvSpPr>
          <p:cNvPr id="19" name="Text 63"/>
          <p:cNvSpPr txBox="1"/>
          <p:nvPr/>
        </p:nvSpPr>
        <p:spPr>
          <a:xfrm>
            <a:off x="482803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Dividing data into groups where items in a group are very similar.</a:t>
            </a:r>
            <a:endParaRPr lang="en-US" sz="1400" dirty="0"/>
          </a:p>
        </p:txBody>
      </p:sp>
      <p:sp>
        <p:nvSpPr>
          <p:cNvPr id="20" name="Card 64"/>
          <p:cNvSpPr/>
          <p:nvPr/>
        </p:nvSpPr>
        <p:spPr>
          <a:xfrm>
            <a:off x="4663440" y="2331720"/>
            <a:ext cx="4023360" cy="1005840"/>
          </a:xfrm>
          <a:prstGeom prst="roundRect">
            <a:avLst>
              <a:gd name="adj" fmla="val 7273"/>
            </a:avLst>
          </a:prstGeom>
          <a:solidFill>
            <a:schemeClr val="bg2"/>
          </a:solidFill>
          <a:ln w="12700">
            <a:solidFill>
              <a:schemeClr val="bg2"/>
            </a:solidFill>
            <a:prstDash val="solid"/>
          </a:ln>
        </p:spPr>
      </p:sp>
      <p:sp>
        <p:nvSpPr>
          <p:cNvPr id="21" name="Dot 65"/>
          <p:cNvSpPr/>
          <p:nvPr/>
        </p:nvSpPr>
        <p:spPr>
          <a:xfrm>
            <a:off x="4828032" y="2514600"/>
            <a:ext cx="164592" cy="164592"/>
          </a:xfrm>
          <a:prstGeom prst="ellipse">
            <a:avLst/>
          </a:prstGeom>
          <a:solidFill>
            <a:schemeClr val="accent3"/>
          </a:solidFill>
          <a:ln w="12700">
            <a:solidFill>
              <a:schemeClr val="accent3"/>
            </a:solidFill>
            <a:prstDash val="solid"/>
          </a:ln>
        </p:spPr>
      </p:sp>
      <p:sp>
        <p:nvSpPr>
          <p:cNvPr id="22" name="Text 66"/>
          <p:cNvSpPr txBox="1"/>
          <p:nvPr/>
        </p:nvSpPr>
        <p:spPr>
          <a:xfrm>
            <a:off x="510235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Centroid</a:t>
            </a:r>
            <a:endParaRPr lang="en-US" sz="1600" dirty="0"/>
          </a:p>
        </p:txBody>
      </p:sp>
      <p:sp>
        <p:nvSpPr>
          <p:cNvPr id="23" name="Text 67"/>
          <p:cNvSpPr txBox="1"/>
          <p:nvPr/>
        </p:nvSpPr>
        <p:spPr>
          <a:xfrm>
            <a:off x="482803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The centre (mean point) of a cluster. Each cluster has one.</a:t>
            </a:r>
            <a:endParaRPr lang="en-US" sz="1400" dirty="0"/>
          </a:p>
        </p:txBody>
      </p:sp>
      <p:sp>
        <p:nvSpPr>
          <p:cNvPr id="24" name="Card 68"/>
          <p:cNvSpPr/>
          <p:nvPr/>
        </p:nvSpPr>
        <p:spPr>
          <a:xfrm>
            <a:off x="4663440" y="3474720"/>
            <a:ext cx="4023360" cy="1005840"/>
          </a:xfrm>
          <a:prstGeom prst="roundRect">
            <a:avLst>
              <a:gd name="adj" fmla="val 7273"/>
            </a:avLst>
          </a:prstGeom>
          <a:solidFill>
            <a:schemeClr val="bg2"/>
          </a:solidFill>
          <a:ln w="12700">
            <a:solidFill>
              <a:schemeClr val="bg2"/>
            </a:solidFill>
            <a:prstDash val="solid"/>
          </a:ln>
        </p:spPr>
      </p:sp>
      <p:sp>
        <p:nvSpPr>
          <p:cNvPr id="25" name="Dot 69"/>
          <p:cNvSpPr/>
          <p:nvPr/>
        </p:nvSpPr>
        <p:spPr>
          <a:xfrm>
            <a:off x="4828032" y="3657600"/>
            <a:ext cx="164592" cy="164592"/>
          </a:xfrm>
          <a:prstGeom prst="ellipse">
            <a:avLst/>
          </a:prstGeom>
          <a:solidFill>
            <a:schemeClr val="accent3"/>
          </a:solidFill>
          <a:ln w="12700">
            <a:solidFill>
              <a:schemeClr val="accent3"/>
            </a:solidFill>
            <a:prstDash val="solid"/>
          </a:ln>
        </p:spPr>
      </p:sp>
      <p:sp>
        <p:nvSpPr>
          <p:cNvPr id="26" name="Text 70"/>
          <p:cNvSpPr txBox="1"/>
          <p:nvPr/>
        </p:nvSpPr>
        <p:spPr>
          <a:xfrm>
            <a:off x="510235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Unsupervised learning</a:t>
            </a:r>
            <a:endParaRPr lang="en-US" sz="1600" dirty="0"/>
          </a:p>
        </p:txBody>
      </p:sp>
      <p:sp>
        <p:nvSpPr>
          <p:cNvPr id="27" name="Text 71"/>
          <p:cNvSpPr txBox="1"/>
          <p:nvPr/>
        </p:nvSpPr>
        <p:spPr>
          <a:xfrm>
            <a:off x="482803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Learning from data that has no labels. The algorithm finds the groups itself.</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Unit 3 solutions we reviewed</a:t>
            </a:r>
            <a:endParaRPr lang="en-US" sz="3600" dirty="0"/>
          </a:p>
        </p:txBody>
      </p:sp>
      <p:sp>
        <p:nvSpPr>
          <p:cNvPr id="4" name="Card 72"/>
          <p:cNvSpPr/>
          <p:nvPr/>
        </p:nvSpPr>
        <p:spPr>
          <a:xfrm>
            <a:off x="457200" y="1188720"/>
            <a:ext cx="1920240" cy="2926080"/>
          </a:xfrm>
          <a:prstGeom prst="roundRect">
            <a:avLst>
              <a:gd name="adj" fmla="val 3810"/>
            </a:avLst>
          </a:prstGeom>
          <a:solidFill>
            <a:schemeClr val="accent1"/>
          </a:solidFill>
          <a:ln w="12700">
            <a:solidFill>
              <a:schemeClr val="accent1"/>
            </a:solidFill>
            <a:prstDash val="solid"/>
          </a:ln>
        </p:spPr>
      </p:sp>
      <p:sp>
        <p:nvSpPr>
          <p:cNvPr id="5" name="Text 73"/>
          <p:cNvSpPr txBox="1"/>
          <p:nvPr/>
        </p:nvSpPr>
        <p:spPr>
          <a:xfrm>
            <a:off x="594360" y="1325880"/>
            <a:ext cx="1645920" cy="274320"/>
          </a:xfrm>
          <a:prstGeom prst="rect">
            <a:avLst/>
          </a:prstGeom>
          <a:noFill/>
          <a:ln/>
        </p:spPr>
        <p:txBody>
          <a:bodyPr wrap="square" lIns="0" tIns="0" rIns="0" bIns="0" rtlCol="0" anchor="t"/>
          <a:lstStyle/>
          <a:p>
            <a:pPr algn="l" indent="0" marL="0">
              <a:buNone/>
            </a:pPr>
            <a:r>
              <a:rPr lang="en-US" sz="1100" b="1" dirty="0">
                <a:solidFill>
                  <a:schemeClr val="accent4"/>
                </a:solidFill>
              </a:rPr>
              <a:t>Centroid-based</a:t>
            </a:r>
            <a:endParaRPr lang="en-US" sz="1100" dirty="0"/>
          </a:p>
        </p:txBody>
      </p:sp>
      <p:sp>
        <p:nvSpPr>
          <p:cNvPr id="6" name="Text 74"/>
          <p:cNvSpPr txBox="1"/>
          <p:nvPr/>
        </p:nvSpPr>
        <p:spPr>
          <a:xfrm>
            <a:off x="594360" y="1627632"/>
            <a:ext cx="1645920" cy="640080"/>
          </a:xfrm>
          <a:prstGeom prst="rect">
            <a:avLst/>
          </a:prstGeom>
          <a:noFill/>
          <a:ln/>
        </p:spPr>
        <p:txBody>
          <a:bodyPr wrap="square" lIns="0" tIns="0" rIns="0" bIns="0" rtlCol="0" anchor="t"/>
          <a:lstStyle/>
          <a:p>
            <a:pPr algn="l" indent="0" marL="0">
              <a:buNone/>
            </a:pPr>
            <a:r>
              <a:rPr lang="en-US" sz="1700" b="1" dirty="0">
                <a:solidFill>
                  <a:schemeClr val="bg1"/>
                </a:solidFill>
              </a:rPr>
              <a:t>K-Means clustering</a:t>
            </a:r>
            <a:endParaRPr lang="en-US" sz="1700" dirty="0"/>
          </a:p>
        </p:txBody>
      </p:sp>
      <p:sp>
        <p:nvSpPr>
          <p:cNvPr id="7" name="Text 75"/>
          <p:cNvSpPr txBox="1"/>
          <p:nvPr/>
        </p:nvSpPr>
        <p:spPr>
          <a:xfrm>
            <a:off x="594360" y="2331720"/>
            <a:ext cx="1645920" cy="1188720"/>
          </a:xfrm>
          <a:prstGeom prst="rect">
            <a:avLst/>
          </a:prstGeom>
          <a:noFill/>
          <a:ln/>
        </p:spPr>
        <p:txBody>
          <a:bodyPr wrap="square" lIns="0" tIns="0" rIns="0" bIns="0" rtlCol="0" anchor="t"/>
          <a:lstStyle/>
          <a:p>
            <a:pPr algn="l" indent="0" marL="0">
              <a:buNone/>
            </a:pPr>
            <a:r>
              <a:rPr lang="en-US" sz="1400" dirty="0">
                <a:solidFill>
                  <a:schemeClr val="bg1"/>
                </a:solidFill>
              </a:rPr>
              <a:t>Splits data into k groups. Each item joins the nearest centre.</a:t>
            </a:r>
            <a:endParaRPr lang="en-US" sz="1400" dirty="0"/>
          </a:p>
        </p:txBody>
      </p:sp>
      <p:sp>
        <p:nvSpPr>
          <p:cNvPr id="8" name="Pill 76"/>
          <p:cNvSpPr/>
          <p:nvPr/>
        </p:nvSpPr>
        <p:spPr>
          <a:xfrm>
            <a:off x="594360" y="3611880"/>
            <a:ext cx="1188720" cy="329184"/>
          </a:xfrm>
          <a:prstGeom prst="roundRect">
            <a:avLst>
              <a:gd name="adj" fmla="val 41667"/>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Our choice</a:t>
            </a:r>
            <a:endParaRPr lang="en-US" sz="1300" dirty="0"/>
          </a:p>
        </p:txBody>
      </p:sp>
      <p:sp>
        <p:nvSpPr>
          <p:cNvPr id="9" name="Card 77"/>
          <p:cNvSpPr/>
          <p:nvPr/>
        </p:nvSpPr>
        <p:spPr>
          <a:xfrm>
            <a:off x="2560320" y="1188720"/>
            <a:ext cx="1920240" cy="2926080"/>
          </a:xfrm>
          <a:prstGeom prst="roundRect">
            <a:avLst>
              <a:gd name="adj" fmla="val 3810"/>
            </a:avLst>
          </a:prstGeom>
          <a:solidFill>
            <a:schemeClr val="bg2"/>
          </a:solidFill>
          <a:ln w="12700">
            <a:solidFill>
              <a:schemeClr val="bg2"/>
            </a:solidFill>
            <a:prstDash val="solid"/>
          </a:ln>
        </p:spPr>
      </p:sp>
      <p:sp>
        <p:nvSpPr>
          <p:cNvPr id="10" name="Text 78"/>
          <p:cNvSpPr txBox="1"/>
          <p:nvPr/>
        </p:nvSpPr>
        <p:spPr>
          <a:xfrm>
            <a:off x="269748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Distribution-based</a:t>
            </a:r>
            <a:endParaRPr lang="en-US" sz="1100" dirty="0"/>
          </a:p>
        </p:txBody>
      </p:sp>
      <p:sp>
        <p:nvSpPr>
          <p:cNvPr id="11" name="Text 79"/>
          <p:cNvSpPr txBox="1"/>
          <p:nvPr/>
        </p:nvSpPr>
        <p:spPr>
          <a:xfrm>
            <a:off x="269748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Mixtures of Gaussians (EM)</a:t>
            </a:r>
            <a:endParaRPr lang="en-US" sz="1700" dirty="0"/>
          </a:p>
        </p:txBody>
      </p:sp>
      <p:sp>
        <p:nvSpPr>
          <p:cNvPr id="12" name="Text 80"/>
          <p:cNvSpPr txBox="1"/>
          <p:nvPr/>
        </p:nvSpPr>
        <p:spPr>
          <a:xfrm>
            <a:off x="269748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Soft clustering. Each item gets a probability for every group.</a:t>
            </a:r>
            <a:endParaRPr lang="en-US" sz="1400" dirty="0"/>
          </a:p>
        </p:txBody>
      </p:sp>
      <p:sp>
        <p:nvSpPr>
          <p:cNvPr id="13" name="Card 81"/>
          <p:cNvSpPr/>
          <p:nvPr/>
        </p:nvSpPr>
        <p:spPr>
          <a:xfrm>
            <a:off x="4663440" y="1188720"/>
            <a:ext cx="1920240" cy="2926080"/>
          </a:xfrm>
          <a:prstGeom prst="roundRect">
            <a:avLst>
              <a:gd name="adj" fmla="val 3810"/>
            </a:avLst>
          </a:prstGeom>
          <a:solidFill>
            <a:schemeClr val="bg2"/>
          </a:solidFill>
          <a:ln w="12700">
            <a:solidFill>
              <a:schemeClr val="bg2"/>
            </a:solidFill>
            <a:prstDash val="solid"/>
          </a:ln>
        </p:spPr>
      </p:sp>
      <p:sp>
        <p:nvSpPr>
          <p:cNvPr id="14" name="Text 82"/>
          <p:cNvSpPr txBox="1"/>
          <p:nvPr/>
        </p:nvSpPr>
        <p:spPr>
          <a:xfrm>
            <a:off x="480060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Tree-based</a:t>
            </a:r>
            <a:endParaRPr lang="en-US" sz="1100" dirty="0"/>
          </a:p>
        </p:txBody>
      </p:sp>
      <p:sp>
        <p:nvSpPr>
          <p:cNvPr id="15" name="Text 83"/>
          <p:cNvSpPr txBox="1"/>
          <p:nvPr/>
        </p:nvSpPr>
        <p:spPr>
          <a:xfrm>
            <a:off x="480060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Hierarchical clustering</a:t>
            </a:r>
            <a:endParaRPr lang="en-US" sz="1700" dirty="0"/>
          </a:p>
        </p:txBody>
      </p:sp>
      <p:sp>
        <p:nvSpPr>
          <p:cNvPr id="16" name="Text 84"/>
          <p:cNvSpPr txBox="1"/>
          <p:nvPr/>
        </p:nvSpPr>
        <p:spPr>
          <a:xfrm>
            <a:off x="480060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Builds a tree of clusters by merging or splitting step by step.</a:t>
            </a:r>
            <a:endParaRPr lang="en-US" sz="1400" dirty="0"/>
          </a:p>
        </p:txBody>
      </p:sp>
      <p:sp>
        <p:nvSpPr>
          <p:cNvPr id="17" name="Card 85"/>
          <p:cNvSpPr/>
          <p:nvPr/>
        </p:nvSpPr>
        <p:spPr>
          <a:xfrm>
            <a:off x="6766560" y="1188720"/>
            <a:ext cx="1920240" cy="2926080"/>
          </a:xfrm>
          <a:prstGeom prst="roundRect">
            <a:avLst>
              <a:gd name="adj" fmla="val 3810"/>
            </a:avLst>
          </a:prstGeom>
          <a:solidFill>
            <a:schemeClr val="bg2"/>
          </a:solidFill>
          <a:ln w="12700">
            <a:solidFill>
              <a:schemeClr val="bg2"/>
            </a:solidFill>
            <a:prstDash val="solid"/>
          </a:ln>
        </p:spPr>
      </p:sp>
      <p:sp>
        <p:nvSpPr>
          <p:cNvPr id="18" name="Text 86"/>
          <p:cNvSpPr txBox="1"/>
          <p:nvPr/>
        </p:nvSpPr>
        <p:spPr>
          <a:xfrm>
            <a:off x="690372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Fewer features</a:t>
            </a:r>
            <a:endParaRPr lang="en-US" sz="1100" dirty="0"/>
          </a:p>
        </p:txBody>
      </p:sp>
      <p:sp>
        <p:nvSpPr>
          <p:cNvPr id="19" name="Text 87"/>
          <p:cNvSpPr txBox="1"/>
          <p:nvPr/>
        </p:nvSpPr>
        <p:spPr>
          <a:xfrm>
            <a:off x="690372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PCA and Factor analysis</a:t>
            </a:r>
            <a:endParaRPr lang="en-US" sz="1700" dirty="0"/>
          </a:p>
        </p:txBody>
      </p:sp>
      <p:sp>
        <p:nvSpPr>
          <p:cNvPr id="20" name="Text 88"/>
          <p:cNvSpPr txBox="1"/>
          <p:nvPr/>
        </p:nvSpPr>
        <p:spPr>
          <a:xfrm>
            <a:off x="690372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Reduces many features to a few. It does not make groups.</a:t>
            </a:r>
            <a:endParaRPr lang="en-US" sz="1400" dirty="0"/>
          </a:p>
        </p:txBody>
      </p:sp>
      <p:sp>
        <p:nvSpPr>
          <p:cNvPr id="21" name="Text 89"/>
          <p:cNvSpPr txBox="1"/>
          <p:nvPr/>
        </p:nvSpPr>
        <p:spPr>
          <a:xfrm>
            <a:off x="457200" y="4224528"/>
            <a:ext cx="8229600" cy="274320"/>
          </a:xfrm>
          <a:prstGeom prst="rect">
            <a:avLst/>
          </a:prstGeom>
          <a:noFill/>
          <a:ln/>
        </p:spPr>
        <p:txBody>
          <a:bodyPr wrap="square" lIns="0" tIns="0" rIns="0" bIns="0" rtlCol="0" anchor="ctr"/>
          <a:lstStyle/>
          <a:p>
            <a:pPr algn="l" indent="0" marL="0">
              <a:buNone/>
            </a:pPr>
            <a:r>
              <a:rPr lang="en-US" sz="1100" dirty="0">
                <a:solidFill>
                  <a:schemeClr val="accent5"/>
                </a:solidFill>
              </a:rPr>
              <a:t>From the Unit 3 syllabus: K-means, mixtures of Gaussians, EM, factor analysis, PCA, hierarchical clustering</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choice: K-Means clustering</a:t>
            </a:r>
            <a:endParaRPr lang="en-US" sz="3600" dirty="0"/>
          </a:p>
        </p:txBody>
      </p:sp>
      <p:sp>
        <p:nvSpPr>
          <p:cNvPr id="4" name="Card 90"/>
          <p:cNvSpPr/>
          <p:nvPr/>
        </p:nvSpPr>
        <p:spPr>
          <a:xfrm>
            <a:off x="457200" y="1188720"/>
            <a:ext cx="3566160" cy="3200400"/>
          </a:xfrm>
          <a:prstGeom prst="roundRect">
            <a:avLst>
              <a:gd name="adj" fmla="val 2286"/>
            </a:avLst>
          </a:prstGeom>
          <a:solidFill>
            <a:schemeClr val="accent1"/>
          </a:solidFill>
          <a:ln w="12700">
            <a:solidFill>
              <a:schemeClr val="accent1"/>
            </a:solidFill>
            <a:prstDash val="solid"/>
          </a:ln>
        </p:spPr>
      </p:sp>
      <p:sp>
        <p:nvSpPr>
          <p:cNvPr id="5" name="Text 91"/>
          <p:cNvSpPr txBox="1"/>
          <p:nvPr/>
        </p:nvSpPr>
        <p:spPr>
          <a:xfrm>
            <a:off x="685800" y="1371600"/>
            <a:ext cx="310896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DEFINITION</a:t>
            </a:r>
            <a:endParaRPr lang="en-US" sz="1200" dirty="0"/>
          </a:p>
        </p:txBody>
      </p:sp>
      <p:sp>
        <p:nvSpPr>
          <p:cNvPr id="6" name="Text 92"/>
          <p:cNvSpPr txBox="1"/>
          <p:nvPr/>
        </p:nvSpPr>
        <p:spPr>
          <a:xfrm>
            <a:off x="685800" y="1691640"/>
            <a:ext cx="3108960" cy="1143000"/>
          </a:xfrm>
          <a:prstGeom prst="rect">
            <a:avLst/>
          </a:prstGeom>
          <a:noFill/>
          <a:ln/>
        </p:spPr>
        <p:txBody>
          <a:bodyPr wrap="square" lIns="0" tIns="0" rIns="0" bIns="0" rtlCol="0" anchor="t"/>
          <a:lstStyle/>
          <a:p>
            <a:pPr algn="l" indent="0" marL="0">
              <a:buNone/>
            </a:pPr>
            <a:r>
              <a:rPr lang="en-US" sz="1800" b="1" dirty="0">
                <a:solidFill>
                  <a:schemeClr val="bg1"/>
                </a:solidFill>
              </a:rPr>
              <a:t>K-Means groups similar data points into k clusters without needing labelled data.</a:t>
            </a:r>
            <a:endParaRPr lang="en-US" sz="1800" dirty="0"/>
          </a:p>
        </p:txBody>
      </p:sp>
      <p:sp>
        <p:nvSpPr>
          <p:cNvPr id="7" name="Text 93"/>
          <p:cNvSpPr txBox="1"/>
          <p:nvPr/>
        </p:nvSpPr>
        <p:spPr>
          <a:xfrm>
            <a:off x="685800" y="2880360"/>
            <a:ext cx="3108960" cy="274320"/>
          </a:xfrm>
          <a:prstGeom prst="rect">
            <a:avLst/>
          </a:prstGeom>
          <a:noFill/>
          <a:ln/>
        </p:spPr>
        <p:txBody>
          <a:bodyPr wrap="square" lIns="0" tIns="0" rIns="0" bIns="0" rtlCol="0" anchor="t"/>
          <a:lstStyle/>
          <a:p>
            <a:pPr algn="l" indent="0" marL="0">
              <a:buNone/>
            </a:pPr>
            <a:r>
              <a:rPr lang="en-US" sz="1400" dirty="0">
                <a:solidFill>
                  <a:schemeClr val="bg2"/>
                </a:solidFill>
              </a:rPr>
              <a:t>k = the number of groups we want</a:t>
            </a:r>
            <a:endParaRPr lang="en-US" sz="1400" dirty="0"/>
          </a:p>
        </p:txBody>
      </p:sp>
      <p:sp>
        <p:nvSpPr>
          <p:cNvPr id="8" name="Dot 94"/>
          <p:cNvSpPr/>
          <p:nvPr/>
        </p:nvSpPr>
        <p:spPr>
          <a:xfrm>
            <a:off x="982614" y="3621938"/>
            <a:ext cx="118872" cy="118872"/>
          </a:xfrm>
          <a:prstGeom prst="ellipse">
            <a:avLst/>
          </a:prstGeom>
          <a:solidFill>
            <a:schemeClr val="accent2"/>
          </a:solidFill>
          <a:ln w="12700">
            <a:solidFill>
              <a:schemeClr val="accent2"/>
            </a:solidFill>
            <a:prstDash val="solid"/>
          </a:ln>
        </p:spPr>
      </p:sp>
      <p:sp>
        <p:nvSpPr>
          <p:cNvPr id="9" name="Dot 95"/>
          <p:cNvSpPr/>
          <p:nvPr/>
        </p:nvSpPr>
        <p:spPr>
          <a:xfrm>
            <a:off x="1152693" y="3480206"/>
            <a:ext cx="118872" cy="118872"/>
          </a:xfrm>
          <a:prstGeom prst="ellipse">
            <a:avLst/>
          </a:prstGeom>
          <a:solidFill>
            <a:schemeClr val="accent2"/>
          </a:solidFill>
          <a:ln w="12700">
            <a:solidFill>
              <a:schemeClr val="accent2"/>
            </a:solidFill>
            <a:prstDash val="solid"/>
          </a:ln>
        </p:spPr>
      </p:sp>
      <p:sp>
        <p:nvSpPr>
          <p:cNvPr id="10" name="Dot 96"/>
          <p:cNvSpPr/>
          <p:nvPr/>
        </p:nvSpPr>
        <p:spPr>
          <a:xfrm>
            <a:off x="1390802" y="3548238"/>
            <a:ext cx="118872" cy="118872"/>
          </a:xfrm>
          <a:prstGeom prst="ellipse">
            <a:avLst/>
          </a:prstGeom>
          <a:solidFill>
            <a:schemeClr val="accent2"/>
          </a:solidFill>
          <a:ln w="12700">
            <a:solidFill>
              <a:schemeClr val="accent2"/>
            </a:solidFill>
            <a:prstDash val="solid"/>
          </a:ln>
        </p:spPr>
      </p:sp>
      <p:sp>
        <p:nvSpPr>
          <p:cNvPr id="11" name="Dot 97"/>
          <p:cNvSpPr/>
          <p:nvPr/>
        </p:nvSpPr>
        <p:spPr>
          <a:xfrm>
            <a:off x="1481511" y="3763670"/>
            <a:ext cx="118872" cy="118872"/>
          </a:xfrm>
          <a:prstGeom prst="ellipse">
            <a:avLst/>
          </a:prstGeom>
          <a:solidFill>
            <a:schemeClr val="accent2"/>
          </a:solidFill>
          <a:ln w="12700">
            <a:solidFill>
              <a:schemeClr val="accent2"/>
            </a:solidFill>
            <a:prstDash val="solid"/>
          </a:ln>
        </p:spPr>
      </p:sp>
      <p:sp>
        <p:nvSpPr>
          <p:cNvPr id="12" name="Dot 98"/>
          <p:cNvSpPr/>
          <p:nvPr/>
        </p:nvSpPr>
        <p:spPr>
          <a:xfrm>
            <a:off x="1322771" y="3950757"/>
            <a:ext cx="118872" cy="118872"/>
          </a:xfrm>
          <a:prstGeom prst="ellipse">
            <a:avLst/>
          </a:prstGeom>
          <a:solidFill>
            <a:schemeClr val="accent2"/>
          </a:solidFill>
          <a:ln w="12700">
            <a:solidFill>
              <a:schemeClr val="accent2"/>
            </a:solidFill>
            <a:prstDash val="solid"/>
          </a:ln>
        </p:spPr>
      </p:sp>
      <p:sp>
        <p:nvSpPr>
          <p:cNvPr id="13" name="Dot 99"/>
          <p:cNvSpPr/>
          <p:nvPr/>
        </p:nvSpPr>
        <p:spPr>
          <a:xfrm>
            <a:off x="1078992" y="3905402"/>
            <a:ext cx="118872" cy="118872"/>
          </a:xfrm>
          <a:prstGeom prst="ellipse">
            <a:avLst/>
          </a:prstGeom>
          <a:solidFill>
            <a:schemeClr val="accent2"/>
          </a:solidFill>
          <a:ln w="12700">
            <a:solidFill>
              <a:schemeClr val="accent2"/>
            </a:solidFill>
            <a:prstDash val="solid"/>
          </a:ln>
        </p:spPr>
      </p:sp>
      <p:sp>
        <p:nvSpPr>
          <p:cNvPr id="14" name="Dot 100"/>
          <p:cNvSpPr/>
          <p:nvPr/>
        </p:nvSpPr>
        <p:spPr>
          <a:xfrm>
            <a:off x="937260" y="3803355"/>
            <a:ext cx="118872" cy="118872"/>
          </a:xfrm>
          <a:prstGeom prst="ellipse">
            <a:avLst/>
          </a:prstGeom>
          <a:solidFill>
            <a:schemeClr val="accent2"/>
          </a:solidFill>
          <a:ln w="12700">
            <a:solidFill>
              <a:schemeClr val="accent2"/>
            </a:solidFill>
            <a:prstDash val="solid"/>
          </a:ln>
        </p:spPr>
      </p:sp>
      <p:sp>
        <p:nvSpPr>
          <p:cNvPr id="15" name="Centroid 101"/>
          <p:cNvSpPr/>
          <p:nvPr/>
        </p:nvSpPr>
        <p:spPr>
          <a:xfrm>
            <a:off x="1196950" y="3711550"/>
            <a:ext cx="166421" cy="166421"/>
          </a:xfrm>
          <a:prstGeom prst="ellipse">
            <a:avLst/>
          </a:prstGeom>
          <a:solidFill>
            <a:schemeClr val="accent1"/>
          </a:solidFill>
          <a:ln w="22225">
            <a:solidFill>
              <a:schemeClr val="accent2"/>
            </a:solidFill>
            <a:prstDash val="solid"/>
          </a:ln>
        </p:spPr>
      </p:sp>
      <p:sp>
        <p:nvSpPr>
          <p:cNvPr id="16" name="Dot 102"/>
          <p:cNvSpPr/>
          <p:nvPr/>
        </p:nvSpPr>
        <p:spPr>
          <a:xfrm>
            <a:off x="1942734" y="3621938"/>
            <a:ext cx="118872" cy="118872"/>
          </a:xfrm>
          <a:prstGeom prst="ellipse">
            <a:avLst/>
          </a:prstGeom>
          <a:solidFill>
            <a:schemeClr val="accent4"/>
          </a:solidFill>
          <a:ln w="12700">
            <a:solidFill>
              <a:schemeClr val="accent4"/>
            </a:solidFill>
            <a:prstDash val="solid"/>
          </a:ln>
        </p:spPr>
      </p:sp>
      <p:sp>
        <p:nvSpPr>
          <p:cNvPr id="17" name="Dot 103"/>
          <p:cNvSpPr/>
          <p:nvPr/>
        </p:nvSpPr>
        <p:spPr>
          <a:xfrm>
            <a:off x="2112813" y="3480206"/>
            <a:ext cx="118872" cy="118872"/>
          </a:xfrm>
          <a:prstGeom prst="ellipse">
            <a:avLst/>
          </a:prstGeom>
          <a:solidFill>
            <a:schemeClr val="accent4"/>
          </a:solidFill>
          <a:ln w="12700">
            <a:solidFill>
              <a:schemeClr val="accent4"/>
            </a:solidFill>
            <a:prstDash val="solid"/>
          </a:ln>
        </p:spPr>
      </p:sp>
      <p:sp>
        <p:nvSpPr>
          <p:cNvPr id="18" name="Dot 104"/>
          <p:cNvSpPr/>
          <p:nvPr/>
        </p:nvSpPr>
        <p:spPr>
          <a:xfrm>
            <a:off x="2350922" y="3548238"/>
            <a:ext cx="118872" cy="118872"/>
          </a:xfrm>
          <a:prstGeom prst="ellipse">
            <a:avLst/>
          </a:prstGeom>
          <a:solidFill>
            <a:schemeClr val="accent4"/>
          </a:solidFill>
          <a:ln w="12700">
            <a:solidFill>
              <a:schemeClr val="accent4"/>
            </a:solidFill>
            <a:prstDash val="solid"/>
          </a:ln>
        </p:spPr>
      </p:sp>
      <p:sp>
        <p:nvSpPr>
          <p:cNvPr id="19" name="Dot 105"/>
          <p:cNvSpPr/>
          <p:nvPr/>
        </p:nvSpPr>
        <p:spPr>
          <a:xfrm>
            <a:off x="2441631" y="3763670"/>
            <a:ext cx="118872" cy="118872"/>
          </a:xfrm>
          <a:prstGeom prst="ellipse">
            <a:avLst/>
          </a:prstGeom>
          <a:solidFill>
            <a:schemeClr val="accent4"/>
          </a:solidFill>
          <a:ln w="12700">
            <a:solidFill>
              <a:schemeClr val="accent4"/>
            </a:solidFill>
            <a:prstDash val="solid"/>
          </a:ln>
        </p:spPr>
      </p:sp>
      <p:sp>
        <p:nvSpPr>
          <p:cNvPr id="20" name="Dot 106"/>
          <p:cNvSpPr/>
          <p:nvPr/>
        </p:nvSpPr>
        <p:spPr>
          <a:xfrm>
            <a:off x="2282891" y="3950757"/>
            <a:ext cx="118872" cy="118872"/>
          </a:xfrm>
          <a:prstGeom prst="ellipse">
            <a:avLst/>
          </a:prstGeom>
          <a:solidFill>
            <a:schemeClr val="accent4"/>
          </a:solidFill>
          <a:ln w="12700">
            <a:solidFill>
              <a:schemeClr val="accent4"/>
            </a:solidFill>
            <a:prstDash val="solid"/>
          </a:ln>
        </p:spPr>
      </p:sp>
      <p:sp>
        <p:nvSpPr>
          <p:cNvPr id="21" name="Dot 107"/>
          <p:cNvSpPr/>
          <p:nvPr/>
        </p:nvSpPr>
        <p:spPr>
          <a:xfrm>
            <a:off x="2039112" y="3905402"/>
            <a:ext cx="118872" cy="118872"/>
          </a:xfrm>
          <a:prstGeom prst="ellipse">
            <a:avLst/>
          </a:prstGeom>
          <a:solidFill>
            <a:schemeClr val="accent4"/>
          </a:solidFill>
          <a:ln w="12700">
            <a:solidFill>
              <a:schemeClr val="accent4"/>
            </a:solidFill>
            <a:prstDash val="solid"/>
          </a:ln>
        </p:spPr>
      </p:sp>
      <p:sp>
        <p:nvSpPr>
          <p:cNvPr id="22" name="Dot 108"/>
          <p:cNvSpPr/>
          <p:nvPr/>
        </p:nvSpPr>
        <p:spPr>
          <a:xfrm>
            <a:off x="1897380" y="3803355"/>
            <a:ext cx="118872" cy="118872"/>
          </a:xfrm>
          <a:prstGeom prst="ellipse">
            <a:avLst/>
          </a:prstGeom>
          <a:solidFill>
            <a:schemeClr val="accent4"/>
          </a:solidFill>
          <a:ln w="12700">
            <a:solidFill>
              <a:schemeClr val="accent4"/>
            </a:solidFill>
            <a:prstDash val="solid"/>
          </a:ln>
        </p:spPr>
      </p:sp>
      <p:sp>
        <p:nvSpPr>
          <p:cNvPr id="23" name="Centroid 109"/>
          <p:cNvSpPr/>
          <p:nvPr/>
        </p:nvSpPr>
        <p:spPr>
          <a:xfrm>
            <a:off x="2157070" y="3711550"/>
            <a:ext cx="166421" cy="166421"/>
          </a:xfrm>
          <a:prstGeom prst="ellipse">
            <a:avLst/>
          </a:prstGeom>
          <a:solidFill>
            <a:schemeClr val="accent1"/>
          </a:solidFill>
          <a:ln w="22225">
            <a:solidFill>
              <a:schemeClr val="accent4"/>
            </a:solidFill>
            <a:prstDash val="solid"/>
          </a:ln>
        </p:spPr>
      </p:sp>
      <p:sp>
        <p:nvSpPr>
          <p:cNvPr id="24" name="Dot 110"/>
          <p:cNvSpPr/>
          <p:nvPr/>
        </p:nvSpPr>
        <p:spPr>
          <a:xfrm>
            <a:off x="2902854" y="3621938"/>
            <a:ext cx="118872" cy="118872"/>
          </a:xfrm>
          <a:prstGeom prst="ellipse">
            <a:avLst/>
          </a:prstGeom>
          <a:solidFill>
            <a:schemeClr val="accent3"/>
          </a:solidFill>
          <a:ln w="12700">
            <a:solidFill>
              <a:schemeClr val="accent3"/>
            </a:solidFill>
            <a:prstDash val="solid"/>
          </a:ln>
        </p:spPr>
      </p:sp>
      <p:sp>
        <p:nvSpPr>
          <p:cNvPr id="25" name="Dot 111"/>
          <p:cNvSpPr/>
          <p:nvPr/>
        </p:nvSpPr>
        <p:spPr>
          <a:xfrm>
            <a:off x="3072933" y="3480206"/>
            <a:ext cx="118872" cy="118872"/>
          </a:xfrm>
          <a:prstGeom prst="ellipse">
            <a:avLst/>
          </a:prstGeom>
          <a:solidFill>
            <a:schemeClr val="accent3"/>
          </a:solidFill>
          <a:ln w="12700">
            <a:solidFill>
              <a:schemeClr val="accent3"/>
            </a:solidFill>
            <a:prstDash val="solid"/>
          </a:ln>
        </p:spPr>
      </p:sp>
      <p:sp>
        <p:nvSpPr>
          <p:cNvPr id="26" name="Dot 112"/>
          <p:cNvSpPr/>
          <p:nvPr/>
        </p:nvSpPr>
        <p:spPr>
          <a:xfrm>
            <a:off x="3311042" y="3548238"/>
            <a:ext cx="118872" cy="118872"/>
          </a:xfrm>
          <a:prstGeom prst="ellipse">
            <a:avLst/>
          </a:prstGeom>
          <a:solidFill>
            <a:schemeClr val="accent3"/>
          </a:solidFill>
          <a:ln w="12700">
            <a:solidFill>
              <a:schemeClr val="accent3"/>
            </a:solidFill>
            <a:prstDash val="solid"/>
          </a:ln>
        </p:spPr>
      </p:sp>
      <p:sp>
        <p:nvSpPr>
          <p:cNvPr id="27" name="Dot 113"/>
          <p:cNvSpPr/>
          <p:nvPr/>
        </p:nvSpPr>
        <p:spPr>
          <a:xfrm>
            <a:off x="3401751" y="3763670"/>
            <a:ext cx="118872" cy="118872"/>
          </a:xfrm>
          <a:prstGeom prst="ellipse">
            <a:avLst/>
          </a:prstGeom>
          <a:solidFill>
            <a:schemeClr val="accent3"/>
          </a:solidFill>
          <a:ln w="12700">
            <a:solidFill>
              <a:schemeClr val="accent3"/>
            </a:solidFill>
            <a:prstDash val="solid"/>
          </a:ln>
        </p:spPr>
      </p:sp>
      <p:sp>
        <p:nvSpPr>
          <p:cNvPr id="28" name="Dot 114"/>
          <p:cNvSpPr/>
          <p:nvPr/>
        </p:nvSpPr>
        <p:spPr>
          <a:xfrm>
            <a:off x="3243011" y="3950757"/>
            <a:ext cx="118872" cy="118872"/>
          </a:xfrm>
          <a:prstGeom prst="ellipse">
            <a:avLst/>
          </a:prstGeom>
          <a:solidFill>
            <a:schemeClr val="accent3"/>
          </a:solidFill>
          <a:ln w="12700">
            <a:solidFill>
              <a:schemeClr val="accent3"/>
            </a:solidFill>
            <a:prstDash val="solid"/>
          </a:ln>
        </p:spPr>
      </p:sp>
      <p:sp>
        <p:nvSpPr>
          <p:cNvPr id="29" name="Dot 115"/>
          <p:cNvSpPr/>
          <p:nvPr/>
        </p:nvSpPr>
        <p:spPr>
          <a:xfrm>
            <a:off x="2999232" y="3905402"/>
            <a:ext cx="118872" cy="118872"/>
          </a:xfrm>
          <a:prstGeom prst="ellipse">
            <a:avLst/>
          </a:prstGeom>
          <a:solidFill>
            <a:schemeClr val="accent3"/>
          </a:solidFill>
          <a:ln w="12700">
            <a:solidFill>
              <a:schemeClr val="accent3"/>
            </a:solidFill>
            <a:prstDash val="solid"/>
          </a:ln>
        </p:spPr>
      </p:sp>
      <p:sp>
        <p:nvSpPr>
          <p:cNvPr id="30" name="Dot 116"/>
          <p:cNvSpPr/>
          <p:nvPr/>
        </p:nvSpPr>
        <p:spPr>
          <a:xfrm>
            <a:off x="2857500" y="3803355"/>
            <a:ext cx="118872" cy="118872"/>
          </a:xfrm>
          <a:prstGeom prst="ellipse">
            <a:avLst/>
          </a:prstGeom>
          <a:solidFill>
            <a:schemeClr val="accent3"/>
          </a:solidFill>
          <a:ln w="12700">
            <a:solidFill>
              <a:schemeClr val="accent3"/>
            </a:solidFill>
            <a:prstDash val="solid"/>
          </a:ln>
        </p:spPr>
      </p:sp>
      <p:sp>
        <p:nvSpPr>
          <p:cNvPr id="31" name="Centroid 117"/>
          <p:cNvSpPr/>
          <p:nvPr/>
        </p:nvSpPr>
        <p:spPr>
          <a:xfrm>
            <a:off x="3117190" y="3711550"/>
            <a:ext cx="166421" cy="166421"/>
          </a:xfrm>
          <a:prstGeom prst="ellipse">
            <a:avLst/>
          </a:prstGeom>
          <a:solidFill>
            <a:schemeClr val="accent1"/>
          </a:solidFill>
          <a:ln w="22225">
            <a:solidFill>
              <a:schemeClr val="accent3"/>
            </a:solidFill>
            <a:prstDash val="solid"/>
          </a:ln>
        </p:spPr>
      </p:sp>
      <p:sp>
        <p:nvSpPr>
          <p:cNvPr id="32" name="Text 118"/>
          <p:cNvSpPr txBox="1"/>
          <p:nvPr/>
        </p:nvSpPr>
        <p:spPr>
          <a:xfrm>
            <a:off x="4297680" y="1188720"/>
            <a:ext cx="4389120" cy="320040"/>
          </a:xfrm>
          <a:prstGeom prst="rect">
            <a:avLst/>
          </a:prstGeom>
          <a:noFill/>
          <a:ln/>
        </p:spPr>
        <p:txBody>
          <a:bodyPr wrap="square" lIns="0" tIns="0" rIns="0" bIns="0" rtlCol="0" anchor="t"/>
          <a:lstStyle/>
          <a:p>
            <a:pPr algn="l" indent="0" marL="0">
              <a:buNone/>
            </a:pPr>
            <a:r>
              <a:rPr lang="en-US" sz="1700" b="1" dirty="0">
                <a:solidFill>
                  <a:schemeClr val="tx2"/>
                </a:solidFill>
              </a:rPr>
              <a:t>Why it suits our project</a:t>
            </a:r>
            <a:endParaRPr lang="en-US" sz="1700" dirty="0"/>
          </a:p>
        </p:txBody>
      </p:sp>
      <p:sp>
        <p:nvSpPr>
          <p:cNvPr id="33" name="Badge 119"/>
          <p:cNvSpPr/>
          <p:nvPr/>
        </p:nvSpPr>
        <p:spPr>
          <a:xfrm>
            <a:off x="4297680" y="17007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4" name="Text 120"/>
          <p:cNvSpPr txBox="1"/>
          <p:nvPr/>
        </p:nvSpPr>
        <p:spPr>
          <a:xfrm>
            <a:off x="4800600" y="16642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Our task says "partition". K-Means is a partitioning method.</a:t>
            </a:r>
            <a:endParaRPr lang="en-US" sz="1400" dirty="0"/>
          </a:p>
        </p:txBody>
      </p:sp>
      <p:sp>
        <p:nvSpPr>
          <p:cNvPr id="35" name="Badge 121"/>
          <p:cNvSpPr/>
          <p:nvPr/>
        </p:nvSpPr>
        <p:spPr>
          <a:xfrm>
            <a:off x="4297680" y="23865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6" name="Text 122"/>
          <p:cNvSpPr txBox="1"/>
          <p:nvPr/>
        </p:nvSpPr>
        <p:spPr>
          <a:xfrm>
            <a:off x="4800600" y="23500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Every SKU gets exactly one group, just like one storage zone.</a:t>
            </a:r>
            <a:endParaRPr lang="en-US" sz="1400" dirty="0"/>
          </a:p>
        </p:txBody>
      </p:sp>
      <p:sp>
        <p:nvSpPr>
          <p:cNvPr id="37" name="Badge 123"/>
          <p:cNvSpPr/>
          <p:nvPr/>
        </p:nvSpPr>
        <p:spPr>
          <a:xfrm>
            <a:off x="429768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8" name="Text 124"/>
          <p:cNvSpPr txBox="1"/>
          <p:nvPr/>
        </p:nvSpPr>
        <p:spPr>
          <a:xfrm>
            <a:off x="4800600" y="30358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All four inputs can be written as numbers, so distance works.</a:t>
            </a:r>
            <a:endParaRPr lang="en-US" sz="1400" dirty="0"/>
          </a:p>
        </p:txBody>
      </p:sp>
      <p:sp>
        <p:nvSpPr>
          <p:cNvPr id="39" name="Badge 125"/>
          <p:cNvSpPr/>
          <p:nvPr/>
        </p:nvSpPr>
        <p:spPr>
          <a:xfrm>
            <a:off x="4297680" y="37581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0" name="Text 126"/>
          <p:cNvSpPr txBox="1"/>
          <p:nvPr/>
        </p:nvSpPr>
        <p:spPr>
          <a:xfrm>
            <a:off x="4800600" y="37216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Simple, fast for thousands of SKUs, easy to re-run each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Why not the other solutions</a:t>
            </a:r>
            <a:endParaRPr lang="en-US" sz="36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377440"/>
                <a:gridCol w="3657600"/>
              </a:tblGrid>
              <a:tr h="411480">
                <a:tc>
                  <a:txBody>
                    <a:bodyPr/>
                    <a:lstStyle/>
                    <a:p>
                      <a:pPr indent="0" marL="0">
                        <a:buNone/>
                      </a:pPr>
                      <a:r>
                        <a:rPr lang="en-US" sz="1400" b="1" dirty="0">
                          <a:solidFill>
                            <a:schemeClr val="bg1"/>
                          </a:solidFill>
                        </a:rPr>
                        <a:t>Method</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gives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Fit for our problem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58368">
                <a:tc>
                  <a:txBody>
                    <a:bodyPr/>
                    <a:lstStyle/>
                    <a:p>
                      <a:pPr indent="0" marL="0">
                        <a:buNone/>
                      </a:pPr>
                      <a:r>
                        <a:rPr lang="en-US" sz="1400" dirty="0">
                          <a:solidFill>
                            <a:schemeClr val="tx1"/>
                          </a:solidFill>
                        </a:rPr>
                        <a:t>Mixtures of Gaussians (EM)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probability for every group (soft)</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product cannot sit 60% in one zone and 40% in another.</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Hierarchical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tree of clusters (dendrogram)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Compares every pair of items, so it gets slow for thousands of SKUs.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PCA / Factor analysis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Fewer features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Does not create groups. It can only help before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b="1" dirty="0">
                          <a:solidFill>
                            <a:schemeClr val="tx2"/>
                          </a:solidFill>
                        </a:rPr>
                        <a:t>K-Means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k clear groups, one centre each</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Fits our need: one clear group for every SKU.</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K-Means works</a:t>
            </a:r>
            <a:endParaRPr lang="en-US" sz="3600" dirty="0"/>
          </a:p>
        </p:txBody>
      </p:sp>
      <p:sp>
        <p:nvSpPr>
          <p:cNvPr id="4" name="Arrow 127"/>
          <p:cNvSpPr/>
          <p:nvPr/>
        </p:nvSpPr>
        <p:spPr>
          <a:xfrm>
            <a:off x="1024128" y="1463040"/>
            <a:ext cx="1097280" cy="0"/>
          </a:xfrm>
          <a:prstGeom prst="line">
            <a:avLst/>
          </a:prstGeom>
          <a:noFill/>
          <a:ln w="19050">
            <a:solidFill>
              <a:schemeClr val="accent5"/>
            </a:solidFill>
            <a:prstDash val="solid"/>
            <a:tailEnd type="triangle"/>
          </a:ln>
        </p:spPr>
      </p:sp>
      <p:sp>
        <p:nvSpPr>
          <p:cNvPr id="5" name="Badge 128"/>
          <p:cNvSpPr/>
          <p:nvPr/>
        </p:nvSpPr>
        <p:spPr>
          <a:xfrm>
            <a:off x="457200"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29"/>
          <p:cNvSpPr txBox="1"/>
          <p:nvPr/>
        </p:nvSpPr>
        <p:spPr>
          <a:xfrm>
            <a:off x="457200"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Pick k centres</a:t>
            </a:r>
            <a:endParaRPr lang="en-US" sz="1500" dirty="0"/>
          </a:p>
        </p:txBody>
      </p:sp>
      <p:sp>
        <p:nvSpPr>
          <p:cNvPr id="7" name="Text 130"/>
          <p:cNvSpPr txBox="1"/>
          <p:nvPr/>
        </p:nvSpPr>
        <p:spPr>
          <a:xfrm>
            <a:off x="457200"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Choose k centroids at random to start.</a:t>
            </a:r>
            <a:endParaRPr lang="en-US" sz="1400" dirty="0"/>
          </a:p>
        </p:txBody>
      </p:sp>
      <p:sp>
        <p:nvSpPr>
          <p:cNvPr id="8" name="Arrow 131"/>
          <p:cNvSpPr/>
          <p:nvPr/>
        </p:nvSpPr>
        <p:spPr>
          <a:xfrm>
            <a:off x="2706624" y="1463040"/>
            <a:ext cx="1097280" cy="0"/>
          </a:xfrm>
          <a:prstGeom prst="line">
            <a:avLst/>
          </a:prstGeom>
          <a:noFill/>
          <a:ln w="19050">
            <a:solidFill>
              <a:schemeClr val="accent5"/>
            </a:solidFill>
            <a:prstDash val="solid"/>
            <a:tailEnd type="triangle"/>
          </a:ln>
        </p:spPr>
      </p:sp>
      <p:sp>
        <p:nvSpPr>
          <p:cNvPr id="9" name="Badge 132"/>
          <p:cNvSpPr/>
          <p:nvPr/>
        </p:nvSpPr>
        <p:spPr>
          <a:xfrm>
            <a:off x="2139696"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33"/>
          <p:cNvSpPr txBox="1"/>
          <p:nvPr/>
        </p:nvSpPr>
        <p:spPr>
          <a:xfrm>
            <a:off x="2139696"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Measure distance</a:t>
            </a:r>
            <a:endParaRPr lang="en-US" sz="1500" dirty="0"/>
          </a:p>
        </p:txBody>
      </p:sp>
      <p:sp>
        <p:nvSpPr>
          <p:cNvPr id="11" name="Text 134"/>
          <p:cNvSpPr txBox="1"/>
          <p:nvPr/>
        </p:nvSpPr>
        <p:spPr>
          <a:xfrm>
            <a:off x="2139696"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Find the distance from each SKU to every centroid.</a:t>
            </a:r>
            <a:endParaRPr lang="en-US" sz="1400" dirty="0"/>
          </a:p>
        </p:txBody>
      </p:sp>
      <p:sp>
        <p:nvSpPr>
          <p:cNvPr id="12" name="Arrow 135"/>
          <p:cNvSpPr/>
          <p:nvPr/>
        </p:nvSpPr>
        <p:spPr>
          <a:xfrm>
            <a:off x="4389120" y="1463040"/>
            <a:ext cx="1097280" cy="0"/>
          </a:xfrm>
          <a:prstGeom prst="line">
            <a:avLst/>
          </a:prstGeom>
          <a:noFill/>
          <a:ln w="19050">
            <a:solidFill>
              <a:schemeClr val="accent5"/>
            </a:solidFill>
            <a:prstDash val="solid"/>
            <a:tailEnd type="triangle"/>
          </a:ln>
        </p:spPr>
      </p:sp>
      <p:sp>
        <p:nvSpPr>
          <p:cNvPr id="13" name="Badge 136"/>
          <p:cNvSpPr/>
          <p:nvPr/>
        </p:nvSpPr>
        <p:spPr>
          <a:xfrm>
            <a:off x="3822192"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37"/>
          <p:cNvSpPr txBox="1"/>
          <p:nvPr/>
        </p:nvSpPr>
        <p:spPr>
          <a:xfrm>
            <a:off x="3822192"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Assign</a:t>
            </a:r>
            <a:endParaRPr lang="en-US" sz="1500" dirty="0"/>
          </a:p>
        </p:txBody>
      </p:sp>
      <p:sp>
        <p:nvSpPr>
          <p:cNvPr id="15" name="Text 138"/>
          <p:cNvSpPr txBox="1"/>
          <p:nvPr/>
        </p:nvSpPr>
        <p:spPr>
          <a:xfrm>
            <a:off x="3822192"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Put each SKU in the cluster with the nearest centroid.</a:t>
            </a:r>
            <a:endParaRPr lang="en-US" sz="1400" dirty="0"/>
          </a:p>
        </p:txBody>
      </p:sp>
      <p:sp>
        <p:nvSpPr>
          <p:cNvPr id="16" name="Arrow 139"/>
          <p:cNvSpPr/>
          <p:nvPr/>
        </p:nvSpPr>
        <p:spPr>
          <a:xfrm>
            <a:off x="6071616" y="1463040"/>
            <a:ext cx="1097280" cy="0"/>
          </a:xfrm>
          <a:prstGeom prst="line">
            <a:avLst/>
          </a:prstGeom>
          <a:noFill/>
          <a:ln w="19050">
            <a:solidFill>
              <a:schemeClr val="accent5"/>
            </a:solidFill>
            <a:prstDash val="solid"/>
            <a:tailEnd type="triangle"/>
          </a:ln>
        </p:spPr>
      </p:sp>
      <p:sp>
        <p:nvSpPr>
          <p:cNvPr id="17" name="Badge 140"/>
          <p:cNvSpPr/>
          <p:nvPr/>
        </p:nvSpPr>
        <p:spPr>
          <a:xfrm>
            <a:off x="5504688"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41"/>
          <p:cNvSpPr txBox="1"/>
          <p:nvPr/>
        </p:nvSpPr>
        <p:spPr>
          <a:xfrm>
            <a:off x="5504688"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Update centres</a:t>
            </a:r>
            <a:endParaRPr lang="en-US" sz="1500" dirty="0"/>
          </a:p>
        </p:txBody>
      </p:sp>
      <p:sp>
        <p:nvSpPr>
          <p:cNvPr id="19" name="Text 142"/>
          <p:cNvSpPr txBox="1"/>
          <p:nvPr/>
        </p:nvSpPr>
        <p:spPr>
          <a:xfrm>
            <a:off x="5504688"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Move each centroid to the mean of its SKUs.</a:t>
            </a:r>
            <a:endParaRPr lang="en-US" sz="1400" dirty="0"/>
          </a:p>
        </p:txBody>
      </p:sp>
      <p:sp>
        <p:nvSpPr>
          <p:cNvPr id="20" name="Badge 143"/>
          <p:cNvSpPr/>
          <p:nvPr/>
        </p:nvSpPr>
        <p:spPr>
          <a:xfrm>
            <a:off x="7187184" y="121615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44"/>
          <p:cNvSpPr txBox="1"/>
          <p:nvPr/>
        </p:nvSpPr>
        <p:spPr>
          <a:xfrm>
            <a:off x="7187184"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Repeat</a:t>
            </a:r>
            <a:endParaRPr lang="en-US" sz="1500" dirty="0"/>
          </a:p>
        </p:txBody>
      </p:sp>
      <p:sp>
        <p:nvSpPr>
          <p:cNvPr id="22" name="Text 145"/>
          <p:cNvSpPr txBox="1"/>
          <p:nvPr/>
        </p:nvSpPr>
        <p:spPr>
          <a:xfrm>
            <a:off x="7187184"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Do steps 2 to 4 again until no SKU changes its cluster.</a:t>
            </a:r>
            <a:endParaRPr lang="en-US" sz="1400" dirty="0"/>
          </a:p>
        </p:txBody>
      </p:sp>
      <p:sp>
        <p:nvSpPr>
          <p:cNvPr id="23" name="Card 146"/>
          <p:cNvSpPr/>
          <p:nvPr/>
        </p:nvSpPr>
        <p:spPr>
          <a:xfrm>
            <a:off x="457200" y="3794760"/>
            <a:ext cx="8229600" cy="566928"/>
          </a:xfrm>
          <a:prstGeom prst="roundRect">
            <a:avLst>
              <a:gd name="adj" fmla="val 12903"/>
            </a:avLst>
          </a:prstGeom>
          <a:solidFill>
            <a:schemeClr val="bg2"/>
          </a:solidFill>
          <a:ln w="12700">
            <a:solidFill>
              <a:schemeClr val="bg2"/>
            </a:solidFill>
            <a:prstDash val="solid"/>
          </a:ln>
        </p:spPr>
      </p:sp>
      <p:sp>
        <p:nvSpPr>
          <p:cNvPr id="24" name="Text 147"/>
          <p:cNvSpPr txBox="1"/>
          <p:nvPr/>
        </p:nvSpPr>
        <p:spPr>
          <a:xfrm>
            <a:off x="640080" y="3794760"/>
            <a:ext cx="7863840" cy="566928"/>
          </a:xfrm>
          <a:prstGeom prst="rect">
            <a:avLst/>
          </a:prstGeom>
          <a:noFill/>
          <a:ln/>
        </p:spPr>
        <p:txBody>
          <a:bodyPr wrap="square" lIns="0" tIns="0" rIns="0" bIns="0" rtlCol="0" anchor="ctr"/>
          <a:lstStyle/>
          <a:p>
            <a:pPr algn="l" indent="0" marL="0">
              <a:buNone/>
            </a:pPr>
            <a:r>
              <a:rPr lang="en-US" sz="1400" b="1" dirty="0">
                <a:solidFill>
                  <a:schemeClr val="tx2"/>
                </a:solidFill>
              </a:rPr>
              <a:t>Distance used: </a:t>
            </a:r>
            <a:pPr algn="l" indent="0" marL="0">
              <a:buNone/>
            </a:pPr>
            <a:r>
              <a:rPr lang="en-US" sz="1400" dirty="0">
                <a:solidFill>
                  <a:schemeClr val="tx1"/>
                </a:solidFill>
              </a:rPr>
              <a:t>Euclidean distance, the straight-line distance between two points.</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1: Prepare the SKU data</a:t>
            </a:r>
            <a:endParaRPr lang="en-US" sz="3600" dirty="0"/>
          </a:p>
        </p:txBody>
      </p:sp>
      <p:sp>
        <p:nvSpPr>
          <p:cNvPr id="4" name="Text 148"/>
          <p:cNvSpPr txBox="1"/>
          <p:nvPr/>
        </p:nvSpPr>
        <p:spPr>
          <a:xfrm>
            <a:off x="457200" y="111556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Real data: Olist public e-commerce dataset, 99,441 orders (2016 to 2018)</a:t>
            </a:r>
            <a:endParaRPr lang="en-US" sz="1100" dirty="0"/>
          </a:p>
        </p:txBody>
      </p:sp>
      <p:graphicFrame>
        <p:nvGraphicFramePr>
          <p:cNvPr id="9" name="Real SKU table"/>
          <p:cNvGraphicFramePr>
            <a:graphicFrameLocks noGrp="1"/>
          </p:cNvGraphicFramePr>
          <p:nvPr>
            <p:extLst>
              <p:ext uri="{D42A27DB-BD31-4B8C-83A1-F6EECF244321}">
                <p14:modId xmlns:p14="http://schemas.microsoft.com/office/powerpoint/2010/main" val="1579011935"/>
              </p:ext>
            </p:extLst>
          </p:nvPr>
        </p:nvGraphicFramePr>
        <p:xfrm>
          <a:off x="457200" y="1417320"/>
          <a:ext cx="4846320" cy="914400"/>
        </p:xfrm>
        <a:graphic>
          <a:graphicData uri="http://schemas.openxmlformats.org/drawingml/2006/table">
            <a:tbl>
              <a:tblPr/>
              <a:tblGrid>
                <a:gridCol w="1097280"/>
                <a:gridCol w="822960"/>
                <a:gridCol w="1005840"/>
                <a:gridCol w="960120"/>
                <a:gridCol w="960120"/>
              </a:tblGrid>
              <a:tr h="566928">
                <a:tc>
                  <a:txBody>
                    <a:bodyPr/>
                    <a:lstStyle/>
                    <a:p>
                      <a:pPr algn="ctr" indent="0" marL="0">
                        <a:buNone/>
                      </a:pPr>
                      <a:r>
                        <a:rPr lang="en-US" sz="1400" b="1" dirty="0">
                          <a:solidFill>
                            <a:schemeClr val="bg1"/>
                          </a:solidFill>
                        </a:rPr>
                        <a:t>SKU</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Orders</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Season index</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Volume (L)</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Weight (kg)</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aca2eb7d</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527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2.6</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42a2c92a</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183</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33.0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54d9ac71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114</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1.9</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dbb67791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6" name="Card 149"/>
          <p:cNvSpPr/>
          <p:nvPr/>
        </p:nvSpPr>
        <p:spPr>
          <a:xfrm>
            <a:off x="457200" y="3730752"/>
            <a:ext cx="4846320" cy="621792"/>
          </a:xfrm>
          <a:prstGeom prst="roundRect">
            <a:avLst>
              <a:gd name="adj" fmla="val 11765"/>
            </a:avLst>
          </a:prstGeom>
          <a:solidFill>
            <a:schemeClr val="bg2"/>
          </a:solidFill>
          <a:ln w="12700">
            <a:solidFill>
              <a:schemeClr val="bg2"/>
            </a:solidFill>
            <a:prstDash val="solid"/>
          </a:ln>
        </p:spPr>
      </p:sp>
      <p:sp>
        <p:nvSpPr>
          <p:cNvPr id="7" name="Text 150"/>
          <p:cNvSpPr txBox="1"/>
          <p:nvPr/>
        </p:nvSpPr>
        <p:spPr>
          <a:xfrm>
            <a:off x="621792" y="3730752"/>
            <a:ext cx="4526280" cy="621792"/>
          </a:xfrm>
          <a:prstGeom prst="rect">
            <a:avLst/>
          </a:prstGeom>
          <a:noFill/>
          <a:ln/>
        </p:spPr>
        <p:txBody>
          <a:bodyPr wrap="square" lIns="0" tIns="0" rIns="0" bIns="0" rtlCol="0" anchor="ctr"/>
          <a:lstStyle/>
          <a:p>
            <a:pPr algn="l" indent="0" marL="0">
              <a:buNone/>
            </a:pPr>
            <a:r>
              <a:rPr lang="en-US" sz="1400" b="1" dirty="0">
                <a:solidFill>
                  <a:schemeClr val="tx2"/>
                </a:solidFill>
              </a:rPr>
              <a:t>Season index </a:t>
            </a:r>
            <a:pPr algn="l" indent="0" marL="0">
              <a:buNone/>
            </a:pPr>
            <a:r>
              <a:rPr lang="en-US" sz="1400" dirty="0">
                <a:solidFill>
                  <a:schemeClr val="tx1"/>
                </a:solidFill>
              </a:rPr>
              <a:t>= share of orders in the busiest month x 12</a:t>
            </a:r>
            <a:endParaRPr lang="en-US" sz="1400" dirty="0"/>
          </a:p>
        </p:txBody>
      </p:sp>
      <p:sp>
        <p:nvSpPr>
          <p:cNvPr id="8" name="Badge 151"/>
          <p:cNvSpPr/>
          <p:nvPr/>
        </p:nvSpPr>
        <p:spPr>
          <a:xfrm>
            <a:off x="557784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152"/>
          <p:cNvSpPr txBox="1"/>
          <p:nvPr/>
        </p:nvSpPr>
        <p:spPr>
          <a:xfrm>
            <a:off x="6053328" y="1188720"/>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383 real SKUs</a:t>
            </a:r>
            <a:endParaRPr lang="en-US" sz="1500" dirty="0"/>
          </a:p>
        </p:txBody>
      </p:sp>
      <p:sp>
        <p:nvSpPr>
          <p:cNvPr id="10" name="Text 153"/>
          <p:cNvSpPr txBox="1"/>
          <p:nvPr/>
        </p:nvSpPr>
        <p:spPr>
          <a:xfrm>
            <a:off x="6053328" y="1517904"/>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Products ordered at least 30 times, out of 32,951.</a:t>
            </a:r>
            <a:endParaRPr lang="en-US" sz="1400" dirty="0"/>
          </a:p>
        </p:txBody>
      </p:sp>
      <p:sp>
        <p:nvSpPr>
          <p:cNvPr id="11" name="Badge 154"/>
          <p:cNvSpPr/>
          <p:nvPr/>
        </p:nvSpPr>
        <p:spPr>
          <a:xfrm>
            <a:off x="557784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55"/>
          <p:cNvSpPr txBox="1"/>
          <p:nvPr/>
        </p:nvSpPr>
        <p:spPr>
          <a:xfrm>
            <a:off x="6053328" y="2258568"/>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Four numbers each</a:t>
            </a:r>
            <a:endParaRPr lang="en-US" sz="1500" dirty="0"/>
          </a:p>
        </p:txBody>
      </p:sp>
      <p:sp>
        <p:nvSpPr>
          <p:cNvPr id="13" name="Text 156"/>
          <p:cNvSpPr txBox="1"/>
          <p:nvPr/>
        </p:nvSpPr>
        <p:spPr>
          <a:xfrm>
            <a:off x="6053328" y="2587752"/>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Orders, season index, volume, and weight for handling.</a:t>
            </a:r>
            <a:endParaRPr lang="en-US" sz="1400" dirty="0"/>
          </a:p>
        </p:txBody>
      </p:sp>
      <p:sp>
        <p:nvSpPr>
          <p:cNvPr id="14" name="Badge 157"/>
          <p:cNvSpPr/>
          <p:nvPr/>
        </p:nvSpPr>
        <p:spPr>
          <a:xfrm>
            <a:off x="557784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58"/>
          <p:cNvSpPr txBox="1"/>
          <p:nvPr/>
        </p:nvSpPr>
        <p:spPr>
          <a:xfrm>
            <a:off x="6053328" y="3328416"/>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Scale the features</a:t>
            </a:r>
            <a:endParaRPr lang="en-US" sz="1500" dirty="0"/>
          </a:p>
        </p:txBody>
      </p:sp>
      <p:sp>
        <p:nvSpPr>
          <p:cNvPr id="16" name="Text 159"/>
          <p:cNvSpPr txBox="1"/>
          <p:nvPr/>
        </p:nvSpPr>
        <p:spPr>
          <a:xfrm>
            <a:off x="6053328" y="3657600"/>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Log of the uneven columns, then all on the same scale.</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2: Choose the value of k</a:t>
            </a:r>
            <a:endParaRPr lang="en-US" sz="3600" dirty="0"/>
          </a:p>
        </p:txBody>
      </p:sp>
      <p:graphicFrame>
        <p:nvGraphicFramePr>
          <p:cNvPr id="4" name="Elbow chart" descr=""/>
          <p:cNvGraphicFramePr/>
          <p:nvPr/>
        </p:nvGraphicFramePr>
        <p:xfrm>
          <a:off x="457200" y="118872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5" name="Badge 160"/>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61"/>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Try many values</a:t>
            </a:r>
            <a:endParaRPr lang="en-US" sz="1500" dirty="0"/>
          </a:p>
        </p:txBody>
      </p:sp>
      <p:sp>
        <p:nvSpPr>
          <p:cNvPr id="7" name="Text 162"/>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Run K-Means for k = 1 to 8. Note the error each time.</a:t>
            </a:r>
            <a:endParaRPr lang="en-US" sz="1400" dirty="0"/>
          </a:p>
        </p:txBody>
      </p:sp>
      <p:sp>
        <p:nvSpPr>
          <p:cNvPr id="8" name="Badge 163"/>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64"/>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Plot the curve</a:t>
            </a:r>
            <a:endParaRPr lang="en-US" sz="1500" dirty="0"/>
          </a:p>
        </p:txBody>
      </p:sp>
      <p:sp>
        <p:nvSpPr>
          <p:cNvPr id="10" name="Text 165"/>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Error = within-cluster variance. It falls as k grows.</a:t>
            </a:r>
            <a:endParaRPr lang="en-US" sz="1400" dirty="0"/>
          </a:p>
        </p:txBody>
      </p:sp>
      <p:sp>
        <p:nvSpPr>
          <p:cNvPr id="11" name="Badge 166"/>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67"/>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Find the elbow</a:t>
            </a:r>
            <a:endParaRPr lang="en-US" sz="1500" dirty="0"/>
          </a:p>
        </p:txBody>
      </p:sp>
      <p:sp>
        <p:nvSpPr>
          <p:cNvPr id="13" name="Text 168"/>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error falls 22% at k = 4, then only 15% at k = 5.</a:t>
            </a:r>
            <a:endParaRPr lang="en-US" sz="1400" dirty="0"/>
          </a:p>
        </p:txBody>
      </p:sp>
      <p:sp>
        <p:nvSpPr>
          <p:cNvPr id="14" name="Pill 169"/>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On the real data: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3: Clusters become zones</a:t>
            </a:r>
            <a:endParaRPr lang="en-US" sz="3600" dirty="0"/>
          </a:p>
        </p:txBody>
      </p:sp>
      <p:graphicFrame>
        <p:nvGraphicFramePr>
          <p:cNvPr id="11" name="Cluster to zone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508760"/>
                <a:gridCol w="1783080"/>
                <a:gridCol w="1828800"/>
              </a:tblGrid>
              <a:tr h="411480">
                <a:tc>
                  <a:txBody>
                    <a:bodyPr/>
                    <a:lstStyle/>
                    <a:p>
                      <a:pPr indent="0" marL="0">
                        <a:buNone/>
                      </a:pPr>
                      <a:r>
                        <a:rPr lang="en-US" sz="1400" b="1" dirty="0">
                          <a:solidFill>
                            <a:schemeClr val="bg1"/>
                          </a:solidFill>
                        </a:rPr>
                        <a:t>Cluster</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SKUs in it</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to place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21792">
                <a:tc>
                  <a:txBody>
                    <a:bodyPr/>
                    <a:lstStyle/>
                    <a:p>
                      <a:pPr indent="0" marL="0">
                        <a:buNone/>
                      </a:pPr>
                      <a:r>
                        <a:rPr lang="en-US" sz="1400" b="1" dirty="0">
                          <a:solidFill>
                            <a:schemeClr val="tx2"/>
                          </a:solidFill>
                        </a:rPr>
                        <a:t>A  Fast movers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76 SKUs, about 160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Front racks, near packing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B  Bulky / heavy</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84 SKUs, about 47 L and 7.6 kg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Ground level, low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C  Seasonal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25 SKUs, season index 7.4</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Flexible zone, moved forward in season</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D  Regular small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198 SKUs, about 45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Back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5" name="Text 170"/>
          <p:cNvSpPr txBox="1"/>
          <p:nvPr/>
        </p:nvSpPr>
        <p:spPr>
          <a:xfrm>
            <a:off x="457200" y="4187952"/>
            <a:ext cx="5120640" cy="274320"/>
          </a:xfrm>
          <a:prstGeom prst="rect">
            <a:avLst/>
          </a:prstGeom>
          <a:noFill/>
          <a:ln/>
        </p:spPr>
        <p:txBody>
          <a:bodyPr wrap="square" lIns="0" tIns="0" rIns="0" bIns="0" rtlCol="0" anchor="ctr"/>
          <a:lstStyle/>
          <a:p>
            <a:pPr algn="l" indent="0" marL="0">
              <a:buNone/>
            </a:pPr>
            <a:r>
              <a:rPr lang="en-US" sz="1100" dirty="0">
                <a:solidFill>
                  <a:schemeClr val="accent5"/>
                </a:solidFill>
              </a:rPr>
              <a:t>Real clusters: K-Means with k = 4 on 383 Olist SKUs.</a:t>
            </a:r>
            <a:endParaRPr lang="en-US" sz="1100" dirty="0"/>
          </a:p>
        </p:txBody>
      </p:sp>
      <p:sp>
        <p:nvSpPr>
          <p:cNvPr id="6" name="Card 171"/>
          <p:cNvSpPr/>
          <p:nvPr/>
        </p:nvSpPr>
        <p:spPr>
          <a:xfrm>
            <a:off x="5852160" y="1188720"/>
            <a:ext cx="2834640" cy="3246120"/>
          </a:xfrm>
          <a:prstGeom prst="roundRect">
            <a:avLst>
              <a:gd name="adj" fmla="val 2581"/>
            </a:avLst>
          </a:prstGeom>
          <a:solidFill>
            <a:schemeClr val="bg2"/>
          </a:solidFill>
          <a:ln w="12700">
            <a:solidFill>
              <a:schemeClr val="bg2"/>
            </a:solidFill>
            <a:prstDash val="solid"/>
          </a:ln>
        </p:spPr>
      </p:sp>
      <p:sp>
        <p:nvSpPr>
          <p:cNvPr id="7" name="Text 172"/>
          <p:cNvSpPr txBox="1"/>
          <p:nvPr/>
        </p:nvSpPr>
        <p:spPr>
          <a:xfrm>
            <a:off x="5989320" y="1261872"/>
            <a:ext cx="2560320" cy="256032"/>
          </a:xfrm>
          <a:prstGeom prst="rect">
            <a:avLst/>
          </a:prstGeom>
          <a:noFill/>
          <a:ln/>
        </p:spPr>
        <p:txBody>
          <a:bodyPr wrap="square" lIns="0" tIns="0" rIns="0" bIns="0" rtlCol="0" anchor="ctr"/>
          <a:lstStyle/>
          <a:p>
            <a:pPr algn="l" indent="0" marL="0">
              <a:buNone/>
            </a:pPr>
            <a:r>
              <a:rPr lang="en-US" sz="1100" b="1" dirty="0">
                <a:solidFill>
                  <a:schemeClr val="tx2"/>
                </a:solidFill>
              </a:rPr>
              <a:t>Floor plan</a:t>
            </a:r>
            <a:endParaRPr lang="en-US" sz="1100" dirty="0"/>
          </a:p>
        </p:txBody>
      </p:sp>
      <p:sp>
        <p:nvSpPr>
          <p:cNvPr id="8" name="Zone 173"/>
          <p:cNvSpPr/>
          <p:nvPr/>
        </p:nvSpPr>
        <p:spPr>
          <a:xfrm>
            <a:off x="5989320" y="1572768"/>
            <a:ext cx="1188720" cy="960120"/>
          </a:xfrm>
          <a:prstGeom prst="roundRect">
            <a:avLst>
              <a:gd name="adj" fmla="val 5714"/>
            </a:avLst>
          </a:prstGeom>
          <a:solidFill>
            <a:schemeClr val="accent4"/>
          </a:solidFill>
          <a:ln>
            <a:solidFill>
              <a:schemeClr val="accent4"/>
            </a:solidFill>
          </a:ln>
        </p:spPr>
        <p:txBody>
          <a:bodyPr wrap="square" lIns="508" tIns="508" rIns="508" bIns="508" rtlCol="0" anchor="ctr"/>
          <a:lstStyle/>
          <a:p>
            <a:pPr algn="ctr" indent="0" marL="0">
              <a:buNone/>
            </a:pPr>
            <a:r>
              <a:rPr lang="en-US" sz="2200" b="1" dirty="0">
                <a:solidFill>
                  <a:schemeClr val="tx1"/>
                </a:solidFill>
              </a:rPr>
              <a:t>C</a:t>
            </a:r>
            <a:endParaRPr lang="en-US" sz="2200" dirty="0"/>
          </a:p>
          <a:p>
            <a:pPr algn="ctr" indent="0" marL="0">
              <a:buNone/>
            </a:pPr>
            <a:r>
              <a:rPr lang="en-US" sz="1200" b="1" dirty="0">
                <a:solidFill>
                  <a:schemeClr val="tx1"/>
                </a:solidFill>
              </a:rPr>
              <a:t>Seasonal</a:t>
            </a:r>
            <a:endParaRPr lang="en-US" sz="2200" dirty="0"/>
          </a:p>
        </p:txBody>
      </p:sp>
      <p:sp>
        <p:nvSpPr>
          <p:cNvPr id="9" name="Zone 174"/>
          <p:cNvSpPr/>
          <p:nvPr/>
        </p:nvSpPr>
        <p:spPr>
          <a:xfrm>
            <a:off x="7360920" y="1572768"/>
            <a:ext cx="1188720" cy="960120"/>
          </a:xfrm>
          <a:prstGeom prst="roundRect">
            <a:avLst>
              <a:gd name="adj" fmla="val 5714"/>
            </a:avLst>
          </a:prstGeom>
          <a:solidFill>
            <a:schemeClr val="accent5"/>
          </a:solidFill>
          <a:ln>
            <a:solidFill>
              <a:schemeClr val="accent5"/>
            </a:solidFill>
          </a:ln>
        </p:spPr>
        <p:txBody>
          <a:bodyPr wrap="square" lIns="508" tIns="508" rIns="508" bIns="508" rtlCol="0" anchor="ctr"/>
          <a:lstStyle/>
          <a:p>
            <a:pPr algn="ctr" indent="0" marL="0">
              <a:buNone/>
            </a:pPr>
            <a:r>
              <a:rPr lang="en-US" sz="2200" b="1" dirty="0">
                <a:solidFill>
                  <a:schemeClr val="bg1"/>
                </a:solidFill>
              </a:rPr>
              <a:t>D</a:t>
            </a:r>
            <a:endParaRPr lang="en-US" sz="2200" dirty="0"/>
          </a:p>
          <a:p>
            <a:pPr algn="ctr" indent="0" marL="0">
              <a:buNone/>
            </a:pPr>
            <a:r>
              <a:rPr lang="en-US" sz="1200" b="1" dirty="0">
                <a:solidFill>
                  <a:schemeClr val="bg1"/>
                </a:solidFill>
              </a:rPr>
              <a:t>Regular small</a:t>
            </a:r>
            <a:endParaRPr lang="en-US" sz="2200" dirty="0"/>
          </a:p>
        </p:txBody>
      </p:sp>
      <p:sp>
        <p:nvSpPr>
          <p:cNvPr id="10" name="Zone 175"/>
          <p:cNvSpPr/>
          <p:nvPr/>
        </p:nvSpPr>
        <p:spPr>
          <a:xfrm>
            <a:off x="5989320" y="2670048"/>
            <a:ext cx="1188720" cy="960120"/>
          </a:xfrm>
          <a:prstGeom prst="roundRect">
            <a:avLst>
              <a:gd name="adj" fmla="val 5714"/>
            </a:avLst>
          </a:prstGeom>
          <a:solidFill>
            <a:schemeClr val="accent2"/>
          </a:solidFill>
          <a:ln>
            <a:solidFill>
              <a:schemeClr val="accent2"/>
            </a:solidFill>
          </a:ln>
        </p:spPr>
        <p:txBody>
          <a:bodyPr wrap="square" lIns="508" tIns="508" rIns="508" bIns="508" rtlCol="0" anchor="ctr"/>
          <a:lstStyle/>
          <a:p>
            <a:pPr algn="ctr" indent="0" marL="0">
              <a:buNone/>
            </a:pPr>
            <a:r>
              <a:rPr lang="en-US" sz="2200" b="1" dirty="0">
                <a:solidFill>
                  <a:schemeClr val="tx1"/>
                </a:solidFill>
              </a:rPr>
              <a:t>A</a:t>
            </a:r>
            <a:endParaRPr lang="en-US" sz="2200" dirty="0"/>
          </a:p>
          <a:p>
            <a:pPr algn="ctr" indent="0" marL="0">
              <a:buNone/>
            </a:pPr>
            <a:r>
              <a:rPr lang="en-US" sz="1200" b="1" dirty="0">
                <a:solidFill>
                  <a:schemeClr val="tx1"/>
                </a:solidFill>
              </a:rPr>
              <a:t>Fast movers</a:t>
            </a:r>
            <a:endParaRPr lang="en-US" sz="2200" dirty="0"/>
          </a:p>
        </p:txBody>
      </p:sp>
      <p:sp>
        <p:nvSpPr>
          <p:cNvPr id="11" name="Zone 176"/>
          <p:cNvSpPr/>
          <p:nvPr/>
        </p:nvSpPr>
        <p:spPr>
          <a:xfrm>
            <a:off x="7360920" y="2670048"/>
            <a:ext cx="1188720" cy="960120"/>
          </a:xfrm>
          <a:prstGeom prst="roundRect">
            <a:avLst>
              <a:gd name="adj" fmla="val 5714"/>
            </a:avLst>
          </a:prstGeom>
          <a:solidFill>
            <a:schemeClr val="accent6"/>
          </a:solidFill>
          <a:ln>
            <a:solidFill>
              <a:schemeClr val="accent6"/>
            </a:solidFill>
          </a:ln>
        </p:spPr>
        <p:txBody>
          <a:bodyPr wrap="square" lIns="508" tIns="508" rIns="508" bIns="508" rtlCol="0" anchor="ctr"/>
          <a:lstStyle/>
          <a:p>
            <a:pPr algn="ctr" indent="0" marL="0">
              <a:buNone/>
            </a:pPr>
            <a:r>
              <a:rPr lang="en-US" sz="2200" b="1" dirty="0">
                <a:solidFill>
                  <a:schemeClr val="bg1"/>
                </a:solidFill>
              </a:rPr>
              <a:t>B</a:t>
            </a:r>
            <a:endParaRPr lang="en-US" sz="2200" dirty="0"/>
          </a:p>
          <a:p>
            <a:pPr algn="ctr" indent="0" marL="0">
              <a:buNone/>
            </a:pPr>
            <a:r>
              <a:rPr lang="en-US" sz="1200" b="1" dirty="0">
                <a:solidFill>
                  <a:schemeClr val="bg1"/>
                </a:solidFill>
              </a:rPr>
              <a:t>Bulky / heavy</a:t>
            </a:r>
            <a:endParaRPr lang="en-US" sz="2200" dirty="0"/>
          </a:p>
        </p:txBody>
      </p:sp>
      <p:sp>
        <p:nvSpPr>
          <p:cNvPr id="12" name="Packing 177"/>
          <p:cNvSpPr/>
          <p:nvPr/>
        </p:nvSpPr>
        <p:spPr>
          <a:xfrm>
            <a:off x="5989320" y="3794760"/>
            <a:ext cx="2560320" cy="457200"/>
          </a:xfrm>
          <a:prstGeom prst="roundRect">
            <a:avLst>
              <a:gd name="adj" fmla="val 12000"/>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Packing and dispatch</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this solves our problem</a:t>
            </a:r>
            <a:endParaRPr lang="en-US" sz="3600" dirty="0"/>
          </a:p>
        </p:txBody>
      </p:sp>
      <p:sp>
        <p:nvSpPr>
          <p:cNvPr id="4" name="Card 178"/>
          <p:cNvSpPr/>
          <p:nvPr/>
        </p:nvSpPr>
        <p:spPr>
          <a:xfrm>
            <a:off x="457200" y="1188720"/>
            <a:ext cx="2624328" cy="2194560"/>
          </a:xfrm>
          <a:prstGeom prst="roundRect">
            <a:avLst>
              <a:gd name="adj" fmla="val 3333"/>
            </a:avLst>
          </a:prstGeom>
          <a:solidFill>
            <a:schemeClr val="bg2"/>
          </a:solidFill>
          <a:ln w="12700">
            <a:solidFill>
              <a:schemeClr val="bg2"/>
            </a:solidFill>
            <a:prstDash val="solid"/>
          </a:ln>
        </p:spPr>
      </p:sp>
      <p:sp>
        <p:nvSpPr>
          <p:cNvPr id="5" name="Badge 179"/>
          <p:cNvSpPr/>
          <p:nvPr/>
        </p:nvSpPr>
        <p:spPr>
          <a:xfrm>
            <a:off x="640080" y="135331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80"/>
          <p:cNvSpPr txBox="1"/>
          <p:nvPr/>
        </p:nvSpPr>
        <p:spPr>
          <a:xfrm>
            <a:off x="640080"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Less walking</a:t>
            </a:r>
            <a:endParaRPr lang="en-US" sz="1800" dirty="0"/>
          </a:p>
        </p:txBody>
      </p:sp>
      <p:sp>
        <p:nvSpPr>
          <p:cNvPr id="7" name="Text 181"/>
          <p:cNvSpPr txBox="1"/>
          <p:nvPr/>
        </p:nvSpPr>
        <p:spPr>
          <a:xfrm>
            <a:off x="640080"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Fast movers sit closest to packing. In our simple model, walk per pick falls by 27%.</a:t>
            </a:r>
            <a:endParaRPr lang="en-US" sz="1400" dirty="0"/>
          </a:p>
        </p:txBody>
      </p:sp>
      <p:sp>
        <p:nvSpPr>
          <p:cNvPr id="8" name="Card 182"/>
          <p:cNvSpPr/>
          <p:nvPr/>
        </p:nvSpPr>
        <p:spPr>
          <a:xfrm>
            <a:off x="3264408" y="1188720"/>
            <a:ext cx="2624328" cy="2194560"/>
          </a:xfrm>
          <a:prstGeom prst="roundRect">
            <a:avLst>
              <a:gd name="adj" fmla="val 3333"/>
            </a:avLst>
          </a:prstGeom>
          <a:solidFill>
            <a:schemeClr val="bg2"/>
          </a:solidFill>
          <a:ln w="12700">
            <a:solidFill>
              <a:schemeClr val="bg2"/>
            </a:solidFill>
            <a:prstDash val="solid"/>
          </a:ln>
        </p:spPr>
      </p:sp>
      <p:sp>
        <p:nvSpPr>
          <p:cNvPr id="9" name="Badge 183"/>
          <p:cNvSpPr/>
          <p:nvPr/>
        </p:nvSpPr>
        <p:spPr>
          <a:xfrm>
            <a:off x="3447288" y="135331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84"/>
          <p:cNvSpPr txBox="1"/>
          <p:nvPr/>
        </p:nvSpPr>
        <p:spPr>
          <a:xfrm>
            <a:off x="3447288"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Better placement</a:t>
            </a:r>
            <a:endParaRPr lang="en-US" sz="1800" dirty="0"/>
          </a:p>
        </p:txBody>
      </p:sp>
      <p:sp>
        <p:nvSpPr>
          <p:cNvPr id="11" name="Text 185"/>
          <p:cNvSpPr txBox="1"/>
          <p:nvPr/>
        </p:nvSpPr>
        <p:spPr>
          <a:xfrm>
            <a:off x="3447288"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Bulky and heavy products get their own ground-level zone.</a:t>
            </a:r>
            <a:endParaRPr lang="en-US" sz="1400" dirty="0"/>
          </a:p>
        </p:txBody>
      </p:sp>
      <p:sp>
        <p:nvSpPr>
          <p:cNvPr id="12" name="Card 186"/>
          <p:cNvSpPr/>
          <p:nvPr/>
        </p:nvSpPr>
        <p:spPr>
          <a:xfrm>
            <a:off x="6071616" y="1188720"/>
            <a:ext cx="2624328" cy="2194560"/>
          </a:xfrm>
          <a:prstGeom prst="roundRect">
            <a:avLst>
              <a:gd name="adj" fmla="val 3333"/>
            </a:avLst>
          </a:prstGeom>
          <a:solidFill>
            <a:schemeClr val="bg2"/>
          </a:solidFill>
          <a:ln w="12700">
            <a:solidFill>
              <a:schemeClr val="bg2"/>
            </a:solidFill>
            <a:prstDash val="solid"/>
          </a:ln>
        </p:spPr>
      </p:sp>
      <p:sp>
        <p:nvSpPr>
          <p:cNvPr id="13" name="Badge 187"/>
          <p:cNvSpPr/>
          <p:nvPr/>
        </p:nvSpPr>
        <p:spPr>
          <a:xfrm>
            <a:off x="6254496" y="1353312"/>
            <a:ext cx="502920" cy="50292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88"/>
          <p:cNvSpPr txBox="1"/>
          <p:nvPr/>
        </p:nvSpPr>
        <p:spPr>
          <a:xfrm>
            <a:off x="6254496"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Season ready</a:t>
            </a:r>
            <a:endParaRPr lang="en-US" sz="1800" dirty="0"/>
          </a:p>
        </p:txBody>
      </p:sp>
      <p:sp>
        <p:nvSpPr>
          <p:cNvPr id="15" name="Text 189"/>
          <p:cNvSpPr txBox="1"/>
          <p:nvPr/>
        </p:nvSpPr>
        <p:spPr>
          <a:xfrm>
            <a:off x="6254496"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Seasonal products are one group, easy to move forward in season.</a:t>
            </a:r>
            <a:endParaRPr lang="en-US" sz="1400" dirty="0"/>
          </a:p>
        </p:txBody>
      </p:sp>
      <p:sp>
        <p:nvSpPr>
          <p:cNvPr id="16" name="Card 190"/>
          <p:cNvSpPr/>
          <p:nvPr/>
        </p:nvSpPr>
        <p:spPr>
          <a:xfrm>
            <a:off x="457200" y="3584448"/>
            <a:ext cx="8229600" cy="822960"/>
          </a:xfrm>
          <a:prstGeom prst="roundRect">
            <a:avLst>
              <a:gd name="adj" fmla="val 8889"/>
            </a:avLst>
          </a:prstGeom>
          <a:solidFill>
            <a:schemeClr val="bg2"/>
          </a:solidFill>
          <a:ln w="12700">
            <a:solidFill>
              <a:schemeClr val="bg2"/>
            </a:solidFill>
            <a:prstDash val="solid"/>
          </a:ln>
        </p:spPr>
      </p:sp>
      <p:sp>
        <p:nvSpPr>
          <p:cNvPr id="17" name="Text 191"/>
          <p:cNvSpPr txBox="1"/>
          <p:nvPr/>
        </p:nvSpPr>
        <p:spPr>
          <a:xfrm>
            <a:off x="640080" y="3584448"/>
            <a:ext cx="7863840" cy="822960"/>
          </a:xfrm>
          <a:prstGeom prst="rect">
            <a:avLst/>
          </a:prstGeom>
          <a:noFill/>
          <a:ln/>
        </p:spPr>
        <p:txBody>
          <a:bodyPr wrap="square" lIns="0" tIns="0" rIns="0" bIns="0" rtlCol="0" anchor="ctr"/>
          <a:lstStyle/>
          <a:p>
            <a:pPr algn="l" indent="0" marL="0">
              <a:buNone/>
            </a:pPr>
            <a:r>
              <a:rPr lang="en-US" sz="1400" b="1" dirty="0">
                <a:solidFill>
                  <a:schemeClr val="tx2"/>
                </a:solidFill>
              </a:rPr>
              <a:t>How we check the clusters: </a:t>
            </a:r>
            <a:pPr algn="l" indent="0" marL="0">
              <a:buNone/>
            </a:pPr>
            <a:r>
              <a:rPr lang="en-US" sz="1400" dirty="0">
                <a:solidFill>
                  <a:schemeClr val="tx1"/>
                </a:solidFill>
              </a:rPr>
              <a:t>each centroid should read like a typical product. Fast movers: about 160 orders, 9 litres, 1 kg. The walking figure is a model, not a measurement.</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Badge 192"/>
          <p:cNvSpPr/>
          <p:nvPr/>
        </p:nvSpPr>
        <p:spPr>
          <a:xfrm>
            <a:off x="548640" y="146304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193"/>
          <p:cNvSpPr txBox="1"/>
          <p:nvPr/>
        </p:nvSpPr>
        <p:spPr>
          <a:xfrm>
            <a:off x="1097280" y="137160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Problem: group warehouse SKUs so that pickers travel less.</a:t>
            </a:r>
            <a:endParaRPr lang="en-US" sz="1600" dirty="0"/>
          </a:p>
        </p:txBody>
      </p:sp>
      <p:sp>
        <p:nvSpPr>
          <p:cNvPr id="5" name="Badge 194"/>
          <p:cNvSpPr/>
          <p:nvPr/>
        </p:nvSpPr>
        <p:spPr>
          <a:xfrm>
            <a:off x="548640" y="228600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195"/>
          <p:cNvSpPr txBox="1"/>
          <p:nvPr/>
        </p:nvSpPr>
        <p:spPr>
          <a:xfrm>
            <a:off x="1097280" y="219456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Chosen from Unit 3: K-Means clustering, a simple partitioning method.</a:t>
            </a:r>
            <a:endParaRPr lang="en-US" sz="1600" dirty="0"/>
          </a:p>
        </p:txBody>
      </p:sp>
      <p:sp>
        <p:nvSpPr>
          <p:cNvPr id="7" name="Badge 196"/>
          <p:cNvSpPr/>
          <p:nvPr/>
        </p:nvSpPr>
        <p:spPr>
          <a:xfrm>
            <a:off x="548640" y="310896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197"/>
          <p:cNvSpPr txBox="1"/>
          <p:nvPr/>
        </p:nvSpPr>
        <p:spPr>
          <a:xfrm>
            <a:off x="1097280" y="301752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Tested on real data: 383 SKUs gave 4 clear clusters that map to zones.</a:t>
            </a:r>
            <a:endParaRPr lang="en-US" sz="1600" dirty="0"/>
          </a:p>
        </p:txBody>
      </p:sp>
      <p:sp>
        <p:nvSpPr>
          <p:cNvPr id="9" name="Text 198"/>
          <p:cNvSpPr txBox="1"/>
          <p:nvPr/>
        </p:nvSpPr>
        <p:spPr>
          <a:xfrm>
            <a:off x="548640" y="3840480"/>
            <a:ext cx="5029200" cy="548640"/>
          </a:xfrm>
          <a:prstGeom prst="rect">
            <a:avLst/>
          </a:prstGeom>
          <a:noFill/>
          <a:ln/>
        </p:spPr>
        <p:txBody>
          <a:bodyPr wrap="square" lIns="0" tIns="0" rIns="0" bIns="0" rtlCol="0" anchor="ctr"/>
          <a:lstStyle/>
          <a:p>
            <a:pPr algn="l" indent="0" marL="0">
              <a:buNone/>
            </a:pPr>
            <a:r>
              <a:rPr lang="en-US" sz="1400" dirty="0">
                <a:solidFill>
                  <a:schemeClr val="bg2"/>
                </a:solidFill>
              </a:rPr>
              <a:t>Live demo and Colab code:</a:t>
            </a:r>
            <a:endParaRPr lang="en-US" sz="1400" dirty="0"/>
          </a:p>
          <a:p>
            <a:pPr algn="l" indent="0" marL="0">
              <a:buNone/>
            </a:pPr>
            <a:r>
              <a:rPr lang="en-US" sz="1400" b="1" dirty="0">
                <a:solidFill>
                  <a:schemeClr val="bg2"/>
                </a:solidFill>
              </a:rPr>
              <a:t>zanyanbu.github.io/warehouse-sku-kmeans</a:t>
            </a:r>
            <a:endParaRPr lang="en-US" sz="1400" dirty="0"/>
          </a:p>
        </p:txBody>
      </p:sp>
      <p:sp>
        <p:nvSpPr>
          <p:cNvPr id="10" name="Card 199"/>
          <p:cNvSpPr/>
          <p:nvPr/>
        </p:nvSpPr>
        <p:spPr>
          <a:xfrm>
            <a:off x="5943600" y="1371600"/>
            <a:ext cx="2743200" cy="2103120"/>
          </a:xfrm>
          <a:prstGeom prst="roundRect">
            <a:avLst>
              <a:gd name="adj" fmla="val 3478"/>
            </a:avLst>
          </a:prstGeom>
          <a:solidFill>
            <a:schemeClr val="bg1">
              <a:alpha val="12000"/>
            </a:schemeClr>
          </a:solidFill>
          <a:ln w="12700">
            <a:solidFill>
              <a:schemeClr val="bg1">
                <a:alpha val="0"/>
              </a:schemeClr>
            </a:solidFill>
            <a:prstDash val="solid"/>
          </a:ln>
        </p:spPr>
      </p:sp>
      <p:sp>
        <p:nvSpPr>
          <p:cNvPr id="11" name="Text 200"/>
          <p:cNvSpPr txBox="1"/>
          <p:nvPr/>
        </p:nvSpPr>
        <p:spPr>
          <a:xfrm>
            <a:off x="5943600" y="1874520"/>
            <a:ext cx="2743200" cy="548640"/>
          </a:xfrm>
          <a:prstGeom prst="rect">
            <a:avLst/>
          </a:prstGeom>
          <a:noFill/>
          <a:ln/>
        </p:spPr>
        <p:txBody>
          <a:bodyPr wrap="square" lIns="0" tIns="0" rIns="0" bIns="0" rtlCol="0" anchor="ctr"/>
          <a:lstStyle/>
          <a:p>
            <a:pPr algn="ctr" indent="0" marL="0">
              <a:buNone/>
            </a:pPr>
            <a:r>
              <a:rPr lang="en-US" sz="3200" b="1" dirty="0">
                <a:solidFill>
                  <a:schemeClr val="bg1"/>
                </a:solidFill>
              </a:rPr>
              <a:t>Thank you</a:t>
            </a:r>
            <a:endParaRPr lang="en-US" sz="3200" dirty="0"/>
          </a:p>
        </p:txBody>
      </p:sp>
      <p:sp>
        <p:nvSpPr>
          <p:cNvPr id="12" name="Text 201"/>
          <p:cNvSpPr txBox="1"/>
          <p:nvPr/>
        </p:nvSpPr>
        <p:spPr>
          <a:xfrm>
            <a:off x="5943600" y="2514600"/>
            <a:ext cx="2743200" cy="365760"/>
          </a:xfrm>
          <a:prstGeom prst="rect">
            <a:avLst/>
          </a:prstGeom>
          <a:noFill/>
          <a:ln/>
        </p:spPr>
        <p:txBody>
          <a:bodyPr wrap="square" lIns="0" tIns="0" rIns="0" bIns="0" rtlCol="0" anchor="ctr"/>
          <a:lstStyle/>
          <a:p>
            <a:pPr algn="ctr" indent="0" marL="0">
              <a:buNone/>
            </a:pPr>
            <a:r>
              <a:rPr lang="en-US" sz="1400" dirty="0">
                <a:solidFill>
                  <a:schemeClr val="bg2"/>
                </a:solidFill>
              </a:rPr>
              <a:t>Questions are welcome</a:t>
            </a:r>
            <a:endParaRPr lang="en-US" sz="1400" dirty="0"/>
          </a:p>
        </p:txBody>
      </p:sp>
      <p:sp>
        <p:nvSpPr>
          <p:cNvPr id="13" name="Dot 202"/>
          <p:cNvSpPr/>
          <p:nvPr/>
        </p:nvSpPr>
        <p:spPr>
          <a:xfrm>
            <a:off x="6194694" y="3896258"/>
            <a:ext cx="118872" cy="118872"/>
          </a:xfrm>
          <a:prstGeom prst="ellipse">
            <a:avLst/>
          </a:prstGeom>
          <a:solidFill>
            <a:schemeClr val="accent2"/>
          </a:solidFill>
          <a:ln w="12700">
            <a:solidFill>
              <a:schemeClr val="accent2"/>
            </a:solidFill>
            <a:prstDash val="solid"/>
          </a:ln>
        </p:spPr>
      </p:sp>
      <p:sp>
        <p:nvSpPr>
          <p:cNvPr id="14" name="Dot 203"/>
          <p:cNvSpPr/>
          <p:nvPr/>
        </p:nvSpPr>
        <p:spPr>
          <a:xfrm>
            <a:off x="6364773" y="3754526"/>
            <a:ext cx="118872" cy="118872"/>
          </a:xfrm>
          <a:prstGeom prst="ellipse">
            <a:avLst/>
          </a:prstGeom>
          <a:solidFill>
            <a:schemeClr val="accent2"/>
          </a:solidFill>
          <a:ln w="12700">
            <a:solidFill>
              <a:schemeClr val="accent2"/>
            </a:solidFill>
            <a:prstDash val="solid"/>
          </a:ln>
        </p:spPr>
      </p:sp>
      <p:sp>
        <p:nvSpPr>
          <p:cNvPr id="15" name="Dot 204"/>
          <p:cNvSpPr/>
          <p:nvPr/>
        </p:nvSpPr>
        <p:spPr>
          <a:xfrm>
            <a:off x="6602882" y="3822558"/>
            <a:ext cx="118872" cy="118872"/>
          </a:xfrm>
          <a:prstGeom prst="ellipse">
            <a:avLst/>
          </a:prstGeom>
          <a:solidFill>
            <a:schemeClr val="accent2"/>
          </a:solidFill>
          <a:ln w="12700">
            <a:solidFill>
              <a:schemeClr val="accent2"/>
            </a:solidFill>
            <a:prstDash val="solid"/>
          </a:ln>
        </p:spPr>
      </p:sp>
      <p:sp>
        <p:nvSpPr>
          <p:cNvPr id="16" name="Dot 205"/>
          <p:cNvSpPr/>
          <p:nvPr/>
        </p:nvSpPr>
        <p:spPr>
          <a:xfrm>
            <a:off x="6693591" y="4037990"/>
            <a:ext cx="118872" cy="118872"/>
          </a:xfrm>
          <a:prstGeom prst="ellipse">
            <a:avLst/>
          </a:prstGeom>
          <a:solidFill>
            <a:schemeClr val="accent2"/>
          </a:solidFill>
          <a:ln w="12700">
            <a:solidFill>
              <a:schemeClr val="accent2"/>
            </a:solidFill>
            <a:prstDash val="solid"/>
          </a:ln>
        </p:spPr>
      </p:sp>
      <p:sp>
        <p:nvSpPr>
          <p:cNvPr id="17" name="Dot 206"/>
          <p:cNvSpPr/>
          <p:nvPr/>
        </p:nvSpPr>
        <p:spPr>
          <a:xfrm>
            <a:off x="6534851" y="4225077"/>
            <a:ext cx="118872" cy="118872"/>
          </a:xfrm>
          <a:prstGeom prst="ellipse">
            <a:avLst/>
          </a:prstGeom>
          <a:solidFill>
            <a:schemeClr val="accent2"/>
          </a:solidFill>
          <a:ln w="12700">
            <a:solidFill>
              <a:schemeClr val="accent2"/>
            </a:solidFill>
            <a:prstDash val="solid"/>
          </a:ln>
        </p:spPr>
      </p:sp>
      <p:sp>
        <p:nvSpPr>
          <p:cNvPr id="18" name="Dot 207"/>
          <p:cNvSpPr/>
          <p:nvPr/>
        </p:nvSpPr>
        <p:spPr>
          <a:xfrm>
            <a:off x="6291072" y="4179722"/>
            <a:ext cx="118872" cy="118872"/>
          </a:xfrm>
          <a:prstGeom prst="ellipse">
            <a:avLst/>
          </a:prstGeom>
          <a:solidFill>
            <a:schemeClr val="accent2"/>
          </a:solidFill>
          <a:ln w="12700">
            <a:solidFill>
              <a:schemeClr val="accent2"/>
            </a:solidFill>
            <a:prstDash val="solid"/>
          </a:ln>
        </p:spPr>
      </p:sp>
      <p:sp>
        <p:nvSpPr>
          <p:cNvPr id="19" name="Dot 208"/>
          <p:cNvSpPr/>
          <p:nvPr/>
        </p:nvSpPr>
        <p:spPr>
          <a:xfrm>
            <a:off x="6149340" y="4077675"/>
            <a:ext cx="118872" cy="118872"/>
          </a:xfrm>
          <a:prstGeom prst="ellipse">
            <a:avLst/>
          </a:prstGeom>
          <a:solidFill>
            <a:schemeClr val="accent2"/>
          </a:solidFill>
          <a:ln w="12700">
            <a:solidFill>
              <a:schemeClr val="accent2"/>
            </a:solidFill>
            <a:prstDash val="solid"/>
          </a:ln>
        </p:spPr>
      </p:sp>
      <p:sp>
        <p:nvSpPr>
          <p:cNvPr id="20" name="Centroid 209"/>
          <p:cNvSpPr/>
          <p:nvPr/>
        </p:nvSpPr>
        <p:spPr>
          <a:xfrm>
            <a:off x="6409030" y="3985870"/>
            <a:ext cx="166421" cy="166421"/>
          </a:xfrm>
          <a:prstGeom prst="ellipse">
            <a:avLst/>
          </a:prstGeom>
          <a:solidFill>
            <a:schemeClr val="tx2"/>
          </a:solidFill>
          <a:ln w="22225">
            <a:solidFill>
              <a:schemeClr val="accent2"/>
            </a:solidFill>
            <a:prstDash val="solid"/>
          </a:ln>
        </p:spPr>
      </p:sp>
      <p:sp>
        <p:nvSpPr>
          <p:cNvPr id="21" name="Dot 210"/>
          <p:cNvSpPr/>
          <p:nvPr/>
        </p:nvSpPr>
        <p:spPr>
          <a:xfrm>
            <a:off x="7017654" y="3896258"/>
            <a:ext cx="118872" cy="118872"/>
          </a:xfrm>
          <a:prstGeom prst="ellipse">
            <a:avLst/>
          </a:prstGeom>
          <a:solidFill>
            <a:schemeClr val="accent4"/>
          </a:solidFill>
          <a:ln w="12700">
            <a:solidFill>
              <a:schemeClr val="accent4"/>
            </a:solidFill>
            <a:prstDash val="solid"/>
          </a:ln>
        </p:spPr>
      </p:sp>
      <p:sp>
        <p:nvSpPr>
          <p:cNvPr id="22" name="Dot 211"/>
          <p:cNvSpPr/>
          <p:nvPr/>
        </p:nvSpPr>
        <p:spPr>
          <a:xfrm>
            <a:off x="7187733" y="3754526"/>
            <a:ext cx="118872" cy="118872"/>
          </a:xfrm>
          <a:prstGeom prst="ellipse">
            <a:avLst/>
          </a:prstGeom>
          <a:solidFill>
            <a:schemeClr val="accent4"/>
          </a:solidFill>
          <a:ln w="12700">
            <a:solidFill>
              <a:schemeClr val="accent4"/>
            </a:solidFill>
            <a:prstDash val="solid"/>
          </a:ln>
        </p:spPr>
      </p:sp>
      <p:sp>
        <p:nvSpPr>
          <p:cNvPr id="23" name="Dot 212"/>
          <p:cNvSpPr/>
          <p:nvPr/>
        </p:nvSpPr>
        <p:spPr>
          <a:xfrm>
            <a:off x="7425842" y="3822558"/>
            <a:ext cx="118872" cy="118872"/>
          </a:xfrm>
          <a:prstGeom prst="ellipse">
            <a:avLst/>
          </a:prstGeom>
          <a:solidFill>
            <a:schemeClr val="accent4"/>
          </a:solidFill>
          <a:ln w="12700">
            <a:solidFill>
              <a:schemeClr val="accent4"/>
            </a:solidFill>
            <a:prstDash val="solid"/>
          </a:ln>
        </p:spPr>
      </p:sp>
      <p:sp>
        <p:nvSpPr>
          <p:cNvPr id="24" name="Dot 213"/>
          <p:cNvSpPr/>
          <p:nvPr/>
        </p:nvSpPr>
        <p:spPr>
          <a:xfrm>
            <a:off x="7516551" y="4037990"/>
            <a:ext cx="118872" cy="118872"/>
          </a:xfrm>
          <a:prstGeom prst="ellipse">
            <a:avLst/>
          </a:prstGeom>
          <a:solidFill>
            <a:schemeClr val="accent4"/>
          </a:solidFill>
          <a:ln w="12700">
            <a:solidFill>
              <a:schemeClr val="accent4"/>
            </a:solidFill>
            <a:prstDash val="solid"/>
          </a:ln>
        </p:spPr>
      </p:sp>
      <p:sp>
        <p:nvSpPr>
          <p:cNvPr id="25" name="Dot 214"/>
          <p:cNvSpPr/>
          <p:nvPr/>
        </p:nvSpPr>
        <p:spPr>
          <a:xfrm>
            <a:off x="7357811" y="4225077"/>
            <a:ext cx="118872" cy="118872"/>
          </a:xfrm>
          <a:prstGeom prst="ellipse">
            <a:avLst/>
          </a:prstGeom>
          <a:solidFill>
            <a:schemeClr val="accent4"/>
          </a:solidFill>
          <a:ln w="12700">
            <a:solidFill>
              <a:schemeClr val="accent4"/>
            </a:solidFill>
            <a:prstDash val="solid"/>
          </a:ln>
        </p:spPr>
      </p:sp>
      <p:sp>
        <p:nvSpPr>
          <p:cNvPr id="26" name="Dot 215"/>
          <p:cNvSpPr/>
          <p:nvPr/>
        </p:nvSpPr>
        <p:spPr>
          <a:xfrm>
            <a:off x="7114032" y="4179722"/>
            <a:ext cx="118872" cy="118872"/>
          </a:xfrm>
          <a:prstGeom prst="ellipse">
            <a:avLst/>
          </a:prstGeom>
          <a:solidFill>
            <a:schemeClr val="accent4"/>
          </a:solidFill>
          <a:ln w="12700">
            <a:solidFill>
              <a:schemeClr val="accent4"/>
            </a:solidFill>
            <a:prstDash val="solid"/>
          </a:ln>
        </p:spPr>
      </p:sp>
      <p:sp>
        <p:nvSpPr>
          <p:cNvPr id="27" name="Dot 216"/>
          <p:cNvSpPr/>
          <p:nvPr/>
        </p:nvSpPr>
        <p:spPr>
          <a:xfrm>
            <a:off x="6972300" y="4077675"/>
            <a:ext cx="118872" cy="118872"/>
          </a:xfrm>
          <a:prstGeom prst="ellipse">
            <a:avLst/>
          </a:prstGeom>
          <a:solidFill>
            <a:schemeClr val="accent4"/>
          </a:solidFill>
          <a:ln w="12700">
            <a:solidFill>
              <a:schemeClr val="accent4"/>
            </a:solidFill>
            <a:prstDash val="solid"/>
          </a:ln>
        </p:spPr>
      </p:sp>
      <p:sp>
        <p:nvSpPr>
          <p:cNvPr id="28" name="Centroid 217"/>
          <p:cNvSpPr/>
          <p:nvPr/>
        </p:nvSpPr>
        <p:spPr>
          <a:xfrm>
            <a:off x="7231990" y="3985870"/>
            <a:ext cx="166421" cy="166421"/>
          </a:xfrm>
          <a:prstGeom prst="ellipse">
            <a:avLst/>
          </a:prstGeom>
          <a:solidFill>
            <a:schemeClr val="tx2"/>
          </a:solidFill>
          <a:ln w="22225">
            <a:solidFill>
              <a:schemeClr val="accent4"/>
            </a:solidFill>
            <a:prstDash val="solid"/>
          </a:ln>
        </p:spPr>
      </p:sp>
      <p:sp>
        <p:nvSpPr>
          <p:cNvPr id="29" name="Dot 218"/>
          <p:cNvSpPr/>
          <p:nvPr/>
        </p:nvSpPr>
        <p:spPr>
          <a:xfrm>
            <a:off x="7840614" y="3896258"/>
            <a:ext cx="118872" cy="118872"/>
          </a:xfrm>
          <a:prstGeom prst="ellipse">
            <a:avLst/>
          </a:prstGeom>
          <a:solidFill>
            <a:schemeClr val="accent3"/>
          </a:solidFill>
          <a:ln w="12700">
            <a:solidFill>
              <a:schemeClr val="accent3"/>
            </a:solidFill>
            <a:prstDash val="solid"/>
          </a:ln>
        </p:spPr>
      </p:sp>
      <p:sp>
        <p:nvSpPr>
          <p:cNvPr id="30" name="Dot 219"/>
          <p:cNvSpPr/>
          <p:nvPr/>
        </p:nvSpPr>
        <p:spPr>
          <a:xfrm>
            <a:off x="8010693" y="3754526"/>
            <a:ext cx="118872" cy="118872"/>
          </a:xfrm>
          <a:prstGeom prst="ellipse">
            <a:avLst/>
          </a:prstGeom>
          <a:solidFill>
            <a:schemeClr val="accent3"/>
          </a:solidFill>
          <a:ln w="12700">
            <a:solidFill>
              <a:schemeClr val="accent3"/>
            </a:solidFill>
            <a:prstDash val="solid"/>
          </a:ln>
        </p:spPr>
      </p:sp>
      <p:sp>
        <p:nvSpPr>
          <p:cNvPr id="31" name="Dot 220"/>
          <p:cNvSpPr/>
          <p:nvPr/>
        </p:nvSpPr>
        <p:spPr>
          <a:xfrm>
            <a:off x="8248802" y="3822558"/>
            <a:ext cx="118872" cy="118872"/>
          </a:xfrm>
          <a:prstGeom prst="ellipse">
            <a:avLst/>
          </a:prstGeom>
          <a:solidFill>
            <a:schemeClr val="accent3"/>
          </a:solidFill>
          <a:ln w="12700">
            <a:solidFill>
              <a:schemeClr val="accent3"/>
            </a:solidFill>
            <a:prstDash val="solid"/>
          </a:ln>
        </p:spPr>
      </p:sp>
      <p:sp>
        <p:nvSpPr>
          <p:cNvPr id="32" name="Dot 221"/>
          <p:cNvSpPr/>
          <p:nvPr/>
        </p:nvSpPr>
        <p:spPr>
          <a:xfrm>
            <a:off x="8339511" y="4037990"/>
            <a:ext cx="118872" cy="118872"/>
          </a:xfrm>
          <a:prstGeom prst="ellipse">
            <a:avLst/>
          </a:prstGeom>
          <a:solidFill>
            <a:schemeClr val="accent3"/>
          </a:solidFill>
          <a:ln w="12700">
            <a:solidFill>
              <a:schemeClr val="accent3"/>
            </a:solidFill>
            <a:prstDash val="solid"/>
          </a:ln>
        </p:spPr>
      </p:sp>
      <p:sp>
        <p:nvSpPr>
          <p:cNvPr id="33" name="Dot 222"/>
          <p:cNvSpPr/>
          <p:nvPr/>
        </p:nvSpPr>
        <p:spPr>
          <a:xfrm>
            <a:off x="8180771" y="4225077"/>
            <a:ext cx="118872" cy="118872"/>
          </a:xfrm>
          <a:prstGeom prst="ellipse">
            <a:avLst/>
          </a:prstGeom>
          <a:solidFill>
            <a:schemeClr val="accent3"/>
          </a:solidFill>
          <a:ln w="12700">
            <a:solidFill>
              <a:schemeClr val="accent3"/>
            </a:solidFill>
            <a:prstDash val="solid"/>
          </a:ln>
        </p:spPr>
      </p:sp>
      <p:sp>
        <p:nvSpPr>
          <p:cNvPr id="34" name="Dot 223"/>
          <p:cNvSpPr/>
          <p:nvPr/>
        </p:nvSpPr>
        <p:spPr>
          <a:xfrm>
            <a:off x="7936992" y="4179722"/>
            <a:ext cx="118872" cy="118872"/>
          </a:xfrm>
          <a:prstGeom prst="ellipse">
            <a:avLst/>
          </a:prstGeom>
          <a:solidFill>
            <a:schemeClr val="accent3"/>
          </a:solidFill>
          <a:ln w="12700">
            <a:solidFill>
              <a:schemeClr val="accent3"/>
            </a:solidFill>
            <a:prstDash val="solid"/>
          </a:ln>
        </p:spPr>
      </p:sp>
      <p:sp>
        <p:nvSpPr>
          <p:cNvPr id="35" name="Dot 224"/>
          <p:cNvSpPr/>
          <p:nvPr/>
        </p:nvSpPr>
        <p:spPr>
          <a:xfrm>
            <a:off x="7795260" y="4077675"/>
            <a:ext cx="118872" cy="118872"/>
          </a:xfrm>
          <a:prstGeom prst="ellipse">
            <a:avLst/>
          </a:prstGeom>
          <a:solidFill>
            <a:schemeClr val="accent3"/>
          </a:solidFill>
          <a:ln w="12700">
            <a:solidFill>
              <a:schemeClr val="accent3"/>
            </a:solidFill>
            <a:prstDash val="solid"/>
          </a:ln>
        </p:spPr>
      </p:sp>
      <p:sp>
        <p:nvSpPr>
          <p:cNvPr id="36" name="Centroid 225"/>
          <p:cNvSpPr/>
          <p:nvPr/>
        </p:nvSpPr>
        <p:spPr>
          <a:xfrm>
            <a:off x="8054950" y="3985870"/>
            <a:ext cx="166421" cy="166421"/>
          </a:xfrm>
          <a:prstGeom prst="ellipse">
            <a:avLst/>
          </a:prstGeom>
          <a:solidFill>
            <a:schemeClr val="tx2"/>
          </a:solidFill>
          <a:ln w="22225">
            <a:solidFill>
              <a:schemeClr val="accent3"/>
            </a:solidFill>
            <a:prstDash val="solid"/>
          </a:ln>
        </p:spPr>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Warehouse Clusters">
  <a:themeElements>
    <a:clrScheme name="Warehouse Clusters">
      <a:dk1>
        <a:srgbClr val="16212B"/>
      </a:dk1>
      <a:lt1>
        <a:srgbClr val="FFFFFF"/>
      </a:lt1>
      <a:dk2>
        <a:srgbClr val="0F4C5C"/>
      </a:dk2>
      <a:lt2>
        <a:srgbClr val="EAF2F3"/>
      </a:lt2>
      <a:accent1>
        <a:srgbClr val="0F4C5C"/>
      </a:accent1>
      <a:accent2>
        <a:srgbClr val="F28C28"/>
      </a:accent2>
      <a:accent3>
        <a:srgbClr val="2A9D8F"/>
      </a:accent3>
      <a:accent4>
        <a:srgbClr val="E9C46A"/>
      </a:accent4>
      <a:accent5>
        <a:srgbClr val="5F7180"/>
      </a:accent5>
      <a:accent6>
        <a:srgbClr val="D1495B"/>
      </a:accent6>
      <a:hlink>
        <a:srgbClr val="0F4C5C"/>
      </a:hlink>
      <a:folHlink>
        <a:srgbClr val="5F7180"/>
      </a:folHlink>
    </a:clrScheme>
    <a:fontScheme name="Warehouse Cluster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Warehouse SKU Clustering with K-Means</dc:title>
  <dc:subject>Project Review 3, Machine Learning Unit 3</dc:subject>
  <dc:creator>Team Cash guard</dc:creator>
  <cp:lastModifiedBy>Team Cash guard</cp:lastModifiedBy>
  <cp:revision>1</cp:revision>
  <dcterms:created xsi:type="dcterms:W3CDTF">2026-10-13T08:10:52Z</dcterms:created>
  <dcterms:modified xsi:type="dcterms:W3CDTF">2026-10-13T08:10:52Z</dcterms:modified>
</cp:coreProperties>
</file>