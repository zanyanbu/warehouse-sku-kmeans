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099f2497-b5f5-05c0-974a-785f22f931ad}">
          <p14:sldIdLst>
            <p14:sldId id="256"/>
            <p14:sldId id="257"/>
            <p14:sldId id="258"/>
          </p14:sldIdLst>
        </p14:section>
        <p14:section name="Choosing the solution" id="{0bf23e29-e3f3-9ec0-318f-3c9eb4770178}">
          <p14:sldIdLst>
            <p14:sldId id="259"/>
            <p14:sldId id="260"/>
            <p14:sldId id="261"/>
          </p14:sldIdLst>
        </p14:section>
        <p14:section name="Applying K-Means" id="{feefb918-403d-9ace-d26d-aa9d6701d430}">
          <p14:sldIdLst>
            <p14:sldId id="262"/>
            <p14:sldId id="263"/>
            <p14:sldId id="264"/>
            <p14:sldId id="265"/>
          </p14:sldIdLst>
        </p14:section>
        <p14:section name="Conclusion" id="{5389a795-8b1b-6e0c-0cfb-3a87d976be45}">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F4C5C"/>
                </a:solidFill>
                <a:latin typeface="+mn-lt"/>
              </a:defRPr>
            </a:pPr>
            <a:r>
              <a:rPr sz="1200" b="0" i="0" u="none" strike="noStrike">
                <a:solidFill>
                  <a:srgbClr val="0F4C5C"/>
                </a:solidFill>
                <a:latin typeface="+mn-lt"/>
              </a:rPr>
              <a:t>Elbow curve on the real data (383 SKUs)</a:t>
            </a:r>
          </a:p>
        </c:rich>
      </c:tx>
      <c:layout/>
      <c:overlay val="0"/>
    </c:title>
    <c:autoTitleDeleted val="0"/>
    <c:plotArea>
      <c:layout/>
      <c:lineChart>
        <c:varyColors val="0"/>
        <c:ser>
          <c:idx val="0"/>
          <c:order val="0"/>
          <c:tx>
            <c:strRef>
              <c:f>Sheet1!$B$1</c:f>
              <c:strCache>
                <c:ptCount val="1"/>
                <c:pt idx="0">
                  <c:v>Within-cluster variance</c:v>
                </c:pt>
              </c:strCache>
            </c:strRef>
          </c:tx>
          <c:spPr>
            <a:solidFill>
              <a:srgbClr val="F28C28"/>
            </a:solidFill>
            <a:ln w="38100" cap="flat">
              <a:solidFill>
                <a:srgbClr val="F28C2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F28C28"/>
              </a:solidFill>
              <a:ln w="9525" cap="flat">
                <a:solidFill>
                  <a:srgbClr val="F28C28"/>
                </a:solidFill>
                <a:prstDash val="solid"/>
                <a:round/>
              </a:ln>
              <a:effectLst/>
            </c:spPr>
          </c:marker>
          <c:cat>
            <c:multiLvlStrRef>
              <c:f>Sheet1!$A$2:$A$9</c:f>
              <c:multiLvlStrCache>
                <c:ptCount val="8"/>
                <c:lvl>
                  <c:pt idx="0">
                    <c:v>1</c:v>
                  </c:pt>
                  <c:pt idx="1">
                    <c:v>2</c:v>
                  </c:pt>
                  <c:pt idx="2">
                    <c:v>3</c:v>
                  </c:pt>
                  <c:pt idx="3">
                    <c:v>4</c:v>
                  </c:pt>
                  <c:pt idx="4">
                    <c:v>5</c:v>
                  </c:pt>
                  <c:pt idx="5">
                    <c:v>6</c:v>
                  </c:pt>
                  <c:pt idx="6">
                    <c:v>7</c:v>
                  </c:pt>
                  <c:pt idx="7">
                    <c:v>8</c:v>
                  </c:pt>
                </c:lvl>
              </c:multiLvlStrCache>
            </c:multiLvlStrRef>
          </c:cat>
          <c:val>
            <c:numRef>
              <c:f>Sheet1!$B$2:$B$9</c:f>
              <c:numCache>
                <c:formatCode>General</c:formatCode>
                <c:ptCount val="8"/>
                <c:pt idx="0">
                  <c:v>1532</c:v>
                </c:pt>
                <c:pt idx="1">
                  <c:v>1025.2</c:v>
                </c:pt>
                <c:pt idx="2">
                  <c:v>772.5</c:v>
                </c:pt>
                <c:pt idx="3">
                  <c:v>600.1</c:v>
                </c:pt>
                <c:pt idx="4">
                  <c:v>511</c:v>
                </c:pt>
                <c:pt idx="5">
                  <c:v>453.9</c:v>
                </c:pt>
                <c:pt idx="6">
                  <c:v>412.4</c:v>
                </c:pt>
                <c:pt idx="7">
                  <c:v>368.2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F7180"/>
                    </a:solidFill>
                    <a:latin typeface="+mn-lt"/>
                  </a:defRPr>
                </a:pPr>
                <a:r>
                  <a:rPr sz="1100" b="0" i="0" u="none" strike="noStrike">
                    <a:solidFill>
                      <a:srgbClr val="5F7180"/>
                    </a:solidFill>
                    <a:latin typeface="+mn-lt"/>
                  </a:rPr>
                  <a:t>Number of clusters (k)</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F7180"/>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AF2F3"/>
              </a:solidFill>
              <a:prstDash val="solid"/>
              <a:round/>
            </a:ln>
          </c:spPr>
        </c:majorGridlines>
        <c:title>
          <c:tx>
            <c:rich>
              <a:bodyPr/>
              <a:lstStyle/>
              <a:p>
                <a:pPr>
                  <a:defRPr sz="1100" b="0" i="0" u="none" strike="noStrike">
                    <a:solidFill>
                      <a:srgbClr val="5F7180"/>
                    </a:solidFill>
                    <a:latin typeface="+mn-lt"/>
                  </a:defRPr>
                </a:pPr>
                <a:r>
                  <a:rPr sz="1100" b="0" i="0" u="none" strike="noStrike">
                    <a:solidFill>
                      <a:srgbClr val="5F7180"/>
                    </a:solidFill>
                    <a:latin typeface="+mn-lt"/>
                  </a:rPr>
                  <a:t>Within-cluster variance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F71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the topic. We group warehouse products using K-Means clustering, the solution we picked from Unit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problem in simple words. A warehouse has thousands of products. If similar products are grouped, managers can decide where to keep each group, and workers walk less. We group using four things shown in the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each term in one line before going further. SKU is one product type. Pick frequency and seasonal demand describe how a product moves. Clustering, centroid and unsupervised learning are the machine learning words we use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3 gives four families of solutions. K-Means and hierarchical clustering make groups. Mixtures of Gaussians make soft groups with probabilities. PCA and factor analysis only reduce the number of features. We compared all of them for our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solution we selected. Say the definition slowly. Then give the four reasons. The strongest reason: our problem says partition, and K-Means is a partitioning method where every item gets exactly one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reviewer will ask why we did not pick the others. Mixtures of Gaussians give probabilities, but a product needs one fixed zone. Hierarchical clustering compares every pair, so it is slow for a big warehouse. PCA and factor analysis do not make groups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five steps from Unit 3. Start with k random centres. Measure the distance of every SKU to every centre. Assign each SKU to the nearest centre. Move each centre to the mean of its SKUs. Repeat until no SKU changes its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used real data: the public e-commerce dataset from Olist, with about ninety-nine thousand orders from 2016 to 2018. We kept the 383 products that were ordered at least 30 times. Each SKU becomes a row of four numbers: orders, season index, volume and weight. Weight stands for handling needs, because the dataset has no handling field. Orders, volume and weight are very uneven, so we take their log, and then bring every column to the same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K-Means needs k before it starts. We used the elbow method from Unit 3 on the real data. We ran K-Means for k from 1 to 8 and plotted the within-cluster variance. The error falls by 33, 25 and 22 percent up to k equal to 4, and then only by 15 percent. So the bend is at 4, and we use 4 clusters.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four clusters K-Means found in the real data. Fast movers: 76 SKUs, ordered about 160 times each, so they go closest to packing. Bulky and heavy: 84 SKUs, about 47 litres and 7.6 kilos, kept at ground level. Seasonal: 25 SKUs whose orders bunch into one month, kept in a flexible zone. Regular small items: 198 SKUs, on the back racks.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 back to the problem statement. Fast movers sit closest to packing. In our simple one-aisle model the walk per pick falls from about 64 metres to about 47 metres, which is 27 percent less. Say clearly that this is a model, not a measurement. Bulky and heavy products get their own ground-level zone, and seasonal products are one group that is easy to move forward in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three points: the problem, the chosen solution, and the test on real data. Point to the live demo and the Colab code, then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548640" y="365760"/>
            <a:ext cx="2514600" cy="1024128"/>
          </a:xfrm>
          <a:prstGeom prst="roundRect">
            <a:avLst>
              <a:gd name="adj" fmla="val 7143"/>
            </a:avLst>
          </a:prstGeom>
          <a:solidFill>
            <a:schemeClr val="bg1"/>
          </a:solidFill>
          <a:ln>
            <a:solidFill>
              <a:schemeClr val="bg1"/>
            </a:solidFill>
          </a:ln>
        </p:spPr>
        <p:txBody>
          <a:bodyPr wrap="square" rtlCol="0" anchor="ctr"/>
          <a:lstStyle/>
          <a:p>
            <a:pPr indent="0" marL="0">
              <a:buNone/>
            </a:pPr>
            <a:endParaRPr lang="en-US" dirty="0"/>
          </a:p>
        </p:txBody>
      </p:sp>
      <p:pic>
        <p:nvPicPr>
          <p:cNvPr id="3" name="Image 0" descr="SRM Institute of Science and Technology logo">    </p:cNvPr>
          <p:cNvPicPr>
            <a:picLocks noChangeAspect="1"/>
          </p:cNvPicPr>
          <p:nvPr/>
        </p:nvPicPr>
        <p:blipFill>
          <a:blip r:embed="rId1"/>
          <a:stretch>
            <a:fillRect/>
          </a:stretch>
        </p:blipFill>
        <p:spPr>
          <a:xfrm>
            <a:off x="685800" y="434340"/>
            <a:ext cx="2240280" cy="886968"/>
          </a:xfrm>
          <a:prstGeom prst="rect">
            <a:avLst/>
          </a:prstGeom>
        </p:spPr>
      </p:pic>
      <p:sp>
        <p:nvSpPr>
          <p:cNvPr id="4" name="Text 1"/>
          <p:cNvSpPr/>
          <p:nvPr>
            <p:ph idx="102" type="title" hasCustomPrompt="1"/>
          </p:nvPr>
        </p:nvSpPr>
        <p:spPr>
          <a:xfrm>
            <a:off x="548640" y="1645920"/>
            <a:ext cx="5120640" cy="16002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5" name="Text 1"/>
          <p:cNvSpPr/>
          <p:nvPr>
            <p:ph idx="103" type="body" hasCustomPrompt="1"/>
          </p:nvPr>
        </p:nvSpPr>
        <p:spPr>
          <a:xfrm>
            <a:off x="548640" y="3291840"/>
            <a:ext cx="5120640" cy="365760"/>
          </a:xfrm>
          <a:prstGeom prst="rect">
            <a:avLst/>
          </a:prstGeom>
          <a:noFill/>
          <a:ln/>
        </p:spPr>
        <p:txBody>
          <a:bodyPr wrap="square" rtlCol="0"/>
          <a:lstStyle>
            <a:lvl1pPr algn="l" indent="0" marL="0">
              <a:buNone/>
              <a:defRPr lang="en-US" sz="1600" dirty="0">
                <a:solidFill>
                  <a:schemeClr val="bg2"/>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3" name="Text 0"/>
          <p:cNvSpPr/>
          <p:nvPr/>
        </p:nvSpPr>
        <p:spPr>
          <a:xfrm>
            <a:off x="7973568" y="521208"/>
            <a:ext cx="182880" cy="182880"/>
          </a:xfrm>
          <a:prstGeom prst="ellipse">
            <a:avLst/>
          </a:prstGeom>
          <a:solidFill>
            <a:schemeClr val="accent2"/>
          </a:solidFill>
          <a:ln>
            <a:solidFill>
              <a:schemeClr val="accent2"/>
            </a:solidFill>
          </a:ln>
        </p:spPr>
        <p:txBody>
          <a:bodyPr wrap="square" rtlCol="0" anchor="ctr"/>
          <a:lstStyle/>
          <a:p>
            <a:pPr indent="0" marL="0">
              <a:buNone/>
            </a:pPr>
            <a:endParaRPr lang="en-US" dirty="0"/>
          </a:p>
        </p:txBody>
      </p:sp>
      <p:sp>
        <p:nvSpPr>
          <p:cNvPr id="4" name="Text 1"/>
          <p:cNvSpPr/>
          <p:nvPr/>
        </p:nvSpPr>
        <p:spPr>
          <a:xfrm>
            <a:off x="8229600" y="521208"/>
            <a:ext cx="182880" cy="182880"/>
          </a:xfrm>
          <a:prstGeom prst="ellipse">
            <a:avLst/>
          </a:prstGeom>
          <a:solidFill>
            <a:schemeClr val="accent3"/>
          </a:solidFill>
          <a:ln>
            <a:solidFill>
              <a:schemeClr val="accent3"/>
            </a:solidFill>
          </a:ln>
        </p:spPr>
        <p:txBody>
          <a:bodyPr wrap="square" rtlCol="0" anchor="ctr"/>
          <a:lstStyle/>
          <a:p>
            <a:pPr indent="0" marL="0">
              <a:buNone/>
            </a:pPr>
            <a:endParaRPr lang="en-US" dirty="0"/>
          </a:p>
        </p:txBody>
      </p:sp>
      <p:sp>
        <p:nvSpPr>
          <p:cNvPr id="5" name="Text 2"/>
          <p:cNvSpPr/>
          <p:nvPr/>
        </p:nvSpPr>
        <p:spPr>
          <a:xfrm>
            <a:off x="8485632" y="521208"/>
            <a:ext cx="182880" cy="182880"/>
          </a:xfrm>
          <a:prstGeom prst="ellipse">
            <a:avLst/>
          </a:prstGeom>
          <a:solidFill>
            <a:schemeClr val="accent4"/>
          </a:solidFill>
          <a:ln>
            <a:solidFill>
              <a:schemeClr val="accent4"/>
            </a:solidFill>
          </a:ln>
        </p:spPr>
        <p:txBody>
          <a:bodyPr wrap="square" rtlCol="0" anchor="ctr"/>
          <a:lstStyle/>
          <a:p>
            <a:pPr indent="0" marL="0">
              <a:buNone/>
            </a:pPr>
            <a:endParaRPr lang="en-US" dirty="0"/>
          </a:p>
        </p:txBody>
      </p:sp>
      <p:sp>
        <p:nvSpPr>
          <p:cNvPr id="6" name="Text 3"/>
          <p:cNvSpPr/>
          <p:nvPr/>
        </p:nvSpPr>
        <p:spPr>
          <a:xfrm>
            <a:off x="457200" y="4727448"/>
            <a:ext cx="5486400" cy="274320"/>
          </a:xfrm>
          <a:prstGeom prst="rect">
            <a:avLst/>
          </a:prstGeom>
          <a:noFill/>
          <a:ln/>
        </p:spPr>
        <p:txBody>
          <a:bodyPr wrap="square" lIns="0" tIns="0" rIns="0" bIns="0" rtlCol="0" anchor="ctr"/>
          <a:lstStyle/>
          <a:p>
            <a:pPr algn="l" indent="0" marL="0">
              <a:buNone/>
            </a:pPr>
            <a:r>
              <a:rPr lang="en-US" sz="1000" dirty="0">
                <a:solidFill>
                  <a:schemeClr val="accent5"/>
                </a:solidFill>
              </a:rPr>
              <a:t>Warehouse SKU clustering  |  Project Review 3</a:t>
            </a:r>
            <a:endParaRPr lang="en-US" sz="10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5120640" cy="7315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github.com/olist/work-at-olist-data" TargetMode="Externa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2" type="title" hasCustomPrompt="1"/>
          </p:nvPr>
        </p:nvSpPr>
        <p:spPr>
          <a:xfrm>
            <a:off x="548640" y="1645920"/>
            <a:ext cx="5120640" cy="1600200"/>
          </a:xfrm>
          <a:prstGeom prst="rect">
            <a:avLst/>
          </a:prstGeom>
          <a:noFill/>
          <a:ln/>
        </p:spPr>
        <p:txBody>
          <a:bodyPr wrap="square" lIns="0" tIns="0" rIns="0" bIns="0" rtlCol="0" anchor="t"/>
          <a:lstStyle/>
          <a:p>
            <a:pPr algn="l" indent="0" marL="0">
              <a:buNone/>
            </a:pPr>
            <a:r>
              <a:rPr lang="en-US" sz="3400" b="1" dirty="0">
                <a:solidFill>
                  <a:schemeClr val="bg1"/>
                </a:solidFill>
              </a:rPr>
              <a:t>Grouping Warehouse Products with K-Means Clustering</a:t>
            </a:r>
            <a:endParaRPr lang="en-US" sz="3400" dirty="0"/>
          </a:p>
        </p:txBody>
      </p:sp>
      <p:sp>
        <p:nvSpPr>
          <p:cNvPr id="3" name="Text 1"/>
          <p:cNvSpPr/>
          <p:nvPr>
            <p:ph idx="103" type="body" hasCustomPrompt="1"/>
          </p:nvPr>
        </p:nvSpPr>
        <p:spPr>
          <a:xfrm>
            <a:off x="548640" y="3291840"/>
            <a:ext cx="5120640" cy="365760"/>
          </a:xfrm>
          <a:prstGeom prst="rect">
            <a:avLst/>
          </a:prstGeom>
          <a:noFill/>
          <a:ln/>
        </p:spPr>
        <p:txBody>
          <a:bodyPr wrap="square" lIns="0" tIns="0" rIns="0" bIns="0" rtlCol="0" anchor="ctr"/>
          <a:lstStyle/>
          <a:p>
            <a:pPr algn="l" indent="0" marL="0">
              <a:buNone/>
            </a:pPr>
            <a:r>
              <a:rPr lang="en-US" sz="1600" dirty="0">
                <a:solidFill>
                  <a:schemeClr val="bg2"/>
                </a:solidFill>
              </a:rPr>
              <a:t>Project Review 3  |  Unit 3</a:t>
            </a:r>
            <a:endParaRPr lang="en-US" sz="1600" dirty="0"/>
          </a:p>
        </p:txBody>
      </p:sp>
      <p:sp>
        <p:nvSpPr>
          <p:cNvPr id="4" name="Text 1"/>
          <p:cNvSpPr txBox="1"/>
          <p:nvPr/>
        </p:nvSpPr>
        <p:spPr>
          <a:xfrm>
            <a:off x="3291840" y="365760"/>
            <a:ext cx="2377440" cy="1024128"/>
          </a:xfrm>
          <a:prstGeom prst="rect">
            <a:avLst/>
          </a:prstGeom>
          <a:noFill/>
          <a:ln/>
        </p:spPr>
        <p:txBody>
          <a:bodyPr wrap="square" lIns="0" tIns="0" rIns="0" bIns="0" rtlCol="0" anchor="ctr"/>
          <a:lstStyle/>
          <a:p>
            <a:pPr algn="l" indent="0" marL="0">
              <a:buNone/>
            </a:pPr>
            <a:r>
              <a:rPr lang="en-US" sz="1800" b="1" dirty="0">
                <a:solidFill>
                  <a:schemeClr val="accent4"/>
                </a:solidFill>
              </a:rPr>
              <a:t>21CSC305P</a:t>
            </a:r>
            <a:endParaRPr lang="en-US" sz="1400" dirty="0"/>
          </a:p>
          <a:p>
            <a:pPr algn="l" indent="0" marL="0">
              <a:buNone/>
            </a:pPr>
            <a:r>
              <a:rPr lang="en-US" sz="1800" b="1" dirty="0">
                <a:solidFill>
                  <a:schemeClr val="bg1"/>
                </a:solidFill>
              </a:rPr>
              <a:t>MACHINE LEARNING</a:t>
            </a:r>
            <a:endParaRPr lang="en-US" sz="1400" dirty="0"/>
          </a:p>
        </p:txBody>
      </p:sp>
      <p:sp>
        <p:nvSpPr>
          <p:cNvPr id="5" name="Text 2"/>
          <p:cNvSpPr txBox="1"/>
          <p:nvPr/>
        </p:nvSpPr>
        <p:spPr>
          <a:xfrm>
            <a:off x="548640" y="3767328"/>
            <a:ext cx="5120640" cy="914400"/>
          </a:xfrm>
          <a:prstGeom prst="rect">
            <a:avLst/>
          </a:prstGeom>
          <a:noFill/>
          <a:ln/>
        </p:spPr>
        <p:txBody>
          <a:bodyPr wrap="square" lIns="0" tIns="0" rIns="0" bIns="0" rtlCol="0" anchor="t"/>
          <a:lstStyle/>
          <a:p>
            <a:pPr algn="l" indent="0" marL="0">
              <a:spcAft>
                <a:spcPts val="600"/>
              </a:spcAft>
              <a:buNone/>
            </a:pPr>
            <a:r>
              <a:rPr lang="en-US" sz="1500" b="1" dirty="0">
                <a:solidFill>
                  <a:schemeClr val="accent4"/>
                </a:solidFill>
              </a:rPr>
              <a:t>Team: Cash guard (No. 17)</a:t>
            </a:r>
            <a:endParaRPr lang="en-US" sz="1400" dirty="0"/>
          </a:p>
          <a:p>
            <a:pPr algn="l" indent="0" marL="0">
              <a:spcAft>
                <a:spcPts val="600"/>
              </a:spcAft>
              <a:buNone/>
            </a:pPr>
            <a:r>
              <a:rPr lang="en-US" sz="1400" dirty="0">
                <a:solidFill>
                  <a:schemeClr val="bg1"/>
                </a:solidFill>
              </a:rPr>
              <a:t>V. Anbu Chelvan,  S Roopesh,  B. Charith Reddy,  Y Rupesh Reddy</a:t>
            </a:r>
            <a:endParaRPr lang="en-US" sz="1400" dirty="0"/>
          </a:p>
          <a:p>
            <a:pPr algn="l" indent="0" marL="0">
              <a:spcAft>
                <a:spcPts val="600"/>
              </a:spcAft>
              <a:buNone/>
            </a:pPr>
            <a:r>
              <a:rPr lang="en-US" sz="1200" dirty="0">
                <a:solidFill>
                  <a:schemeClr val="bg2"/>
                </a:solidFill>
              </a:rPr>
              <a:t>13 October 2026</a:t>
            </a:r>
            <a:endParaRPr lang="en-US" sz="1400" dirty="0"/>
          </a:p>
        </p:txBody>
      </p:sp>
      <p:sp>
        <p:nvSpPr>
          <p:cNvPr id="6" name="Dot 3"/>
          <p:cNvSpPr/>
          <p:nvPr/>
        </p:nvSpPr>
        <p:spPr>
          <a:xfrm>
            <a:off x="6318504" y="1124712"/>
            <a:ext cx="219456" cy="219456"/>
          </a:xfrm>
          <a:prstGeom prst="ellipse">
            <a:avLst/>
          </a:prstGeom>
          <a:solidFill>
            <a:schemeClr val="accent2"/>
          </a:solidFill>
          <a:ln w="12700">
            <a:solidFill>
              <a:schemeClr val="accent2"/>
            </a:solidFill>
            <a:prstDash val="solid"/>
          </a:ln>
        </p:spPr>
      </p:sp>
      <p:sp>
        <p:nvSpPr>
          <p:cNvPr id="7" name="Dot 4"/>
          <p:cNvSpPr/>
          <p:nvPr/>
        </p:nvSpPr>
        <p:spPr>
          <a:xfrm>
            <a:off x="6592824" y="896112"/>
            <a:ext cx="219456" cy="219456"/>
          </a:xfrm>
          <a:prstGeom prst="ellipse">
            <a:avLst/>
          </a:prstGeom>
          <a:solidFill>
            <a:schemeClr val="accent2"/>
          </a:solidFill>
          <a:ln w="12700">
            <a:solidFill>
              <a:schemeClr val="accent2"/>
            </a:solidFill>
            <a:prstDash val="solid"/>
          </a:ln>
        </p:spPr>
      </p:sp>
      <p:sp>
        <p:nvSpPr>
          <p:cNvPr id="8" name="Dot 5"/>
          <p:cNvSpPr/>
          <p:nvPr/>
        </p:nvSpPr>
        <p:spPr>
          <a:xfrm>
            <a:off x="6976872" y="1005840"/>
            <a:ext cx="219456" cy="219456"/>
          </a:xfrm>
          <a:prstGeom prst="ellipse">
            <a:avLst/>
          </a:prstGeom>
          <a:solidFill>
            <a:schemeClr val="accent2"/>
          </a:solidFill>
          <a:ln w="12700">
            <a:solidFill>
              <a:schemeClr val="accent2"/>
            </a:solidFill>
            <a:prstDash val="solid"/>
          </a:ln>
        </p:spPr>
      </p:sp>
      <p:sp>
        <p:nvSpPr>
          <p:cNvPr id="9" name="Dot 6"/>
          <p:cNvSpPr/>
          <p:nvPr/>
        </p:nvSpPr>
        <p:spPr>
          <a:xfrm>
            <a:off x="7123176" y="1353312"/>
            <a:ext cx="219456" cy="219456"/>
          </a:xfrm>
          <a:prstGeom prst="ellipse">
            <a:avLst/>
          </a:prstGeom>
          <a:solidFill>
            <a:schemeClr val="accent2"/>
          </a:solidFill>
          <a:ln w="12700">
            <a:solidFill>
              <a:schemeClr val="accent2"/>
            </a:solidFill>
            <a:prstDash val="solid"/>
          </a:ln>
        </p:spPr>
      </p:sp>
      <p:sp>
        <p:nvSpPr>
          <p:cNvPr id="10" name="Dot 7"/>
          <p:cNvSpPr/>
          <p:nvPr/>
        </p:nvSpPr>
        <p:spPr>
          <a:xfrm>
            <a:off x="6867144" y="1655064"/>
            <a:ext cx="219456" cy="219456"/>
          </a:xfrm>
          <a:prstGeom prst="ellipse">
            <a:avLst/>
          </a:prstGeom>
          <a:solidFill>
            <a:schemeClr val="accent2"/>
          </a:solidFill>
          <a:ln w="12700">
            <a:solidFill>
              <a:schemeClr val="accent2"/>
            </a:solidFill>
            <a:prstDash val="solid"/>
          </a:ln>
        </p:spPr>
      </p:sp>
      <p:sp>
        <p:nvSpPr>
          <p:cNvPr id="11" name="Dot 8"/>
          <p:cNvSpPr/>
          <p:nvPr/>
        </p:nvSpPr>
        <p:spPr>
          <a:xfrm>
            <a:off x="6473952" y="1581912"/>
            <a:ext cx="219456" cy="219456"/>
          </a:xfrm>
          <a:prstGeom prst="ellipse">
            <a:avLst/>
          </a:prstGeom>
          <a:solidFill>
            <a:schemeClr val="accent2"/>
          </a:solidFill>
          <a:ln w="12700">
            <a:solidFill>
              <a:schemeClr val="accent2"/>
            </a:solidFill>
            <a:prstDash val="solid"/>
          </a:ln>
        </p:spPr>
      </p:sp>
      <p:sp>
        <p:nvSpPr>
          <p:cNvPr id="12" name="Dot 9"/>
          <p:cNvSpPr/>
          <p:nvPr/>
        </p:nvSpPr>
        <p:spPr>
          <a:xfrm>
            <a:off x="6245352" y="1417320"/>
            <a:ext cx="219456" cy="219456"/>
          </a:xfrm>
          <a:prstGeom prst="ellipse">
            <a:avLst/>
          </a:prstGeom>
          <a:solidFill>
            <a:schemeClr val="accent2"/>
          </a:solidFill>
          <a:ln w="12700">
            <a:solidFill>
              <a:schemeClr val="accent2"/>
            </a:solidFill>
            <a:prstDash val="solid"/>
          </a:ln>
        </p:spPr>
      </p:sp>
      <p:sp>
        <p:nvSpPr>
          <p:cNvPr id="13" name="Centroid 10"/>
          <p:cNvSpPr/>
          <p:nvPr/>
        </p:nvSpPr>
        <p:spPr>
          <a:xfrm>
            <a:off x="6693408" y="1298448"/>
            <a:ext cx="237744" cy="237744"/>
          </a:xfrm>
          <a:prstGeom prst="ellipse">
            <a:avLst/>
          </a:prstGeom>
          <a:solidFill>
            <a:schemeClr val="tx2"/>
          </a:solidFill>
          <a:ln w="31750">
            <a:solidFill>
              <a:schemeClr val="accent2"/>
            </a:solidFill>
            <a:prstDash val="solid"/>
          </a:ln>
        </p:spPr>
      </p:sp>
      <p:sp>
        <p:nvSpPr>
          <p:cNvPr id="14" name="Dot 11"/>
          <p:cNvSpPr/>
          <p:nvPr/>
        </p:nvSpPr>
        <p:spPr>
          <a:xfrm>
            <a:off x="7415784" y="2313432"/>
            <a:ext cx="219456" cy="219456"/>
          </a:xfrm>
          <a:prstGeom prst="ellipse">
            <a:avLst/>
          </a:prstGeom>
          <a:solidFill>
            <a:schemeClr val="accent4"/>
          </a:solidFill>
          <a:ln w="12700">
            <a:solidFill>
              <a:schemeClr val="accent4"/>
            </a:solidFill>
            <a:prstDash val="solid"/>
          </a:ln>
        </p:spPr>
      </p:sp>
      <p:sp>
        <p:nvSpPr>
          <p:cNvPr id="15" name="Dot 12"/>
          <p:cNvSpPr/>
          <p:nvPr/>
        </p:nvSpPr>
        <p:spPr>
          <a:xfrm>
            <a:off x="7690104" y="2084832"/>
            <a:ext cx="219456" cy="219456"/>
          </a:xfrm>
          <a:prstGeom prst="ellipse">
            <a:avLst/>
          </a:prstGeom>
          <a:solidFill>
            <a:schemeClr val="accent4"/>
          </a:solidFill>
          <a:ln w="12700">
            <a:solidFill>
              <a:schemeClr val="accent4"/>
            </a:solidFill>
            <a:prstDash val="solid"/>
          </a:ln>
        </p:spPr>
      </p:sp>
      <p:sp>
        <p:nvSpPr>
          <p:cNvPr id="16" name="Dot 13"/>
          <p:cNvSpPr/>
          <p:nvPr/>
        </p:nvSpPr>
        <p:spPr>
          <a:xfrm>
            <a:off x="8074152" y="2194560"/>
            <a:ext cx="219456" cy="219456"/>
          </a:xfrm>
          <a:prstGeom prst="ellipse">
            <a:avLst/>
          </a:prstGeom>
          <a:solidFill>
            <a:schemeClr val="accent4"/>
          </a:solidFill>
          <a:ln w="12700">
            <a:solidFill>
              <a:schemeClr val="accent4"/>
            </a:solidFill>
            <a:prstDash val="solid"/>
          </a:ln>
        </p:spPr>
      </p:sp>
      <p:sp>
        <p:nvSpPr>
          <p:cNvPr id="17" name="Dot 14"/>
          <p:cNvSpPr/>
          <p:nvPr/>
        </p:nvSpPr>
        <p:spPr>
          <a:xfrm>
            <a:off x="8220456" y="2542032"/>
            <a:ext cx="219456" cy="219456"/>
          </a:xfrm>
          <a:prstGeom prst="ellipse">
            <a:avLst/>
          </a:prstGeom>
          <a:solidFill>
            <a:schemeClr val="accent4"/>
          </a:solidFill>
          <a:ln w="12700">
            <a:solidFill>
              <a:schemeClr val="accent4"/>
            </a:solidFill>
            <a:prstDash val="solid"/>
          </a:ln>
        </p:spPr>
      </p:sp>
      <p:sp>
        <p:nvSpPr>
          <p:cNvPr id="18" name="Dot 15"/>
          <p:cNvSpPr/>
          <p:nvPr/>
        </p:nvSpPr>
        <p:spPr>
          <a:xfrm>
            <a:off x="7964424" y="2843784"/>
            <a:ext cx="219456" cy="219456"/>
          </a:xfrm>
          <a:prstGeom prst="ellipse">
            <a:avLst/>
          </a:prstGeom>
          <a:solidFill>
            <a:schemeClr val="accent4"/>
          </a:solidFill>
          <a:ln w="12700">
            <a:solidFill>
              <a:schemeClr val="accent4"/>
            </a:solidFill>
            <a:prstDash val="solid"/>
          </a:ln>
        </p:spPr>
      </p:sp>
      <p:sp>
        <p:nvSpPr>
          <p:cNvPr id="19" name="Dot 16"/>
          <p:cNvSpPr/>
          <p:nvPr/>
        </p:nvSpPr>
        <p:spPr>
          <a:xfrm>
            <a:off x="7571232" y="2770632"/>
            <a:ext cx="219456" cy="219456"/>
          </a:xfrm>
          <a:prstGeom prst="ellipse">
            <a:avLst/>
          </a:prstGeom>
          <a:solidFill>
            <a:schemeClr val="accent4"/>
          </a:solidFill>
          <a:ln w="12700">
            <a:solidFill>
              <a:schemeClr val="accent4"/>
            </a:solidFill>
            <a:prstDash val="solid"/>
          </a:ln>
        </p:spPr>
      </p:sp>
      <p:sp>
        <p:nvSpPr>
          <p:cNvPr id="20" name="Dot 17"/>
          <p:cNvSpPr/>
          <p:nvPr/>
        </p:nvSpPr>
        <p:spPr>
          <a:xfrm>
            <a:off x="7342632" y="2606040"/>
            <a:ext cx="219456" cy="219456"/>
          </a:xfrm>
          <a:prstGeom prst="ellipse">
            <a:avLst/>
          </a:prstGeom>
          <a:solidFill>
            <a:schemeClr val="accent4"/>
          </a:solidFill>
          <a:ln w="12700">
            <a:solidFill>
              <a:schemeClr val="accent4"/>
            </a:solidFill>
            <a:prstDash val="solid"/>
          </a:ln>
        </p:spPr>
      </p:sp>
      <p:sp>
        <p:nvSpPr>
          <p:cNvPr id="21" name="Centroid 18"/>
          <p:cNvSpPr/>
          <p:nvPr/>
        </p:nvSpPr>
        <p:spPr>
          <a:xfrm>
            <a:off x="7790688" y="2487168"/>
            <a:ext cx="237744" cy="237744"/>
          </a:xfrm>
          <a:prstGeom prst="ellipse">
            <a:avLst/>
          </a:prstGeom>
          <a:solidFill>
            <a:schemeClr val="tx2"/>
          </a:solidFill>
          <a:ln w="31750">
            <a:solidFill>
              <a:schemeClr val="accent4"/>
            </a:solidFill>
            <a:prstDash val="solid"/>
          </a:ln>
        </p:spPr>
      </p:sp>
      <p:sp>
        <p:nvSpPr>
          <p:cNvPr id="22" name="Dot 19"/>
          <p:cNvSpPr/>
          <p:nvPr/>
        </p:nvSpPr>
        <p:spPr>
          <a:xfrm>
            <a:off x="6227064" y="3364992"/>
            <a:ext cx="219456" cy="219456"/>
          </a:xfrm>
          <a:prstGeom prst="ellipse">
            <a:avLst/>
          </a:prstGeom>
          <a:solidFill>
            <a:schemeClr val="accent3"/>
          </a:solidFill>
          <a:ln w="12700">
            <a:solidFill>
              <a:schemeClr val="accent3"/>
            </a:solidFill>
            <a:prstDash val="solid"/>
          </a:ln>
        </p:spPr>
      </p:sp>
      <p:sp>
        <p:nvSpPr>
          <p:cNvPr id="23" name="Dot 20"/>
          <p:cNvSpPr/>
          <p:nvPr/>
        </p:nvSpPr>
        <p:spPr>
          <a:xfrm>
            <a:off x="6501384" y="3136392"/>
            <a:ext cx="219456" cy="219456"/>
          </a:xfrm>
          <a:prstGeom prst="ellipse">
            <a:avLst/>
          </a:prstGeom>
          <a:solidFill>
            <a:schemeClr val="accent3"/>
          </a:solidFill>
          <a:ln w="12700">
            <a:solidFill>
              <a:schemeClr val="accent3"/>
            </a:solidFill>
            <a:prstDash val="solid"/>
          </a:ln>
        </p:spPr>
      </p:sp>
      <p:sp>
        <p:nvSpPr>
          <p:cNvPr id="24" name="Dot 21"/>
          <p:cNvSpPr/>
          <p:nvPr/>
        </p:nvSpPr>
        <p:spPr>
          <a:xfrm>
            <a:off x="6885432" y="3246120"/>
            <a:ext cx="219456" cy="219456"/>
          </a:xfrm>
          <a:prstGeom prst="ellipse">
            <a:avLst/>
          </a:prstGeom>
          <a:solidFill>
            <a:schemeClr val="accent3"/>
          </a:solidFill>
          <a:ln w="12700">
            <a:solidFill>
              <a:schemeClr val="accent3"/>
            </a:solidFill>
            <a:prstDash val="solid"/>
          </a:ln>
        </p:spPr>
      </p:sp>
      <p:sp>
        <p:nvSpPr>
          <p:cNvPr id="25" name="Dot 22"/>
          <p:cNvSpPr/>
          <p:nvPr/>
        </p:nvSpPr>
        <p:spPr>
          <a:xfrm>
            <a:off x="7031736" y="3593592"/>
            <a:ext cx="219456" cy="219456"/>
          </a:xfrm>
          <a:prstGeom prst="ellipse">
            <a:avLst/>
          </a:prstGeom>
          <a:solidFill>
            <a:schemeClr val="accent3"/>
          </a:solidFill>
          <a:ln w="12700">
            <a:solidFill>
              <a:schemeClr val="accent3"/>
            </a:solidFill>
            <a:prstDash val="solid"/>
          </a:ln>
        </p:spPr>
      </p:sp>
      <p:sp>
        <p:nvSpPr>
          <p:cNvPr id="26" name="Dot 23"/>
          <p:cNvSpPr/>
          <p:nvPr/>
        </p:nvSpPr>
        <p:spPr>
          <a:xfrm>
            <a:off x="6775704" y="3895344"/>
            <a:ext cx="219456" cy="219456"/>
          </a:xfrm>
          <a:prstGeom prst="ellipse">
            <a:avLst/>
          </a:prstGeom>
          <a:solidFill>
            <a:schemeClr val="accent3"/>
          </a:solidFill>
          <a:ln w="12700">
            <a:solidFill>
              <a:schemeClr val="accent3"/>
            </a:solidFill>
            <a:prstDash val="solid"/>
          </a:ln>
        </p:spPr>
      </p:sp>
      <p:sp>
        <p:nvSpPr>
          <p:cNvPr id="27" name="Dot 24"/>
          <p:cNvSpPr/>
          <p:nvPr/>
        </p:nvSpPr>
        <p:spPr>
          <a:xfrm>
            <a:off x="6382512" y="3822192"/>
            <a:ext cx="219456" cy="219456"/>
          </a:xfrm>
          <a:prstGeom prst="ellipse">
            <a:avLst/>
          </a:prstGeom>
          <a:solidFill>
            <a:schemeClr val="accent3"/>
          </a:solidFill>
          <a:ln w="12700">
            <a:solidFill>
              <a:schemeClr val="accent3"/>
            </a:solidFill>
            <a:prstDash val="solid"/>
          </a:ln>
        </p:spPr>
      </p:sp>
      <p:sp>
        <p:nvSpPr>
          <p:cNvPr id="28" name="Dot 25"/>
          <p:cNvSpPr/>
          <p:nvPr/>
        </p:nvSpPr>
        <p:spPr>
          <a:xfrm>
            <a:off x="6153912" y="3657600"/>
            <a:ext cx="219456" cy="219456"/>
          </a:xfrm>
          <a:prstGeom prst="ellipse">
            <a:avLst/>
          </a:prstGeom>
          <a:solidFill>
            <a:schemeClr val="accent3"/>
          </a:solidFill>
          <a:ln w="12700">
            <a:solidFill>
              <a:schemeClr val="accent3"/>
            </a:solidFill>
            <a:prstDash val="solid"/>
          </a:ln>
        </p:spPr>
      </p:sp>
      <p:sp>
        <p:nvSpPr>
          <p:cNvPr id="29" name="Centroid 26"/>
          <p:cNvSpPr/>
          <p:nvPr/>
        </p:nvSpPr>
        <p:spPr>
          <a:xfrm>
            <a:off x="6601968" y="3538728"/>
            <a:ext cx="237744" cy="237744"/>
          </a:xfrm>
          <a:prstGeom prst="ellipse">
            <a:avLst/>
          </a:prstGeom>
          <a:solidFill>
            <a:schemeClr val="tx2"/>
          </a:solidFill>
          <a:ln w="31750">
            <a:solidFill>
              <a:schemeClr val="accent3"/>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Our problem statement</a:t>
            </a:r>
            <a:endParaRPr lang="en-US" sz="3600" dirty="0"/>
          </a:p>
        </p:txBody>
      </p:sp>
      <p:sp>
        <p:nvSpPr>
          <p:cNvPr id="4" name="Card 27"/>
          <p:cNvSpPr/>
          <p:nvPr/>
        </p:nvSpPr>
        <p:spPr>
          <a:xfrm>
            <a:off x="457200" y="1143000"/>
            <a:ext cx="8229600" cy="868680"/>
          </a:xfrm>
          <a:prstGeom prst="roundRect">
            <a:avLst>
              <a:gd name="adj" fmla="val 8421"/>
            </a:avLst>
          </a:prstGeom>
          <a:solidFill>
            <a:schemeClr val="bg2"/>
          </a:solidFill>
          <a:ln w="12700">
            <a:solidFill>
              <a:schemeClr val="bg2"/>
            </a:solidFill>
            <a:prstDash val="solid"/>
          </a:ln>
        </p:spPr>
      </p:sp>
      <p:sp>
        <p:nvSpPr>
          <p:cNvPr id="5" name="Text 28"/>
          <p:cNvSpPr txBox="1"/>
          <p:nvPr/>
        </p:nvSpPr>
        <p:spPr>
          <a:xfrm>
            <a:off x="640080" y="1143000"/>
            <a:ext cx="7863840" cy="868680"/>
          </a:xfrm>
          <a:prstGeom prst="rect">
            <a:avLst/>
          </a:prstGeom>
          <a:noFill/>
          <a:ln/>
        </p:spPr>
        <p:txBody>
          <a:bodyPr wrap="square" lIns="0" tIns="0" rIns="0" bIns="0" rtlCol="0" anchor="ctr"/>
          <a:lstStyle/>
          <a:p>
            <a:pPr algn="l" indent="0" marL="0">
              <a:buNone/>
            </a:pPr>
            <a:r>
              <a:rPr lang="en-US" sz="1700" dirty="0">
                <a:solidFill>
                  <a:schemeClr val="tx1"/>
                </a:solidFill>
              </a:rPr>
              <a:t>Group warehouse products (SKUs) that behave alike, so managers can place them smartly and workers walk less while picking orders.</a:t>
            </a:r>
            <a:endParaRPr lang="en-US" sz="1700" dirty="0"/>
          </a:p>
        </p:txBody>
      </p:sp>
      <p:sp>
        <p:nvSpPr>
          <p:cNvPr id="6" name="Text 29"/>
          <p:cNvSpPr txBox="1"/>
          <p:nvPr/>
        </p:nvSpPr>
        <p:spPr>
          <a:xfrm>
            <a:off x="457200" y="2130552"/>
            <a:ext cx="8229600" cy="274320"/>
          </a:xfrm>
          <a:prstGeom prst="rect">
            <a:avLst/>
          </a:prstGeom>
          <a:noFill/>
          <a:ln/>
        </p:spPr>
        <p:txBody>
          <a:bodyPr wrap="square" lIns="0" tIns="0" rIns="0" bIns="0" rtlCol="0" anchor="t"/>
          <a:lstStyle/>
          <a:p>
            <a:pPr algn="l" indent="0" marL="0">
              <a:buNone/>
            </a:pPr>
            <a:r>
              <a:rPr lang="en-US" sz="1500" b="1" dirty="0">
                <a:solidFill>
                  <a:schemeClr val="tx2"/>
                </a:solidFill>
              </a:rPr>
              <a:t>We group the SKUs using four things</a:t>
            </a:r>
            <a:endParaRPr lang="en-US" sz="1500" dirty="0"/>
          </a:p>
        </p:txBody>
      </p:sp>
      <p:sp>
        <p:nvSpPr>
          <p:cNvPr id="7" name="Card 30"/>
          <p:cNvSpPr/>
          <p:nvPr/>
        </p:nvSpPr>
        <p:spPr>
          <a:xfrm>
            <a:off x="457200" y="2468880"/>
            <a:ext cx="1920240" cy="1371600"/>
          </a:xfrm>
          <a:prstGeom prst="roundRect">
            <a:avLst>
              <a:gd name="adj" fmla="val 5333"/>
            </a:avLst>
          </a:prstGeom>
          <a:solidFill>
            <a:schemeClr val="bg2"/>
          </a:solidFill>
          <a:ln w="12700">
            <a:solidFill>
              <a:schemeClr val="bg2"/>
            </a:solidFill>
            <a:prstDash val="solid"/>
          </a:ln>
        </p:spPr>
      </p:sp>
      <p:sp>
        <p:nvSpPr>
          <p:cNvPr id="8" name="Badge 31"/>
          <p:cNvSpPr/>
          <p:nvPr/>
        </p:nvSpPr>
        <p:spPr>
          <a:xfrm>
            <a:off x="594360" y="2578608"/>
            <a:ext cx="347472" cy="347472"/>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9" name="Text 32"/>
          <p:cNvSpPr txBox="1"/>
          <p:nvPr/>
        </p:nvSpPr>
        <p:spPr>
          <a:xfrm>
            <a:off x="594360" y="2990088"/>
            <a:ext cx="1691640" cy="292608"/>
          </a:xfrm>
          <a:prstGeom prst="rect">
            <a:avLst/>
          </a:prstGeom>
          <a:noFill/>
          <a:ln/>
        </p:spPr>
        <p:txBody>
          <a:bodyPr wrap="square" lIns="0" tIns="0" rIns="0" bIns="0" rtlCol="0" anchor="t"/>
          <a:lstStyle/>
          <a:p>
            <a:pPr algn="l" indent="0" marL="0">
              <a:buNone/>
            </a:pPr>
            <a:r>
              <a:rPr lang="en-US" sz="1500" b="1" dirty="0">
                <a:solidFill>
                  <a:schemeClr val="tx2"/>
                </a:solidFill>
              </a:rPr>
              <a:t>Pick frequency</a:t>
            </a:r>
            <a:endParaRPr lang="en-US" sz="1500" dirty="0"/>
          </a:p>
        </p:txBody>
      </p:sp>
      <p:sp>
        <p:nvSpPr>
          <p:cNvPr id="10" name="Text 33"/>
          <p:cNvSpPr txBox="1"/>
          <p:nvPr/>
        </p:nvSpPr>
        <p:spPr>
          <a:xfrm>
            <a:off x="594360" y="3291840"/>
            <a:ext cx="1691640" cy="502920"/>
          </a:xfrm>
          <a:prstGeom prst="rect">
            <a:avLst/>
          </a:prstGeom>
          <a:noFill/>
          <a:ln/>
        </p:spPr>
        <p:txBody>
          <a:bodyPr wrap="square" lIns="0" tIns="0" rIns="0" bIns="0" rtlCol="0" anchor="t"/>
          <a:lstStyle/>
          <a:p>
            <a:pPr algn="l" indent="0" marL="0">
              <a:buNone/>
            </a:pPr>
            <a:r>
              <a:rPr lang="en-US" sz="1400" dirty="0">
                <a:solidFill>
                  <a:schemeClr val="tx1"/>
                </a:solidFill>
              </a:rPr>
              <a:t>How often it is picked for orders</a:t>
            </a:r>
            <a:endParaRPr lang="en-US" sz="1400" dirty="0"/>
          </a:p>
        </p:txBody>
      </p:sp>
      <p:sp>
        <p:nvSpPr>
          <p:cNvPr id="11" name="Card 34"/>
          <p:cNvSpPr/>
          <p:nvPr/>
        </p:nvSpPr>
        <p:spPr>
          <a:xfrm>
            <a:off x="2560320" y="2468880"/>
            <a:ext cx="1920240" cy="1371600"/>
          </a:xfrm>
          <a:prstGeom prst="roundRect">
            <a:avLst>
              <a:gd name="adj" fmla="val 5333"/>
            </a:avLst>
          </a:prstGeom>
          <a:solidFill>
            <a:schemeClr val="bg2"/>
          </a:solidFill>
          <a:ln w="12700">
            <a:solidFill>
              <a:schemeClr val="bg2"/>
            </a:solidFill>
            <a:prstDash val="solid"/>
          </a:ln>
        </p:spPr>
      </p:sp>
      <p:sp>
        <p:nvSpPr>
          <p:cNvPr id="12" name="Badge 35"/>
          <p:cNvSpPr/>
          <p:nvPr/>
        </p:nvSpPr>
        <p:spPr>
          <a:xfrm>
            <a:off x="2697480" y="2578608"/>
            <a:ext cx="347472" cy="347472"/>
          </a:xfrm>
          <a:prstGeom prst="ellipse">
            <a:avLst/>
          </a:prstGeom>
          <a:solidFill>
            <a:schemeClr val="accent3"/>
          </a:solidFill>
          <a:ln>
            <a:solidFill>
              <a:schemeClr val="accent3"/>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3" name="Text 36"/>
          <p:cNvSpPr txBox="1"/>
          <p:nvPr/>
        </p:nvSpPr>
        <p:spPr>
          <a:xfrm>
            <a:off x="2697480" y="2990088"/>
            <a:ext cx="1691640" cy="292608"/>
          </a:xfrm>
          <a:prstGeom prst="rect">
            <a:avLst/>
          </a:prstGeom>
          <a:noFill/>
          <a:ln/>
        </p:spPr>
        <p:txBody>
          <a:bodyPr wrap="square" lIns="0" tIns="0" rIns="0" bIns="0" rtlCol="0" anchor="t"/>
          <a:lstStyle/>
          <a:p>
            <a:pPr algn="l" indent="0" marL="0">
              <a:buNone/>
            </a:pPr>
            <a:r>
              <a:rPr lang="en-US" sz="1500" b="1" dirty="0">
                <a:solidFill>
                  <a:schemeClr val="tx2"/>
                </a:solidFill>
              </a:rPr>
              <a:t>Seasonal demand</a:t>
            </a:r>
            <a:endParaRPr lang="en-US" sz="1500" dirty="0"/>
          </a:p>
        </p:txBody>
      </p:sp>
      <p:sp>
        <p:nvSpPr>
          <p:cNvPr id="14" name="Text 37"/>
          <p:cNvSpPr txBox="1"/>
          <p:nvPr/>
        </p:nvSpPr>
        <p:spPr>
          <a:xfrm>
            <a:off x="2697480" y="3291840"/>
            <a:ext cx="1691640" cy="502920"/>
          </a:xfrm>
          <a:prstGeom prst="rect">
            <a:avLst/>
          </a:prstGeom>
          <a:noFill/>
          <a:ln/>
        </p:spPr>
        <p:txBody>
          <a:bodyPr wrap="square" lIns="0" tIns="0" rIns="0" bIns="0" rtlCol="0" anchor="t"/>
          <a:lstStyle/>
          <a:p>
            <a:pPr algn="l" indent="0" marL="0">
              <a:buNone/>
            </a:pPr>
            <a:r>
              <a:rPr lang="en-US" sz="1400" dirty="0">
                <a:solidFill>
                  <a:schemeClr val="tx1"/>
                </a:solidFill>
              </a:rPr>
              <a:t>How fast it sells in each season</a:t>
            </a:r>
            <a:endParaRPr lang="en-US" sz="1400" dirty="0"/>
          </a:p>
        </p:txBody>
      </p:sp>
      <p:sp>
        <p:nvSpPr>
          <p:cNvPr id="15" name="Card 38"/>
          <p:cNvSpPr/>
          <p:nvPr/>
        </p:nvSpPr>
        <p:spPr>
          <a:xfrm>
            <a:off x="4663440" y="2468880"/>
            <a:ext cx="1920240" cy="1371600"/>
          </a:xfrm>
          <a:prstGeom prst="roundRect">
            <a:avLst>
              <a:gd name="adj" fmla="val 5333"/>
            </a:avLst>
          </a:prstGeom>
          <a:solidFill>
            <a:schemeClr val="bg2"/>
          </a:solidFill>
          <a:ln w="12700">
            <a:solidFill>
              <a:schemeClr val="bg2"/>
            </a:solidFill>
            <a:prstDash val="solid"/>
          </a:ln>
        </p:spPr>
      </p:sp>
      <p:sp>
        <p:nvSpPr>
          <p:cNvPr id="16" name="Badge 39"/>
          <p:cNvSpPr/>
          <p:nvPr/>
        </p:nvSpPr>
        <p:spPr>
          <a:xfrm>
            <a:off x="4800600" y="2578608"/>
            <a:ext cx="347472" cy="347472"/>
          </a:xfrm>
          <a:prstGeom prst="ellipse">
            <a:avLst/>
          </a:prstGeom>
          <a:solidFill>
            <a:schemeClr val="accent5"/>
          </a:solidFill>
          <a:ln>
            <a:solidFill>
              <a:schemeClr val="accent5"/>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7" name="Text 40"/>
          <p:cNvSpPr txBox="1"/>
          <p:nvPr/>
        </p:nvSpPr>
        <p:spPr>
          <a:xfrm>
            <a:off x="4800600" y="2990088"/>
            <a:ext cx="1691640" cy="292608"/>
          </a:xfrm>
          <a:prstGeom prst="rect">
            <a:avLst/>
          </a:prstGeom>
          <a:noFill/>
          <a:ln/>
        </p:spPr>
        <p:txBody>
          <a:bodyPr wrap="square" lIns="0" tIns="0" rIns="0" bIns="0" rtlCol="0" anchor="t"/>
          <a:lstStyle/>
          <a:p>
            <a:pPr algn="l" indent="0" marL="0">
              <a:buNone/>
            </a:pPr>
            <a:r>
              <a:rPr lang="en-US" sz="1500" b="1" dirty="0">
                <a:solidFill>
                  <a:schemeClr val="tx2"/>
                </a:solidFill>
              </a:rPr>
              <a:t>Physical size</a:t>
            </a:r>
            <a:endParaRPr lang="en-US" sz="1500" dirty="0"/>
          </a:p>
        </p:txBody>
      </p:sp>
      <p:sp>
        <p:nvSpPr>
          <p:cNvPr id="18" name="Text 41"/>
          <p:cNvSpPr txBox="1"/>
          <p:nvPr/>
        </p:nvSpPr>
        <p:spPr>
          <a:xfrm>
            <a:off x="4800600" y="3291840"/>
            <a:ext cx="1691640" cy="502920"/>
          </a:xfrm>
          <a:prstGeom prst="rect">
            <a:avLst/>
          </a:prstGeom>
          <a:noFill/>
          <a:ln/>
        </p:spPr>
        <p:txBody>
          <a:bodyPr wrap="square" lIns="0" tIns="0" rIns="0" bIns="0" rtlCol="0" anchor="t"/>
          <a:lstStyle/>
          <a:p>
            <a:pPr algn="l" indent="0" marL="0">
              <a:buNone/>
            </a:pPr>
            <a:r>
              <a:rPr lang="en-US" sz="1400" dirty="0">
                <a:solidFill>
                  <a:schemeClr val="tx1"/>
                </a:solidFill>
              </a:rPr>
              <a:t>Length, width, height and weight</a:t>
            </a:r>
            <a:endParaRPr lang="en-US" sz="1400" dirty="0"/>
          </a:p>
        </p:txBody>
      </p:sp>
      <p:sp>
        <p:nvSpPr>
          <p:cNvPr id="19" name="Card 42"/>
          <p:cNvSpPr/>
          <p:nvPr/>
        </p:nvSpPr>
        <p:spPr>
          <a:xfrm>
            <a:off x="6766560" y="2468880"/>
            <a:ext cx="1920240" cy="1371600"/>
          </a:xfrm>
          <a:prstGeom prst="roundRect">
            <a:avLst>
              <a:gd name="adj" fmla="val 5333"/>
            </a:avLst>
          </a:prstGeom>
          <a:solidFill>
            <a:schemeClr val="bg2"/>
          </a:solidFill>
          <a:ln w="12700">
            <a:solidFill>
              <a:schemeClr val="bg2"/>
            </a:solidFill>
            <a:prstDash val="solid"/>
          </a:ln>
        </p:spPr>
      </p:sp>
      <p:sp>
        <p:nvSpPr>
          <p:cNvPr id="20" name="Badge 43"/>
          <p:cNvSpPr/>
          <p:nvPr/>
        </p:nvSpPr>
        <p:spPr>
          <a:xfrm>
            <a:off x="6903720" y="2578608"/>
            <a:ext cx="347472" cy="347472"/>
          </a:xfrm>
          <a:prstGeom prst="ellipse">
            <a:avLst/>
          </a:prstGeom>
          <a:solidFill>
            <a:schemeClr val="accent6"/>
          </a:solidFill>
          <a:ln>
            <a:solidFill>
              <a:schemeClr val="accent6"/>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Text 44"/>
          <p:cNvSpPr txBox="1"/>
          <p:nvPr/>
        </p:nvSpPr>
        <p:spPr>
          <a:xfrm>
            <a:off x="6903720" y="2990088"/>
            <a:ext cx="1691640" cy="292608"/>
          </a:xfrm>
          <a:prstGeom prst="rect">
            <a:avLst/>
          </a:prstGeom>
          <a:noFill/>
          <a:ln/>
        </p:spPr>
        <p:txBody>
          <a:bodyPr wrap="square" lIns="0" tIns="0" rIns="0" bIns="0" rtlCol="0" anchor="t"/>
          <a:lstStyle/>
          <a:p>
            <a:pPr algn="l" indent="0" marL="0">
              <a:buNone/>
            </a:pPr>
            <a:r>
              <a:rPr lang="en-US" sz="1500" b="1" dirty="0">
                <a:solidFill>
                  <a:schemeClr val="tx2"/>
                </a:solidFill>
              </a:rPr>
              <a:t>Handling needs</a:t>
            </a:r>
            <a:endParaRPr lang="en-US" sz="1500" dirty="0"/>
          </a:p>
        </p:txBody>
      </p:sp>
      <p:sp>
        <p:nvSpPr>
          <p:cNvPr id="22" name="Text 45"/>
          <p:cNvSpPr txBox="1"/>
          <p:nvPr/>
        </p:nvSpPr>
        <p:spPr>
          <a:xfrm>
            <a:off x="6903720" y="3291840"/>
            <a:ext cx="1691640" cy="502920"/>
          </a:xfrm>
          <a:prstGeom prst="rect">
            <a:avLst/>
          </a:prstGeom>
          <a:noFill/>
          <a:ln/>
        </p:spPr>
        <p:txBody>
          <a:bodyPr wrap="square" lIns="0" tIns="0" rIns="0" bIns="0" rtlCol="0" anchor="t"/>
          <a:lstStyle/>
          <a:p>
            <a:pPr algn="l" indent="0" marL="0">
              <a:buNone/>
            </a:pPr>
            <a:r>
              <a:rPr lang="en-US" sz="1400" dirty="0">
                <a:solidFill>
                  <a:schemeClr val="tx1"/>
                </a:solidFill>
              </a:rPr>
              <a:t>Fragile, heavy or needs special care</a:t>
            </a:r>
            <a:endParaRPr lang="en-US" sz="1400" dirty="0"/>
          </a:p>
        </p:txBody>
      </p:sp>
      <p:sp>
        <p:nvSpPr>
          <p:cNvPr id="23" name="Card 46"/>
          <p:cNvSpPr/>
          <p:nvPr/>
        </p:nvSpPr>
        <p:spPr>
          <a:xfrm>
            <a:off x="457200" y="4005072"/>
            <a:ext cx="8229600" cy="457200"/>
          </a:xfrm>
          <a:prstGeom prst="roundRect">
            <a:avLst>
              <a:gd name="adj" fmla="val 16000"/>
            </a:avLst>
          </a:prstGeom>
          <a:solidFill>
            <a:schemeClr val="accent1"/>
          </a:solidFill>
          <a:ln w="12700">
            <a:solidFill>
              <a:schemeClr val="accent1"/>
            </a:solidFill>
            <a:prstDash val="solid"/>
          </a:ln>
        </p:spPr>
      </p:sp>
      <p:sp>
        <p:nvSpPr>
          <p:cNvPr id="24" name="Text 47"/>
          <p:cNvSpPr txBox="1"/>
          <p:nvPr/>
        </p:nvSpPr>
        <p:spPr>
          <a:xfrm>
            <a:off x="640080" y="4005072"/>
            <a:ext cx="7863840" cy="457200"/>
          </a:xfrm>
          <a:prstGeom prst="rect">
            <a:avLst/>
          </a:prstGeom>
          <a:noFill/>
          <a:ln/>
        </p:spPr>
        <p:txBody>
          <a:bodyPr wrap="square" lIns="0" tIns="0" rIns="0" bIns="0" rtlCol="0" anchor="ctr"/>
          <a:lstStyle/>
          <a:p>
            <a:pPr algn="l" indent="0" marL="0">
              <a:buNone/>
            </a:pPr>
            <a:r>
              <a:rPr lang="en-US" sz="1500" b="1" dirty="0">
                <a:solidFill>
                  <a:schemeClr val="bg1"/>
                </a:solidFill>
              </a:rPr>
              <a:t>Goal: better inventory placement and less travel time during order fulfilment</a:t>
            </a:r>
            <a:endParaRPr lang="en-US" sz="15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Key terms in simple words</a:t>
            </a:r>
            <a:endParaRPr lang="en-US" sz="3600" dirty="0"/>
          </a:p>
        </p:txBody>
      </p:sp>
      <p:sp>
        <p:nvSpPr>
          <p:cNvPr id="4" name="Card 48"/>
          <p:cNvSpPr/>
          <p:nvPr/>
        </p:nvSpPr>
        <p:spPr>
          <a:xfrm>
            <a:off x="457200" y="1188720"/>
            <a:ext cx="4023360" cy="1005840"/>
          </a:xfrm>
          <a:prstGeom prst="roundRect">
            <a:avLst>
              <a:gd name="adj" fmla="val 7273"/>
            </a:avLst>
          </a:prstGeom>
          <a:solidFill>
            <a:schemeClr val="bg2"/>
          </a:solidFill>
          <a:ln w="12700">
            <a:solidFill>
              <a:schemeClr val="bg2"/>
            </a:solidFill>
            <a:prstDash val="solid"/>
          </a:ln>
        </p:spPr>
      </p:sp>
      <p:sp>
        <p:nvSpPr>
          <p:cNvPr id="5" name="Dot 49"/>
          <p:cNvSpPr/>
          <p:nvPr/>
        </p:nvSpPr>
        <p:spPr>
          <a:xfrm>
            <a:off x="621792" y="1371600"/>
            <a:ext cx="164592" cy="164592"/>
          </a:xfrm>
          <a:prstGeom prst="ellipse">
            <a:avLst/>
          </a:prstGeom>
          <a:solidFill>
            <a:schemeClr val="accent2"/>
          </a:solidFill>
          <a:ln w="12700">
            <a:solidFill>
              <a:schemeClr val="accent2"/>
            </a:solidFill>
            <a:prstDash val="solid"/>
          </a:ln>
        </p:spPr>
      </p:sp>
      <p:sp>
        <p:nvSpPr>
          <p:cNvPr id="6" name="Text 50"/>
          <p:cNvSpPr txBox="1"/>
          <p:nvPr/>
        </p:nvSpPr>
        <p:spPr>
          <a:xfrm>
            <a:off x="896112" y="1280160"/>
            <a:ext cx="3474720" cy="329184"/>
          </a:xfrm>
          <a:prstGeom prst="rect">
            <a:avLst/>
          </a:prstGeom>
          <a:noFill/>
          <a:ln/>
        </p:spPr>
        <p:txBody>
          <a:bodyPr wrap="square" lIns="0" tIns="0" rIns="0" bIns="0" rtlCol="0" anchor="ctr"/>
          <a:lstStyle/>
          <a:p>
            <a:pPr algn="l" indent="0" marL="0">
              <a:buNone/>
            </a:pPr>
            <a:r>
              <a:rPr lang="en-US" sz="1600" b="1" dirty="0">
                <a:solidFill>
                  <a:schemeClr val="tx2"/>
                </a:solidFill>
              </a:rPr>
              <a:t>SKU</a:t>
            </a:r>
            <a:endParaRPr lang="en-US" sz="1600" dirty="0"/>
          </a:p>
        </p:txBody>
      </p:sp>
      <p:sp>
        <p:nvSpPr>
          <p:cNvPr id="7" name="Text 51"/>
          <p:cNvSpPr txBox="1"/>
          <p:nvPr/>
        </p:nvSpPr>
        <p:spPr>
          <a:xfrm>
            <a:off x="621792" y="1645920"/>
            <a:ext cx="3703320" cy="502920"/>
          </a:xfrm>
          <a:prstGeom prst="rect">
            <a:avLst/>
          </a:prstGeom>
          <a:noFill/>
          <a:ln/>
        </p:spPr>
        <p:txBody>
          <a:bodyPr wrap="square" lIns="0" tIns="0" rIns="0" bIns="0" rtlCol="0" anchor="t"/>
          <a:lstStyle/>
          <a:p>
            <a:pPr algn="l" indent="0" marL="0">
              <a:buNone/>
            </a:pPr>
            <a:r>
              <a:rPr lang="en-US" sz="1400" dirty="0">
                <a:solidFill>
                  <a:schemeClr val="tx1"/>
                </a:solidFill>
              </a:rPr>
              <a:t>Stock Keeping Unit: one unique product type stored in the warehouse.</a:t>
            </a:r>
            <a:endParaRPr lang="en-US" sz="1400" dirty="0"/>
          </a:p>
        </p:txBody>
      </p:sp>
      <p:sp>
        <p:nvSpPr>
          <p:cNvPr id="8" name="Card 52"/>
          <p:cNvSpPr/>
          <p:nvPr/>
        </p:nvSpPr>
        <p:spPr>
          <a:xfrm>
            <a:off x="457200" y="2331720"/>
            <a:ext cx="4023360" cy="1005840"/>
          </a:xfrm>
          <a:prstGeom prst="roundRect">
            <a:avLst>
              <a:gd name="adj" fmla="val 7273"/>
            </a:avLst>
          </a:prstGeom>
          <a:solidFill>
            <a:schemeClr val="bg2"/>
          </a:solidFill>
          <a:ln w="12700">
            <a:solidFill>
              <a:schemeClr val="bg2"/>
            </a:solidFill>
            <a:prstDash val="solid"/>
          </a:ln>
        </p:spPr>
      </p:sp>
      <p:sp>
        <p:nvSpPr>
          <p:cNvPr id="9" name="Dot 53"/>
          <p:cNvSpPr/>
          <p:nvPr/>
        </p:nvSpPr>
        <p:spPr>
          <a:xfrm>
            <a:off x="621792" y="2514600"/>
            <a:ext cx="164592" cy="164592"/>
          </a:xfrm>
          <a:prstGeom prst="ellipse">
            <a:avLst/>
          </a:prstGeom>
          <a:solidFill>
            <a:schemeClr val="accent2"/>
          </a:solidFill>
          <a:ln w="12700">
            <a:solidFill>
              <a:schemeClr val="accent2"/>
            </a:solidFill>
            <a:prstDash val="solid"/>
          </a:ln>
        </p:spPr>
      </p:sp>
      <p:sp>
        <p:nvSpPr>
          <p:cNvPr id="10" name="Text 54"/>
          <p:cNvSpPr txBox="1"/>
          <p:nvPr/>
        </p:nvSpPr>
        <p:spPr>
          <a:xfrm>
            <a:off x="896112" y="2423160"/>
            <a:ext cx="3474720" cy="329184"/>
          </a:xfrm>
          <a:prstGeom prst="rect">
            <a:avLst/>
          </a:prstGeom>
          <a:noFill/>
          <a:ln/>
        </p:spPr>
        <p:txBody>
          <a:bodyPr wrap="square" lIns="0" tIns="0" rIns="0" bIns="0" rtlCol="0" anchor="ctr"/>
          <a:lstStyle/>
          <a:p>
            <a:pPr algn="l" indent="0" marL="0">
              <a:buNone/>
            </a:pPr>
            <a:r>
              <a:rPr lang="en-US" sz="1600" b="1" dirty="0">
                <a:solidFill>
                  <a:schemeClr val="tx2"/>
                </a:solidFill>
              </a:rPr>
              <a:t>Pick frequency</a:t>
            </a:r>
            <a:endParaRPr lang="en-US" sz="1600" dirty="0"/>
          </a:p>
        </p:txBody>
      </p:sp>
      <p:sp>
        <p:nvSpPr>
          <p:cNvPr id="11" name="Text 55"/>
          <p:cNvSpPr txBox="1"/>
          <p:nvPr/>
        </p:nvSpPr>
        <p:spPr>
          <a:xfrm>
            <a:off x="621792" y="2788920"/>
            <a:ext cx="3703320" cy="502920"/>
          </a:xfrm>
          <a:prstGeom prst="rect">
            <a:avLst/>
          </a:prstGeom>
          <a:noFill/>
          <a:ln/>
        </p:spPr>
        <p:txBody>
          <a:bodyPr wrap="square" lIns="0" tIns="0" rIns="0" bIns="0" rtlCol="0" anchor="t"/>
          <a:lstStyle/>
          <a:p>
            <a:pPr algn="l" indent="0" marL="0">
              <a:buNone/>
            </a:pPr>
            <a:r>
              <a:rPr lang="en-US" sz="1400" dirty="0">
                <a:solidFill>
                  <a:schemeClr val="tx1"/>
                </a:solidFill>
              </a:rPr>
              <a:t>How many times a product is taken from the shelf to fill orders.</a:t>
            </a:r>
            <a:endParaRPr lang="en-US" sz="1400" dirty="0"/>
          </a:p>
        </p:txBody>
      </p:sp>
      <p:sp>
        <p:nvSpPr>
          <p:cNvPr id="12" name="Card 56"/>
          <p:cNvSpPr/>
          <p:nvPr/>
        </p:nvSpPr>
        <p:spPr>
          <a:xfrm>
            <a:off x="457200" y="3474720"/>
            <a:ext cx="4023360" cy="1005840"/>
          </a:xfrm>
          <a:prstGeom prst="roundRect">
            <a:avLst>
              <a:gd name="adj" fmla="val 7273"/>
            </a:avLst>
          </a:prstGeom>
          <a:solidFill>
            <a:schemeClr val="bg2"/>
          </a:solidFill>
          <a:ln w="12700">
            <a:solidFill>
              <a:schemeClr val="bg2"/>
            </a:solidFill>
            <a:prstDash val="solid"/>
          </a:ln>
        </p:spPr>
      </p:sp>
      <p:sp>
        <p:nvSpPr>
          <p:cNvPr id="13" name="Dot 57"/>
          <p:cNvSpPr/>
          <p:nvPr/>
        </p:nvSpPr>
        <p:spPr>
          <a:xfrm>
            <a:off x="621792" y="3657600"/>
            <a:ext cx="164592" cy="164592"/>
          </a:xfrm>
          <a:prstGeom prst="ellipse">
            <a:avLst/>
          </a:prstGeom>
          <a:solidFill>
            <a:schemeClr val="accent2"/>
          </a:solidFill>
          <a:ln w="12700">
            <a:solidFill>
              <a:schemeClr val="accent2"/>
            </a:solidFill>
            <a:prstDash val="solid"/>
          </a:ln>
        </p:spPr>
      </p:sp>
      <p:sp>
        <p:nvSpPr>
          <p:cNvPr id="14" name="Text 58"/>
          <p:cNvSpPr txBox="1"/>
          <p:nvPr/>
        </p:nvSpPr>
        <p:spPr>
          <a:xfrm>
            <a:off x="896112" y="3566160"/>
            <a:ext cx="3474720" cy="329184"/>
          </a:xfrm>
          <a:prstGeom prst="rect">
            <a:avLst/>
          </a:prstGeom>
          <a:noFill/>
          <a:ln/>
        </p:spPr>
        <p:txBody>
          <a:bodyPr wrap="square" lIns="0" tIns="0" rIns="0" bIns="0" rtlCol="0" anchor="ctr"/>
          <a:lstStyle/>
          <a:p>
            <a:pPr algn="l" indent="0" marL="0">
              <a:buNone/>
            </a:pPr>
            <a:r>
              <a:rPr lang="en-US" sz="1600" b="1" dirty="0">
                <a:solidFill>
                  <a:schemeClr val="tx2"/>
                </a:solidFill>
              </a:rPr>
              <a:t>Seasonal demand velocity</a:t>
            </a:r>
            <a:endParaRPr lang="en-US" sz="1600" dirty="0"/>
          </a:p>
        </p:txBody>
      </p:sp>
      <p:sp>
        <p:nvSpPr>
          <p:cNvPr id="15" name="Text 59"/>
          <p:cNvSpPr txBox="1"/>
          <p:nvPr/>
        </p:nvSpPr>
        <p:spPr>
          <a:xfrm>
            <a:off x="621792" y="3931920"/>
            <a:ext cx="3703320" cy="502920"/>
          </a:xfrm>
          <a:prstGeom prst="rect">
            <a:avLst/>
          </a:prstGeom>
          <a:noFill/>
          <a:ln/>
        </p:spPr>
        <p:txBody>
          <a:bodyPr wrap="square" lIns="0" tIns="0" rIns="0" bIns="0" rtlCol="0" anchor="t"/>
          <a:lstStyle/>
          <a:p>
            <a:pPr algn="l" indent="0" marL="0">
              <a:buNone/>
            </a:pPr>
            <a:r>
              <a:rPr lang="en-US" sz="1400" dirty="0">
                <a:solidFill>
                  <a:schemeClr val="tx1"/>
                </a:solidFill>
              </a:rPr>
              <a:t>How fast a product sells in a season. Example: umbrellas in the monsoon.</a:t>
            </a:r>
            <a:endParaRPr lang="en-US" sz="1400" dirty="0"/>
          </a:p>
        </p:txBody>
      </p:sp>
      <p:sp>
        <p:nvSpPr>
          <p:cNvPr id="16" name="Card 60"/>
          <p:cNvSpPr/>
          <p:nvPr/>
        </p:nvSpPr>
        <p:spPr>
          <a:xfrm>
            <a:off x="4663440" y="1188720"/>
            <a:ext cx="4023360" cy="1005840"/>
          </a:xfrm>
          <a:prstGeom prst="roundRect">
            <a:avLst>
              <a:gd name="adj" fmla="val 7273"/>
            </a:avLst>
          </a:prstGeom>
          <a:solidFill>
            <a:schemeClr val="bg2"/>
          </a:solidFill>
          <a:ln w="12700">
            <a:solidFill>
              <a:schemeClr val="bg2"/>
            </a:solidFill>
            <a:prstDash val="solid"/>
          </a:ln>
        </p:spPr>
      </p:sp>
      <p:sp>
        <p:nvSpPr>
          <p:cNvPr id="17" name="Dot 61"/>
          <p:cNvSpPr/>
          <p:nvPr/>
        </p:nvSpPr>
        <p:spPr>
          <a:xfrm>
            <a:off x="4828032" y="1371600"/>
            <a:ext cx="164592" cy="164592"/>
          </a:xfrm>
          <a:prstGeom prst="ellipse">
            <a:avLst/>
          </a:prstGeom>
          <a:solidFill>
            <a:schemeClr val="accent3"/>
          </a:solidFill>
          <a:ln w="12700">
            <a:solidFill>
              <a:schemeClr val="accent3"/>
            </a:solidFill>
            <a:prstDash val="solid"/>
          </a:ln>
        </p:spPr>
      </p:sp>
      <p:sp>
        <p:nvSpPr>
          <p:cNvPr id="18" name="Text 62"/>
          <p:cNvSpPr txBox="1"/>
          <p:nvPr/>
        </p:nvSpPr>
        <p:spPr>
          <a:xfrm>
            <a:off x="5102352" y="1280160"/>
            <a:ext cx="3474720" cy="329184"/>
          </a:xfrm>
          <a:prstGeom prst="rect">
            <a:avLst/>
          </a:prstGeom>
          <a:noFill/>
          <a:ln/>
        </p:spPr>
        <p:txBody>
          <a:bodyPr wrap="square" lIns="0" tIns="0" rIns="0" bIns="0" rtlCol="0" anchor="ctr"/>
          <a:lstStyle/>
          <a:p>
            <a:pPr algn="l" indent="0" marL="0">
              <a:buNone/>
            </a:pPr>
            <a:r>
              <a:rPr lang="en-US" sz="1600" b="1" dirty="0">
                <a:solidFill>
                  <a:schemeClr val="tx2"/>
                </a:solidFill>
              </a:rPr>
              <a:t>Clustering</a:t>
            </a:r>
            <a:endParaRPr lang="en-US" sz="1600" dirty="0"/>
          </a:p>
        </p:txBody>
      </p:sp>
      <p:sp>
        <p:nvSpPr>
          <p:cNvPr id="19" name="Text 63"/>
          <p:cNvSpPr txBox="1"/>
          <p:nvPr/>
        </p:nvSpPr>
        <p:spPr>
          <a:xfrm>
            <a:off x="4828032" y="1645920"/>
            <a:ext cx="3703320" cy="502920"/>
          </a:xfrm>
          <a:prstGeom prst="rect">
            <a:avLst/>
          </a:prstGeom>
          <a:noFill/>
          <a:ln/>
        </p:spPr>
        <p:txBody>
          <a:bodyPr wrap="square" lIns="0" tIns="0" rIns="0" bIns="0" rtlCol="0" anchor="t"/>
          <a:lstStyle/>
          <a:p>
            <a:pPr algn="l" indent="0" marL="0">
              <a:buNone/>
            </a:pPr>
            <a:r>
              <a:rPr lang="en-US" sz="1400" dirty="0">
                <a:solidFill>
                  <a:schemeClr val="tx1"/>
                </a:solidFill>
              </a:rPr>
              <a:t>Dividing data into groups where items in a group are very similar.</a:t>
            </a:r>
            <a:endParaRPr lang="en-US" sz="1400" dirty="0"/>
          </a:p>
        </p:txBody>
      </p:sp>
      <p:sp>
        <p:nvSpPr>
          <p:cNvPr id="20" name="Card 64"/>
          <p:cNvSpPr/>
          <p:nvPr/>
        </p:nvSpPr>
        <p:spPr>
          <a:xfrm>
            <a:off x="4663440" y="2331720"/>
            <a:ext cx="4023360" cy="1005840"/>
          </a:xfrm>
          <a:prstGeom prst="roundRect">
            <a:avLst>
              <a:gd name="adj" fmla="val 7273"/>
            </a:avLst>
          </a:prstGeom>
          <a:solidFill>
            <a:schemeClr val="bg2"/>
          </a:solidFill>
          <a:ln w="12700">
            <a:solidFill>
              <a:schemeClr val="bg2"/>
            </a:solidFill>
            <a:prstDash val="solid"/>
          </a:ln>
        </p:spPr>
      </p:sp>
      <p:sp>
        <p:nvSpPr>
          <p:cNvPr id="21" name="Dot 65"/>
          <p:cNvSpPr/>
          <p:nvPr/>
        </p:nvSpPr>
        <p:spPr>
          <a:xfrm>
            <a:off x="4828032" y="2514600"/>
            <a:ext cx="164592" cy="164592"/>
          </a:xfrm>
          <a:prstGeom prst="ellipse">
            <a:avLst/>
          </a:prstGeom>
          <a:solidFill>
            <a:schemeClr val="accent3"/>
          </a:solidFill>
          <a:ln w="12700">
            <a:solidFill>
              <a:schemeClr val="accent3"/>
            </a:solidFill>
            <a:prstDash val="solid"/>
          </a:ln>
        </p:spPr>
      </p:sp>
      <p:sp>
        <p:nvSpPr>
          <p:cNvPr id="22" name="Text 66"/>
          <p:cNvSpPr txBox="1"/>
          <p:nvPr/>
        </p:nvSpPr>
        <p:spPr>
          <a:xfrm>
            <a:off x="5102352" y="2423160"/>
            <a:ext cx="3474720" cy="329184"/>
          </a:xfrm>
          <a:prstGeom prst="rect">
            <a:avLst/>
          </a:prstGeom>
          <a:noFill/>
          <a:ln/>
        </p:spPr>
        <p:txBody>
          <a:bodyPr wrap="square" lIns="0" tIns="0" rIns="0" bIns="0" rtlCol="0" anchor="ctr"/>
          <a:lstStyle/>
          <a:p>
            <a:pPr algn="l" indent="0" marL="0">
              <a:buNone/>
            </a:pPr>
            <a:r>
              <a:rPr lang="en-US" sz="1600" b="1" dirty="0">
                <a:solidFill>
                  <a:schemeClr val="tx2"/>
                </a:solidFill>
              </a:rPr>
              <a:t>Centroid</a:t>
            </a:r>
            <a:endParaRPr lang="en-US" sz="1600" dirty="0"/>
          </a:p>
        </p:txBody>
      </p:sp>
      <p:sp>
        <p:nvSpPr>
          <p:cNvPr id="23" name="Text 67"/>
          <p:cNvSpPr txBox="1"/>
          <p:nvPr/>
        </p:nvSpPr>
        <p:spPr>
          <a:xfrm>
            <a:off x="4828032" y="2788920"/>
            <a:ext cx="3703320" cy="502920"/>
          </a:xfrm>
          <a:prstGeom prst="rect">
            <a:avLst/>
          </a:prstGeom>
          <a:noFill/>
          <a:ln/>
        </p:spPr>
        <p:txBody>
          <a:bodyPr wrap="square" lIns="0" tIns="0" rIns="0" bIns="0" rtlCol="0" anchor="t"/>
          <a:lstStyle/>
          <a:p>
            <a:pPr algn="l" indent="0" marL="0">
              <a:buNone/>
            </a:pPr>
            <a:r>
              <a:rPr lang="en-US" sz="1400" dirty="0">
                <a:solidFill>
                  <a:schemeClr val="tx1"/>
                </a:solidFill>
              </a:rPr>
              <a:t>The centre (mean point) of a cluster. Each cluster has one.</a:t>
            </a:r>
            <a:endParaRPr lang="en-US" sz="1400" dirty="0"/>
          </a:p>
        </p:txBody>
      </p:sp>
      <p:sp>
        <p:nvSpPr>
          <p:cNvPr id="24" name="Card 68"/>
          <p:cNvSpPr/>
          <p:nvPr/>
        </p:nvSpPr>
        <p:spPr>
          <a:xfrm>
            <a:off x="4663440" y="3474720"/>
            <a:ext cx="4023360" cy="1005840"/>
          </a:xfrm>
          <a:prstGeom prst="roundRect">
            <a:avLst>
              <a:gd name="adj" fmla="val 7273"/>
            </a:avLst>
          </a:prstGeom>
          <a:solidFill>
            <a:schemeClr val="bg2"/>
          </a:solidFill>
          <a:ln w="12700">
            <a:solidFill>
              <a:schemeClr val="bg2"/>
            </a:solidFill>
            <a:prstDash val="solid"/>
          </a:ln>
        </p:spPr>
      </p:sp>
      <p:sp>
        <p:nvSpPr>
          <p:cNvPr id="25" name="Dot 69"/>
          <p:cNvSpPr/>
          <p:nvPr/>
        </p:nvSpPr>
        <p:spPr>
          <a:xfrm>
            <a:off x="4828032" y="3657600"/>
            <a:ext cx="164592" cy="164592"/>
          </a:xfrm>
          <a:prstGeom prst="ellipse">
            <a:avLst/>
          </a:prstGeom>
          <a:solidFill>
            <a:schemeClr val="accent3"/>
          </a:solidFill>
          <a:ln w="12700">
            <a:solidFill>
              <a:schemeClr val="accent3"/>
            </a:solidFill>
            <a:prstDash val="solid"/>
          </a:ln>
        </p:spPr>
      </p:sp>
      <p:sp>
        <p:nvSpPr>
          <p:cNvPr id="26" name="Text 70"/>
          <p:cNvSpPr txBox="1"/>
          <p:nvPr/>
        </p:nvSpPr>
        <p:spPr>
          <a:xfrm>
            <a:off x="5102352" y="3566160"/>
            <a:ext cx="3474720" cy="329184"/>
          </a:xfrm>
          <a:prstGeom prst="rect">
            <a:avLst/>
          </a:prstGeom>
          <a:noFill/>
          <a:ln/>
        </p:spPr>
        <p:txBody>
          <a:bodyPr wrap="square" lIns="0" tIns="0" rIns="0" bIns="0" rtlCol="0" anchor="ctr"/>
          <a:lstStyle/>
          <a:p>
            <a:pPr algn="l" indent="0" marL="0">
              <a:buNone/>
            </a:pPr>
            <a:r>
              <a:rPr lang="en-US" sz="1600" b="1" dirty="0">
                <a:solidFill>
                  <a:schemeClr val="tx2"/>
                </a:solidFill>
              </a:rPr>
              <a:t>Unsupervised learning</a:t>
            </a:r>
            <a:endParaRPr lang="en-US" sz="1600" dirty="0"/>
          </a:p>
        </p:txBody>
      </p:sp>
      <p:sp>
        <p:nvSpPr>
          <p:cNvPr id="27" name="Text 71"/>
          <p:cNvSpPr txBox="1"/>
          <p:nvPr/>
        </p:nvSpPr>
        <p:spPr>
          <a:xfrm>
            <a:off x="4828032" y="3931920"/>
            <a:ext cx="3703320" cy="502920"/>
          </a:xfrm>
          <a:prstGeom prst="rect">
            <a:avLst/>
          </a:prstGeom>
          <a:noFill/>
          <a:ln/>
        </p:spPr>
        <p:txBody>
          <a:bodyPr wrap="square" lIns="0" tIns="0" rIns="0" bIns="0" rtlCol="0" anchor="t"/>
          <a:lstStyle/>
          <a:p>
            <a:pPr algn="l" indent="0" marL="0">
              <a:buNone/>
            </a:pPr>
            <a:r>
              <a:rPr lang="en-US" sz="1400" dirty="0">
                <a:solidFill>
                  <a:schemeClr val="tx1"/>
                </a:solidFill>
              </a:rPr>
              <a:t>Learning from data that has no labels. The algorithm finds the groups itself.</a:t>
            </a:r>
            <a:endParaRPr lang="en-US" sz="14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Unit 3 solutions we reviewed</a:t>
            </a:r>
            <a:endParaRPr lang="en-US" sz="3600" dirty="0"/>
          </a:p>
        </p:txBody>
      </p:sp>
      <p:sp>
        <p:nvSpPr>
          <p:cNvPr id="4" name="Card 72"/>
          <p:cNvSpPr/>
          <p:nvPr/>
        </p:nvSpPr>
        <p:spPr>
          <a:xfrm>
            <a:off x="457200" y="1188720"/>
            <a:ext cx="1920240" cy="2926080"/>
          </a:xfrm>
          <a:prstGeom prst="roundRect">
            <a:avLst>
              <a:gd name="adj" fmla="val 3810"/>
            </a:avLst>
          </a:prstGeom>
          <a:solidFill>
            <a:schemeClr val="accent1"/>
          </a:solidFill>
          <a:ln w="12700">
            <a:solidFill>
              <a:schemeClr val="accent1"/>
            </a:solidFill>
            <a:prstDash val="solid"/>
          </a:ln>
        </p:spPr>
      </p:sp>
      <p:sp>
        <p:nvSpPr>
          <p:cNvPr id="5" name="Text 73"/>
          <p:cNvSpPr txBox="1"/>
          <p:nvPr/>
        </p:nvSpPr>
        <p:spPr>
          <a:xfrm>
            <a:off x="594360" y="1325880"/>
            <a:ext cx="1645920" cy="274320"/>
          </a:xfrm>
          <a:prstGeom prst="rect">
            <a:avLst/>
          </a:prstGeom>
          <a:noFill/>
          <a:ln/>
        </p:spPr>
        <p:txBody>
          <a:bodyPr wrap="square" lIns="0" tIns="0" rIns="0" bIns="0" rtlCol="0" anchor="t"/>
          <a:lstStyle/>
          <a:p>
            <a:pPr algn="l" indent="0" marL="0">
              <a:buNone/>
            </a:pPr>
            <a:r>
              <a:rPr lang="en-US" sz="1100" b="1" dirty="0">
                <a:solidFill>
                  <a:schemeClr val="accent4"/>
                </a:solidFill>
              </a:rPr>
              <a:t>Centroid-based</a:t>
            </a:r>
            <a:endParaRPr lang="en-US" sz="1100" dirty="0"/>
          </a:p>
        </p:txBody>
      </p:sp>
      <p:sp>
        <p:nvSpPr>
          <p:cNvPr id="6" name="Text 74"/>
          <p:cNvSpPr txBox="1"/>
          <p:nvPr/>
        </p:nvSpPr>
        <p:spPr>
          <a:xfrm>
            <a:off x="594360" y="1627632"/>
            <a:ext cx="1645920" cy="640080"/>
          </a:xfrm>
          <a:prstGeom prst="rect">
            <a:avLst/>
          </a:prstGeom>
          <a:noFill/>
          <a:ln/>
        </p:spPr>
        <p:txBody>
          <a:bodyPr wrap="square" lIns="0" tIns="0" rIns="0" bIns="0" rtlCol="0" anchor="t"/>
          <a:lstStyle/>
          <a:p>
            <a:pPr algn="l" indent="0" marL="0">
              <a:buNone/>
            </a:pPr>
            <a:r>
              <a:rPr lang="en-US" sz="1700" b="1" dirty="0">
                <a:solidFill>
                  <a:schemeClr val="bg1"/>
                </a:solidFill>
              </a:rPr>
              <a:t>K-Means clustering</a:t>
            </a:r>
            <a:endParaRPr lang="en-US" sz="1700" dirty="0"/>
          </a:p>
        </p:txBody>
      </p:sp>
      <p:sp>
        <p:nvSpPr>
          <p:cNvPr id="7" name="Text 75"/>
          <p:cNvSpPr txBox="1"/>
          <p:nvPr/>
        </p:nvSpPr>
        <p:spPr>
          <a:xfrm>
            <a:off x="594360" y="2331720"/>
            <a:ext cx="1645920" cy="1188720"/>
          </a:xfrm>
          <a:prstGeom prst="rect">
            <a:avLst/>
          </a:prstGeom>
          <a:noFill/>
          <a:ln/>
        </p:spPr>
        <p:txBody>
          <a:bodyPr wrap="square" lIns="0" tIns="0" rIns="0" bIns="0" rtlCol="0" anchor="t"/>
          <a:lstStyle/>
          <a:p>
            <a:pPr algn="l" indent="0" marL="0">
              <a:buNone/>
            </a:pPr>
            <a:r>
              <a:rPr lang="en-US" sz="1400" dirty="0">
                <a:solidFill>
                  <a:schemeClr val="bg1"/>
                </a:solidFill>
              </a:rPr>
              <a:t>Splits data into k groups. Each item joins the nearest centre.</a:t>
            </a:r>
            <a:endParaRPr lang="en-US" sz="1400" dirty="0"/>
          </a:p>
        </p:txBody>
      </p:sp>
      <p:sp>
        <p:nvSpPr>
          <p:cNvPr id="8" name="Pill 76"/>
          <p:cNvSpPr/>
          <p:nvPr/>
        </p:nvSpPr>
        <p:spPr>
          <a:xfrm>
            <a:off x="594360" y="3611880"/>
            <a:ext cx="1188720" cy="329184"/>
          </a:xfrm>
          <a:prstGeom prst="roundRect">
            <a:avLst>
              <a:gd name="adj" fmla="val 41667"/>
            </a:avLst>
          </a:prstGeom>
          <a:solidFill>
            <a:schemeClr val="accent2"/>
          </a:solidFill>
          <a:ln>
            <a:solidFill>
              <a:schemeClr val="accent2"/>
            </a:solidFill>
          </a:ln>
        </p:spPr>
        <p:txBody>
          <a:bodyPr wrap="square" lIns="0" tIns="0" rIns="0" bIns="0" rtlCol="0" anchor="ctr"/>
          <a:lstStyle/>
          <a:p>
            <a:pPr algn="ctr" indent="0" marL="0">
              <a:buNone/>
            </a:pPr>
            <a:r>
              <a:rPr lang="en-US" sz="1300" b="1" dirty="0">
                <a:solidFill>
                  <a:schemeClr val="tx1"/>
                </a:solidFill>
              </a:rPr>
              <a:t>Our choice</a:t>
            </a:r>
            <a:endParaRPr lang="en-US" sz="1300" dirty="0"/>
          </a:p>
        </p:txBody>
      </p:sp>
      <p:sp>
        <p:nvSpPr>
          <p:cNvPr id="9" name="Card 77"/>
          <p:cNvSpPr/>
          <p:nvPr/>
        </p:nvSpPr>
        <p:spPr>
          <a:xfrm>
            <a:off x="2560320" y="1188720"/>
            <a:ext cx="1920240" cy="2926080"/>
          </a:xfrm>
          <a:prstGeom prst="roundRect">
            <a:avLst>
              <a:gd name="adj" fmla="val 3810"/>
            </a:avLst>
          </a:prstGeom>
          <a:solidFill>
            <a:schemeClr val="bg2"/>
          </a:solidFill>
          <a:ln w="12700">
            <a:solidFill>
              <a:schemeClr val="bg2"/>
            </a:solidFill>
            <a:prstDash val="solid"/>
          </a:ln>
        </p:spPr>
      </p:sp>
      <p:sp>
        <p:nvSpPr>
          <p:cNvPr id="10" name="Text 78"/>
          <p:cNvSpPr txBox="1"/>
          <p:nvPr/>
        </p:nvSpPr>
        <p:spPr>
          <a:xfrm>
            <a:off x="2697480" y="1325880"/>
            <a:ext cx="1645920" cy="274320"/>
          </a:xfrm>
          <a:prstGeom prst="rect">
            <a:avLst/>
          </a:prstGeom>
          <a:noFill/>
          <a:ln/>
        </p:spPr>
        <p:txBody>
          <a:bodyPr wrap="square" lIns="0" tIns="0" rIns="0" bIns="0" rtlCol="0" anchor="t"/>
          <a:lstStyle/>
          <a:p>
            <a:pPr algn="l" indent="0" marL="0">
              <a:buNone/>
            </a:pPr>
            <a:r>
              <a:rPr lang="en-US" sz="1100" b="1" dirty="0">
                <a:solidFill>
                  <a:schemeClr val="accent5"/>
                </a:solidFill>
              </a:rPr>
              <a:t>Distribution-based</a:t>
            </a:r>
            <a:endParaRPr lang="en-US" sz="1100" dirty="0"/>
          </a:p>
        </p:txBody>
      </p:sp>
      <p:sp>
        <p:nvSpPr>
          <p:cNvPr id="11" name="Text 79"/>
          <p:cNvSpPr txBox="1"/>
          <p:nvPr/>
        </p:nvSpPr>
        <p:spPr>
          <a:xfrm>
            <a:off x="2697480" y="1627632"/>
            <a:ext cx="1645920" cy="640080"/>
          </a:xfrm>
          <a:prstGeom prst="rect">
            <a:avLst/>
          </a:prstGeom>
          <a:noFill/>
          <a:ln/>
        </p:spPr>
        <p:txBody>
          <a:bodyPr wrap="square" lIns="0" tIns="0" rIns="0" bIns="0" rtlCol="0" anchor="t"/>
          <a:lstStyle/>
          <a:p>
            <a:pPr algn="l" indent="0" marL="0">
              <a:buNone/>
            </a:pPr>
            <a:r>
              <a:rPr lang="en-US" sz="1700" b="1" dirty="0">
                <a:solidFill>
                  <a:schemeClr val="tx2"/>
                </a:solidFill>
              </a:rPr>
              <a:t>Mixtures of Gaussians (EM)</a:t>
            </a:r>
            <a:endParaRPr lang="en-US" sz="1700" dirty="0"/>
          </a:p>
        </p:txBody>
      </p:sp>
      <p:sp>
        <p:nvSpPr>
          <p:cNvPr id="12" name="Text 80"/>
          <p:cNvSpPr txBox="1"/>
          <p:nvPr/>
        </p:nvSpPr>
        <p:spPr>
          <a:xfrm>
            <a:off x="2697480" y="2331720"/>
            <a:ext cx="1645920" cy="1188720"/>
          </a:xfrm>
          <a:prstGeom prst="rect">
            <a:avLst/>
          </a:prstGeom>
          <a:noFill/>
          <a:ln/>
        </p:spPr>
        <p:txBody>
          <a:bodyPr wrap="square" lIns="0" tIns="0" rIns="0" bIns="0" rtlCol="0" anchor="t"/>
          <a:lstStyle/>
          <a:p>
            <a:pPr algn="l" indent="0" marL="0">
              <a:buNone/>
            </a:pPr>
            <a:r>
              <a:rPr lang="en-US" sz="1400" dirty="0">
                <a:solidFill>
                  <a:schemeClr val="tx1"/>
                </a:solidFill>
              </a:rPr>
              <a:t>Soft clustering. Each item gets a probability for every group.</a:t>
            </a:r>
            <a:endParaRPr lang="en-US" sz="1400" dirty="0"/>
          </a:p>
        </p:txBody>
      </p:sp>
      <p:sp>
        <p:nvSpPr>
          <p:cNvPr id="13" name="Card 81"/>
          <p:cNvSpPr/>
          <p:nvPr/>
        </p:nvSpPr>
        <p:spPr>
          <a:xfrm>
            <a:off x="4663440" y="1188720"/>
            <a:ext cx="1920240" cy="2926080"/>
          </a:xfrm>
          <a:prstGeom prst="roundRect">
            <a:avLst>
              <a:gd name="adj" fmla="val 3810"/>
            </a:avLst>
          </a:prstGeom>
          <a:solidFill>
            <a:schemeClr val="bg2"/>
          </a:solidFill>
          <a:ln w="12700">
            <a:solidFill>
              <a:schemeClr val="bg2"/>
            </a:solidFill>
            <a:prstDash val="solid"/>
          </a:ln>
        </p:spPr>
      </p:sp>
      <p:sp>
        <p:nvSpPr>
          <p:cNvPr id="14" name="Text 82"/>
          <p:cNvSpPr txBox="1"/>
          <p:nvPr/>
        </p:nvSpPr>
        <p:spPr>
          <a:xfrm>
            <a:off x="4800600" y="1325880"/>
            <a:ext cx="1645920" cy="274320"/>
          </a:xfrm>
          <a:prstGeom prst="rect">
            <a:avLst/>
          </a:prstGeom>
          <a:noFill/>
          <a:ln/>
        </p:spPr>
        <p:txBody>
          <a:bodyPr wrap="square" lIns="0" tIns="0" rIns="0" bIns="0" rtlCol="0" anchor="t"/>
          <a:lstStyle/>
          <a:p>
            <a:pPr algn="l" indent="0" marL="0">
              <a:buNone/>
            </a:pPr>
            <a:r>
              <a:rPr lang="en-US" sz="1100" b="1" dirty="0">
                <a:solidFill>
                  <a:schemeClr val="accent5"/>
                </a:solidFill>
              </a:rPr>
              <a:t>Tree-based</a:t>
            </a:r>
            <a:endParaRPr lang="en-US" sz="1100" dirty="0"/>
          </a:p>
        </p:txBody>
      </p:sp>
      <p:sp>
        <p:nvSpPr>
          <p:cNvPr id="15" name="Text 83"/>
          <p:cNvSpPr txBox="1"/>
          <p:nvPr/>
        </p:nvSpPr>
        <p:spPr>
          <a:xfrm>
            <a:off x="4800600" y="1627632"/>
            <a:ext cx="1645920" cy="640080"/>
          </a:xfrm>
          <a:prstGeom prst="rect">
            <a:avLst/>
          </a:prstGeom>
          <a:noFill/>
          <a:ln/>
        </p:spPr>
        <p:txBody>
          <a:bodyPr wrap="square" lIns="0" tIns="0" rIns="0" bIns="0" rtlCol="0" anchor="t"/>
          <a:lstStyle/>
          <a:p>
            <a:pPr algn="l" indent="0" marL="0">
              <a:buNone/>
            </a:pPr>
            <a:r>
              <a:rPr lang="en-US" sz="1700" b="1" dirty="0">
                <a:solidFill>
                  <a:schemeClr val="tx2"/>
                </a:solidFill>
              </a:rPr>
              <a:t>Hierarchical clustering</a:t>
            </a:r>
            <a:endParaRPr lang="en-US" sz="1700" dirty="0"/>
          </a:p>
        </p:txBody>
      </p:sp>
      <p:sp>
        <p:nvSpPr>
          <p:cNvPr id="16" name="Text 84"/>
          <p:cNvSpPr txBox="1"/>
          <p:nvPr/>
        </p:nvSpPr>
        <p:spPr>
          <a:xfrm>
            <a:off x="4800600" y="2331720"/>
            <a:ext cx="1645920" cy="1188720"/>
          </a:xfrm>
          <a:prstGeom prst="rect">
            <a:avLst/>
          </a:prstGeom>
          <a:noFill/>
          <a:ln/>
        </p:spPr>
        <p:txBody>
          <a:bodyPr wrap="square" lIns="0" tIns="0" rIns="0" bIns="0" rtlCol="0" anchor="t"/>
          <a:lstStyle/>
          <a:p>
            <a:pPr algn="l" indent="0" marL="0">
              <a:buNone/>
            </a:pPr>
            <a:r>
              <a:rPr lang="en-US" sz="1400" dirty="0">
                <a:solidFill>
                  <a:schemeClr val="tx1"/>
                </a:solidFill>
              </a:rPr>
              <a:t>Builds a tree of clusters by merging or splitting step by step.</a:t>
            </a:r>
            <a:endParaRPr lang="en-US" sz="1400" dirty="0"/>
          </a:p>
        </p:txBody>
      </p:sp>
      <p:sp>
        <p:nvSpPr>
          <p:cNvPr id="17" name="Card 85"/>
          <p:cNvSpPr/>
          <p:nvPr/>
        </p:nvSpPr>
        <p:spPr>
          <a:xfrm>
            <a:off x="6766560" y="1188720"/>
            <a:ext cx="1920240" cy="2926080"/>
          </a:xfrm>
          <a:prstGeom prst="roundRect">
            <a:avLst>
              <a:gd name="adj" fmla="val 3810"/>
            </a:avLst>
          </a:prstGeom>
          <a:solidFill>
            <a:schemeClr val="bg2"/>
          </a:solidFill>
          <a:ln w="12700">
            <a:solidFill>
              <a:schemeClr val="bg2"/>
            </a:solidFill>
            <a:prstDash val="solid"/>
          </a:ln>
        </p:spPr>
      </p:sp>
      <p:sp>
        <p:nvSpPr>
          <p:cNvPr id="18" name="Text 86"/>
          <p:cNvSpPr txBox="1"/>
          <p:nvPr/>
        </p:nvSpPr>
        <p:spPr>
          <a:xfrm>
            <a:off x="6903720" y="1325880"/>
            <a:ext cx="1645920" cy="274320"/>
          </a:xfrm>
          <a:prstGeom prst="rect">
            <a:avLst/>
          </a:prstGeom>
          <a:noFill/>
          <a:ln/>
        </p:spPr>
        <p:txBody>
          <a:bodyPr wrap="square" lIns="0" tIns="0" rIns="0" bIns="0" rtlCol="0" anchor="t"/>
          <a:lstStyle/>
          <a:p>
            <a:pPr algn="l" indent="0" marL="0">
              <a:buNone/>
            </a:pPr>
            <a:r>
              <a:rPr lang="en-US" sz="1100" b="1" dirty="0">
                <a:solidFill>
                  <a:schemeClr val="accent5"/>
                </a:solidFill>
              </a:rPr>
              <a:t>Fewer features</a:t>
            </a:r>
            <a:endParaRPr lang="en-US" sz="1100" dirty="0"/>
          </a:p>
        </p:txBody>
      </p:sp>
      <p:sp>
        <p:nvSpPr>
          <p:cNvPr id="19" name="Text 87"/>
          <p:cNvSpPr txBox="1"/>
          <p:nvPr/>
        </p:nvSpPr>
        <p:spPr>
          <a:xfrm>
            <a:off x="6903720" y="1627632"/>
            <a:ext cx="1645920" cy="640080"/>
          </a:xfrm>
          <a:prstGeom prst="rect">
            <a:avLst/>
          </a:prstGeom>
          <a:noFill/>
          <a:ln/>
        </p:spPr>
        <p:txBody>
          <a:bodyPr wrap="square" lIns="0" tIns="0" rIns="0" bIns="0" rtlCol="0" anchor="t"/>
          <a:lstStyle/>
          <a:p>
            <a:pPr algn="l" indent="0" marL="0">
              <a:buNone/>
            </a:pPr>
            <a:r>
              <a:rPr lang="en-US" sz="1700" b="1" dirty="0">
                <a:solidFill>
                  <a:schemeClr val="tx2"/>
                </a:solidFill>
              </a:rPr>
              <a:t>PCA and Factor analysis</a:t>
            </a:r>
            <a:endParaRPr lang="en-US" sz="1700" dirty="0"/>
          </a:p>
        </p:txBody>
      </p:sp>
      <p:sp>
        <p:nvSpPr>
          <p:cNvPr id="20" name="Text 88"/>
          <p:cNvSpPr txBox="1"/>
          <p:nvPr/>
        </p:nvSpPr>
        <p:spPr>
          <a:xfrm>
            <a:off x="6903720" y="2331720"/>
            <a:ext cx="1645920" cy="1188720"/>
          </a:xfrm>
          <a:prstGeom prst="rect">
            <a:avLst/>
          </a:prstGeom>
          <a:noFill/>
          <a:ln/>
        </p:spPr>
        <p:txBody>
          <a:bodyPr wrap="square" lIns="0" tIns="0" rIns="0" bIns="0" rtlCol="0" anchor="t"/>
          <a:lstStyle/>
          <a:p>
            <a:pPr algn="l" indent="0" marL="0">
              <a:buNone/>
            </a:pPr>
            <a:r>
              <a:rPr lang="en-US" sz="1400" dirty="0">
                <a:solidFill>
                  <a:schemeClr val="tx1"/>
                </a:solidFill>
              </a:rPr>
              <a:t>Reduces many features to a few. It does not make groups.</a:t>
            </a:r>
            <a:endParaRPr lang="en-US" sz="1400" dirty="0"/>
          </a:p>
        </p:txBody>
      </p:sp>
      <p:sp>
        <p:nvSpPr>
          <p:cNvPr id="21" name="Text 89"/>
          <p:cNvSpPr txBox="1"/>
          <p:nvPr/>
        </p:nvSpPr>
        <p:spPr>
          <a:xfrm>
            <a:off x="457200" y="4224528"/>
            <a:ext cx="8229600" cy="274320"/>
          </a:xfrm>
          <a:prstGeom prst="rect">
            <a:avLst/>
          </a:prstGeom>
          <a:noFill/>
          <a:ln/>
        </p:spPr>
        <p:txBody>
          <a:bodyPr wrap="square" lIns="0" tIns="0" rIns="0" bIns="0" rtlCol="0" anchor="ctr"/>
          <a:lstStyle/>
          <a:p>
            <a:pPr algn="l" indent="0" marL="0">
              <a:buNone/>
            </a:pPr>
            <a:r>
              <a:rPr lang="en-US" sz="1100" dirty="0">
                <a:solidFill>
                  <a:schemeClr val="accent5"/>
                </a:solidFill>
              </a:rPr>
              <a:t>From the Unit 3 syllabus: K-means, mixtures of Gaussians, EM, factor analysis, PCA, hierarchical clustering</a:t>
            </a:r>
            <a:endParaRPr lang="en-US" sz="11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Our choice: K-Means clustering</a:t>
            </a:r>
            <a:endParaRPr lang="en-US" sz="3600" dirty="0"/>
          </a:p>
        </p:txBody>
      </p:sp>
      <p:sp>
        <p:nvSpPr>
          <p:cNvPr id="4" name="Card 90"/>
          <p:cNvSpPr/>
          <p:nvPr/>
        </p:nvSpPr>
        <p:spPr>
          <a:xfrm>
            <a:off x="457200" y="1188720"/>
            <a:ext cx="3566160" cy="3200400"/>
          </a:xfrm>
          <a:prstGeom prst="roundRect">
            <a:avLst>
              <a:gd name="adj" fmla="val 2286"/>
            </a:avLst>
          </a:prstGeom>
          <a:solidFill>
            <a:schemeClr val="accent1"/>
          </a:solidFill>
          <a:ln w="12700">
            <a:solidFill>
              <a:schemeClr val="accent1"/>
            </a:solidFill>
            <a:prstDash val="solid"/>
          </a:ln>
        </p:spPr>
      </p:sp>
      <p:sp>
        <p:nvSpPr>
          <p:cNvPr id="5" name="Text 91"/>
          <p:cNvSpPr txBox="1"/>
          <p:nvPr/>
        </p:nvSpPr>
        <p:spPr>
          <a:xfrm>
            <a:off x="685800" y="1371600"/>
            <a:ext cx="310896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DEFINITION</a:t>
            </a:r>
            <a:endParaRPr lang="en-US" sz="1200" dirty="0"/>
          </a:p>
        </p:txBody>
      </p:sp>
      <p:sp>
        <p:nvSpPr>
          <p:cNvPr id="6" name="Text 92"/>
          <p:cNvSpPr txBox="1"/>
          <p:nvPr/>
        </p:nvSpPr>
        <p:spPr>
          <a:xfrm>
            <a:off x="685800" y="1691640"/>
            <a:ext cx="3108960" cy="1143000"/>
          </a:xfrm>
          <a:prstGeom prst="rect">
            <a:avLst/>
          </a:prstGeom>
          <a:noFill/>
          <a:ln/>
        </p:spPr>
        <p:txBody>
          <a:bodyPr wrap="square" lIns="0" tIns="0" rIns="0" bIns="0" rtlCol="0" anchor="t"/>
          <a:lstStyle/>
          <a:p>
            <a:pPr algn="l" indent="0" marL="0">
              <a:buNone/>
            </a:pPr>
            <a:r>
              <a:rPr lang="en-US" sz="1800" b="1" dirty="0">
                <a:solidFill>
                  <a:schemeClr val="bg1"/>
                </a:solidFill>
              </a:rPr>
              <a:t>K-Means groups similar data points into k clusters without needing labelled data.</a:t>
            </a:r>
            <a:endParaRPr lang="en-US" sz="1800" dirty="0"/>
          </a:p>
        </p:txBody>
      </p:sp>
      <p:sp>
        <p:nvSpPr>
          <p:cNvPr id="7" name="Text 93"/>
          <p:cNvSpPr txBox="1"/>
          <p:nvPr/>
        </p:nvSpPr>
        <p:spPr>
          <a:xfrm>
            <a:off x="685800" y="2880360"/>
            <a:ext cx="3108960" cy="274320"/>
          </a:xfrm>
          <a:prstGeom prst="rect">
            <a:avLst/>
          </a:prstGeom>
          <a:noFill/>
          <a:ln/>
        </p:spPr>
        <p:txBody>
          <a:bodyPr wrap="square" lIns="0" tIns="0" rIns="0" bIns="0" rtlCol="0" anchor="t"/>
          <a:lstStyle/>
          <a:p>
            <a:pPr algn="l" indent="0" marL="0">
              <a:buNone/>
            </a:pPr>
            <a:r>
              <a:rPr lang="en-US" sz="1400" dirty="0">
                <a:solidFill>
                  <a:schemeClr val="bg2"/>
                </a:solidFill>
              </a:rPr>
              <a:t>k = the number of groups we want</a:t>
            </a:r>
            <a:endParaRPr lang="en-US" sz="1400" dirty="0"/>
          </a:p>
        </p:txBody>
      </p:sp>
      <p:sp>
        <p:nvSpPr>
          <p:cNvPr id="8" name="Dot 94"/>
          <p:cNvSpPr/>
          <p:nvPr/>
        </p:nvSpPr>
        <p:spPr>
          <a:xfrm>
            <a:off x="982614" y="3621938"/>
            <a:ext cx="118872" cy="118872"/>
          </a:xfrm>
          <a:prstGeom prst="ellipse">
            <a:avLst/>
          </a:prstGeom>
          <a:solidFill>
            <a:schemeClr val="accent2"/>
          </a:solidFill>
          <a:ln w="12700">
            <a:solidFill>
              <a:schemeClr val="accent2"/>
            </a:solidFill>
            <a:prstDash val="solid"/>
          </a:ln>
        </p:spPr>
      </p:sp>
      <p:sp>
        <p:nvSpPr>
          <p:cNvPr id="9" name="Dot 95"/>
          <p:cNvSpPr/>
          <p:nvPr/>
        </p:nvSpPr>
        <p:spPr>
          <a:xfrm>
            <a:off x="1152693" y="3480206"/>
            <a:ext cx="118872" cy="118872"/>
          </a:xfrm>
          <a:prstGeom prst="ellipse">
            <a:avLst/>
          </a:prstGeom>
          <a:solidFill>
            <a:schemeClr val="accent2"/>
          </a:solidFill>
          <a:ln w="12700">
            <a:solidFill>
              <a:schemeClr val="accent2"/>
            </a:solidFill>
            <a:prstDash val="solid"/>
          </a:ln>
        </p:spPr>
      </p:sp>
      <p:sp>
        <p:nvSpPr>
          <p:cNvPr id="10" name="Dot 96"/>
          <p:cNvSpPr/>
          <p:nvPr/>
        </p:nvSpPr>
        <p:spPr>
          <a:xfrm>
            <a:off x="1390802" y="3548238"/>
            <a:ext cx="118872" cy="118872"/>
          </a:xfrm>
          <a:prstGeom prst="ellipse">
            <a:avLst/>
          </a:prstGeom>
          <a:solidFill>
            <a:schemeClr val="accent2"/>
          </a:solidFill>
          <a:ln w="12700">
            <a:solidFill>
              <a:schemeClr val="accent2"/>
            </a:solidFill>
            <a:prstDash val="solid"/>
          </a:ln>
        </p:spPr>
      </p:sp>
      <p:sp>
        <p:nvSpPr>
          <p:cNvPr id="11" name="Dot 97"/>
          <p:cNvSpPr/>
          <p:nvPr/>
        </p:nvSpPr>
        <p:spPr>
          <a:xfrm>
            <a:off x="1481511" y="3763670"/>
            <a:ext cx="118872" cy="118872"/>
          </a:xfrm>
          <a:prstGeom prst="ellipse">
            <a:avLst/>
          </a:prstGeom>
          <a:solidFill>
            <a:schemeClr val="accent2"/>
          </a:solidFill>
          <a:ln w="12700">
            <a:solidFill>
              <a:schemeClr val="accent2"/>
            </a:solidFill>
            <a:prstDash val="solid"/>
          </a:ln>
        </p:spPr>
      </p:sp>
      <p:sp>
        <p:nvSpPr>
          <p:cNvPr id="12" name="Dot 98"/>
          <p:cNvSpPr/>
          <p:nvPr/>
        </p:nvSpPr>
        <p:spPr>
          <a:xfrm>
            <a:off x="1322771" y="3950757"/>
            <a:ext cx="118872" cy="118872"/>
          </a:xfrm>
          <a:prstGeom prst="ellipse">
            <a:avLst/>
          </a:prstGeom>
          <a:solidFill>
            <a:schemeClr val="accent2"/>
          </a:solidFill>
          <a:ln w="12700">
            <a:solidFill>
              <a:schemeClr val="accent2"/>
            </a:solidFill>
            <a:prstDash val="solid"/>
          </a:ln>
        </p:spPr>
      </p:sp>
      <p:sp>
        <p:nvSpPr>
          <p:cNvPr id="13" name="Dot 99"/>
          <p:cNvSpPr/>
          <p:nvPr/>
        </p:nvSpPr>
        <p:spPr>
          <a:xfrm>
            <a:off x="1078992" y="3905402"/>
            <a:ext cx="118872" cy="118872"/>
          </a:xfrm>
          <a:prstGeom prst="ellipse">
            <a:avLst/>
          </a:prstGeom>
          <a:solidFill>
            <a:schemeClr val="accent2"/>
          </a:solidFill>
          <a:ln w="12700">
            <a:solidFill>
              <a:schemeClr val="accent2"/>
            </a:solidFill>
            <a:prstDash val="solid"/>
          </a:ln>
        </p:spPr>
      </p:sp>
      <p:sp>
        <p:nvSpPr>
          <p:cNvPr id="14" name="Dot 100"/>
          <p:cNvSpPr/>
          <p:nvPr/>
        </p:nvSpPr>
        <p:spPr>
          <a:xfrm>
            <a:off x="937260" y="3803355"/>
            <a:ext cx="118872" cy="118872"/>
          </a:xfrm>
          <a:prstGeom prst="ellipse">
            <a:avLst/>
          </a:prstGeom>
          <a:solidFill>
            <a:schemeClr val="accent2"/>
          </a:solidFill>
          <a:ln w="12700">
            <a:solidFill>
              <a:schemeClr val="accent2"/>
            </a:solidFill>
            <a:prstDash val="solid"/>
          </a:ln>
        </p:spPr>
      </p:sp>
      <p:sp>
        <p:nvSpPr>
          <p:cNvPr id="15" name="Centroid 101"/>
          <p:cNvSpPr/>
          <p:nvPr/>
        </p:nvSpPr>
        <p:spPr>
          <a:xfrm>
            <a:off x="1196950" y="3711550"/>
            <a:ext cx="166421" cy="166421"/>
          </a:xfrm>
          <a:prstGeom prst="ellipse">
            <a:avLst/>
          </a:prstGeom>
          <a:solidFill>
            <a:schemeClr val="accent1"/>
          </a:solidFill>
          <a:ln w="22225">
            <a:solidFill>
              <a:schemeClr val="accent2"/>
            </a:solidFill>
            <a:prstDash val="solid"/>
          </a:ln>
        </p:spPr>
      </p:sp>
      <p:sp>
        <p:nvSpPr>
          <p:cNvPr id="16" name="Dot 102"/>
          <p:cNvSpPr/>
          <p:nvPr/>
        </p:nvSpPr>
        <p:spPr>
          <a:xfrm>
            <a:off x="1942734" y="3621938"/>
            <a:ext cx="118872" cy="118872"/>
          </a:xfrm>
          <a:prstGeom prst="ellipse">
            <a:avLst/>
          </a:prstGeom>
          <a:solidFill>
            <a:schemeClr val="accent4"/>
          </a:solidFill>
          <a:ln w="12700">
            <a:solidFill>
              <a:schemeClr val="accent4"/>
            </a:solidFill>
            <a:prstDash val="solid"/>
          </a:ln>
        </p:spPr>
      </p:sp>
      <p:sp>
        <p:nvSpPr>
          <p:cNvPr id="17" name="Dot 103"/>
          <p:cNvSpPr/>
          <p:nvPr/>
        </p:nvSpPr>
        <p:spPr>
          <a:xfrm>
            <a:off x="2112813" y="3480206"/>
            <a:ext cx="118872" cy="118872"/>
          </a:xfrm>
          <a:prstGeom prst="ellipse">
            <a:avLst/>
          </a:prstGeom>
          <a:solidFill>
            <a:schemeClr val="accent4"/>
          </a:solidFill>
          <a:ln w="12700">
            <a:solidFill>
              <a:schemeClr val="accent4"/>
            </a:solidFill>
            <a:prstDash val="solid"/>
          </a:ln>
        </p:spPr>
      </p:sp>
      <p:sp>
        <p:nvSpPr>
          <p:cNvPr id="18" name="Dot 104"/>
          <p:cNvSpPr/>
          <p:nvPr/>
        </p:nvSpPr>
        <p:spPr>
          <a:xfrm>
            <a:off x="2350922" y="3548238"/>
            <a:ext cx="118872" cy="118872"/>
          </a:xfrm>
          <a:prstGeom prst="ellipse">
            <a:avLst/>
          </a:prstGeom>
          <a:solidFill>
            <a:schemeClr val="accent4"/>
          </a:solidFill>
          <a:ln w="12700">
            <a:solidFill>
              <a:schemeClr val="accent4"/>
            </a:solidFill>
            <a:prstDash val="solid"/>
          </a:ln>
        </p:spPr>
      </p:sp>
      <p:sp>
        <p:nvSpPr>
          <p:cNvPr id="19" name="Dot 105"/>
          <p:cNvSpPr/>
          <p:nvPr/>
        </p:nvSpPr>
        <p:spPr>
          <a:xfrm>
            <a:off x="2441631" y="3763670"/>
            <a:ext cx="118872" cy="118872"/>
          </a:xfrm>
          <a:prstGeom prst="ellipse">
            <a:avLst/>
          </a:prstGeom>
          <a:solidFill>
            <a:schemeClr val="accent4"/>
          </a:solidFill>
          <a:ln w="12700">
            <a:solidFill>
              <a:schemeClr val="accent4"/>
            </a:solidFill>
            <a:prstDash val="solid"/>
          </a:ln>
        </p:spPr>
      </p:sp>
      <p:sp>
        <p:nvSpPr>
          <p:cNvPr id="20" name="Dot 106"/>
          <p:cNvSpPr/>
          <p:nvPr/>
        </p:nvSpPr>
        <p:spPr>
          <a:xfrm>
            <a:off x="2282891" y="3950757"/>
            <a:ext cx="118872" cy="118872"/>
          </a:xfrm>
          <a:prstGeom prst="ellipse">
            <a:avLst/>
          </a:prstGeom>
          <a:solidFill>
            <a:schemeClr val="accent4"/>
          </a:solidFill>
          <a:ln w="12700">
            <a:solidFill>
              <a:schemeClr val="accent4"/>
            </a:solidFill>
            <a:prstDash val="solid"/>
          </a:ln>
        </p:spPr>
      </p:sp>
      <p:sp>
        <p:nvSpPr>
          <p:cNvPr id="21" name="Dot 107"/>
          <p:cNvSpPr/>
          <p:nvPr/>
        </p:nvSpPr>
        <p:spPr>
          <a:xfrm>
            <a:off x="2039112" y="3905402"/>
            <a:ext cx="118872" cy="118872"/>
          </a:xfrm>
          <a:prstGeom prst="ellipse">
            <a:avLst/>
          </a:prstGeom>
          <a:solidFill>
            <a:schemeClr val="accent4"/>
          </a:solidFill>
          <a:ln w="12700">
            <a:solidFill>
              <a:schemeClr val="accent4"/>
            </a:solidFill>
            <a:prstDash val="solid"/>
          </a:ln>
        </p:spPr>
      </p:sp>
      <p:sp>
        <p:nvSpPr>
          <p:cNvPr id="22" name="Dot 108"/>
          <p:cNvSpPr/>
          <p:nvPr/>
        </p:nvSpPr>
        <p:spPr>
          <a:xfrm>
            <a:off x="1897380" y="3803355"/>
            <a:ext cx="118872" cy="118872"/>
          </a:xfrm>
          <a:prstGeom prst="ellipse">
            <a:avLst/>
          </a:prstGeom>
          <a:solidFill>
            <a:schemeClr val="accent4"/>
          </a:solidFill>
          <a:ln w="12700">
            <a:solidFill>
              <a:schemeClr val="accent4"/>
            </a:solidFill>
            <a:prstDash val="solid"/>
          </a:ln>
        </p:spPr>
      </p:sp>
      <p:sp>
        <p:nvSpPr>
          <p:cNvPr id="23" name="Centroid 109"/>
          <p:cNvSpPr/>
          <p:nvPr/>
        </p:nvSpPr>
        <p:spPr>
          <a:xfrm>
            <a:off x="2157070" y="3711550"/>
            <a:ext cx="166421" cy="166421"/>
          </a:xfrm>
          <a:prstGeom prst="ellipse">
            <a:avLst/>
          </a:prstGeom>
          <a:solidFill>
            <a:schemeClr val="accent1"/>
          </a:solidFill>
          <a:ln w="22225">
            <a:solidFill>
              <a:schemeClr val="accent4"/>
            </a:solidFill>
            <a:prstDash val="solid"/>
          </a:ln>
        </p:spPr>
      </p:sp>
      <p:sp>
        <p:nvSpPr>
          <p:cNvPr id="24" name="Dot 110"/>
          <p:cNvSpPr/>
          <p:nvPr/>
        </p:nvSpPr>
        <p:spPr>
          <a:xfrm>
            <a:off x="2902854" y="3621938"/>
            <a:ext cx="118872" cy="118872"/>
          </a:xfrm>
          <a:prstGeom prst="ellipse">
            <a:avLst/>
          </a:prstGeom>
          <a:solidFill>
            <a:schemeClr val="accent3"/>
          </a:solidFill>
          <a:ln w="12700">
            <a:solidFill>
              <a:schemeClr val="accent3"/>
            </a:solidFill>
            <a:prstDash val="solid"/>
          </a:ln>
        </p:spPr>
      </p:sp>
      <p:sp>
        <p:nvSpPr>
          <p:cNvPr id="25" name="Dot 111"/>
          <p:cNvSpPr/>
          <p:nvPr/>
        </p:nvSpPr>
        <p:spPr>
          <a:xfrm>
            <a:off x="3072933" y="3480206"/>
            <a:ext cx="118872" cy="118872"/>
          </a:xfrm>
          <a:prstGeom prst="ellipse">
            <a:avLst/>
          </a:prstGeom>
          <a:solidFill>
            <a:schemeClr val="accent3"/>
          </a:solidFill>
          <a:ln w="12700">
            <a:solidFill>
              <a:schemeClr val="accent3"/>
            </a:solidFill>
            <a:prstDash val="solid"/>
          </a:ln>
        </p:spPr>
      </p:sp>
      <p:sp>
        <p:nvSpPr>
          <p:cNvPr id="26" name="Dot 112"/>
          <p:cNvSpPr/>
          <p:nvPr/>
        </p:nvSpPr>
        <p:spPr>
          <a:xfrm>
            <a:off x="3311042" y="3548238"/>
            <a:ext cx="118872" cy="118872"/>
          </a:xfrm>
          <a:prstGeom prst="ellipse">
            <a:avLst/>
          </a:prstGeom>
          <a:solidFill>
            <a:schemeClr val="accent3"/>
          </a:solidFill>
          <a:ln w="12700">
            <a:solidFill>
              <a:schemeClr val="accent3"/>
            </a:solidFill>
            <a:prstDash val="solid"/>
          </a:ln>
        </p:spPr>
      </p:sp>
      <p:sp>
        <p:nvSpPr>
          <p:cNvPr id="27" name="Dot 113"/>
          <p:cNvSpPr/>
          <p:nvPr/>
        </p:nvSpPr>
        <p:spPr>
          <a:xfrm>
            <a:off x="3401751" y="3763670"/>
            <a:ext cx="118872" cy="118872"/>
          </a:xfrm>
          <a:prstGeom prst="ellipse">
            <a:avLst/>
          </a:prstGeom>
          <a:solidFill>
            <a:schemeClr val="accent3"/>
          </a:solidFill>
          <a:ln w="12700">
            <a:solidFill>
              <a:schemeClr val="accent3"/>
            </a:solidFill>
            <a:prstDash val="solid"/>
          </a:ln>
        </p:spPr>
      </p:sp>
      <p:sp>
        <p:nvSpPr>
          <p:cNvPr id="28" name="Dot 114"/>
          <p:cNvSpPr/>
          <p:nvPr/>
        </p:nvSpPr>
        <p:spPr>
          <a:xfrm>
            <a:off x="3243011" y="3950757"/>
            <a:ext cx="118872" cy="118872"/>
          </a:xfrm>
          <a:prstGeom prst="ellipse">
            <a:avLst/>
          </a:prstGeom>
          <a:solidFill>
            <a:schemeClr val="accent3"/>
          </a:solidFill>
          <a:ln w="12700">
            <a:solidFill>
              <a:schemeClr val="accent3"/>
            </a:solidFill>
            <a:prstDash val="solid"/>
          </a:ln>
        </p:spPr>
      </p:sp>
      <p:sp>
        <p:nvSpPr>
          <p:cNvPr id="29" name="Dot 115"/>
          <p:cNvSpPr/>
          <p:nvPr/>
        </p:nvSpPr>
        <p:spPr>
          <a:xfrm>
            <a:off x="2999232" y="3905402"/>
            <a:ext cx="118872" cy="118872"/>
          </a:xfrm>
          <a:prstGeom prst="ellipse">
            <a:avLst/>
          </a:prstGeom>
          <a:solidFill>
            <a:schemeClr val="accent3"/>
          </a:solidFill>
          <a:ln w="12700">
            <a:solidFill>
              <a:schemeClr val="accent3"/>
            </a:solidFill>
            <a:prstDash val="solid"/>
          </a:ln>
        </p:spPr>
      </p:sp>
      <p:sp>
        <p:nvSpPr>
          <p:cNvPr id="30" name="Dot 116"/>
          <p:cNvSpPr/>
          <p:nvPr/>
        </p:nvSpPr>
        <p:spPr>
          <a:xfrm>
            <a:off x="2857500" y="3803355"/>
            <a:ext cx="118872" cy="118872"/>
          </a:xfrm>
          <a:prstGeom prst="ellipse">
            <a:avLst/>
          </a:prstGeom>
          <a:solidFill>
            <a:schemeClr val="accent3"/>
          </a:solidFill>
          <a:ln w="12700">
            <a:solidFill>
              <a:schemeClr val="accent3"/>
            </a:solidFill>
            <a:prstDash val="solid"/>
          </a:ln>
        </p:spPr>
      </p:sp>
      <p:sp>
        <p:nvSpPr>
          <p:cNvPr id="31" name="Centroid 117"/>
          <p:cNvSpPr/>
          <p:nvPr/>
        </p:nvSpPr>
        <p:spPr>
          <a:xfrm>
            <a:off x="3117190" y="3711550"/>
            <a:ext cx="166421" cy="166421"/>
          </a:xfrm>
          <a:prstGeom prst="ellipse">
            <a:avLst/>
          </a:prstGeom>
          <a:solidFill>
            <a:schemeClr val="accent1"/>
          </a:solidFill>
          <a:ln w="22225">
            <a:solidFill>
              <a:schemeClr val="accent3"/>
            </a:solidFill>
            <a:prstDash val="solid"/>
          </a:ln>
        </p:spPr>
      </p:sp>
      <p:sp>
        <p:nvSpPr>
          <p:cNvPr id="32" name="Text 118"/>
          <p:cNvSpPr txBox="1"/>
          <p:nvPr/>
        </p:nvSpPr>
        <p:spPr>
          <a:xfrm>
            <a:off x="4297680" y="1188720"/>
            <a:ext cx="4389120" cy="320040"/>
          </a:xfrm>
          <a:prstGeom prst="rect">
            <a:avLst/>
          </a:prstGeom>
          <a:noFill/>
          <a:ln/>
        </p:spPr>
        <p:txBody>
          <a:bodyPr wrap="square" lIns="0" tIns="0" rIns="0" bIns="0" rtlCol="0" anchor="t"/>
          <a:lstStyle/>
          <a:p>
            <a:pPr algn="l" indent="0" marL="0">
              <a:buNone/>
            </a:pPr>
            <a:r>
              <a:rPr lang="en-US" sz="1700" b="1" dirty="0">
                <a:solidFill>
                  <a:schemeClr val="tx2"/>
                </a:solidFill>
              </a:rPr>
              <a:t>Why it suits our project</a:t>
            </a:r>
            <a:endParaRPr lang="en-US" sz="1700" dirty="0"/>
          </a:p>
        </p:txBody>
      </p:sp>
      <p:sp>
        <p:nvSpPr>
          <p:cNvPr id="33" name="Badge 119"/>
          <p:cNvSpPr/>
          <p:nvPr/>
        </p:nvSpPr>
        <p:spPr>
          <a:xfrm>
            <a:off x="4297680" y="1700784"/>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34" name="Text 120"/>
          <p:cNvSpPr txBox="1"/>
          <p:nvPr/>
        </p:nvSpPr>
        <p:spPr>
          <a:xfrm>
            <a:off x="4800600" y="1664208"/>
            <a:ext cx="3886200" cy="548640"/>
          </a:xfrm>
          <a:prstGeom prst="rect">
            <a:avLst/>
          </a:prstGeom>
          <a:noFill/>
          <a:ln/>
        </p:spPr>
        <p:txBody>
          <a:bodyPr wrap="square" lIns="0" tIns="0" rIns="0" bIns="0" rtlCol="0" anchor="ctr"/>
          <a:lstStyle/>
          <a:p>
            <a:pPr algn="l" indent="0" marL="0">
              <a:buNone/>
            </a:pPr>
            <a:r>
              <a:rPr lang="en-US" sz="1400" dirty="0">
                <a:solidFill>
                  <a:schemeClr val="tx1"/>
                </a:solidFill>
              </a:rPr>
              <a:t>Our task says "partition". K-Means is a partitioning method.</a:t>
            </a:r>
            <a:endParaRPr lang="en-US" sz="1400" dirty="0"/>
          </a:p>
        </p:txBody>
      </p:sp>
      <p:sp>
        <p:nvSpPr>
          <p:cNvPr id="35" name="Badge 121"/>
          <p:cNvSpPr/>
          <p:nvPr/>
        </p:nvSpPr>
        <p:spPr>
          <a:xfrm>
            <a:off x="4297680" y="2386584"/>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36" name="Text 122"/>
          <p:cNvSpPr txBox="1"/>
          <p:nvPr/>
        </p:nvSpPr>
        <p:spPr>
          <a:xfrm>
            <a:off x="4800600" y="2350008"/>
            <a:ext cx="3886200" cy="548640"/>
          </a:xfrm>
          <a:prstGeom prst="rect">
            <a:avLst/>
          </a:prstGeom>
          <a:noFill/>
          <a:ln/>
        </p:spPr>
        <p:txBody>
          <a:bodyPr wrap="square" lIns="0" tIns="0" rIns="0" bIns="0" rtlCol="0" anchor="ctr"/>
          <a:lstStyle/>
          <a:p>
            <a:pPr algn="l" indent="0" marL="0">
              <a:buNone/>
            </a:pPr>
            <a:r>
              <a:rPr lang="en-US" sz="1400" dirty="0">
                <a:solidFill>
                  <a:schemeClr val="tx1"/>
                </a:solidFill>
              </a:rPr>
              <a:t>Every SKU gets exactly one group, just like one storage zone.</a:t>
            </a:r>
            <a:endParaRPr lang="en-US" sz="1400" dirty="0"/>
          </a:p>
        </p:txBody>
      </p:sp>
      <p:sp>
        <p:nvSpPr>
          <p:cNvPr id="37" name="Badge 123"/>
          <p:cNvSpPr/>
          <p:nvPr/>
        </p:nvSpPr>
        <p:spPr>
          <a:xfrm>
            <a:off x="4297680" y="3072384"/>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38" name="Text 124"/>
          <p:cNvSpPr txBox="1"/>
          <p:nvPr/>
        </p:nvSpPr>
        <p:spPr>
          <a:xfrm>
            <a:off x="4800600" y="3035808"/>
            <a:ext cx="3886200" cy="548640"/>
          </a:xfrm>
          <a:prstGeom prst="rect">
            <a:avLst/>
          </a:prstGeom>
          <a:noFill/>
          <a:ln/>
        </p:spPr>
        <p:txBody>
          <a:bodyPr wrap="square" lIns="0" tIns="0" rIns="0" bIns="0" rtlCol="0" anchor="ctr"/>
          <a:lstStyle/>
          <a:p>
            <a:pPr algn="l" indent="0" marL="0">
              <a:buNone/>
            </a:pPr>
            <a:r>
              <a:rPr lang="en-US" sz="1400" dirty="0">
                <a:solidFill>
                  <a:schemeClr val="tx1"/>
                </a:solidFill>
              </a:rPr>
              <a:t>All four inputs can be written as numbers, so distance works.</a:t>
            </a:r>
            <a:endParaRPr lang="en-US" sz="1400" dirty="0"/>
          </a:p>
        </p:txBody>
      </p:sp>
      <p:sp>
        <p:nvSpPr>
          <p:cNvPr id="39" name="Badge 125"/>
          <p:cNvSpPr/>
          <p:nvPr/>
        </p:nvSpPr>
        <p:spPr>
          <a:xfrm>
            <a:off x="4297680" y="3758184"/>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40" name="Text 126"/>
          <p:cNvSpPr txBox="1"/>
          <p:nvPr/>
        </p:nvSpPr>
        <p:spPr>
          <a:xfrm>
            <a:off x="4800600" y="3721608"/>
            <a:ext cx="3886200" cy="548640"/>
          </a:xfrm>
          <a:prstGeom prst="rect">
            <a:avLst/>
          </a:prstGeom>
          <a:noFill/>
          <a:ln/>
        </p:spPr>
        <p:txBody>
          <a:bodyPr wrap="square" lIns="0" tIns="0" rIns="0" bIns="0" rtlCol="0" anchor="ctr"/>
          <a:lstStyle/>
          <a:p>
            <a:pPr algn="l" indent="0" marL="0">
              <a:buNone/>
            </a:pPr>
            <a:r>
              <a:rPr lang="en-US" sz="1400" dirty="0">
                <a:solidFill>
                  <a:schemeClr val="tx1"/>
                </a:solidFill>
              </a:rPr>
              <a:t>Simple, fast for thousands of SKUs, easy to re-run each season.</a:t>
            </a:r>
            <a:endParaRPr lang="en-US" sz="14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Why not the other solutions</a:t>
            </a:r>
            <a:endParaRPr lang="en-US" sz="3600" dirty="0"/>
          </a:p>
        </p:txBody>
      </p:sp>
      <p:graphicFrame>
        <p:nvGraphicFramePr>
          <p:cNvPr id="7" name="Comparison table"/>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194560"/>
                <a:gridCol w="2377440"/>
                <a:gridCol w="3657600"/>
              </a:tblGrid>
              <a:tr h="411480">
                <a:tc>
                  <a:txBody>
                    <a:bodyPr/>
                    <a:lstStyle/>
                    <a:p>
                      <a:pPr indent="0" marL="0">
                        <a:buNone/>
                      </a:pPr>
                      <a:r>
                        <a:rPr lang="en-US" sz="1400" b="1" dirty="0">
                          <a:solidFill>
                            <a:schemeClr val="bg1"/>
                          </a:solidFill>
                        </a:rPr>
                        <a:t>Method</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What it gives</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Fit for our problem</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r>
              <a:tr h="658368">
                <a:tc>
                  <a:txBody>
                    <a:bodyPr/>
                    <a:lstStyle/>
                    <a:p>
                      <a:pPr indent="0" marL="0">
                        <a:buNone/>
                      </a:pPr>
                      <a:r>
                        <a:rPr lang="en-US" sz="1400" dirty="0">
                          <a:solidFill>
                            <a:schemeClr val="tx1"/>
                          </a:solidFill>
                        </a:rPr>
                        <a:t>Mixtures of Gaussians (EM)</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A probability for every group (soft)</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A product cannot sit 60% in one zone and 40% in another.</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r h="658368">
                <a:tc>
                  <a:txBody>
                    <a:bodyPr/>
                    <a:lstStyle/>
                    <a:p>
                      <a:pPr indent="0" marL="0">
                        <a:buNone/>
                      </a:pPr>
                      <a:r>
                        <a:rPr lang="en-US" sz="1400" dirty="0">
                          <a:solidFill>
                            <a:schemeClr val="tx1"/>
                          </a:solidFill>
                        </a:rPr>
                        <a:t>Hierarchical clustering</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A tree of clusters (dendrogram)</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Compares every pair of items, so it gets slow for thousands of SKUs.</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r h="658368">
                <a:tc>
                  <a:txBody>
                    <a:bodyPr/>
                    <a:lstStyle/>
                    <a:p>
                      <a:pPr indent="0" marL="0">
                        <a:buNone/>
                      </a:pPr>
                      <a:r>
                        <a:rPr lang="en-US" sz="1400" dirty="0">
                          <a:solidFill>
                            <a:schemeClr val="tx1"/>
                          </a:solidFill>
                        </a:rPr>
                        <a:t>PCA / Factor analysis</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Fewer features</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Does not create groups. It can only help before clustering.</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r h="658368">
                <a:tc>
                  <a:txBody>
                    <a:bodyPr/>
                    <a:lstStyle/>
                    <a:p>
                      <a:pPr indent="0" marL="0">
                        <a:buNone/>
                      </a:pPr>
                      <a:r>
                        <a:rPr lang="en-US" sz="1400" b="1" dirty="0">
                          <a:solidFill>
                            <a:schemeClr val="tx2"/>
                          </a:solidFill>
                        </a:rPr>
                        <a:t>K-Means clustering</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bg2"/>
                    </a:solidFill>
                  </a:tcPr>
                </a:tc>
                <a:tc>
                  <a:txBody>
                    <a:bodyPr/>
                    <a:lstStyle/>
                    <a:p>
                      <a:pPr indent="0" marL="0">
                        <a:buNone/>
                      </a:pPr>
                      <a:r>
                        <a:rPr lang="en-US" sz="1400" b="1" dirty="0">
                          <a:solidFill>
                            <a:schemeClr val="tx2"/>
                          </a:solidFill>
                        </a:rPr>
                        <a:t>k clear groups, one centre each</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bg2"/>
                    </a:solidFill>
                  </a:tcPr>
                </a:tc>
                <a:tc>
                  <a:txBody>
                    <a:bodyPr/>
                    <a:lstStyle/>
                    <a:p>
                      <a:pPr indent="0" marL="0">
                        <a:buNone/>
                      </a:pPr>
                      <a:r>
                        <a:rPr lang="en-US" sz="1400" b="1" dirty="0">
                          <a:solidFill>
                            <a:schemeClr val="tx2"/>
                          </a:solidFill>
                        </a:rPr>
                        <a:t>Fits our need: one clear group for every SKU.</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How K-Means works</a:t>
            </a:r>
            <a:endParaRPr lang="en-US" sz="3600" dirty="0"/>
          </a:p>
        </p:txBody>
      </p:sp>
      <p:sp>
        <p:nvSpPr>
          <p:cNvPr id="4" name="Arrow 127"/>
          <p:cNvSpPr/>
          <p:nvPr/>
        </p:nvSpPr>
        <p:spPr>
          <a:xfrm>
            <a:off x="1024128" y="1463040"/>
            <a:ext cx="1097280" cy="0"/>
          </a:xfrm>
          <a:prstGeom prst="line">
            <a:avLst/>
          </a:prstGeom>
          <a:noFill/>
          <a:ln w="19050">
            <a:solidFill>
              <a:schemeClr val="accent5"/>
            </a:solidFill>
            <a:prstDash val="solid"/>
            <a:tailEnd type="triangle"/>
          </a:ln>
        </p:spPr>
      </p:sp>
      <p:sp>
        <p:nvSpPr>
          <p:cNvPr id="5" name="Badge 128"/>
          <p:cNvSpPr/>
          <p:nvPr/>
        </p:nvSpPr>
        <p:spPr>
          <a:xfrm>
            <a:off x="457200" y="1216152"/>
            <a:ext cx="502920" cy="50292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129"/>
          <p:cNvSpPr txBox="1"/>
          <p:nvPr/>
        </p:nvSpPr>
        <p:spPr>
          <a:xfrm>
            <a:off x="457200" y="1874520"/>
            <a:ext cx="1499616" cy="502920"/>
          </a:xfrm>
          <a:prstGeom prst="rect">
            <a:avLst/>
          </a:prstGeom>
          <a:noFill/>
          <a:ln/>
        </p:spPr>
        <p:txBody>
          <a:bodyPr wrap="square" lIns="0" tIns="0" rIns="0" bIns="0" rtlCol="0" anchor="t"/>
          <a:lstStyle/>
          <a:p>
            <a:pPr algn="l" indent="0" marL="0">
              <a:buNone/>
            </a:pPr>
            <a:r>
              <a:rPr lang="en-US" sz="1500" b="1" dirty="0">
                <a:solidFill>
                  <a:schemeClr val="tx2"/>
                </a:solidFill>
              </a:rPr>
              <a:t>Pick k centres</a:t>
            </a:r>
            <a:endParaRPr lang="en-US" sz="1500" dirty="0"/>
          </a:p>
        </p:txBody>
      </p:sp>
      <p:sp>
        <p:nvSpPr>
          <p:cNvPr id="7" name="Text 130"/>
          <p:cNvSpPr txBox="1"/>
          <p:nvPr/>
        </p:nvSpPr>
        <p:spPr>
          <a:xfrm>
            <a:off x="457200" y="2395728"/>
            <a:ext cx="1499616" cy="1234440"/>
          </a:xfrm>
          <a:prstGeom prst="rect">
            <a:avLst/>
          </a:prstGeom>
          <a:noFill/>
          <a:ln/>
        </p:spPr>
        <p:txBody>
          <a:bodyPr wrap="square" lIns="0" tIns="0" rIns="0" bIns="0" rtlCol="0" anchor="t"/>
          <a:lstStyle/>
          <a:p>
            <a:pPr algn="l" indent="0" marL="0">
              <a:buNone/>
            </a:pPr>
            <a:r>
              <a:rPr lang="en-US" sz="1400" dirty="0">
                <a:solidFill>
                  <a:schemeClr val="tx1"/>
                </a:solidFill>
              </a:rPr>
              <a:t>Choose k centroids at random to start.</a:t>
            </a:r>
            <a:endParaRPr lang="en-US" sz="1400" dirty="0"/>
          </a:p>
        </p:txBody>
      </p:sp>
      <p:sp>
        <p:nvSpPr>
          <p:cNvPr id="8" name="Arrow 131"/>
          <p:cNvSpPr/>
          <p:nvPr/>
        </p:nvSpPr>
        <p:spPr>
          <a:xfrm>
            <a:off x="2706624" y="1463040"/>
            <a:ext cx="1097280" cy="0"/>
          </a:xfrm>
          <a:prstGeom prst="line">
            <a:avLst/>
          </a:prstGeom>
          <a:noFill/>
          <a:ln w="19050">
            <a:solidFill>
              <a:schemeClr val="accent5"/>
            </a:solidFill>
            <a:prstDash val="solid"/>
            <a:tailEnd type="triangle"/>
          </a:ln>
        </p:spPr>
      </p:sp>
      <p:sp>
        <p:nvSpPr>
          <p:cNvPr id="9" name="Badge 132"/>
          <p:cNvSpPr/>
          <p:nvPr/>
        </p:nvSpPr>
        <p:spPr>
          <a:xfrm>
            <a:off x="2139696" y="1216152"/>
            <a:ext cx="502920" cy="50292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Text 133"/>
          <p:cNvSpPr txBox="1"/>
          <p:nvPr/>
        </p:nvSpPr>
        <p:spPr>
          <a:xfrm>
            <a:off x="2139696" y="1874520"/>
            <a:ext cx="1499616" cy="502920"/>
          </a:xfrm>
          <a:prstGeom prst="rect">
            <a:avLst/>
          </a:prstGeom>
          <a:noFill/>
          <a:ln/>
        </p:spPr>
        <p:txBody>
          <a:bodyPr wrap="square" lIns="0" tIns="0" rIns="0" bIns="0" rtlCol="0" anchor="t"/>
          <a:lstStyle/>
          <a:p>
            <a:pPr algn="l" indent="0" marL="0">
              <a:buNone/>
            </a:pPr>
            <a:r>
              <a:rPr lang="en-US" sz="1500" b="1" dirty="0">
                <a:solidFill>
                  <a:schemeClr val="tx2"/>
                </a:solidFill>
              </a:rPr>
              <a:t>Measure distance</a:t>
            </a:r>
            <a:endParaRPr lang="en-US" sz="1500" dirty="0"/>
          </a:p>
        </p:txBody>
      </p:sp>
      <p:sp>
        <p:nvSpPr>
          <p:cNvPr id="11" name="Text 134"/>
          <p:cNvSpPr txBox="1"/>
          <p:nvPr/>
        </p:nvSpPr>
        <p:spPr>
          <a:xfrm>
            <a:off x="2139696" y="2395728"/>
            <a:ext cx="1499616" cy="1234440"/>
          </a:xfrm>
          <a:prstGeom prst="rect">
            <a:avLst/>
          </a:prstGeom>
          <a:noFill/>
          <a:ln/>
        </p:spPr>
        <p:txBody>
          <a:bodyPr wrap="square" lIns="0" tIns="0" rIns="0" bIns="0" rtlCol="0" anchor="t"/>
          <a:lstStyle/>
          <a:p>
            <a:pPr algn="l" indent="0" marL="0">
              <a:buNone/>
            </a:pPr>
            <a:r>
              <a:rPr lang="en-US" sz="1400" dirty="0">
                <a:solidFill>
                  <a:schemeClr val="tx1"/>
                </a:solidFill>
              </a:rPr>
              <a:t>Find the distance from each SKU to every centroid.</a:t>
            </a:r>
            <a:endParaRPr lang="en-US" sz="1400" dirty="0"/>
          </a:p>
        </p:txBody>
      </p:sp>
      <p:sp>
        <p:nvSpPr>
          <p:cNvPr id="12" name="Arrow 135"/>
          <p:cNvSpPr/>
          <p:nvPr/>
        </p:nvSpPr>
        <p:spPr>
          <a:xfrm>
            <a:off x="4389120" y="1463040"/>
            <a:ext cx="1097280" cy="0"/>
          </a:xfrm>
          <a:prstGeom prst="line">
            <a:avLst/>
          </a:prstGeom>
          <a:noFill/>
          <a:ln w="19050">
            <a:solidFill>
              <a:schemeClr val="accent5"/>
            </a:solidFill>
            <a:prstDash val="solid"/>
            <a:tailEnd type="triangle"/>
          </a:ln>
        </p:spPr>
      </p:sp>
      <p:sp>
        <p:nvSpPr>
          <p:cNvPr id="13" name="Badge 136"/>
          <p:cNvSpPr/>
          <p:nvPr/>
        </p:nvSpPr>
        <p:spPr>
          <a:xfrm>
            <a:off x="3822192" y="1216152"/>
            <a:ext cx="502920" cy="50292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4" name="Text 137"/>
          <p:cNvSpPr txBox="1"/>
          <p:nvPr/>
        </p:nvSpPr>
        <p:spPr>
          <a:xfrm>
            <a:off x="3822192" y="1874520"/>
            <a:ext cx="1499616" cy="502920"/>
          </a:xfrm>
          <a:prstGeom prst="rect">
            <a:avLst/>
          </a:prstGeom>
          <a:noFill/>
          <a:ln/>
        </p:spPr>
        <p:txBody>
          <a:bodyPr wrap="square" lIns="0" tIns="0" rIns="0" bIns="0" rtlCol="0" anchor="t"/>
          <a:lstStyle/>
          <a:p>
            <a:pPr algn="l" indent="0" marL="0">
              <a:buNone/>
            </a:pPr>
            <a:r>
              <a:rPr lang="en-US" sz="1500" b="1" dirty="0">
                <a:solidFill>
                  <a:schemeClr val="tx2"/>
                </a:solidFill>
              </a:rPr>
              <a:t>Assign</a:t>
            </a:r>
            <a:endParaRPr lang="en-US" sz="1500" dirty="0"/>
          </a:p>
        </p:txBody>
      </p:sp>
      <p:sp>
        <p:nvSpPr>
          <p:cNvPr id="15" name="Text 138"/>
          <p:cNvSpPr txBox="1"/>
          <p:nvPr/>
        </p:nvSpPr>
        <p:spPr>
          <a:xfrm>
            <a:off x="3822192" y="2395728"/>
            <a:ext cx="1499616" cy="1234440"/>
          </a:xfrm>
          <a:prstGeom prst="rect">
            <a:avLst/>
          </a:prstGeom>
          <a:noFill/>
          <a:ln/>
        </p:spPr>
        <p:txBody>
          <a:bodyPr wrap="square" lIns="0" tIns="0" rIns="0" bIns="0" rtlCol="0" anchor="t"/>
          <a:lstStyle/>
          <a:p>
            <a:pPr algn="l" indent="0" marL="0">
              <a:buNone/>
            </a:pPr>
            <a:r>
              <a:rPr lang="en-US" sz="1400" dirty="0">
                <a:solidFill>
                  <a:schemeClr val="tx1"/>
                </a:solidFill>
              </a:rPr>
              <a:t>Put each SKU in the cluster with the nearest centroid.</a:t>
            </a:r>
            <a:endParaRPr lang="en-US" sz="1400" dirty="0"/>
          </a:p>
        </p:txBody>
      </p:sp>
      <p:sp>
        <p:nvSpPr>
          <p:cNvPr id="16" name="Arrow 139"/>
          <p:cNvSpPr/>
          <p:nvPr/>
        </p:nvSpPr>
        <p:spPr>
          <a:xfrm>
            <a:off x="6071616" y="1463040"/>
            <a:ext cx="1097280" cy="0"/>
          </a:xfrm>
          <a:prstGeom prst="line">
            <a:avLst/>
          </a:prstGeom>
          <a:noFill/>
          <a:ln w="19050">
            <a:solidFill>
              <a:schemeClr val="accent5"/>
            </a:solidFill>
            <a:prstDash val="solid"/>
            <a:tailEnd type="triangle"/>
          </a:ln>
        </p:spPr>
      </p:sp>
      <p:sp>
        <p:nvSpPr>
          <p:cNvPr id="17" name="Badge 140"/>
          <p:cNvSpPr/>
          <p:nvPr/>
        </p:nvSpPr>
        <p:spPr>
          <a:xfrm>
            <a:off x="5504688" y="1216152"/>
            <a:ext cx="502920" cy="50292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8" name="Text 141"/>
          <p:cNvSpPr txBox="1"/>
          <p:nvPr/>
        </p:nvSpPr>
        <p:spPr>
          <a:xfrm>
            <a:off x="5504688" y="1874520"/>
            <a:ext cx="1499616" cy="502920"/>
          </a:xfrm>
          <a:prstGeom prst="rect">
            <a:avLst/>
          </a:prstGeom>
          <a:noFill/>
          <a:ln/>
        </p:spPr>
        <p:txBody>
          <a:bodyPr wrap="square" lIns="0" tIns="0" rIns="0" bIns="0" rtlCol="0" anchor="t"/>
          <a:lstStyle/>
          <a:p>
            <a:pPr algn="l" indent="0" marL="0">
              <a:buNone/>
            </a:pPr>
            <a:r>
              <a:rPr lang="en-US" sz="1500" b="1" dirty="0">
                <a:solidFill>
                  <a:schemeClr val="tx2"/>
                </a:solidFill>
              </a:rPr>
              <a:t>Update centres</a:t>
            </a:r>
            <a:endParaRPr lang="en-US" sz="1500" dirty="0"/>
          </a:p>
        </p:txBody>
      </p:sp>
      <p:sp>
        <p:nvSpPr>
          <p:cNvPr id="19" name="Text 142"/>
          <p:cNvSpPr txBox="1"/>
          <p:nvPr/>
        </p:nvSpPr>
        <p:spPr>
          <a:xfrm>
            <a:off x="5504688" y="2395728"/>
            <a:ext cx="1499616" cy="1234440"/>
          </a:xfrm>
          <a:prstGeom prst="rect">
            <a:avLst/>
          </a:prstGeom>
          <a:noFill/>
          <a:ln/>
        </p:spPr>
        <p:txBody>
          <a:bodyPr wrap="square" lIns="0" tIns="0" rIns="0" bIns="0" rtlCol="0" anchor="t"/>
          <a:lstStyle/>
          <a:p>
            <a:pPr algn="l" indent="0" marL="0">
              <a:buNone/>
            </a:pPr>
            <a:r>
              <a:rPr lang="en-US" sz="1400" dirty="0">
                <a:solidFill>
                  <a:schemeClr val="tx1"/>
                </a:solidFill>
              </a:rPr>
              <a:t>Move each centroid to the mean of its SKUs.</a:t>
            </a:r>
            <a:endParaRPr lang="en-US" sz="1400" dirty="0"/>
          </a:p>
        </p:txBody>
      </p:sp>
      <p:sp>
        <p:nvSpPr>
          <p:cNvPr id="20" name="Badge 143"/>
          <p:cNvSpPr/>
          <p:nvPr/>
        </p:nvSpPr>
        <p:spPr>
          <a:xfrm>
            <a:off x="7187184" y="1216152"/>
            <a:ext cx="502920" cy="502920"/>
          </a:xfrm>
          <a:prstGeom prst="ellipse">
            <a:avLst/>
          </a:prstGeom>
          <a:solidFill>
            <a:schemeClr val="accent3"/>
          </a:solidFill>
          <a:ln>
            <a:solidFill>
              <a:schemeClr val="accent3"/>
            </a:solid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1" name="Text 144"/>
          <p:cNvSpPr txBox="1"/>
          <p:nvPr/>
        </p:nvSpPr>
        <p:spPr>
          <a:xfrm>
            <a:off x="7187184" y="1874520"/>
            <a:ext cx="1499616" cy="502920"/>
          </a:xfrm>
          <a:prstGeom prst="rect">
            <a:avLst/>
          </a:prstGeom>
          <a:noFill/>
          <a:ln/>
        </p:spPr>
        <p:txBody>
          <a:bodyPr wrap="square" lIns="0" tIns="0" rIns="0" bIns="0" rtlCol="0" anchor="t"/>
          <a:lstStyle/>
          <a:p>
            <a:pPr algn="l" indent="0" marL="0">
              <a:buNone/>
            </a:pPr>
            <a:r>
              <a:rPr lang="en-US" sz="1500" b="1" dirty="0">
                <a:solidFill>
                  <a:schemeClr val="tx2"/>
                </a:solidFill>
              </a:rPr>
              <a:t>Repeat</a:t>
            </a:r>
            <a:endParaRPr lang="en-US" sz="1500" dirty="0"/>
          </a:p>
        </p:txBody>
      </p:sp>
      <p:sp>
        <p:nvSpPr>
          <p:cNvPr id="22" name="Text 145"/>
          <p:cNvSpPr txBox="1"/>
          <p:nvPr/>
        </p:nvSpPr>
        <p:spPr>
          <a:xfrm>
            <a:off x="7187184" y="2395728"/>
            <a:ext cx="1499616" cy="1234440"/>
          </a:xfrm>
          <a:prstGeom prst="rect">
            <a:avLst/>
          </a:prstGeom>
          <a:noFill/>
          <a:ln/>
        </p:spPr>
        <p:txBody>
          <a:bodyPr wrap="square" lIns="0" tIns="0" rIns="0" bIns="0" rtlCol="0" anchor="t"/>
          <a:lstStyle/>
          <a:p>
            <a:pPr algn="l" indent="0" marL="0">
              <a:buNone/>
            </a:pPr>
            <a:r>
              <a:rPr lang="en-US" sz="1400" dirty="0">
                <a:solidFill>
                  <a:schemeClr val="tx1"/>
                </a:solidFill>
              </a:rPr>
              <a:t>Do steps 2 to 4 again until no SKU changes its cluster.</a:t>
            </a:r>
            <a:endParaRPr lang="en-US" sz="1400" dirty="0"/>
          </a:p>
        </p:txBody>
      </p:sp>
      <p:sp>
        <p:nvSpPr>
          <p:cNvPr id="23" name="Card 146"/>
          <p:cNvSpPr/>
          <p:nvPr/>
        </p:nvSpPr>
        <p:spPr>
          <a:xfrm>
            <a:off x="457200" y="3794760"/>
            <a:ext cx="8229600" cy="566928"/>
          </a:xfrm>
          <a:prstGeom prst="roundRect">
            <a:avLst>
              <a:gd name="adj" fmla="val 12903"/>
            </a:avLst>
          </a:prstGeom>
          <a:solidFill>
            <a:schemeClr val="bg2"/>
          </a:solidFill>
          <a:ln w="12700">
            <a:solidFill>
              <a:schemeClr val="bg2"/>
            </a:solidFill>
            <a:prstDash val="solid"/>
          </a:ln>
        </p:spPr>
      </p:sp>
      <p:sp>
        <p:nvSpPr>
          <p:cNvPr id="24" name="Text 147"/>
          <p:cNvSpPr txBox="1"/>
          <p:nvPr/>
        </p:nvSpPr>
        <p:spPr>
          <a:xfrm>
            <a:off x="640080" y="3794760"/>
            <a:ext cx="7863840" cy="566928"/>
          </a:xfrm>
          <a:prstGeom prst="rect">
            <a:avLst/>
          </a:prstGeom>
          <a:noFill/>
          <a:ln/>
        </p:spPr>
        <p:txBody>
          <a:bodyPr wrap="square" lIns="0" tIns="0" rIns="0" bIns="0" rtlCol="0" anchor="ctr"/>
          <a:lstStyle/>
          <a:p>
            <a:pPr algn="l" indent="0" marL="0">
              <a:buNone/>
            </a:pPr>
            <a:r>
              <a:rPr lang="en-US" sz="1400" b="1" dirty="0">
                <a:solidFill>
                  <a:schemeClr val="tx2"/>
                </a:solidFill>
              </a:rPr>
              <a:t>Distance used: </a:t>
            </a:r>
            <a:pPr algn="l" indent="0" marL="0">
              <a:buNone/>
            </a:pPr>
            <a:r>
              <a:rPr lang="en-US" sz="1400" dirty="0">
                <a:solidFill>
                  <a:schemeClr val="tx1"/>
                </a:solidFill>
              </a:rPr>
              <a:t>Euclidean distance, the straight-line distance between two points.</a:t>
            </a:r>
            <a:endParaRPr lang="en-US" sz="14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Step 1: Prepare the SKU data</a:t>
            </a:r>
            <a:endParaRPr lang="en-US" sz="3600" dirty="0"/>
          </a:p>
        </p:txBody>
      </p:sp>
      <p:sp>
        <p:nvSpPr>
          <p:cNvPr id="4" name="Text 148"/>
          <p:cNvSpPr txBox="1"/>
          <p:nvPr/>
        </p:nvSpPr>
        <p:spPr>
          <a:xfrm>
            <a:off x="457200" y="1115568"/>
            <a:ext cx="4846320" cy="256032"/>
          </a:xfrm>
          <a:prstGeom prst="rect">
            <a:avLst/>
          </a:prstGeom>
          <a:noFill/>
          <a:ln/>
        </p:spPr>
        <p:txBody>
          <a:bodyPr wrap="square" lIns="0" tIns="0" rIns="0" bIns="0" rtlCol="0" anchor="ctr"/>
          <a:lstStyle/>
          <a:p>
            <a:pPr algn="l" indent="0" marL="0">
              <a:buNone/>
            </a:pPr>
            <a:r>
              <a:rPr lang="en-US" sz="1100" dirty="0">
                <a:solidFill>
                  <a:schemeClr val="accent5"/>
                </a:solidFill>
              </a:rPr>
              <a:t>Real data: Olist public e-commerce dataset, 99,441 orders (2016 to 2018)</a:t>
            </a:r>
            <a:endParaRPr lang="en-US" sz="1100" dirty="0"/>
          </a:p>
        </p:txBody>
      </p:sp>
      <p:graphicFrame>
        <p:nvGraphicFramePr>
          <p:cNvPr id="9" name="Real SKU table"/>
          <p:cNvGraphicFramePr>
            <a:graphicFrameLocks noGrp="1"/>
          </p:cNvGraphicFramePr>
          <p:nvPr>
            <p:extLst>
              <p:ext uri="{D42A27DB-BD31-4B8C-83A1-F6EECF244321}">
                <p14:modId xmlns:p14="http://schemas.microsoft.com/office/powerpoint/2010/main" val="1579011935"/>
              </p:ext>
            </p:extLst>
          </p:nvPr>
        </p:nvGraphicFramePr>
        <p:xfrm>
          <a:off x="457200" y="1417320"/>
          <a:ext cx="4846320" cy="914400"/>
        </p:xfrm>
        <a:graphic>
          <a:graphicData uri="http://schemas.openxmlformats.org/drawingml/2006/table">
            <a:tbl>
              <a:tblPr/>
              <a:tblGrid>
                <a:gridCol w="1097280"/>
                <a:gridCol w="822960"/>
                <a:gridCol w="1005840"/>
                <a:gridCol w="960120"/>
                <a:gridCol w="960120"/>
              </a:tblGrid>
              <a:tr h="566928">
                <a:tc>
                  <a:txBody>
                    <a:bodyPr/>
                    <a:lstStyle/>
                    <a:p>
                      <a:pPr algn="ctr" indent="0" marL="0">
                        <a:buNone/>
                      </a:pPr>
                      <a:r>
                        <a:rPr lang="en-US" sz="1400" b="1" dirty="0">
                          <a:solidFill>
                            <a:schemeClr val="bg1"/>
                          </a:solidFill>
                        </a:rPr>
                        <a:t>SKU</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rPr>
                        <a:t>Orders</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rPr>
                        <a:t>Season index</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rPr>
                        <a:t>Volume (L)</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rPr>
                        <a:t>Weight (kg)</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r>
              <a:tr h="384048">
                <a:tc>
                  <a:txBody>
                    <a:bodyPr/>
                    <a:lstStyle/>
                    <a:p>
                      <a:pPr indent="0" marL="0">
                        <a:buNone/>
                      </a:pPr>
                      <a:r>
                        <a:rPr lang="en-US" sz="1400" dirty="0">
                          <a:solidFill>
                            <a:schemeClr val="tx1"/>
                          </a:solidFill>
                        </a:rPr>
                        <a:t>aca2eb7d</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527</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2.8</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15.0</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2.6</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r h="384048">
                <a:tc>
                  <a:txBody>
                    <a:bodyPr/>
                    <a:lstStyle/>
                    <a:p>
                      <a:pPr indent="0" marL="0">
                        <a:buNone/>
                      </a:pPr>
                      <a:r>
                        <a:rPr lang="en-US" sz="1400" dirty="0">
                          <a:solidFill>
                            <a:schemeClr val="tx1"/>
                          </a:solidFill>
                        </a:rPr>
                        <a:t>42a2c92a</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183</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4.8</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33.0</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7.0</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r h="384048">
                <a:tc>
                  <a:txBody>
                    <a:bodyPr/>
                    <a:lstStyle/>
                    <a:p>
                      <a:pPr indent="0" marL="0">
                        <a:buNone/>
                      </a:pPr>
                      <a:r>
                        <a:rPr lang="en-US" sz="1400" dirty="0">
                          <a:solidFill>
                            <a:schemeClr val="tx1"/>
                          </a:solidFill>
                        </a:rPr>
                        <a:t>54d9ac71</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114</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8.0</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7.8</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1.9</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r h="384048">
                <a:tc>
                  <a:txBody>
                    <a:bodyPr/>
                    <a:lstStyle/>
                    <a:p>
                      <a:pPr indent="0" marL="0">
                        <a:buNone/>
                      </a:pPr>
                      <a:r>
                        <a:rPr lang="en-US" sz="1400" dirty="0">
                          <a:solidFill>
                            <a:schemeClr val="tx1"/>
                          </a:solidFill>
                        </a:rPr>
                        <a:t>dbb67791</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88</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4.5</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2.7</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0.2</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bl>
          </a:graphicData>
        </a:graphic>
      </p:graphicFrame>
      <p:sp>
        <p:nvSpPr>
          <p:cNvPr id="6" name="Card 149"/>
          <p:cNvSpPr/>
          <p:nvPr/>
        </p:nvSpPr>
        <p:spPr>
          <a:xfrm>
            <a:off x="457200" y="3730752"/>
            <a:ext cx="4846320" cy="621792"/>
          </a:xfrm>
          <a:prstGeom prst="roundRect">
            <a:avLst>
              <a:gd name="adj" fmla="val 11765"/>
            </a:avLst>
          </a:prstGeom>
          <a:solidFill>
            <a:schemeClr val="bg2"/>
          </a:solidFill>
          <a:ln w="12700">
            <a:solidFill>
              <a:schemeClr val="bg2"/>
            </a:solidFill>
            <a:prstDash val="solid"/>
          </a:ln>
        </p:spPr>
      </p:sp>
      <p:sp>
        <p:nvSpPr>
          <p:cNvPr id="7" name="Text 150"/>
          <p:cNvSpPr txBox="1"/>
          <p:nvPr/>
        </p:nvSpPr>
        <p:spPr>
          <a:xfrm>
            <a:off x="621792" y="3730752"/>
            <a:ext cx="4526280" cy="621792"/>
          </a:xfrm>
          <a:prstGeom prst="rect">
            <a:avLst/>
          </a:prstGeom>
          <a:noFill/>
          <a:ln/>
        </p:spPr>
        <p:txBody>
          <a:bodyPr wrap="square" lIns="0" tIns="0" rIns="0" bIns="0" rtlCol="0" anchor="ctr"/>
          <a:lstStyle/>
          <a:p>
            <a:pPr algn="l" indent="0" marL="0">
              <a:buNone/>
            </a:pPr>
            <a:r>
              <a:rPr lang="en-US" sz="1400" b="1" dirty="0">
                <a:solidFill>
                  <a:schemeClr val="tx2"/>
                </a:solidFill>
              </a:rPr>
              <a:t>Season index </a:t>
            </a:r>
            <a:pPr algn="l" indent="0" marL="0">
              <a:buNone/>
            </a:pPr>
            <a:r>
              <a:rPr lang="en-US" sz="1400" dirty="0">
                <a:solidFill>
                  <a:schemeClr val="tx1"/>
                </a:solidFill>
              </a:rPr>
              <a:t>= share of orders in the busiest month x 12</a:t>
            </a:r>
            <a:endParaRPr lang="en-US" sz="1400" dirty="0"/>
          </a:p>
        </p:txBody>
      </p:sp>
      <p:sp>
        <p:nvSpPr>
          <p:cNvPr id="8" name="Text 151"/>
          <p:cNvSpPr txBox="1"/>
          <p:nvPr/>
        </p:nvSpPr>
        <p:spPr>
          <a:xfrm>
            <a:off x="457200" y="4407408"/>
            <a:ext cx="4846320" cy="256032"/>
          </a:xfrm>
          <a:prstGeom prst="rect">
            <a:avLst/>
          </a:prstGeom>
          <a:noFill/>
          <a:ln/>
        </p:spPr>
        <p:txBody>
          <a:bodyPr wrap="square" lIns="0" tIns="0" rIns="0" bIns="0" rtlCol="0" anchor="ctr"/>
          <a:lstStyle/>
          <a:p>
            <a:pPr algn="l" indent="0" marL="0">
              <a:buNone/>
            </a:pPr>
            <a:r>
              <a:rPr lang="en-US" sz="1100" dirty="0">
                <a:solidFill>
                  <a:schemeClr val="accent5"/>
                </a:solidFill>
              </a:rPr>
              <a:t>Source: </a:t>
            </a:r>
            <a:pPr algn="l" indent="0" marL="0">
              <a:buNone/>
            </a:pPr>
            <a:r>
              <a:rPr lang="en-US" sz="1100" b="1" u="sng" dirty="0">
                <a:solidFill>
                  <a:schemeClr val="tx2"/>
                </a:solidFill>
                <a:hlinkClick r:id="rId1" invalidUrl="" action="" tgtFrame="" tooltip="Brazilian E-Commerce Public Dataset by Olist" history="1" highlightClick="0" endSnd="0">
                  <a:extLst>
                    <a:ext uri="{A12FA001-AC4F-418D-AE19-62706E023703}">
                      <ahyp:hlinkClr xmlns:ahyp="http://schemas.microsoft.com/office/drawing/2018/hyperlinkcolor" val="tx"/>
                    </a:ext>
                  </a:extLst>
                </a:hlinkClick>
              </a:rPr>
              <a:t>github.com/olist/work-at-olist-data</a:t>
            </a:r>
            <a:pPr algn="l" indent="0" marL="0">
              <a:buNone/>
            </a:pPr>
            <a:r>
              <a:rPr lang="en-US" sz="1100" dirty="0">
                <a:solidFill>
                  <a:schemeClr val="accent5"/>
                </a:solidFill>
              </a:rPr>
              <a:t>  (Olist, MIT licence)</a:t>
            </a:r>
            <a:endParaRPr lang="en-US" sz="1100" dirty="0"/>
          </a:p>
        </p:txBody>
      </p:sp>
      <p:sp>
        <p:nvSpPr>
          <p:cNvPr id="9" name="Badge 152"/>
          <p:cNvSpPr/>
          <p:nvPr/>
        </p:nvSpPr>
        <p:spPr>
          <a:xfrm>
            <a:off x="5577840" y="1188720"/>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0" name="Text 153"/>
          <p:cNvSpPr txBox="1"/>
          <p:nvPr/>
        </p:nvSpPr>
        <p:spPr>
          <a:xfrm>
            <a:off x="6053328" y="1188720"/>
            <a:ext cx="2633472" cy="310896"/>
          </a:xfrm>
          <a:prstGeom prst="rect">
            <a:avLst/>
          </a:prstGeom>
          <a:noFill/>
          <a:ln/>
        </p:spPr>
        <p:txBody>
          <a:bodyPr wrap="square" lIns="0" tIns="0" rIns="0" bIns="0" rtlCol="0" anchor="ctr"/>
          <a:lstStyle/>
          <a:p>
            <a:pPr algn="l" indent="0" marL="0">
              <a:buNone/>
            </a:pPr>
            <a:r>
              <a:rPr lang="en-US" sz="1500" b="1" dirty="0">
                <a:solidFill>
                  <a:schemeClr val="tx2"/>
                </a:solidFill>
              </a:rPr>
              <a:t>383 real SKUs</a:t>
            </a:r>
            <a:endParaRPr lang="en-US" sz="1500" dirty="0"/>
          </a:p>
        </p:txBody>
      </p:sp>
      <p:sp>
        <p:nvSpPr>
          <p:cNvPr id="11" name="Text 154"/>
          <p:cNvSpPr txBox="1"/>
          <p:nvPr/>
        </p:nvSpPr>
        <p:spPr>
          <a:xfrm>
            <a:off x="6053328" y="1517904"/>
            <a:ext cx="2633472" cy="685800"/>
          </a:xfrm>
          <a:prstGeom prst="rect">
            <a:avLst/>
          </a:prstGeom>
          <a:noFill/>
          <a:ln/>
        </p:spPr>
        <p:txBody>
          <a:bodyPr wrap="square" lIns="0" tIns="0" rIns="0" bIns="0" rtlCol="0" anchor="t"/>
          <a:lstStyle/>
          <a:p>
            <a:pPr algn="l" indent="0" marL="0">
              <a:buNone/>
            </a:pPr>
            <a:r>
              <a:rPr lang="en-US" sz="1400" dirty="0">
                <a:solidFill>
                  <a:schemeClr val="tx1"/>
                </a:solidFill>
              </a:rPr>
              <a:t>Products ordered at least 30 times, out of 32,951.</a:t>
            </a:r>
            <a:endParaRPr lang="en-US" sz="1400" dirty="0"/>
          </a:p>
        </p:txBody>
      </p:sp>
      <p:sp>
        <p:nvSpPr>
          <p:cNvPr id="12" name="Badge 155"/>
          <p:cNvSpPr/>
          <p:nvPr/>
        </p:nvSpPr>
        <p:spPr>
          <a:xfrm>
            <a:off x="5577840" y="2258568"/>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3" name="Text 156"/>
          <p:cNvSpPr txBox="1"/>
          <p:nvPr/>
        </p:nvSpPr>
        <p:spPr>
          <a:xfrm>
            <a:off x="6053328" y="2258568"/>
            <a:ext cx="2633472" cy="310896"/>
          </a:xfrm>
          <a:prstGeom prst="rect">
            <a:avLst/>
          </a:prstGeom>
          <a:noFill/>
          <a:ln/>
        </p:spPr>
        <p:txBody>
          <a:bodyPr wrap="square" lIns="0" tIns="0" rIns="0" bIns="0" rtlCol="0" anchor="ctr"/>
          <a:lstStyle/>
          <a:p>
            <a:pPr algn="l" indent="0" marL="0">
              <a:buNone/>
            </a:pPr>
            <a:r>
              <a:rPr lang="en-US" sz="1500" b="1" dirty="0">
                <a:solidFill>
                  <a:schemeClr val="tx2"/>
                </a:solidFill>
              </a:rPr>
              <a:t>Four numbers each</a:t>
            </a:r>
            <a:endParaRPr lang="en-US" sz="1500" dirty="0"/>
          </a:p>
        </p:txBody>
      </p:sp>
      <p:sp>
        <p:nvSpPr>
          <p:cNvPr id="14" name="Text 157"/>
          <p:cNvSpPr txBox="1"/>
          <p:nvPr/>
        </p:nvSpPr>
        <p:spPr>
          <a:xfrm>
            <a:off x="6053328" y="2587752"/>
            <a:ext cx="2633472" cy="685800"/>
          </a:xfrm>
          <a:prstGeom prst="rect">
            <a:avLst/>
          </a:prstGeom>
          <a:noFill/>
          <a:ln/>
        </p:spPr>
        <p:txBody>
          <a:bodyPr wrap="square" lIns="0" tIns="0" rIns="0" bIns="0" rtlCol="0" anchor="t"/>
          <a:lstStyle/>
          <a:p>
            <a:pPr algn="l" indent="0" marL="0">
              <a:buNone/>
            </a:pPr>
            <a:r>
              <a:rPr lang="en-US" sz="1400" dirty="0">
                <a:solidFill>
                  <a:schemeClr val="tx1"/>
                </a:solidFill>
              </a:rPr>
              <a:t>Orders, season index, volume, and weight for handling.</a:t>
            </a:r>
            <a:endParaRPr lang="en-US" sz="1400" dirty="0"/>
          </a:p>
        </p:txBody>
      </p:sp>
      <p:sp>
        <p:nvSpPr>
          <p:cNvPr id="15" name="Badge 158"/>
          <p:cNvSpPr/>
          <p:nvPr/>
        </p:nvSpPr>
        <p:spPr>
          <a:xfrm>
            <a:off x="5577840" y="3328416"/>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59"/>
          <p:cNvSpPr txBox="1"/>
          <p:nvPr/>
        </p:nvSpPr>
        <p:spPr>
          <a:xfrm>
            <a:off x="6053328" y="3328416"/>
            <a:ext cx="2633472" cy="310896"/>
          </a:xfrm>
          <a:prstGeom prst="rect">
            <a:avLst/>
          </a:prstGeom>
          <a:noFill/>
          <a:ln/>
        </p:spPr>
        <p:txBody>
          <a:bodyPr wrap="square" lIns="0" tIns="0" rIns="0" bIns="0" rtlCol="0" anchor="ctr"/>
          <a:lstStyle/>
          <a:p>
            <a:pPr algn="l" indent="0" marL="0">
              <a:buNone/>
            </a:pPr>
            <a:r>
              <a:rPr lang="en-US" sz="1500" b="1" dirty="0">
                <a:solidFill>
                  <a:schemeClr val="tx2"/>
                </a:solidFill>
              </a:rPr>
              <a:t>Scale the features</a:t>
            </a:r>
            <a:endParaRPr lang="en-US" sz="1500" dirty="0"/>
          </a:p>
        </p:txBody>
      </p:sp>
      <p:sp>
        <p:nvSpPr>
          <p:cNvPr id="17" name="Text 160"/>
          <p:cNvSpPr txBox="1"/>
          <p:nvPr/>
        </p:nvSpPr>
        <p:spPr>
          <a:xfrm>
            <a:off x="6053328" y="3657600"/>
            <a:ext cx="2633472" cy="685800"/>
          </a:xfrm>
          <a:prstGeom prst="rect">
            <a:avLst/>
          </a:prstGeom>
          <a:noFill/>
          <a:ln/>
        </p:spPr>
        <p:txBody>
          <a:bodyPr wrap="square" lIns="0" tIns="0" rIns="0" bIns="0" rtlCol="0" anchor="t"/>
          <a:lstStyle/>
          <a:p>
            <a:pPr algn="l" indent="0" marL="0">
              <a:buNone/>
            </a:pPr>
            <a:r>
              <a:rPr lang="en-US" sz="1400" dirty="0">
                <a:solidFill>
                  <a:schemeClr val="tx1"/>
                </a:solidFill>
              </a:rPr>
              <a:t>Log of the uneven columns, then all on the same scale.</a:t>
            </a:r>
            <a:endParaRPr lang="en-US" sz="14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Step 2: Choose the value of k</a:t>
            </a:r>
            <a:endParaRPr lang="en-US" sz="3600" dirty="0"/>
          </a:p>
        </p:txBody>
      </p:sp>
      <p:graphicFrame>
        <p:nvGraphicFramePr>
          <p:cNvPr id="4" name="Elbow chart" descr=""/>
          <p:cNvGraphicFramePr/>
          <p:nvPr/>
        </p:nvGraphicFramePr>
        <p:xfrm>
          <a:off x="457200" y="1188720"/>
          <a:ext cx="4754880" cy="3246120"/>
        </p:xfrm>
        <a:graphic xmlns:a="http://schemas.openxmlformats.org/drawingml/2006/main">
          <a:graphicData uri="http://schemas.openxmlformats.org/drawingml/2006/chart">
            <c:chart xmlns:c="http://schemas.openxmlformats.org/drawingml/2006/chart" r:id="rId1"/>
          </a:graphicData>
        </a:graphic>
      </p:graphicFrame>
      <p:sp>
        <p:nvSpPr>
          <p:cNvPr id="5" name="Badge 161"/>
          <p:cNvSpPr/>
          <p:nvPr/>
        </p:nvSpPr>
        <p:spPr>
          <a:xfrm>
            <a:off x="5486400" y="1188720"/>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162"/>
          <p:cNvSpPr txBox="1"/>
          <p:nvPr/>
        </p:nvSpPr>
        <p:spPr>
          <a:xfrm>
            <a:off x="5961888" y="1188720"/>
            <a:ext cx="2724912" cy="310896"/>
          </a:xfrm>
          <a:prstGeom prst="rect">
            <a:avLst/>
          </a:prstGeom>
          <a:noFill/>
          <a:ln/>
        </p:spPr>
        <p:txBody>
          <a:bodyPr wrap="square" lIns="0" tIns="0" rIns="0" bIns="0" rtlCol="0" anchor="ctr"/>
          <a:lstStyle/>
          <a:p>
            <a:pPr algn="l" indent="0" marL="0">
              <a:buNone/>
            </a:pPr>
            <a:r>
              <a:rPr lang="en-US" sz="1500" b="1" dirty="0">
                <a:solidFill>
                  <a:schemeClr val="tx2"/>
                </a:solidFill>
              </a:rPr>
              <a:t>Try many values</a:t>
            </a:r>
            <a:endParaRPr lang="en-US" sz="1500" dirty="0"/>
          </a:p>
        </p:txBody>
      </p:sp>
      <p:sp>
        <p:nvSpPr>
          <p:cNvPr id="7" name="Text 163"/>
          <p:cNvSpPr txBox="1"/>
          <p:nvPr/>
        </p:nvSpPr>
        <p:spPr>
          <a:xfrm>
            <a:off x="5961888" y="1517904"/>
            <a:ext cx="2724912" cy="566928"/>
          </a:xfrm>
          <a:prstGeom prst="rect">
            <a:avLst/>
          </a:prstGeom>
          <a:noFill/>
          <a:ln/>
        </p:spPr>
        <p:txBody>
          <a:bodyPr wrap="square" lIns="0" tIns="0" rIns="0" bIns="0" rtlCol="0" anchor="t"/>
          <a:lstStyle/>
          <a:p>
            <a:pPr algn="l" indent="0" marL="0">
              <a:buNone/>
            </a:pPr>
            <a:r>
              <a:rPr lang="en-US" sz="1400" dirty="0">
                <a:solidFill>
                  <a:schemeClr val="tx1"/>
                </a:solidFill>
              </a:rPr>
              <a:t>Run K-Means for k = 1 to 8. Note the error each time.</a:t>
            </a:r>
            <a:endParaRPr lang="en-US" sz="1400" dirty="0"/>
          </a:p>
        </p:txBody>
      </p:sp>
      <p:sp>
        <p:nvSpPr>
          <p:cNvPr id="8" name="Badge 164"/>
          <p:cNvSpPr/>
          <p:nvPr/>
        </p:nvSpPr>
        <p:spPr>
          <a:xfrm>
            <a:off x="5486400" y="2130552"/>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Text 165"/>
          <p:cNvSpPr txBox="1"/>
          <p:nvPr/>
        </p:nvSpPr>
        <p:spPr>
          <a:xfrm>
            <a:off x="5961888" y="2130552"/>
            <a:ext cx="2724912" cy="310896"/>
          </a:xfrm>
          <a:prstGeom prst="rect">
            <a:avLst/>
          </a:prstGeom>
          <a:noFill/>
          <a:ln/>
        </p:spPr>
        <p:txBody>
          <a:bodyPr wrap="square" lIns="0" tIns="0" rIns="0" bIns="0" rtlCol="0" anchor="ctr"/>
          <a:lstStyle/>
          <a:p>
            <a:pPr algn="l" indent="0" marL="0">
              <a:buNone/>
            </a:pPr>
            <a:r>
              <a:rPr lang="en-US" sz="1500" b="1" dirty="0">
                <a:solidFill>
                  <a:schemeClr val="tx2"/>
                </a:solidFill>
              </a:rPr>
              <a:t>Plot the curve</a:t>
            </a:r>
            <a:endParaRPr lang="en-US" sz="1500" dirty="0"/>
          </a:p>
        </p:txBody>
      </p:sp>
      <p:sp>
        <p:nvSpPr>
          <p:cNvPr id="10" name="Text 166"/>
          <p:cNvSpPr txBox="1"/>
          <p:nvPr/>
        </p:nvSpPr>
        <p:spPr>
          <a:xfrm>
            <a:off x="5961888" y="2459736"/>
            <a:ext cx="2724912" cy="566928"/>
          </a:xfrm>
          <a:prstGeom prst="rect">
            <a:avLst/>
          </a:prstGeom>
          <a:noFill/>
          <a:ln/>
        </p:spPr>
        <p:txBody>
          <a:bodyPr wrap="square" lIns="0" tIns="0" rIns="0" bIns="0" rtlCol="0" anchor="t"/>
          <a:lstStyle/>
          <a:p>
            <a:pPr algn="l" indent="0" marL="0">
              <a:buNone/>
            </a:pPr>
            <a:r>
              <a:rPr lang="en-US" sz="1400" dirty="0">
                <a:solidFill>
                  <a:schemeClr val="tx1"/>
                </a:solidFill>
              </a:rPr>
              <a:t>Error = within-cluster variance. It falls as k grows.</a:t>
            </a:r>
            <a:endParaRPr lang="en-US" sz="1400" dirty="0"/>
          </a:p>
        </p:txBody>
      </p:sp>
      <p:sp>
        <p:nvSpPr>
          <p:cNvPr id="11" name="Badge 167"/>
          <p:cNvSpPr/>
          <p:nvPr/>
        </p:nvSpPr>
        <p:spPr>
          <a:xfrm>
            <a:off x="5486400" y="3072384"/>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2" name="Text 168"/>
          <p:cNvSpPr txBox="1"/>
          <p:nvPr/>
        </p:nvSpPr>
        <p:spPr>
          <a:xfrm>
            <a:off x="5961888" y="3072384"/>
            <a:ext cx="2724912" cy="310896"/>
          </a:xfrm>
          <a:prstGeom prst="rect">
            <a:avLst/>
          </a:prstGeom>
          <a:noFill/>
          <a:ln/>
        </p:spPr>
        <p:txBody>
          <a:bodyPr wrap="square" lIns="0" tIns="0" rIns="0" bIns="0" rtlCol="0" anchor="ctr"/>
          <a:lstStyle/>
          <a:p>
            <a:pPr algn="l" indent="0" marL="0">
              <a:buNone/>
            </a:pPr>
            <a:r>
              <a:rPr lang="en-US" sz="1500" b="1" dirty="0">
                <a:solidFill>
                  <a:schemeClr val="tx2"/>
                </a:solidFill>
              </a:rPr>
              <a:t>Find the elbow</a:t>
            </a:r>
            <a:endParaRPr lang="en-US" sz="1500" dirty="0"/>
          </a:p>
        </p:txBody>
      </p:sp>
      <p:sp>
        <p:nvSpPr>
          <p:cNvPr id="13" name="Text 169"/>
          <p:cNvSpPr txBox="1"/>
          <p:nvPr/>
        </p:nvSpPr>
        <p:spPr>
          <a:xfrm>
            <a:off x="5961888" y="3401568"/>
            <a:ext cx="2724912" cy="566928"/>
          </a:xfrm>
          <a:prstGeom prst="rect">
            <a:avLst/>
          </a:prstGeom>
          <a:noFill/>
          <a:ln/>
        </p:spPr>
        <p:txBody>
          <a:bodyPr wrap="square" lIns="0" tIns="0" rIns="0" bIns="0" rtlCol="0" anchor="t"/>
          <a:lstStyle/>
          <a:p>
            <a:pPr algn="l" indent="0" marL="0">
              <a:buNone/>
            </a:pPr>
            <a:r>
              <a:rPr lang="en-US" sz="1400" dirty="0">
                <a:solidFill>
                  <a:schemeClr val="tx1"/>
                </a:solidFill>
              </a:rPr>
              <a:t>The error falls 22% at k = 4, then only 15% at k = 5.</a:t>
            </a:r>
            <a:endParaRPr lang="en-US" sz="1400" dirty="0"/>
          </a:p>
        </p:txBody>
      </p:sp>
      <p:sp>
        <p:nvSpPr>
          <p:cNvPr id="14" name="Pill 170"/>
          <p:cNvSpPr/>
          <p:nvPr/>
        </p:nvSpPr>
        <p:spPr>
          <a:xfrm>
            <a:off x="5486400" y="4041648"/>
            <a:ext cx="3200400" cy="393192"/>
          </a:xfrm>
          <a:prstGeom prst="roundRect">
            <a:avLst>
              <a:gd name="adj" fmla="val 34884"/>
            </a:avLst>
          </a:prstGeom>
          <a:solidFill>
            <a:schemeClr val="accent2"/>
          </a:solidFill>
          <a:ln>
            <a:solidFill>
              <a:schemeClr val="accent2"/>
            </a:solidFill>
          </a:ln>
        </p:spPr>
        <p:txBody>
          <a:bodyPr wrap="square" lIns="0" tIns="0" rIns="0" bIns="0" rtlCol="0" anchor="ctr"/>
          <a:lstStyle/>
          <a:p>
            <a:pPr algn="ctr" indent="0" marL="0">
              <a:buNone/>
            </a:pPr>
            <a:r>
              <a:rPr lang="en-US" sz="1500" b="1" dirty="0">
                <a:solidFill>
                  <a:schemeClr val="tx1"/>
                </a:solidFill>
              </a:rPr>
              <a:t>On the real data: k = 4</a:t>
            </a:r>
            <a:endParaRPr lang="en-US" sz="15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Step 3: Clusters become zones</a:t>
            </a:r>
            <a:endParaRPr lang="en-US" sz="3600" dirty="0"/>
          </a:p>
        </p:txBody>
      </p:sp>
      <p:graphicFrame>
        <p:nvGraphicFramePr>
          <p:cNvPr id="11" name="Cluster to zone table"/>
          <p:cNvGraphicFramePr>
            <a:graphicFrameLocks noGrp="1"/>
          </p:cNvGraphicFramePr>
          <p:nvPr>
            <p:extLst>
              <p:ext uri="{D42A27DB-BD31-4B8C-83A1-F6EECF244321}">
                <p14:modId xmlns:p14="http://schemas.microsoft.com/office/powerpoint/2010/main" val="1579011935"/>
              </p:ext>
            </p:extLst>
          </p:nvPr>
        </p:nvGraphicFramePr>
        <p:xfrm>
          <a:off x="457200" y="1188720"/>
          <a:ext cx="5120640" cy="914400"/>
        </p:xfrm>
        <a:graphic>
          <a:graphicData uri="http://schemas.openxmlformats.org/drawingml/2006/table">
            <a:tbl>
              <a:tblPr/>
              <a:tblGrid>
                <a:gridCol w="1508760"/>
                <a:gridCol w="1783080"/>
                <a:gridCol w="1828800"/>
              </a:tblGrid>
              <a:tr h="411480">
                <a:tc>
                  <a:txBody>
                    <a:bodyPr/>
                    <a:lstStyle/>
                    <a:p>
                      <a:pPr indent="0" marL="0">
                        <a:buNone/>
                      </a:pPr>
                      <a:r>
                        <a:rPr lang="en-US" sz="1400" b="1" dirty="0">
                          <a:solidFill>
                            <a:schemeClr val="bg1"/>
                          </a:solidFill>
                        </a:rPr>
                        <a:t>Cluster</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SKUs in it</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Where to place</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r>
              <a:tr h="621792">
                <a:tc>
                  <a:txBody>
                    <a:bodyPr/>
                    <a:lstStyle/>
                    <a:p>
                      <a:pPr indent="0" marL="0">
                        <a:buNone/>
                      </a:pPr>
                      <a:r>
                        <a:rPr lang="en-US" sz="1400" b="1" dirty="0">
                          <a:solidFill>
                            <a:schemeClr val="tx2"/>
                          </a:solidFill>
                        </a:rPr>
                        <a:t>A  Fast movers</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76 SKUs, about 160 orders each</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Front racks, near packing</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r h="621792">
                <a:tc>
                  <a:txBody>
                    <a:bodyPr/>
                    <a:lstStyle/>
                    <a:p>
                      <a:pPr indent="0" marL="0">
                        <a:buNone/>
                      </a:pPr>
                      <a:r>
                        <a:rPr lang="en-US" sz="1400" b="1" dirty="0">
                          <a:solidFill>
                            <a:schemeClr val="tx2"/>
                          </a:solidFill>
                        </a:rPr>
                        <a:t>B  Bulky / heavy</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84 SKUs, about 47 L and 7.6 kg</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Ground level, low racks</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r h="621792">
                <a:tc>
                  <a:txBody>
                    <a:bodyPr/>
                    <a:lstStyle/>
                    <a:p>
                      <a:pPr indent="0" marL="0">
                        <a:buNone/>
                      </a:pPr>
                      <a:r>
                        <a:rPr lang="en-US" sz="1400" b="1" dirty="0">
                          <a:solidFill>
                            <a:schemeClr val="tx2"/>
                          </a:solidFill>
                        </a:rPr>
                        <a:t>C  Seasonal</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25 SKUs, season index 7.4</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Flexible zone, moved forward in season</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r h="621792">
                <a:tc>
                  <a:txBody>
                    <a:bodyPr/>
                    <a:lstStyle/>
                    <a:p>
                      <a:pPr indent="0" marL="0">
                        <a:buNone/>
                      </a:pPr>
                      <a:r>
                        <a:rPr lang="en-US" sz="1400" b="1" dirty="0">
                          <a:solidFill>
                            <a:schemeClr val="tx2"/>
                          </a:solidFill>
                        </a:rPr>
                        <a:t>D  Regular small</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198 SKUs, about 45 orders each</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Back racks</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bl>
          </a:graphicData>
        </a:graphic>
      </p:graphicFrame>
      <p:sp>
        <p:nvSpPr>
          <p:cNvPr id="5" name="Text 171"/>
          <p:cNvSpPr txBox="1"/>
          <p:nvPr/>
        </p:nvSpPr>
        <p:spPr>
          <a:xfrm>
            <a:off x="457200" y="4187952"/>
            <a:ext cx="5120640" cy="274320"/>
          </a:xfrm>
          <a:prstGeom prst="rect">
            <a:avLst/>
          </a:prstGeom>
          <a:noFill/>
          <a:ln/>
        </p:spPr>
        <p:txBody>
          <a:bodyPr wrap="square" lIns="0" tIns="0" rIns="0" bIns="0" rtlCol="0" anchor="ctr"/>
          <a:lstStyle/>
          <a:p>
            <a:pPr algn="l" indent="0" marL="0">
              <a:buNone/>
            </a:pPr>
            <a:r>
              <a:rPr lang="en-US" sz="1100" dirty="0">
                <a:solidFill>
                  <a:schemeClr val="accent5"/>
                </a:solidFill>
              </a:rPr>
              <a:t>Real clusters: K-Means with k = 4 on 383 Olist SKUs.</a:t>
            </a:r>
            <a:endParaRPr lang="en-US" sz="1100" dirty="0"/>
          </a:p>
        </p:txBody>
      </p:sp>
      <p:sp>
        <p:nvSpPr>
          <p:cNvPr id="6" name="Card 172"/>
          <p:cNvSpPr/>
          <p:nvPr/>
        </p:nvSpPr>
        <p:spPr>
          <a:xfrm>
            <a:off x="5852160" y="1188720"/>
            <a:ext cx="2834640" cy="3246120"/>
          </a:xfrm>
          <a:prstGeom prst="roundRect">
            <a:avLst>
              <a:gd name="adj" fmla="val 2581"/>
            </a:avLst>
          </a:prstGeom>
          <a:solidFill>
            <a:schemeClr val="bg2"/>
          </a:solidFill>
          <a:ln w="12700">
            <a:solidFill>
              <a:schemeClr val="bg2"/>
            </a:solidFill>
            <a:prstDash val="solid"/>
          </a:ln>
        </p:spPr>
      </p:sp>
      <p:sp>
        <p:nvSpPr>
          <p:cNvPr id="7" name="Text 173"/>
          <p:cNvSpPr txBox="1"/>
          <p:nvPr/>
        </p:nvSpPr>
        <p:spPr>
          <a:xfrm>
            <a:off x="5989320" y="1261872"/>
            <a:ext cx="2560320" cy="256032"/>
          </a:xfrm>
          <a:prstGeom prst="rect">
            <a:avLst/>
          </a:prstGeom>
          <a:noFill/>
          <a:ln/>
        </p:spPr>
        <p:txBody>
          <a:bodyPr wrap="square" lIns="0" tIns="0" rIns="0" bIns="0" rtlCol="0" anchor="ctr"/>
          <a:lstStyle/>
          <a:p>
            <a:pPr algn="l" indent="0" marL="0">
              <a:buNone/>
            </a:pPr>
            <a:r>
              <a:rPr lang="en-US" sz="1100" b="1" dirty="0">
                <a:solidFill>
                  <a:schemeClr val="tx2"/>
                </a:solidFill>
              </a:rPr>
              <a:t>Floor plan</a:t>
            </a:r>
            <a:endParaRPr lang="en-US" sz="1100" dirty="0"/>
          </a:p>
        </p:txBody>
      </p:sp>
      <p:sp>
        <p:nvSpPr>
          <p:cNvPr id="8" name="Zone 174"/>
          <p:cNvSpPr/>
          <p:nvPr/>
        </p:nvSpPr>
        <p:spPr>
          <a:xfrm>
            <a:off x="5989320" y="1572768"/>
            <a:ext cx="1188720" cy="960120"/>
          </a:xfrm>
          <a:prstGeom prst="roundRect">
            <a:avLst>
              <a:gd name="adj" fmla="val 5714"/>
            </a:avLst>
          </a:prstGeom>
          <a:solidFill>
            <a:schemeClr val="accent4"/>
          </a:solidFill>
          <a:ln>
            <a:solidFill>
              <a:schemeClr val="accent4"/>
            </a:solidFill>
          </a:ln>
        </p:spPr>
        <p:txBody>
          <a:bodyPr wrap="square" lIns="508" tIns="508" rIns="508" bIns="508" rtlCol="0" anchor="ctr"/>
          <a:lstStyle/>
          <a:p>
            <a:pPr algn="ctr" indent="0" marL="0">
              <a:buNone/>
            </a:pPr>
            <a:r>
              <a:rPr lang="en-US" sz="2200" b="1" dirty="0">
                <a:solidFill>
                  <a:schemeClr val="tx1"/>
                </a:solidFill>
              </a:rPr>
              <a:t>C</a:t>
            </a:r>
            <a:endParaRPr lang="en-US" sz="2200" dirty="0"/>
          </a:p>
          <a:p>
            <a:pPr algn="ctr" indent="0" marL="0">
              <a:buNone/>
            </a:pPr>
            <a:r>
              <a:rPr lang="en-US" sz="1200" b="1" dirty="0">
                <a:solidFill>
                  <a:schemeClr val="tx1"/>
                </a:solidFill>
              </a:rPr>
              <a:t>Seasonal</a:t>
            </a:r>
            <a:endParaRPr lang="en-US" sz="2200" dirty="0"/>
          </a:p>
        </p:txBody>
      </p:sp>
      <p:sp>
        <p:nvSpPr>
          <p:cNvPr id="9" name="Zone 175"/>
          <p:cNvSpPr/>
          <p:nvPr/>
        </p:nvSpPr>
        <p:spPr>
          <a:xfrm>
            <a:off x="7360920" y="1572768"/>
            <a:ext cx="1188720" cy="960120"/>
          </a:xfrm>
          <a:prstGeom prst="roundRect">
            <a:avLst>
              <a:gd name="adj" fmla="val 5714"/>
            </a:avLst>
          </a:prstGeom>
          <a:solidFill>
            <a:schemeClr val="accent5"/>
          </a:solidFill>
          <a:ln>
            <a:solidFill>
              <a:schemeClr val="accent5"/>
            </a:solidFill>
          </a:ln>
        </p:spPr>
        <p:txBody>
          <a:bodyPr wrap="square" lIns="508" tIns="508" rIns="508" bIns="508" rtlCol="0" anchor="ctr"/>
          <a:lstStyle/>
          <a:p>
            <a:pPr algn="ctr" indent="0" marL="0">
              <a:buNone/>
            </a:pPr>
            <a:r>
              <a:rPr lang="en-US" sz="2200" b="1" dirty="0">
                <a:solidFill>
                  <a:schemeClr val="bg1"/>
                </a:solidFill>
              </a:rPr>
              <a:t>D</a:t>
            </a:r>
            <a:endParaRPr lang="en-US" sz="2200" dirty="0"/>
          </a:p>
          <a:p>
            <a:pPr algn="ctr" indent="0" marL="0">
              <a:buNone/>
            </a:pPr>
            <a:r>
              <a:rPr lang="en-US" sz="1200" b="1" dirty="0">
                <a:solidFill>
                  <a:schemeClr val="bg1"/>
                </a:solidFill>
              </a:rPr>
              <a:t>Regular small</a:t>
            </a:r>
            <a:endParaRPr lang="en-US" sz="2200" dirty="0"/>
          </a:p>
        </p:txBody>
      </p:sp>
      <p:sp>
        <p:nvSpPr>
          <p:cNvPr id="10" name="Zone 176"/>
          <p:cNvSpPr/>
          <p:nvPr/>
        </p:nvSpPr>
        <p:spPr>
          <a:xfrm>
            <a:off x="5989320" y="2670048"/>
            <a:ext cx="1188720" cy="960120"/>
          </a:xfrm>
          <a:prstGeom prst="roundRect">
            <a:avLst>
              <a:gd name="adj" fmla="val 5714"/>
            </a:avLst>
          </a:prstGeom>
          <a:solidFill>
            <a:schemeClr val="accent2"/>
          </a:solidFill>
          <a:ln>
            <a:solidFill>
              <a:schemeClr val="accent2"/>
            </a:solidFill>
          </a:ln>
        </p:spPr>
        <p:txBody>
          <a:bodyPr wrap="square" lIns="508" tIns="508" rIns="508" bIns="508" rtlCol="0" anchor="ctr"/>
          <a:lstStyle/>
          <a:p>
            <a:pPr algn="ctr" indent="0" marL="0">
              <a:buNone/>
            </a:pPr>
            <a:r>
              <a:rPr lang="en-US" sz="2200" b="1" dirty="0">
                <a:solidFill>
                  <a:schemeClr val="tx1"/>
                </a:solidFill>
              </a:rPr>
              <a:t>A</a:t>
            </a:r>
            <a:endParaRPr lang="en-US" sz="2200" dirty="0"/>
          </a:p>
          <a:p>
            <a:pPr algn="ctr" indent="0" marL="0">
              <a:buNone/>
            </a:pPr>
            <a:r>
              <a:rPr lang="en-US" sz="1200" b="1" dirty="0">
                <a:solidFill>
                  <a:schemeClr val="tx1"/>
                </a:solidFill>
              </a:rPr>
              <a:t>Fast movers</a:t>
            </a:r>
            <a:endParaRPr lang="en-US" sz="2200" dirty="0"/>
          </a:p>
        </p:txBody>
      </p:sp>
      <p:sp>
        <p:nvSpPr>
          <p:cNvPr id="11" name="Zone 177"/>
          <p:cNvSpPr/>
          <p:nvPr/>
        </p:nvSpPr>
        <p:spPr>
          <a:xfrm>
            <a:off x="7360920" y="2670048"/>
            <a:ext cx="1188720" cy="960120"/>
          </a:xfrm>
          <a:prstGeom prst="roundRect">
            <a:avLst>
              <a:gd name="adj" fmla="val 5714"/>
            </a:avLst>
          </a:prstGeom>
          <a:solidFill>
            <a:schemeClr val="accent6"/>
          </a:solidFill>
          <a:ln>
            <a:solidFill>
              <a:schemeClr val="accent6"/>
            </a:solidFill>
          </a:ln>
        </p:spPr>
        <p:txBody>
          <a:bodyPr wrap="square" lIns="508" tIns="508" rIns="508" bIns="508" rtlCol="0" anchor="ctr"/>
          <a:lstStyle/>
          <a:p>
            <a:pPr algn="ctr" indent="0" marL="0">
              <a:buNone/>
            </a:pPr>
            <a:r>
              <a:rPr lang="en-US" sz="2200" b="1" dirty="0">
                <a:solidFill>
                  <a:schemeClr val="bg1"/>
                </a:solidFill>
              </a:rPr>
              <a:t>B</a:t>
            </a:r>
            <a:endParaRPr lang="en-US" sz="2200" dirty="0"/>
          </a:p>
          <a:p>
            <a:pPr algn="ctr" indent="0" marL="0">
              <a:buNone/>
            </a:pPr>
            <a:r>
              <a:rPr lang="en-US" sz="1200" b="1" dirty="0">
                <a:solidFill>
                  <a:schemeClr val="bg1"/>
                </a:solidFill>
              </a:rPr>
              <a:t>Bulky / heavy</a:t>
            </a:r>
            <a:endParaRPr lang="en-US" sz="2200" dirty="0"/>
          </a:p>
        </p:txBody>
      </p:sp>
      <p:sp>
        <p:nvSpPr>
          <p:cNvPr id="12" name="Packing 178"/>
          <p:cNvSpPr/>
          <p:nvPr/>
        </p:nvSpPr>
        <p:spPr>
          <a:xfrm>
            <a:off x="5989320" y="3794760"/>
            <a:ext cx="2560320" cy="457200"/>
          </a:xfrm>
          <a:prstGeom prst="roundRect">
            <a:avLst>
              <a:gd name="adj" fmla="val 12000"/>
            </a:avLst>
          </a:prstGeom>
          <a:solidFill>
            <a:schemeClr val="accent1"/>
          </a:solidFill>
          <a:ln>
            <a:solidFill>
              <a:schemeClr val="accent1"/>
            </a:solidFill>
          </a:ln>
        </p:spPr>
        <p:txBody>
          <a:bodyPr wrap="square" lIns="0" tIns="0" rIns="0" bIns="0" rtlCol="0" anchor="ctr"/>
          <a:lstStyle/>
          <a:p>
            <a:pPr algn="ctr" indent="0" marL="0">
              <a:buNone/>
            </a:pPr>
            <a:r>
              <a:rPr lang="en-US" sz="1300" b="1" dirty="0">
                <a:solidFill>
                  <a:schemeClr val="bg1"/>
                </a:solidFill>
              </a:rPr>
              <a:t>Packing and dispatch</a:t>
            </a:r>
            <a:endParaRPr lang="en-US" sz="13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How this solves our problem</a:t>
            </a:r>
            <a:endParaRPr lang="en-US" sz="3600" dirty="0"/>
          </a:p>
        </p:txBody>
      </p:sp>
      <p:sp>
        <p:nvSpPr>
          <p:cNvPr id="4" name="Card 179"/>
          <p:cNvSpPr/>
          <p:nvPr/>
        </p:nvSpPr>
        <p:spPr>
          <a:xfrm>
            <a:off x="457200" y="1188720"/>
            <a:ext cx="2624328" cy="2194560"/>
          </a:xfrm>
          <a:prstGeom prst="roundRect">
            <a:avLst>
              <a:gd name="adj" fmla="val 3333"/>
            </a:avLst>
          </a:prstGeom>
          <a:solidFill>
            <a:schemeClr val="bg2"/>
          </a:solidFill>
          <a:ln w="12700">
            <a:solidFill>
              <a:schemeClr val="bg2"/>
            </a:solidFill>
            <a:prstDash val="solid"/>
          </a:ln>
        </p:spPr>
      </p:sp>
      <p:sp>
        <p:nvSpPr>
          <p:cNvPr id="5" name="Badge 180"/>
          <p:cNvSpPr/>
          <p:nvPr/>
        </p:nvSpPr>
        <p:spPr>
          <a:xfrm>
            <a:off x="640080" y="1353312"/>
            <a:ext cx="502920" cy="50292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181"/>
          <p:cNvSpPr txBox="1"/>
          <p:nvPr/>
        </p:nvSpPr>
        <p:spPr>
          <a:xfrm>
            <a:off x="640080" y="1965960"/>
            <a:ext cx="2286000" cy="347472"/>
          </a:xfrm>
          <a:prstGeom prst="rect">
            <a:avLst/>
          </a:prstGeom>
          <a:noFill/>
          <a:ln/>
        </p:spPr>
        <p:txBody>
          <a:bodyPr wrap="square" lIns="0" tIns="0" rIns="0" bIns="0" rtlCol="0" anchor="ctr"/>
          <a:lstStyle/>
          <a:p>
            <a:pPr algn="l" indent="0" marL="0">
              <a:buNone/>
            </a:pPr>
            <a:r>
              <a:rPr lang="en-US" sz="1800" b="1" dirty="0">
                <a:solidFill>
                  <a:schemeClr val="tx2"/>
                </a:solidFill>
              </a:rPr>
              <a:t>Less walking</a:t>
            </a:r>
            <a:endParaRPr lang="en-US" sz="1800" dirty="0"/>
          </a:p>
        </p:txBody>
      </p:sp>
      <p:sp>
        <p:nvSpPr>
          <p:cNvPr id="7" name="Text 182"/>
          <p:cNvSpPr txBox="1"/>
          <p:nvPr/>
        </p:nvSpPr>
        <p:spPr>
          <a:xfrm>
            <a:off x="640080" y="2340864"/>
            <a:ext cx="2286000" cy="960120"/>
          </a:xfrm>
          <a:prstGeom prst="rect">
            <a:avLst/>
          </a:prstGeom>
          <a:noFill/>
          <a:ln/>
        </p:spPr>
        <p:txBody>
          <a:bodyPr wrap="square" lIns="0" tIns="0" rIns="0" bIns="0" rtlCol="0" anchor="t"/>
          <a:lstStyle/>
          <a:p>
            <a:pPr algn="l" indent="0" marL="0">
              <a:buNone/>
            </a:pPr>
            <a:r>
              <a:rPr lang="en-US" sz="1400" dirty="0">
                <a:solidFill>
                  <a:schemeClr val="tx1"/>
                </a:solidFill>
              </a:rPr>
              <a:t>Fast movers sit closest to packing. In our simple model, walk per pick falls by 27%.</a:t>
            </a:r>
            <a:endParaRPr lang="en-US" sz="1400" dirty="0"/>
          </a:p>
        </p:txBody>
      </p:sp>
      <p:sp>
        <p:nvSpPr>
          <p:cNvPr id="8" name="Card 183"/>
          <p:cNvSpPr/>
          <p:nvPr/>
        </p:nvSpPr>
        <p:spPr>
          <a:xfrm>
            <a:off x="3264408" y="1188720"/>
            <a:ext cx="2624328" cy="2194560"/>
          </a:xfrm>
          <a:prstGeom prst="roundRect">
            <a:avLst>
              <a:gd name="adj" fmla="val 3333"/>
            </a:avLst>
          </a:prstGeom>
          <a:solidFill>
            <a:schemeClr val="bg2"/>
          </a:solidFill>
          <a:ln w="12700">
            <a:solidFill>
              <a:schemeClr val="bg2"/>
            </a:solidFill>
            <a:prstDash val="solid"/>
          </a:ln>
        </p:spPr>
      </p:sp>
      <p:sp>
        <p:nvSpPr>
          <p:cNvPr id="9" name="Badge 184"/>
          <p:cNvSpPr/>
          <p:nvPr/>
        </p:nvSpPr>
        <p:spPr>
          <a:xfrm>
            <a:off x="3447288" y="1353312"/>
            <a:ext cx="502920" cy="502920"/>
          </a:xfrm>
          <a:prstGeom prst="ellipse">
            <a:avLst/>
          </a:prstGeom>
          <a:solidFill>
            <a:schemeClr val="accent3"/>
          </a:solidFill>
          <a:ln>
            <a:solidFill>
              <a:schemeClr val="accent3"/>
            </a:solid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Text 185"/>
          <p:cNvSpPr txBox="1"/>
          <p:nvPr/>
        </p:nvSpPr>
        <p:spPr>
          <a:xfrm>
            <a:off x="3447288" y="1965960"/>
            <a:ext cx="2286000" cy="347472"/>
          </a:xfrm>
          <a:prstGeom prst="rect">
            <a:avLst/>
          </a:prstGeom>
          <a:noFill/>
          <a:ln/>
        </p:spPr>
        <p:txBody>
          <a:bodyPr wrap="square" lIns="0" tIns="0" rIns="0" bIns="0" rtlCol="0" anchor="ctr"/>
          <a:lstStyle/>
          <a:p>
            <a:pPr algn="l" indent="0" marL="0">
              <a:buNone/>
            </a:pPr>
            <a:r>
              <a:rPr lang="en-US" sz="1800" b="1" dirty="0">
                <a:solidFill>
                  <a:schemeClr val="tx2"/>
                </a:solidFill>
              </a:rPr>
              <a:t>Better placement</a:t>
            </a:r>
            <a:endParaRPr lang="en-US" sz="1800" dirty="0"/>
          </a:p>
        </p:txBody>
      </p:sp>
      <p:sp>
        <p:nvSpPr>
          <p:cNvPr id="11" name="Text 186"/>
          <p:cNvSpPr txBox="1"/>
          <p:nvPr/>
        </p:nvSpPr>
        <p:spPr>
          <a:xfrm>
            <a:off x="3447288" y="2340864"/>
            <a:ext cx="2286000" cy="960120"/>
          </a:xfrm>
          <a:prstGeom prst="rect">
            <a:avLst/>
          </a:prstGeom>
          <a:noFill/>
          <a:ln/>
        </p:spPr>
        <p:txBody>
          <a:bodyPr wrap="square" lIns="0" tIns="0" rIns="0" bIns="0" rtlCol="0" anchor="t"/>
          <a:lstStyle/>
          <a:p>
            <a:pPr algn="l" indent="0" marL="0">
              <a:buNone/>
            </a:pPr>
            <a:r>
              <a:rPr lang="en-US" sz="1400" dirty="0">
                <a:solidFill>
                  <a:schemeClr val="tx1"/>
                </a:solidFill>
              </a:rPr>
              <a:t>Bulky and heavy products get their own ground-level zone.</a:t>
            </a:r>
            <a:endParaRPr lang="en-US" sz="1400" dirty="0"/>
          </a:p>
        </p:txBody>
      </p:sp>
      <p:sp>
        <p:nvSpPr>
          <p:cNvPr id="12" name="Card 187"/>
          <p:cNvSpPr/>
          <p:nvPr/>
        </p:nvSpPr>
        <p:spPr>
          <a:xfrm>
            <a:off x="6071616" y="1188720"/>
            <a:ext cx="2624328" cy="2194560"/>
          </a:xfrm>
          <a:prstGeom prst="roundRect">
            <a:avLst>
              <a:gd name="adj" fmla="val 3333"/>
            </a:avLst>
          </a:prstGeom>
          <a:solidFill>
            <a:schemeClr val="bg2"/>
          </a:solidFill>
          <a:ln w="12700">
            <a:solidFill>
              <a:schemeClr val="bg2"/>
            </a:solidFill>
            <a:prstDash val="solid"/>
          </a:ln>
        </p:spPr>
      </p:sp>
      <p:sp>
        <p:nvSpPr>
          <p:cNvPr id="13" name="Badge 188"/>
          <p:cNvSpPr/>
          <p:nvPr/>
        </p:nvSpPr>
        <p:spPr>
          <a:xfrm>
            <a:off x="6254496" y="1353312"/>
            <a:ext cx="502920" cy="502920"/>
          </a:xfrm>
          <a:prstGeom prst="ellipse">
            <a:avLst/>
          </a:prstGeom>
          <a:solidFill>
            <a:schemeClr val="accent6"/>
          </a:solidFill>
          <a:ln>
            <a:solidFill>
              <a:schemeClr val="accent6"/>
            </a:solid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4" name="Text 189"/>
          <p:cNvSpPr txBox="1"/>
          <p:nvPr/>
        </p:nvSpPr>
        <p:spPr>
          <a:xfrm>
            <a:off x="6254496" y="1965960"/>
            <a:ext cx="2286000" cy="347472"/>
          </a:xfrm>
          <a:prstGeom prst="rect">
            <a:avLst/>
          </a:prstGeom>
          <a:noFill/>
          <a:ln/>
        </p:spPr>
        <p:txBody>
          <a:bodyPr wrap="square" lIns="0" tIns="0" rIns="0" bIns="0" rtlCol="0" anchor="ctr"/>
          <a:lstStyle/>
          <a:p>
            <a:pPr algn="l" indent="0" marL="0">
              <a:buNone/>
            </a:pPr>
            <a:r>
              <a:rPr lang="en-US" sz="1800" b="1" dirty="0">
                <a:solidFill>
                  <a:schemeClr val="tx2"/>
                </a:solidFill>
              </a:rPr>
              <a:t>Season ready</a:t>
            </a:r>
            <a:endParaRPr lang="en-US" sz="1800" dirty="0"/>
          </a:p>
        </p:txBody>
      </p:sp>
      <p:sp>
        <p:nvSpPr>
          <p:cNvPr id="15" name="Text 190"/>
          <p:cNvSpPr txBox="1"/>
          <p:nvPr/>
        </p:nvSpPr>
        <p:spPr>
          <a:xfrm>
            <a:off x="6254496" y="2340864"/>
            <a:ext cx="2286000" cy="960120"/>
          </a:xfrm>
          <a:prstGeom prst="rect">
            <a:avLst/>
          </a:prstGeom>
          <a:noFill/>
          <a:ln/>
        </p:spPr>
        <p:txBody>
          <a:bodyPr wrap="square" lIns="0" tIns="0" rIns="0" bIns="0" rtlCol="0" anchor="t"/>
          <a:lstStyle/>
          <a:p>
            <a:pPr algn="l" indent="0" marL="0">
              <a:buNone/>
            </a:pPr>
            <a:r>
              <a:rPr lang="en-US" sz="1400" dirty="0">
                <a:solidFill>
                  <a:schemeClr val="tx1"/>
                </a:solidFill>
              </a:rPr>
              <a:t>Seasonal products are one group, easy to move forward in season.</a:t>
            </a:r>
            <a:endParaRPr lang="en-US" sz="1400" dirty="0"/>
          </a:p>
        </p:txBody>
      </p:sp>
      <p:sp>
        <p:nvSpPr>
          <p:cNvPr id="16" name="Card 191"/>
          <p:cNvSpPr/>
          <p:nvPr/>
        </p:nvSpPr>
        <p:spPr>
          <a:xfrm>
            <a:off x="457200" y="3584448"/>
            <a:ext cx="8229600" cy="822960"/>
          </a:xfrm>
          <a:prstGeom prst="roundRect">
            <a:avLst>
              <a:gd name="adj" fmla="val 8889"/>
            </a:avLst>
          </a:prstGeom>
          <a:solidFill>
            <a:schemeClr val="bg2"/>
          </a:solidFill>
          <a:ln w="12700">
            <a:solidFill>
              <a:schemeClr val="bg2"/>
            </a:solidFill>
            <a:prstDash val="solid"/>
          </a:ln>
        </p:spPr>
      </p:sp>
      <p:sp>
        <p:nvSpPr>
          <p:cNvPr id="17" name="Text 192"/>
          <p:cNvSpPr txBox="1"/>
          <p:nvPr/>
        </p:nvSpPr>
        <p:spPr>
          <a:xfrm>
            <a:off x="640080" y="3584448"/>
            <a:ext cx="7863840" cy="822960"/>
          </a:xfrm>
          <a:prstGeom prst="rect">
            <a:avLst/>
          </a:prstGeom>
          <a:noFill/>
          <a:ln/>
        </p:spPr>
        <p:txBody>
          <a:bodyPr wrap="square" lIns="0" tIns="0" rIns="0" bIns="0" rtlCol="0" anchor="ctr"/>
          <a:lstStyle/>
          <a:p>
            <a:pPr algn="l" indent="0" marL="0">
              <a:buNone/>
            </a:pPr>
            <a:r>
              <a:rPr lang="en-US" sz="1400" b="1" dirty="0">
                <a:solidFill>
                  <a:schemeClr val="tx2"/>
                </a:solidFill>
              </a:rPr>
              <a:t>How we check the clusters: </a:t>
            </a:r>
            <a:pPr algn="l" indent="0" marL="0">
              <a:buNone/>
            </a:pPr>
            <a:r>
              <a:rPr lang="en-US" sz="1400" dirty="0">
                <a:solidFill>
                  <a:schemeClr val="tx1"/>
                </a:solidFill>
              </a:rPr>
              <a:t>each centroid should read like a typical product. Fast movers: about 160 orders, 9 litres, 1 kg. The walking figure is a model, not a measurement.</a:t>
            </a:r>
            <a:endParaRPr lang="en-US" sz="14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5120640" cy="731520"/>
          </a:xfrm>
          <a:prstGeom prst="rect">
            <a:avLst/>
          </a:prstGeom>
          <a:noFill/>
          <a:ln/>
        </p:spPr>
        <p:txBody>
          <a:bodyPr wrap="square" lIns="0" tIns="0" rIns="0" bIns="0" rtlCol="0" anchor="ctr"/>
          <a:lstStyle/>
          <a:p>
            <a:pPr algn="l" indent="0" marL="0">
              <a:buNone/>
            </a:pPr>
            <a:r>
              <a:rPr lang="en-US" sz="3600" b="1" dirty="0">
                <a:solidFill>
                  <a:schemeClr val="bg1"/>
                </a:solidFill>
              </a:rPr>
              <a:t>Conclusion</a:t>
            </a:r>
            <a:endParaRPr lang="en-US" sz="3600" dirty="0"/>
          </a:p>
        </p:txBody>
      </p:sp>
      <p:sp>
        <p:nvSpPr>
          <p:cNvPr id="3" name="Badge 193"/>
          <p:cNvSpPr/>
          <p:nvPr/>
        </p:nvSpPr>
        <p:spPr>
          <a:xfrm>
            <a:off x="548640" y="1463040"/>
            <a:ext cx="384048" cy="384048"/>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4" name="Text 194"/>
          <p:cNvSpPr txBox="1"/>
          <p:nvPr/>
        </p:nvSpPr>
        <p:spPr>
          <a:xfrm>
            <a:off x="1097280" y="1371600"/>
            <a:ext cx="4480560" cy="566928"/>
          </a:xfrm>
          <a:prstGeom prst="rect">
            <a:avLst/>
          </a:prstGeom>
          <a:noFill/>
          <a:ln/>
        </p:spPr>
        <p:txBody>
          <a:bodyPr wrap="square" lIns="0" tIns="0" rIns="0" bIns="0" rtlCol="0" anchor="ctr"/>
          <a:lstStyle/>
          <a:p>
            <a:pPr algn="l" indent="0" marL="0">
              <a:buNone/>
            </a:pPr>
            <a:r>
              <a:rPr lang="en-US" sz="1600" dirty="0">
                <a:solidFill>
                  <a:schemeClr val="bg1"/>
                </a:solidFill>
              </a:rPr>
              <a:t>Problem: group warehouse SKUs so that pickers travel less.</a:t>
            </a:r>
            <a:endParaRPr lang="en-US" sz="1600" dirty="0"/>
          </a:p>
        </p:txBody>
      </p:sp>
      <p:sp>
        <p:nvSpPr>
          <p:cNvPr id="5" name="Badge 195"/>
          <p:cNvSpPr/>
          <p:nvPr/>
        </p:nvSpPr>
        <p:spPr>
          <a:xfrm>
            <a:off x="548640" y="2286000"/>
            <a:ext cx="384048" cy="384048"/>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6" name="Text 196"/>
          <p:cNvSpPr txBox="1"/>
          <p:nvPr/>
        </p:nvSpPr>
        <p:spPr>
          <a:xfrm>
            <a:off x="1097280" y="2194560"/>
            <a:ext cx="4480560" cy="566928"/>
          </a:xfrm>
          <a:prstGeom prst="rect">
            <a:avLst/>
          </a:prstGeom>
          <a:noFill/>
          <a:ln/>
        </p:spPr>
        <p:txBody>
          <a:bodyPr wrap="square" lIns="0" tIns="0" rIns="0" bIns="0" rtlCol="0" anchor="ctr"/>
          <a:lstStyle/>
          <a:p>
            <a:pPr algn="l" indent="0" marL="0">
              <a:buNone/>
            </a:pPr>
            <a:r>
              <a:rPr lang="en-US" sz="1600" dirty="0">
                <a:solidFill>
                  <a:schemeClr val="bg1"/>
                </a:solidFill>
              </a:rPr>
              <a:t>Chosen from Unit 3: K-Means clustering, a simple partitioning method.</a:t>
            </a:r>
            <a:endParaRPr lang="en-US" sz="1600" dirty="0"/>
          </a:p>
        </p:txBody>
      </p:sp>
      <p:sp>
        <p:nvSpPr>
          <p:cNvPr id="7" name="Badge 197"/>
          <p:cNvSpPr/>
          <p:nvPr/>
        </p:nvSpPr>
        <p:spPr>
          <a:xfrm>
            <a:off x="548640" y="3108960"/>
            <a:ext cx="384048" cy="384048"/>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8" name="Text 198"/>
          <p:cNvSpPr txBox="1"/>
          <p:nvPr/>
        </p:nvSpPr>
        <p:spPr>
          <a:xfrm>
            <a:off x="1097280" y="3017520"/>
            <a:ext cx="4480560" cy="566928"/>
          </a:xfrm>
          <a:prstGeom prst="rect">
            <a:avLst/>
          </a:prstGeom>
          <a:noFill/>
          <a:ln/>
        </p:spPr>
        <p:txBody>
          <a:bodyPr wrap="square" lIns="0" tIns="0" rIns="0" bIns="0" rtlCol="0" anchor="ctr"/>
          <a:lstStyle/>
          <a:p>
            <a:pPr algn="l" indent="0" marL="0">
              <a:buNone/>
            </a:pPr>
            <a:r>
              <a:rPr lang="en-US" sz="1600" dirty="0">
                <a:solidFill>
                  <a:schemeClr val="bg1"/>
                </a:solidFill>
              </a:rPr>
              <a:t>Tested on real data: 383 SKUs gave 4 clear clusters that map to zones.</a:t>
            </a:r>
            <a:endParaRPr lang="en-US" sz="1600" dirty="0"/>
          </a:p>
        </p:txBody>
      </p:sp>
      <p:sp>
        <p:nvSpPr>
          <p:cNvPr id="9" name="Text 199"/>
          <p:cNvSpPr txBox="1"/>
          <p:nvPr/>
        </p:nvSpPr>
        <p:spPr>
          <a:xfrm>
            <a:off x="548640" y="3840480"/>
            <a:ext cx="5029200" cy="548640"/>
          </a:xfrm>
          <a:prstGeom prst="rect">
            <a:avLst/>
          </a:prstGeom>
          <a:noFill/>
          <a:ln/>
        </p:spPr>
        <p:txBody>
          <a:bodyPr wrap="square" lIns="0" tIns="0" rIns="0" bIns="0" rtlCol="0" anchor="ctr"/>
          <a:lstStyle/>
          <a:p>
            <a:pPr algn="l" indent="0" marL="0">
              <a:buNone/>
            </a:pPr>
            <a:r>
              <a:rPr lang="en-US" sz="1400" dirty="0">
                <a:solidFill>
                  <a:schemeClr val="bg2"/>
                </a:solidFill>
              </a:rPr>
              <a:t>Live demo and Colab code:</a:t>
            </a:r>
            <a:endParaRPr lang="en-US" sz="1400" dirty="0"/>
          </a:p>
          <a:p>
            <a:pPr algn="l" indent="0" marL="0">
              <a:buNone/>
            </a:pPr>
            <a:r>
              <a:rPr lang="en-US" sz="1400" b="1" dirty="0">
                <a:solidFill>
                  <a:schemeClr val="bg2"/>
                </a:solidFill>
              </a:rPr>
              <a:t>zanyanbu.github.io/warehouse-sku-kmeans</a:t>
            </a:r>
            <a:endParaRPr lang="en-US" sz="1400" dirty="0"/>
          </a:p>
        </p:txBody>
      </p:sp>
      <p:sp>
        <p:nvSpPr>
          <p:cNvPr id="10" name="Card 200"/>
          <p:cNvSpPr/>
          <p:nvPr/>
        </p:nvSpPr>
        <p:spPr>
          <a:xfrm>
            <a:off x="5943600" y="1371600"/>
            <a:ext cx="2743200" cy="2103120"/>
          </a:xfrm>
          <a:prstGeom prst="roundRect">
            <a:avLst>
              <a:gd name="adj" fmla="val 3478"/>
            </a:avLst>
          </a:prstGeom>
          <a:solidFill>
            <a:schemeClr val="bg1">
              <a:alpha val="12000"/>
            </a:schemeClr>
          </a:solidFill>
          <a:ln w="12700">
            <a:solidFill>
              <a:schemeClr val="bg1">
                <a:alpha val="0"/>
              </a:schemeClr>
            </a:solidFill>
            <a:prstDash val="solid"/>
          </a:ln>
        </p:spPr>
      </p:sp>
      <p:sp>
        <p:nvSpPr>
          <p:cNvPr id="11" name="Text 201"/>
          <p:cNvSpPr txBox="1"/>
          <p:nvPr/>
        </p:nvSpPr>
        <p:spPr>
          <a:xfrm>
            <a:off x="5943600" y="1874520"/>
            <a:ext cx="2743200" cy="548640"/>
          </a:xfrm>
          <a:prstGeom prst="rect">
            <a:avLst/>
          </a:prstGeom>
          <a:noFill/>
          <a:ln/>
        </p:spPr>
        <p:txBody>
          <a:bodyPr wrap="square" lIns="0" tIns="0" rIns="0" bIns="0" rtlCol="0" anchor="ctr"/>
          <a:lstStyle/>
          <a:p>
            <a:pPr algn="ctr" indent="0" marL="0">
              <a:buNone/>
            </a:pPr>
            <a:r>
              <a:rPr lang="en-US" sz="3200" b="1" dirty="0">
                <a:solidFill>
                  <a:schemeClr val="bg1"/>
                </a:solidFill>
              </a:rPr>
              <a:t>Thank you</a:t>
            </a:r>
            <a:endParaRPr lang="en-US" sz="3200" dirty="0"/>
          </a:p>
        </p:txBody>
      </p:sp>
      <p:sp>
        <p:nvSpPr>
          <p:cNvPr id="12" name="Text 202"/>
          <p:cNvSpPr txBox="1"/>
          <p:nvPr/>
        </p:nvSpPr>
        <p:spPr>
          <a:xfrm>
            <a:off x="5943600" y="2514600"/>
            <a:ext cx="2743200" cy="365760"/>
          </a:xfrm>
          <a:prstGeom prst="rect">
            <a:avLst/>
          </a:prstGeom>
          <a:noFill/>
          <a:ln/>
        </p:spPr>
        <p:txBody>
          <a:bodyPr wrap="square" lIns="0" tIns="0" rIns="0" bIns="0" rtlCol="0" anchor="ctr"/>
          <a:lstStyle/>
          <a:p>
            <a:pPr algn="ctr" indent="0" marL="0">
              <a:buNone/>
            </a:pPr>
            <a:r>
              <a:rPr lang="en-US" sz="1400" dirty="0">
                <a:solidFill>
                  <a:schemeClr val="bg2"/>
                </a:solidFill>
              </a:rPr>
              <a:t>Questions are welcome</a:t>
            </a:r>
            <a:endParaRPr lang="en-US" sz="1400" dirty="0"/>
          </a:p>
        </p:txBody>
      </p:sp>
      <p:sp>
        <p:nvSpPr>
          <p:cNvPr id="13" name="Dot 203"/>
          <p:cNvSpPr/>
          <p:nvPr/>
        </p:nvSpPr>
        <p:spPr>
          <a:xfrm>
            <a:off x="6194694" y="3896258"/>
            <a:ext cx="118872" cy="118872"/>
          </a:xfrm>
          <a:prstGeom prst="ellipse">
            <a:avLst/>
          </a:prstGeom>
          <a:solidFill>
            <a:schemeClr val="accent2"/>
          </a:solidFill>
          <a:ln w="12700">
            <a:solidFill>
              <a:schemeClr val="accent2"/>
            </a:solidFill>
            <a:prstDash val="solid"/>
          </a:ln>
        </p:spPr>
      </p:sp>
      <p:sp>
        <p:nvSpPr>
          <p:cNvPr id="14" name="Dot 204"/>
          <p:cNvSpPr/>
          <p:nvPr/>
        </p:nvSpPr>
        <p:spPr>
          <a:xfrm>
            <a:off x="6364773" y="3754526"/>
            <a:ext cx="118872" cy="118872"/>
          </a:xfrm>
          <a:prstGeom prst="ellipse">
            <a:avLst/>
          </a:prstGeom>
          <a:solidFill>
            <a:schemeClr val="accent2"/>
          </a:solidFill>
          <a:ln w="12700">
            <a:solidFill>
              <a:schemeClr val="accent2"/>
            </a:solidFill>
            <a:prstDash val="solid"/>
          </a:ln>
        </p:spPr>
      </p:sp>
      <p:sp>
        <p:nvSpPr>
          <p:cNvPr id="15" name="Dot 205"/>
          <p:cNvSpPr/>
          <p:nvPr/>
        </p:nvSpPr>
        <p:spPr>
          <a:xfrm>
            <a:off x="6602882" y="3822558"/>
            <a:ext cx="118872" cy="118872"/>
          </a:xfrm>
          <a:prstGeom prst="ellipse">
            <a:avLst/>
          </a:prstGeom>
          <a:solidFill>
            <a:schemeClr val="accent2"/>
          </a:solidFill>
          <a:ln w="12700">
            <a:solidFill>
              <a:schemeClr val="accent2"/>
            </a:solidFill>
            <a:prstDash val="solid"/>
          </a:ln>
        </p:spPr>
      </p:sp>
      <p:sp>
        <p:nvSpPr>
          <p:cNvPr id="16" name="Dot 206"/>
          <p:cNvSpPr/>
          <p:nvPr/>
        </p:nvSpPr>
        <p:spPr>
          <a:xfrm>
            <a:off x="6693591" y="4037990"/>
            <a:ext cx="118872" cy="118872"/>
          </a:xfrm>
          <a:prstGeom prst="ellipse">
            <a:avLst/>
          </a:prstGeom>
          <a:solidFill>
            <a:schemeClr val="accent2"/>
          </a:solidFill>
          <a:ln w="12700">
            <a:solidFill>
              <a:schemeClr val="accent2"/>
            </a:solidFill>
            <a:prstDash val="solid"/>
          </a:ln>
        </p:spPr>
      </p:sp>
      <p:sp>
        <p:nvSpPr>
          <p:cNvPr id="17" name="Dot 207"/>
          <p:cNvSpPr/>
          <p:nvPr/>
        </p:nvSpPr>
        <p:spPr>
          <a:xfrm>
            <a:off x="6534851" y="4225077"/>
            <a:ext cx="118872" cy="118872"/>
          </a:xfrm>
          <a:prstGeom prst="ellipse">
            <a:avLst/>
          </a:prstGeom>
          <a:solidFill>
            <a:schemeClr val="accent2"/>
          </a:solidFill>
          <a:ln w="12700">
            <a:solidFill>
              <a:schemeClr val="accent2"/>
            </a:solidFill>
            <a:prstDash val="solid"/>
          </a:ln>
        </p:spPr>
      </p:sp>
      <p:sp>
        <p:nvSpPr>
          <p:cNvPr id="18" name="Dot 208"/>
          <p:cNvSpPr/>
          <p:nvPr/>
        </p:nvSpPr>
        <p:spPr>
          <a:xfrm>
            <a:off x="6291072" y="4179722"/>
            <a:ext cx="118872" cy="118872"/>
          </a:xfrm>
          <a:prstGeom prst="ellipse">
            <a:avLst/>
          </a:prstGeom>
          <a:solidFill>
            <a:schemeClr val="accent2"/>
          </a:solidFill>
          <a:ln w="12700">
            <a:solidFill>
              <a:schemeClr val="accent2"/>
            </a:solidFill>
            <a:prstDash val="solid"/>
          </a:ln>
        </p:spPr>
      </p:sp>
      <p:sp>
        <p:nvSpPr>
          <p:cNvPr id="19" name="Dot 209"/>
          <p:cNvSpPr/>
          <p:nvPr/>
        </p:nvSpPr>
        <p:spPr>
          <a:xfrm>
            <a:off x="6149340" y="4077675"/>
            <a:ext cx="118872" cy="118872"/>
          </a:xfrm>
          <a:prstGeom prst="ellipse">
            <a:avLst/>
          </a:prstGeom>
          <a:solidFill>
            <a:schemeClr val="accent2"/>
          </a:solidFill>
          <a:ln w="12700">
            <a:solidFill>
              <a:schemeClr val="accent2"/>
            </a:solidFill>
            <a:prstDash val="solid"/>
          </a:ln>
        </p:spPr>
      </p:sp>
      <p:sp>
        <p:nvSpPr>
          <p:cNvPr id="20" name="Centroid 210"/>
          <p:cNvSpPr/>
          <p:nvPr/>
        </p:nvSpPr>
        <p:spPr>
          <a:xfrm>
            <a:off x="6409030" y="3985870"/>
            <a:ext cx="166421" cy="166421"/>
          </a:xfrm>
          <a:prstGeom prst="ellipse">
            <a:avLst/>
          </a:prstGeom>
          <a:solidFill>
            <a:schemeClr val="tx2"/>
          </a:solidFill>
          <a:ln w="22225">
            <a:solidFill>
              <a:schemeClr val="accent2"/>
            </a:solidFill>
            <a:prstDash val="solid"/>
          </a:ln>
        </p:spPr>
      </p:sp>
      <p:sp>
        <p:nvSpPr>
          <p:cNvPr id="21" name="Dot 211"/>
          <p:cNvSpPr/>
          <p:nvPr/>
        </p:nvSpPr>
        <p:spPr>
          <a:xfrm>
            <a:off x="7017654" y="3896258"/>
            <a:ext cx="118872" cy="118872"/>
          </a:xfrm>
          <a:prstGeom prst="ellipse">
            <a:avLst/>
          </a:prstGeom>
          <a:solidFill>
            <a:schemeClr val="accent4"/>
          </a:solidFill>
          <a:ln w="12700">
            <a:solidFill>
              <a:schemeClr val="accent4"/>
            </a:solidFill>
            <a:prstDash val="solid"/>
          </a:ln>
        </p:spPr>
      </p:sp>
      <p:sp>
        <p:nvSpPr>
          <p:cNvPr id="22" name="Dot 212"/>
          <p:cNvSpPr/>
          <p:nvPr/>
        </p:nvSpPr>
        <p:spPr>
          <a:xfrm>
            <a:off x="7187733" y="3754526"/>
            <a:ext cx="118872" cy="118872"/>
          </a:xfrm>
          <a:prstGeom prst="ellipse">
            <a:avLst/>
          </a:prstGeom>
          <a:solidFill>
            <a:schemeClr val="accent4"/>
          </a:solidFill>
          <a:ln w="12700">
            <a:solidFill>
              <a:schemeClr val="accent4"/>
            </a:solidFill>
            <a:prstDash val="solid"/>
          </a:ln>
        </p:spPr>
      </p:sp>
      <p:sp>
        <p:nvSpPr>
          <p:cNvPr id="23" name="Dot 213"/>
          <p:cNvSpPr/>
          <p:nvPr/>
        </p:nvSpPr>
        <p:spPr>
          <a:xfrm>
            <a:off x="7425842" y="3822558"/>
            <a:ext cx="118872" cy="118872"/>
          </a:xfrm>
          <a:prstGeom prst="ellipse">
            <a:avLst/>
          </a:prstGeom>
          <a:solidFill>
            <a:schemeClr val="accent4"/>
          </a:solidFill>
          <a:ln w="12700">
            <a:solidFill>
              <a:schemeClr val="accent4"/>
            </a:solidFill>
            <a:prstDash val="solid"/>
          </a:ln>
        </p:spPr>
      </p:sp>
      <p:sp>
        <p:nvSpPr>
          <p:cNvPr id="24" name="Dot 214"/>
          <p:cNvSpPr/>
          <p:nvPr/>
        </p:nvSpPr>
        <p:spPr>
          <a:xfrm>
            <a:off x="7516551" y="4037990"/>
            <a:ext cx="118872" cy="118872"/>
          </a:xfrm>
          <a:prstGeom prst="ellipse">
            <a:avLst/>
          </a:prstGeom>
          <a:solidFill>
            <a:schemeClr val="accent4"/>
          </a:solidFill>
          <a:ln w="12700">
            <a:solidFill>
              <a:schemeClr val="accent4"/>
            </a:solidFill>
            <a:prstDash val="solid"/>
          </a:ln>
        </p:spPr>
      </p:sp>
      <p:sp>
        <p:nvSpPr>
          <p:cNvPr id="25" name="Dot 215"/>
          <p:cNvSpPr/>
          <p:nvPr/>
        </p:nvSpPr>
        <p:spPr>
          <a:xfrm>
            <a:off x="7357811" y="4225077"/>
            <a:ext cx="118872" cy="118872"/>
          </a:xfrm>
          <a:prstGeom prst="ellipse">
            <a:avLst/>
          </a:prstGeom>
          <a:solidFill>
            <a:schemeClr val="accent4"/>
          </a:solidFill>
          <a:ln w="12700">
            <a:solidFill>
              <a:schemeClr val="accent4"/>
            </a:solidFill>
            <a:prstDash val="solid"/>
          </a:ln>
        </p:spPr>
      </p:sp>
      <p:sp>
        <p:nvSpPr>
          <p:cNvPr id="26" name="Dot 216"/>
          <p:cNvSpPr/>
          <p:nvPr/>
        </p:nvSpPr>
        <p:spPr>
          <a:xfrm>
            <a:off x="7114032" y="4179722"/>
            <a:ext cx="118872" cy="118872"/>
          </a:xfrm>
          <a:prstGeom prst="ellipse">
            <a:avLst/>
          </a:prstGeom>
          <a:solidFill>
            <a:schemeClr val="accent4"/>
          </a:solidFill>
          <a:ln w="12700">
            <a:solidFill>
              <a:schemeClr val="accent4"/>
            </a:solidFill>
            <a:prstDash val="solid"/>
          </a:ln>
        </p:spPr>
      </p:sp>
      <p:sp>
        <p:nvSpPr>
          <p:cNvPr id="27" name="Dot 217"/>
          <p:cNvSpPr/>
          <p:nvPr/>
        </p:nvSpPr>
        <p:spPr>
          <a:xfrm>
            <a:off x="6972300" y="4077675"/>
            <a:ext cx="118872" cy="118872"/>
          </a:xfrm>
          <a:prstGeom prst="ellipse">
            <a:avLst/>
          </a:prstGeom>
          <a:solidFill>
            <a:schemeClr val="accent4"/>
          </a:solidFill>
          <a:ln w="12700">
            <a:solidFill>
              <a:schemeClr val="accent4"/>
            </a:solidFill>
            <a:prstDash val="solid"/>
          </a:ln>
        </p:spPr>
      </p:sp>
      <p:sp>
        <p:nvSpPr>
          <p:cNvPr id="28" name="Centroid 218"/>
          <p:cNvSpPr/>
          <p:nvPr/>
        </p:nvSpPr>
        <p:spPr>
          <a:xfrm>
            <a:off x="7231990" y="3985870"/>
            <a:ext cx="166421" cy="166421"/>
          </a:xfrm>
          <a:prstGeom prst="ellipse">
            <a:avLst/>
          </a:prstGeom>
          <a:solidFill>
            <a:schemeClr val="tx2"/>
          </a:solidFill>
          <a:ln w="22225">
            <a:solidFill>
              <a:schemeClr val="accent4"/>
            </a:solidFill>
            <a:prstDash val="solid"/>
          </a:ln>
        </p:spPr>
      </p:sp>
      <p:sp>
        <p:nvSpPr>
          <p:cNvPr id="29" name="Dot 219"/>
          <p:cNvSpPr/>
          <p:nvPr/>
        </p:nvSpPr>
        <p:spPr>
          <a:xfrm>
            <a:off x="7840614" y="3896258"/>
            <a:ext cx="118872" cy="118872"/>
          </a:xfrm>
          <a:prstGeom prst="ellipse">
            <a:avLst/>
          </a:prstGeom>
          <a:solidFill>
            <a:schemeClr val="accent3"/>
          </a:solidFill>
          <a:ln w="12700">
            <a:solidFill>
              <a:schemeClr val="accent3"/>
            </a:solidFill>
            <a:prstDash val="solid"/>
          </a:ln>
        </p:spPr>
      </p:sp>
      <p:sp>
        <p:nvSpPr>
          <p:cNvPr id="30" name="Dot 220"/>
          <p:cNvSpPr/>
          <p:nvPr/>
        </p:nvSpPr>
        <p:spPr>
          <a:xfrm>
            <a:off x="8010693" y="3754526"/>
            <a:ext cx="118872" cy="118872"/>
          </a:xfrm>
          <a:prstGeom prst="ellipse">
            <a:avLst/>
          </a:prstGeom>
          <a:solidFill>
            <a:schemeClr val="accent3"/>
          </a:solidFill>
          <a:ln w="12700">
            <a:solidFill>
              <a:schemeClr val="accent3"/>
            </a:solidFill>
            <a:prstDash val="solid"/>
          </a:ln>
        </p:spPr>
      </p:sp>
      <p:sp>
        <p:nvSpPr>
          <p:cNvPr id="31" name="Dot 221"/>
          <p:cNvSpPr/>
          <p:nvPr/>
        </p:nvSpPr>
        <p:spPr>
          <a:xfrm>
            <a:off x="8248802" y="3822558"/>
            <a:ext cx="118872" cy="118872"/>
          </a:xfrm>
          <a:prstGeom prst="ellipse">
            <a:avLst/>
          </a:prstGeom>
          <a:solidFill>
            <a:schemeClr val="accent3"/>
          </a:solidFill>
          <a:ln w="12700">
            <a:solidFill>
              <a:schemeClr val="accent3"/>
            </a:solidFill>
            <a:prstDash val="solid"/>
          </a:ln>
        </p:spPr>
      </p:sp>
      <p:sp>
        <p:nvSpPr>
          <p:cNvPr id="32" name="Dot 222"/>
          <p:cNvSpPr/>
          <p:nvPr/>
        </p:nvSpPr>
        <p:spPr>
          <a:xfrm>
            <a:off x="8339511" y="4037990"/>
            <a:ext cx="118872" cy="118872"/>
          </a:xfrm>
          <a:prstGeom prst="ellipse">
            <a:avLst/>
          </a:prstGeom>
          <a:solidFill>
            <a:schemeClr val="accent3"/>
          </a:solidFill>
          <a:ln w="12700">
            <a:solidFill>
              <a:schemeClr val="accent3"/>
            </a:solidFill>
            <a:prstDash val="solid"/>
          </a:ln>
        </p:spPr>
      </p:sp>
      <p:sp>
        <p:nvSpPr>
          <p:cNvPr id="33" name="Dot 223"/>
          <p:cNvSpPr/>
          <p:nvPr/>
        </p:nvSpPr>
        <p:spPr>
          <a:xfrm>
            <a:off x="8180771" y="4225077"/>
            <a:ext cx="118872" cy="118872"/>
          </a:xfrm>
          <a:prstGeom prst="ellipse">
            <a:avLst/>
          </a:prstGeom>
          <a:solidFill>
            <a:schemeClr val="accent3"/>
          </a:solidFill>
          <a:ln w="12700">
            <a:solidFill>
              <a:schemeClr val="accent3"/>
            </a:solidFill>
            <a:prstDash val="solid"/>
          </a:ln>
        </p:spPr>
      </p:sp>
      <p:sp>
        <p:nvSpPr>
          <p:cNvPr id="34" name="Dot 224"/>
          <p:cNvSpPr/>
          <p:nvPr/>
        </p:nvSpPr>
        <p:spPr>
          <a:xfrm>
            <a:off x="7936992" y="4179722"/>
            <a:ext cx="118872" cy="118872"/>
          </a:xfrm>
          <a:prstGeom prst="ellipse">
            <a:avLst/>
          </a:prstGeom>
          <a:solidFill>
            <a:schemeClr val="accent3"/>
          </a:solidFill>
          <a:ln w="12700">
            <a:solidFill>
              <a:schemeClr val="accent3"/>
            </a:solidFill>
            <a:prstDash val="solid"/>
          </a:ln>
        </p:spPr>
      </p:sp>
      <p:sp>
        <p:nvSpPr>
          <p:cNvPr id="35" name="Dot 225"/>
          <p:cNvSpPr/>
          <p:nvPr/>
        </p:nvSpPr>
        <p:spPr>
          <a:xfrm>
            <a:off x="7795260" y="4077675"/>
            <a:ext cx="118872" cy="118872"/>
          </a:xfrm>
          <a:prstGeom prst="ellipse">
            <a:avLst/>
          </a:prstGeom>
          <a:solidFill>
            <a:schemeClr val="accent3"/>
          </a:solidFill>
          <a:ln w="12700">
            <a:solidFill>
              <a:schemeClr val="accent3"/>
            </a:solidFill>
            <a:prstDash val="solid"/>
          </a:ln>
        </p:spPr>
      </p:sp>
      <p:sp>
        <p:nvSpPr>
          <p:cNvPr id="36" name="Centroid 226"/>
          <p:cNvSpPr/>
          <p:nvPr/>
        </p:nvSpPr>
        <p:spPr>
          <a:xfrm>
            <a:off x="8054950" y="3985870"/>
            <a:ext cx="166421" cy="166421"/>
          </a:xfrm>
          <a:prstGeom prst="ellipse">
            <a:avLst/>
          </a:prstGeom>
          <a:solidFill>
            <a:schemeClr val="tx2"/>
          </a:solidFill>
          <a:ln w="22225">
            <a:solidFill>
              <a:schemeClr val="accent3"/>
            </a:solidFill>
            <a:prstDash val="solid"/>
          </a:ln>
        </p:spPr>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Warehouse Clusters">
  <a:themeElements>
    <a:clrScheme name="Warehouse Clusters">
      <a:dk1>
        <a:srgbClr val="16212B"/>
      </a:dk1>
      <a:lt1>
        <a:srgbClr val="FFFFFF"/>
      </a:lt1>
      <a:dk2>
        <a:srgbClr val="0F4C5C"/>
      </a:dk2>
      <a:lt2>
        <a:srgbClr val="EAF2F3"/>
      </a:lt2>
      <a:accent1>
        <a:srgbClr val="0F4C5C"/>
      </a:accent1>
      <a:accent2>
        <a:srgbClr val="F28C28"/>
      </a:accent2>
      <a:accent3>
        <a:srgbClr val="2A9D8F"/>
      </a:accent3>
      <a:accent4>
        <a:srgbClr val="E9C46A"/>
      </a:accent4>
      <a:accent5>
        <a:srgbClr val="5F7180"/>
      </a:accent5>
      <a:accent6>
        <a:srgbClr val="D1495B"/>
      </a:accent6>
      <a:hlink>
        <a:srgbClr val="0F4C5C"/>
      </a:hlink>
      <a:folHlink>
        <a:srgbClr val="5F7180"/>
      </a:folHlink>
    </a:clrScheme>
    <a:fontScheme name="Warehouse Cluster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Warehouse SKU Clustering with K-Means</dc:title>
  <dc:subject>Project Review 3, Machine Learning Unit 3</dc:subject>
  <dc:creator>Team Cash guard</dc:creator>
  <cp:lastModifiedBy>Team Cash guard</cp:lastModifiedBy>
  <cp:revision>1</cp:revision>
  <dcterms:created xsi:type="dcterms:W3CDTF">2026-10-13T08:17:52Z</dcterms:created>
  <dcterms:modified xsi:type="dcterms:W3CDTF">2026-10-13T08:17:52Z</dcterms:modified>
</cp:coreProperties>
</file>