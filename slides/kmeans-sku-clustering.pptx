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8.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9.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dfd8c3b2-d5b0-4dcf-2132-3a25657c9196}">
          <p14:sldIdLst>
            <p14:sldId id="256"/>
            <p14:sldId id="257"/>
            <p14:sldId id="258"/>
          </p14:sldIdLst>
        </p14:section>
        <p14:section name="Choosing the solution" id="{77378515-c681-f7d0-09c5-db7e48e1fa29}">
          <p14:sldIdLst>
            <p14:sldId id="259"/>
            <p14:sldId id="260"/>
            <p14:sldId id="261"/>
          </p14:sldIdLst>
        </p14:section>
        <p14:section name="Applying K-Means" id="{8e67a60f-7d24-8f16-8bbe-848f3d9fcfe2}">
          <p14:sldIdLst>
            <p14:sldId id="262"/>
            <p14:sldId id="263"/>
            <p14:sldId id="264"/>
            <p14:sldId id="265"/>
            <p14:sldId id="266"/>
            <p14:sldId id="267"/>
            <p14:sldId id="268"/>
            <p14:sldId id="269"/>
            <p14:sldId id="270"/>
          </p14:sldIdLst>
        </p14:section>
        <p14:section name="Conclusion" id="{f47e0da4-6146-37a7-a7de-b2421f47b790}">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4C5C"/>
                </a:solidFill>
                <a:latin typeface="+mn-lt"/>
              </a:defRPr>
            </a:pPr>
            <a:r>
              <a:rPr sz="1200" b="0" i="0" u="none" strike="noStrike">
                <a:solidFill>
                  <a:srgbClr val="0F4C5C"/>
                </a:solidFill>
                <a:latin typeface="+mn-lt"/>
              </a:rPr>
              <a:t>Orders placed in each month</a:t>
            </a:r>
          </a:p>
        </c:rich>
      </c:tx>
      <c:layout/>
      <c:overlay val="0"/>
    </c:title>
    <c:autoTitleDeleted val="0"/>
    <c:plotArea>
      <c:layout/>
      <c:barChart>
        <c:barDir val="col"/>
        <c:grouping val="clustered"/>
        <c:varyColors val="0"/>
        <c:ser>
          <c:idx val="0"/>
          <c:order val="0"/>
          <c:tx>
            <c:strRef>
              <c:f>Sheet1!$B$1</c:f>
              <c:strCache>
                <c:ptCount val="1"/>
                <c:pt idx="0">
                  <c:v>Orders</c:v>
                </c:pt>
              </c:strCache>
            </c:strRef>
          </c:tx>
          <c:spPr>
            <a:solidFill>
              <a:srgbClr val="2A78D6"/>
            </a:solidFill>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cat>
            <c:multiLvlStrRef>
              <c:f>Sheet1!$A$2:$A$22</c:f>
              <c:multiLvlStrCache>
                <c:ptCount val="21"/>
                <c:lvl>
                  <c:pt idx="0">
                    <c:v>2016-10</c:v>
                  </c:pt>
                  <c:pt idx="1">
                    <c:v>2017-01</c:v>
                  </c:pt>
                  <c:pt idx="2">
                    <c:v>2017-02</c:v>
                  </c:pt>
                  <c:pt idx="3">
                    <c:v>2017-03</c:v>
                  </c:pt>
                  <c:pt idx="4">
                    <c:v>2017-04</c:v>
                  </c:pt>
                  <c:pt idx="5">
                    <c:v>2017-05</c:v>
                  </c:pt>
                  <c:pt idx="6">
                    <c:v>2017-06</c:v>
                  </c:pt>
                  <c:pt idx="7">
                    <c:v>2017-07</c:v>
                  </c:pt>
                  <c:pt idx="8">
                    <c:v>2017-08</c:v>
                  </c:pt>
                  <c:pt idx="9">
                    <c:v>2017-09</c:v>
                  </c:pt>
                  <c:pt idx="10">
                    <c:v>2017-10</c:v>
                  </c:pt>
                  <c:pt idx="11">
                    <c:v>2017-11</c:v>
                  </c:pt>
                  <c:pt idx="12">
                    <c:v>2017-12</c:v>
                  </c:pt>
                  <c:pt idx="13">
                    <c:v>2018-01</c:v>
                  </c:pt>
                  <c:pt idx="14">
                    <c:v>2018-02</c:v>
                  </c:pt>
                  <c:pt idx="15">
                    <c:v>2018-03</c:v>
                  </c:pt>
                  <c:pt idx="16">
                    <c:v>2018-04</c:v>
                  </c:pt>
                  <c:pt idx="17">
                    <c:v>2018-05</c:v>
                  </c:pt>
                  <c:pt idx="18">
                    <c:v>2018-06</c:v>
                  </c:pt>
                  <c:pt idx="19">
                    <c:v>2018-07</c:v>
                  </c:pt>
                  <c:pt idx="20">
                    <c:v>2018-08</c:v>
                  </c:pt>
                </c:lvl>
              </c:multiLvlStrCache>
            </c:multiLvlStrRef>
          </c:cat>
          <c:val>
            <c:numRef>
              <c:f>Sheet1!$B$2:$B$22</c:f>
              <c:numCache>
                <c:formatCode>General</c:formatCode>
                <c:ptCount val="21"/>
                <c:pt idx="0">
                  <c:v>324</c:v>
                </c:pt>
                <c:pt idx="1">
                  <c:v>800</c:v>
                </c:pt>
                <c:pt idx="2">
                  <c:v>1780</c:v>
                </c:pt>
                <c:pt idx="3">
                  <c:v>2682</c:v>
                </c:pt>
                <c:pt idx="4">
                  <c:v>2404</c:v>
                </c:pt>
                <c:pt idx="5">
                  <c:v>3700</c:v>
                </c:pt>
                <c:pt idx="6">
                  <c:v>3245</c:v>
                </c:pt>
                <c:pt idx="7">
                  <c:v>4026</c:v>
                </c:pt>
                <c:pt idx="8">
                  <c:v>4331</c:v>
                </c:pt>
                <c:pt idx="9">
                  <c:v>4285</c:v>
                </c:pt>
                <c:pt idx="10">
                  <c:v>4631</c:v>
                </c:pt>
                <c:pt idx="11">
                  <c:v>7544</c:v>
                </c:pt>
                <c:pt idx="12">
                  <c:v>5673</c:v>
                </c:pt>
                <c:pt idx="13">
                  <c:v>7269</c:v>
                </c:pt>
                <c:pt idx="14">
                  <c:v>6728</c:v>
                </c:pt>
                <c:pt idx="15">
                  <c:v>7211</c:v>
                </c:pt>
                <c:pt idx="16">
                  <c:v>6939</c:v>
                </c:pt>
                <c:pt idx="17">
                  <c:v>6873</c:v>
                </c:pt>
                <c:pt idx="18">
                  <c:v>6167</c:v>
                </c:pt>
                <c:pt idx="19">
                  <c:v>6292</c:v>
                </c:pt>
                <c:pt idx="20">
                  <c:v>6512</c:v>
                </c:pt>
              </c:numCache>
            </c:numRef>
          </c:val>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6200000"/>
          <a:lstStyle/>
          <a:p>
            <a:pPr>
              <a:defRPr sz="900" b="0" i="0" u="none" strike="noStrike">
                <a:solidFill>
                  <a:srgbClr val="5F718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AF2F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71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4C5C"/>
                </a:solidFill>
                <a:latin typeface="+mn-lt"/>
              </a:defRPr>
            </a:pPr>
            <a:r>
              <a:rPr sz="1200" b="0" i="0" u="none" strike="noStrike">
                <a:solidFill>
                  <a:srgbClr val="0F4C5C"/>
                </a:solidFill>
                <a:latin typeface="+mn-lt"/>
              </a:rPr>
              <a:t>Elbow curve on the real data (383 SKUs)</a:t>
            </a:r>
          </a:p>
        </c:rich>
      </c:tx>
      <c:layout/>
      <c:overlay val="0"/>
    </c:title>
    <c:autoTitleDeleted val="0"/>
    <c:plotArea>
      <c:layout/>
      <c:lineChart>
        <c:varyColors val="0"/>
        <c:ser>
          <c:idx val="0"/>
          <c:order val="0"/>
          <c:tx>
            <c:strRef>
              <c:f>Sheet1!$B$1</c:f>
              <c:strCache>
                <c:ptCount val="1"/>
                <c:pt idx="0">
                  <c:v>Within-cluster variance</c:v>
                </c:pt>
              </c:strCache>
            </c:strRef>
          </c:tx>
          <c:spPr>
            <a:solidFill>
              <a:srgbClr val="F28C28"/>
            </a:solidFill>
            <a:ln w="38100" cap="flat">
              <a:solidFill>
                <a:srgbClr val="F28C2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F28C28"/>
              </a:solidFill>
              <a:ln w="9525" cap="flat">
                <a:solidFill>
                  <a:srgbClr val="F28C28"/>
                </a:solidFill>
                <a:prstDash val="solid"/>
                <a:round/>
              </a:ln>
              <a:effectLst/>
            </c:spPr>
          </c:marker>
          <c:cat>
            <c:multiLvlStrRef>
              <c:f>Sheet1!$A$2:$A$9</c:f>
              <c:multiLvlStrCache>
                <c:ptCount val="8"/>
                <c:lvl>
                  <c:pt idx="0">
                    <c:v>1</c:v>
                  </c:pt>
                  <c:pt idx="1">
                    <c:v>2</c:v>
                  </c:pt>
                  <c:pt idx="2">
                    <c:v>3</c:v>
                  </c:pt>
                  <c:pt idx="3">
                    <c:v>4</c:v>
                  </c:pt>
                  <c:pt idx="4">
                    <c:v>5</c:v>
                  </c:pt>
                  <c:pt idx="5">
                    <c:v>6</c:v>
                  </c:pt>
                  <c:pt idx="6">
                    <c:v>7</c:v>
                  </c:pt>
                  <c:pt idx="7">
                    <c:v>8</c:v>
                  </c:pt>
                </c:lvl>
              </c:multiLvlStrCache>
            </c:multiLvlStrRef>
          </c:cat>
          <c:val>
            <c:numRef>
              <c:f>Sheet1!$B$2:$B$9</c:f>
              <c:numCache>
                <c:formatCode>General</c:formatCode>
                <c:ptCount val="8"/>
                <c:pt idx="0">
                  <c:v>1532</c:v>
                </c:pt>
                <c:pt idx="1">
                  <c:v>1025.2</c:v>
                </c:pt>
                <c:pt idx="2">
                  <c:v>772.5</c:v>
                </c:pt>
                <c:pt idx="3">
                  <c:v>600.1</c:v>
                </c:pt>
                <c:pt idx="4">
                  <c:v>511</c:v>
                </c:pt>
                <c:pt idx="5">
                  <c:v>453.9</c:v>
                </c:pt>
                <c:pt idx="6">
                  <c:v>412.4</c:v>
                </c:pt>
                <c:pt idx="7">
                  <c:v>368.2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F7180"/>
                    </a:solidFill>
                    <a:latin typeface="+mn-lt"/>
                  </a:defRPr>
                </a:pPr>
                <a:r>
                  <a:rPr sz="1100" b="0" i="0" u="none" strike="noStrike">
                    <a:solidFill>
                      <a:srgbClr val="5F7180"/>
                    </a:solidFill>
                    <a:latin typeface="+mn-lt"/>
                  </a:rPr>
                  <a:t>Number of clusters (k)</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7180"/>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AF2F3"/>
              </a:solidFill>
              <a:prstDash val="solid"/>
              <a:round/>
            </a:ln>
          </c:spPr>
        </c:majorGridlines>
        <c:title>
          <c:tx>
            <c:rich>
              <a:bodyPr/>
              <a:lstStyle/>
              <a:p>
                <a:pPr>
                  <a:defRPr sz="1100" b="0" i="0" u="none" strike="noStrike">
                    <a:solidFill>
                      <a:srgbClr val="5F7180"/>
                    </a:solidFill>
                    <a:latin typeface="+mn-lt"/>
                  </a:defRPr>
                </a:pPr>
                <a:r>
                  <a:rPr sz="1100" b="0" i="0" u="none" strike="noStrike">
                    <a:solidFill>
                      <a:srgbClr val="5F7180"/>
                    </a:solidFill>
                    <a:latin typeface="+mn-lt"/>
                  </a:rPr>
                  <a:t>Within-cluster variance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71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4C5C"/>
                </a:solidFill>
                <a:latin typeface="+mn-lt"/>
              </a:defRPr>
            </a:pPr>
            <a:r>
              <a:rPr sz="1200" b="0" i="0" u="none" strike="noStrike">
                <a:solidFill>
                  <a:srgbClr val="0F4C5C"/>
                </a:solidFill>
                <a:latin typeface="+mn-lt"/>
              </a:rPr>
              <a:t>Silhouette score for each k (real data)</a:t>
            </a:r>
          </a:p>
        </c:rich>
      </c:tx>
      <c:layout/>
      <c:overlay val="0"/>
    </c:title>
    <c:autoTitleDeleted val="0"/>
    <c:plotArea>
      <c:layout/>
      <c:barChart>
        <c:barDir val="col"/>
        <c:grouping val="clustered"/>
        <c:varyColors val="0"/>
        <c:ser>
          <c:idx val="0"/>
          <c:order val="0"/>
          <c:tx>
            <c:strRef>
              <c:f>Sheet1!$B$1</c:f>
              <c:strCache>
                <c:ptCount val="1"/>
                <c:pt idx="0">
                  <c:v>Silhouette score</c:v>
                </c:pt>
              </c:strCache>
            </c:strRef>
          </c:tx>
          <c:spPr>
            <a:solidFill>
              <a:srgbClr val="9BBBE4"/>
            </a:solidFill>
            <a:effectLst/>
          </c:spPr>
          <c:invertIfNegative val="0"/>
          <c:dLbls>
            <c:numFmt formatCode="0.00" sourceLinked="0"/>
            <c:txPr>
              <a:bodyPr/>
              <a:lstStyle/>
              <a:p>
                <a:pPr>
                  <a:defRPr b="0" i="0" strike="noStrike" sz="1100" u="none">
                    <a:solidFill>
                      <a:srgbClr val="16212B"/>
                    </a:solidFill>
                    <a:latin typeface="+mn-lt"/>
                  </a:defRPr>
                </a:pPr>
              </a:p>
            </c:txPr>
            <c:showLegendKey val="0"/>
            <c:showVal val="1"/>
            <c:showCatName val="0"/>
            <c:showSerName val="0"/>
            <c:showPercent val="0"/>
            <c:showBubbleSize val="0"/>
            <c:showLeaderLines val="0"/>
          </c:dLbls>
          <c:dPt>
            <c:idx val="0"/>
            <c:invertIfNegative val="0"/>
            <c:bubble3D val="0"/>
            <c:spPr>
              <a:solidFill>
                <a:srgbClr val="9BBBE4"/>
              </a:solidFill>
              <a:effectLst/>
            </c:spPr>
          </c:dPt>
          <c:dPt>
            <c:idx val="1"/>
            <c:invertIfNegative val="0"/>
            <c:bubble3D val="0"/>
            <c:spPr>
              <a:solidFill>
                <a:srgbClr val="9BBBE4"/>
              </a:solidFill>
              <a:effectLst/>
            </c:spPr>
          </c:dPt>
          <c:dPt>
            <c:idx val="2"/>
            <c:invertIfNegative val="0"/>
            <c:bubble3D val="0"/>
            <c:spPr>
              <a:solidFill>
                <a:srgbClr val="EDA100"/>
              </a:solidFill>
              <a:effectLst/>
            </c:spPr>
          </c:dPt>
          <c:dPt>
            <c:idx val="3"/>
            <c:invertIfNegative val="0"/>
            <c:bubble3D val="0"/>
            <c:spPr>
              <a:solidFill>
                <a:srgbClr val="9BBBE4"/>
              </a:solidFill>
              <a:effectLst/>
            </c:spPr>
          </c:dPt>
          <c:dPt>
            <c:idx val="4"/>
            <c:invertIfNegative val="0"/>
            <c:bubble3D val="0"/>
            <c:spPr>
              <a:solidFill>
                <a:srgbClr val="9BBBE4"/>
              </a:solidFill>
              <a:effectLst/>
            </c:spPr>
          </c:dPt>
          <c:dPt>
            <c:idx val="5"/>
            <c:invertIfNegative val="0"/>
            <c:bubble3D val="0"/>
            <c:spPr>
              <a:solidFill>
                <a:srgbClr val="9BBBE4"/>
              </a:solidFill>
              <a:effectLst/>
            </c:spPr>
          </c:dPt>
          <c:dPt>
            <c:idx val="6"/>
            <c:invertIfNegative val="0"/>
            <c:bubble3D val="0"/>
            <c:spPr>
              <a:solidFill>
                <a:srgbClr val="9BBBE4"/>
              </a:solidFill>
              <a:effectLst/>
            </c:spPr>
          </c:dPt>
          <c:cat>
            <c:multiLvlStrRef>
              <c:f>Sheet1!$A$2:$A$8</c:f>
              <c:multiLvlStrCache>
                <c:ptCount val="7"/>
                <c:lvl>
                  <c:pt idx="0">
                    <c:v>2</c:v>
                  </c:pt>
                  <c:pt idx="1">
                    <c:v>3</c:v>
                  </c:pt>
                  <c:pt idx="2">
                    <c:v>4</c:v>
                  </c:pt>
                  <c:pt idx="3">
                    <c:v>5</c:v>
                  </c:pt>
                  <c:pt idx="4">
                    <c:v>6</c:v>
                  </c:pt>
                  <c:pt idx="5">
                    <c:v>7</c:v>
                  </c:pt>
                  <c:pt idx="6">
                    <c:v>8</c:v>
                  </c:pt>
                </c:lvl>
              </c:multiLvlStrCache>
            </c:multiLvlStrRef>
          </c:cat>
          <c:val>
            <c:numRef>
              <c:f>Sheet1!$B$2:$B$8</c:f>
              <c:numCache>
                <c:formatCode>General</c:formatCode>
                <c:ptCount val="7"/>
                <c:pt idx="0">
                  <c:v>0.359</c:v>
                </c:pt>
                <c:pt idx="1">
                  <c:v>0.342</c:v>
                </c:pt>
                <c:pt idx="2">
                  <c:v>0.367</c:v>
                </c:pt>
                <c:pt idx="3">
                  <c:v>0.312</c:v>
                </c:pt>
                <c:pt idx="4">
                  <c:v>0.309</c:v>
                </c:pt>
                <c:pt idx="5">
                  <c:v>0.273</c:v>
                </c:pt>
                <c:pt idx="6">
                  <c:v>0.289</c:v>
                </c:pt>
              </c:numCache>
            </c:numRef>
          </c:val>
        </c:ser>
        <c:dLbls>
          <c:numFmt formatCode="0.00" sourceLinked="0"/>
          <c:txPr>
            <a:bodyPr/>
            <a:lstStyle/>
            <a:p>
              <a:pPr>
                <a:defRPr b="0" i="0" strike="noStrike" sz="1100" u="none">
                  <a:solidFill>
                    <a:srgbClr val="1621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F7180"/>
                    </a:solidFill>
                    <a:latin typeface="+mn-lt"/>
                  </a:defRPr>
                </a:pPr>
                <a:r>
                  <a:rPr sz="1100" b="0" i="0" u="none" strike="noStrike">
                    <a:solidFill>
                      <a:srgbClr val="5F7180"/>
                    </a:solidFill>
                    <a:latin typeface="+mn-lt"/>
                  </a:rPr>
                  <a:t>Number of clusters (k)</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7180"/>
                </a:solidFill>
                <a:latin typeface="+mn-lt"/>
              </a:defRPr>
            </a:pPr>
            <a:endParaRPr lang="en-US"/>
          </a:p>
        </c:txPr>
        <c:crossAx val="2094734552"/>
        <c:crosses val="autoZero"/>
        <c:auto val="1"/>
        <c:lblAlgn val="ctr"/>
        <c:noMultiLvlLbl val="1"/>
      </c:catAx>
      <c:valAx>
        <c:axId val="2094734552"/>
        <c:scaling>
          <c:orientation val="minMax"/>
          <c:max val="0.45"/>
          <c:min val="0"/>
        </c:scaling>
        <c:delete val="0"/>
        <c:axPos val="l"/>
        <c:majorGridlines>
          <c:spPr>
            <a:ln w="9525" cap="flat">
              <a:solidFill>
                <a:srgbClr val="EAF2F3"/>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71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4C5C"/>
                </a:solidFill>
                <a:latin typeface="+mn-lt"/>
              </a:defRPr>
            </a:pPr>
            <a:r>
              <a:rPr sz="1200" b="0" i="0" u="none" strike="noStrike">
                <a:solidFill>
                  <a:srgbClr val="0F4C5C"/>
                </a:solidFill>
                <a:latin typeface="+mn-lt"/>
              </a:rPr>
              <a:t>Average orders</a:t>
            </a:r>
          </a:p>
        </c:rich>
      </c:tx>
      <c:layout/>
      <c:overlay val="0"/>
    </c:title>
    <c:autoTitleDeleted val="0"/>
    <c:plotArea>
      <c:layout/>
      <c:barChart>
        <c:barDir val="col"/>
        <c:grouping val="clustered"/>
        <c:varyColors val="0"/>
        <c:ser>
          <c:idx val="0"/>
          <c:order val="0"/>
          <c:tx>
            <c:strRef>
              <c:f>Sheet1!$B$1</c:f>
              <c:strCache>
                <c:ptCount val="1"/>
                <c:pt idx="0">
                  <c:v>Average orders</c:v>
                </c:pt>
              </c:strCache>
            </c:strRef>
          </c:tx>
          <c:spPr>
            <a:solidFill>
              <a:srgbClr val="2A78D6"/>
            </a:solidFill>
            <a:effectLst/>
          </c:spPr>
          <c:invertIfNegative val="0"/>
          <c:dLbls>
            <c:numFmt formatCode="0" sourceLinked="0"/>
            <c:txPr>
              <a:bodyPr/>
              <a:lstStyle/>
              <a:p>
                <a:pPr>
                  <a:defRPr b="0" i="0" strike="noStrike" sz="1100" u="none">
                    <a:solidFill>
                      <a:srgbClr val="16212B"/>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EDA100"/>
              </a:solidFill>
              <a:effectLst/>
            </c:spPr>
          </c:dPt>
          <c:dPt>
            <c:idx val="2"/>
            <c:invertIfNegative val="0"/>
            <c:bubble3D val="0"/>
            <c:spPr>
              <a:solidFill>
                <a:srgbClr val="E87BA4"/>
              </a:solidFill>
              <a:effectLst/>
            </c:spPr>
          </c:dPt>
          <c:dPt>
            <c:idx val="3"/>
            <c:invertIfNegative val="0"/>
            <c:bubble3D val="0"/>
            <c:spPr>
              <a:solidFill>
                <a:srgbClr val="008300"/>
              </a:solidFill>
              <a:effectLst/>
            </c:spPr>
          </c:dPt>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160</c:v>
                </c:pt>
                <c:pt idx="1">
                  <c:v>52</c:v>
                </c:pt>
                <c:pt idx="2">
                  <c:v>48</c:v>
                </c:pt>
                <c:pt idx="3">
                  <c:v>45</c:v>
                </c:pt>
              </c:numCache>
            </c:numRef>
          </c:val>
        </c:ser>
        <c:dLbls>
          <c:numFmt formatCode="0" sourceLinked="0"/>
          <c:txPr>
            <a:bodyPr/>
            <a:lstStyle/>
            <a:p>
              <a:pPr>
                <a:defRPr b="0" i="0" strike="noStrike" sz="1100" u="none">
                  <a:solidFill>
                    <a:srgbClr val="1621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7180"/>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71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4C5C"/>
                </a:solidFill>
                <a:latin typeface="+mn-lt"/>
              </a:defRPr>
            </a:pPr>
            <a:r>
              <a:rPr sz="1200" b="0" i="0" u="none" strike="noStrike">
                <a:solidFill>
                  <a:srgbClr val="0F4C5C"/>
                </a:solidFill>
                <a:latin typeface="+mn-lt"/>
              </a:rPr>
              <a:t>Season index</a:t>
            </a:r>
          </a:p>
        </c:rich>
      </c:tx>
      <c:layout/>
      <c:overlay val="0"/>
    </c:title>
    <c:autoTitleDeleted val="0"/>
    <c:plotArea>
      <c:layout/>
      <c:barChart>
        <c:barDir val="col"/>
        <c:grouping val="clustered"/>
        <c:varyColors val="0"/>
        <c:ser>
          <c:idx val="0"/>
          <c:order val="0"/>
          <c:tx>
            <c:strRef>
              <c:f>Sheet1!$B$1</c:f>
              <c:strCache>
                <c:ptCount val="1"/>
                <c:pt idx="0">
                  <c:v>Season index</c:v>
                </c:pt>
              </c:strCache>
            </c:strRef>
          </c:tx>
          <c:spPr>
            <a:solidFill>
              <a:srgbClr val="2A78D6"/>
            </a:solidFill>
            <a:effectLst/>
          </c:spPr>
          <c:invertIfNegative val="0"/>
          <c:dLbls>
            <c:numFmt formatCode="0.0" sourceLinked="0"/>
            <c:txPr>
              <a:bodyPr/>
              <a:lstStyle/>
              <a:p>
                <a:pPr>
                  <a:defRPr b="0" i="0" strike="noStrike" sz="1100" u="none">
                    <a:solidFill>
                      <a:srgbClr val="16212B"/>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EDA100"/>
              </a:solidFill>
              <a:effectLst/>
            </c:spPr>
          </c:dPt>
          <c:dPt>
            <c:idx val="2"/>
            <c:invertIfNegative val="0"/>
            <c:bubble3D val="0"/>
            <c:spPr>
              <a:solidFill>
                <a:srgbClr val="E87BA4"/>
              </a:solidFill>
              <a:effectLst/>
            </c:spPr>
          </c:dPt>
          <c:dPt>
            <c:idx val="3"/>
            <c:invertIfNegative val="0"/>
            <c:bubble3D val="0"/>
            <c:spPr>
              <a:solidFill>
                <a:srgbClr val="008300"/>
              </a:solidFill>
              <a:effectLst/>
            </c:spPr>
          </c:dPt>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2.6</c:v>
                </c:pt>
                <c:pt idx="1">
                  <c:v>3.5</c:v>
                </c:pt>
                <c:pt idx="2">
                  <c:v>7.4</c:v>
                </c:pt>
                <c:pt idx="3">
                  <c:v>3.2</c:v>
                </c:pt>
              </c:numCache>
            </c:numRef>
          </c:val>
        </c:ser>
        <c:dLbls>
          <c:numFmt formatCode="0.0" sourceLinked="0"/>
          <c:txPr>
            <a:bodyPr/>
            <a:lstStyle/>
            <a:p>
              <a:pPr>
                <a:defRPr b="0" i="0" strike="noStrike" sz="1100" u="none">
                  <a:solidFill>
                    <a:srgbClr val="1621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7180"/>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71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4C5C"/>
                </a:solidFill>
                <a:latin typeface="+mn-lt"/>
              </a:defRPr>
            </a:pPr>
            <a:r>
              <a:rPr sz="1200" b="0" i="0" u="none" strike="noStrike">
                <a:solidFill>
                  <a:srgbClr val="0F4C5C"/>
                </a:solidFill>
                <a:latin typeface="+mn-lt"/>
              </a:rPr>
              <a:t>Average volume (L)</a:t>
            </a:r>
          </a:p>
        </c:rich>
      </c:tx>
      <c:layout/>
      <c:overlay val="0"/>
    </c:title>
    <c:autoTitleDeleted val="0"/>
    <c:plotArea>
      <c:layout/>
      <c:barChart>
        <c:barDir val="col"/>
        <c:grouping val="clustered"/>
        <c:varyColors val="0"/>
        <c:ser>
          <c:idx val="0"/>
          <c:order val="0"/>
          <c:tx>
            <c:strRef>
              <c:f>Sheet1!$B$1</c:f>
              <c:strCache>
                <c:ptCount val="1"/>
                <c:pt idx="0">
                  <c:v>Average volume (L)</c:v>
                </c:pt>
              </c:strCache>
            </c:strRef>
          </c:tx>
          <c:spPr>
            <a:solidFill>
              <a:srgbClr val="2A78D6"/>
            </a:solidFill>
            <a:effectLst/>
          </c:spPr>
          <c:invertIfNegative val="0"/>
          <c:dLbls>
            <c:numFmt formatCode="0.0" sourceLinked="0"/>
            <c:txPr>
              <a:bodyPr/>
              <a:lstStyle/>
              <a:p>
                <a:pPr>
                  <a:defRPr b="0" i="0" strike="noStrike" sz="1100" u="none">
                    <a:solidFill>
                      <a:srgbClr val="16212B"/>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EDA100"/>
              </a:solidFill>
              <a:effectLst/>
            </c:spPr>
          </c:dPt>
          <c:dPt>
            <c:idx val="2"/>
            <c:invertIfNegative val="0"/>
            <c:bubble3D val="0"/>
            <c:spPr>
              <a:solidFill>
                <a:srgbClr val="E87BA4"/>
              </a:solidFill>
              <a:effectLst/>
            </c:spPr>
          </c:dPt>
          <c:dPt>
            <c:idx val="3"/>
            <c:invertIfNegative val="0"/>
            <c:bubble3D val="0"/>
            <c:spPr>
              <a:solidFill>
                <a:srgbClr val="008300"/>
              </a:solidFill>
              <a:effectLst/>
            </c:spPr>
          </c:dPt>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9.2</c:v>
                </c:pt>
                <c:pt idx="1">
                  <c:v>47.1</c:v>
                </c:pt>
                <c:pt idx="2">
                  <c:v>12.9</c:v>
                </c:pt>
                <c:pt idx="3">
                  <c:v>5.1</c:v>
                </c:pt>
              </c:numCache>
            </c:numRef>
          </c:val>
        </c:ser>
        <c:dLbls>
          <c:numFmt formatCode="0.0" sourceLinked="0"/>
          <c:txPr>
            <a:bodyPr/>
            <a:lstStyle/>
            <a:p>
              <a:pPr>
                <a:defRPr b="0" i="0" strike="noStrike" sz="1100" u="none">
                  <a:solidFill>
                    <a:srgbClr val="1621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7180"/>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71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4C5C"/>
                </a:solidFill>
                <a:latin typeface="+mn-lt"/>
              </a:defRPr>
            </a:pPr>
            <a:r>
              <a:rPr sz="1200" b="0" i="0" u="none" strike="noStrike">
                <a:solidFill>
                  <a:srgbClr val="0F4C5C"/>
                </a:solidFill>
                <a:latin typeface="+mn-lt"/>
              </a:rPr>
              <a:t>Average weight (kg)</a:t>
            </a:r>
          </a:p>
        </c:rich>
      </c:tx>
      <c:layout/>
      <c:overlay val="0"/>
    </c:title>
    <c:autoTitleDeleted val="0"/>
    <c:plotArea>
      <c:layout/>
      <c:barChart>
        <c:barDir val="col"/>
        <c:grouping val="clustered"/>
        <c:varyColors val="0"/>
        <c:ser>
          <c:idx val="0"/>
          <c:order val="0"/>
          <c:tx>
            <c:strRef>
              <c:f>Sheet1!$B$1</c:f>
              <c:strCache>
                <c:ptCount val="1"/>
                <c:pt idx="0">
                  <c:v>Average weight (kg)</c:v>
                </c:pt>
              </c:strCache>
            </c:strRef>
          </c:tx>
          <c:spPr>
            <a:solidFill>
              <a:srgbClr val="2A78D6"/>
            </a:solidFill>
            <a:effectLst/>
          </c:spPr>
          <c:invertIfNegative val="0"/>
          <c:dLbls>
            <c:numFmt formatCode="0.0" sourceLinked="0"/>
            <c:txPr>
              <a:bodyPr/>
              <a:lstStyle/>
              <a:p>
                <a:pPr>
                  <a:defRPr b="0" i="0" strike="noStrike" sz="1100" u="none">
                    <a:solidFill>
                      <a:srgbClr val="16212B"/>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EDA100"/>
              </a:solidFill>
              <a:effectLst/>
            </c:spPr>
          </c:dPt>
          <c:dPt>
            <c:idx val="2"/>
            <c:invertIfNegative val="0"/>
            <c:bubble3D val="0"/>
            <c:spPr>
              <a:solidFill>
                <a:srgbClr val="E87BA4"/>
              </a:solidFill>
              <a:effectLst/>
            </c:spPr>
          </c:dPt>
          <c:dPt>
            <c:idx val="3"/>
            <c:invertIfNegative val="0"/>
            <c:bubble3D val="0"/>
            <c:spPr>
              <a:solidFill>
                <a:srgbClr val="008300"/>
              </a:solidFill>
              <a:effectLst/>
            </c:spPr>
          </c:dPt>
          <c:cat>
            <c:multiLvlStrRef>
              <c:f>Sheet1!$A$2:$A$5</c:f>
              <c:multiLvlStrCache>
                <c:ptCount val="4"/>
                <c:lvl>
                  <c:pt idx="0">
                    <c:v>A</c:v>
                  </c:pt>
                  <c:pt idx="1">
                    <c:v>B</c:v>
                  </c:pt>
                  <c:pt idx="2">
                    <c:v>C</c:v>
                  </c:pt>
                  <c:pt idx="3">
                    <c:v>D</c:v>
                  </c:pt>
                </c:lvl>
              </c:multiLvlStrCache>
            </c:multiLvlStrRef>
          </c:cat>
          <c:val>
            <c:numRef>
              <c:f>Sheet1!$B$2:$B$5</c:f>
              <c:numCache>
                <c:formatCode>General</c:formatCode>
                <c:ptCount val="4"/>
                <c:pt idx="0">
                  <c:v>1.1</c:v>
                </c:pt>
                <c:pt idx="1">
                  <c:v>7.6</c:v>
                </c:pt>
                <c:pt idx="2">
                  <c:v>1.1</c:v>
                </c:pt>
                <c:pt idx="3">
                  <c:v>0.6</c:v>
                </c:pt>
              </c:numCache>
            </c:numRef>
          </c:val>
        </c:ser>
        <c:dLbls>
          <c:numFmt formatCode="0.0" sourceLinked="0"/>
          <c:txPr>
            <a:bodyPr/>
            <a:lstStyle/>
            <a:p>
              <a:pPr>
                <a:defRPr b="0" i="0" strike="noStrike" sz="1100" u="none">
                  <a:solidFill>
                    <a:srgbClr val="1621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7180"/>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71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4C5C"/>
                </a:solidFill>
                <a:latin typeface="+mn-lt"/>
              </a:defRPr>
            </a:pPr>
            <a:r>
              <a:rPr sz="1200" b="0" i="0" u="none" strike="noStrike">
                <a:solidFill>
                  <a:srgbClr val="0F4C5C"/>
                </a:solidFill>
                <a:latin typeface="+mn-lt"/>
              </a:rPr>
              <a:t>Orders in each month, two real SKUs</a:t>
            </a:r>
          </a:p>
        </c:rich>
      </c:tx>
      <c:layout/>
      <c:overlay val="0"/>
    </c:title>
    <c:autoTitleDeleted val="0"/>
    <c:plotArea>
      <c:layout/>
      <c:lineChart>
        <c:varyColors val="0"/>
        <c:ser>
          <c:idx val="0"/>
          <c:order val="0"/>
          <c:tx>
            <c:strRef>
              <c:f>Sheet1!$B$1</c:f>
              <c:strCache>
                <c:ptCount val="1"/>
                <c:pt idx="0">
                  <c:v>Seasonal SKU (114 orders)</c:v>
                </c:pt>
              </c:strCache>
            </c:strRef>
          </c:tx>
          <c:spPr>
            <a:solidFill>
              <a:srgbClr val="E87BA4"/>
            </a:solidFill>
            <a:ln w="38100" cap="flat">
              <a:solidFill>
                <a:srgbClr val="E87BA4"/>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E87BA4"/>
              </a:solidFill>
              <a:ln w="9525" cap="flat">
                <a:solidFill>
                  <a:srgbClr val="E87BA4"/>
                </a:solidFill>
                <a:prstDash val="solid"/>
                <a:round/>
              </a:ln>
              <a:effectLst/>
            </c:spPr>
          </c:marker>
          <c:cat>
            <c:multiLvlStrRef>
              <c:f>Sheet1!$A$2:$A$16</c:f>
              <c:multiLvlStrCache>
                <c:ptCount val="15"/>
                <c:lvl>
                  <c:pt idx="0">
                    <c:v>2017-06</c:v>
                  </c:pt>
                  <c:pt idx="1">
                    <c:v>2017-07</c:v>
                  </c:pt>
                  <c:pt idx="2">
                    <c:v>2017-08</c:v>
                  </c:pt>
                  <c:pt idx="3">
                    <c:v>2017-09</c:v>
                  </c:pt>
                  <c:pt idx="4">
                    <c:v>2017-10</c:v>
                  </c:pt>
                  <c:pt idx="5">
                    <c:v>2017-11</c:v>
                  </c:pt>
                  <c:pt idx="6">
                    <c:v>2017-12</c:v>
                  </c:pt>
                  <c:pt idx="7">
                    <c:v>2018-01</c:v>
                  </c:pt>
                  <c:pt idx="8">
                    <c:v>2018-02</c:v>
                  </c:pt>
                  <c:pt idx="9">
                    <c:v>2018-03</c:v>
                  </c:pt>
                  <c:pt idx="10">
                    <c:v>2018-04</c:v>
                  </c:pt>
                  <c:pt idx="11">
                    <c:v>2018-05</c:v>
                  </c:pt>
                  <c:pt idx="12">
                    <c:v>2018-06</c:v>
                  </c:pt>
                  <c:pt idx="13">
                    <c:v>2018-07</c:v>
                  </c:pt>
                  <c:pt idx="14">
                    <c:v>2018-08</c:v>
                  </c:pt>
                </c:lvl>
              </c:multiLvlStrCache>
            </c:multiLvlStrRef>
          </c:cat>
          <c:val>
            <c:numRef>
              <c:f>Sheet1!$B$2:$B$16</c:f>
              <c:numCache>
                <c:formatCode>General</c:formatCode>
                <c:ptCount val="15"/>
                <c:pt idx="0">
                  <c:v>0</c:v>
                </c:pt>
                <c:pt idx="1">
                  <c:v>0</c:v>
                </c:pt>
                <c:pt idx="2">
                  <c:v>0</c:v>
                </c:pt>
                <c:pt idx="3">
                  <c:v>1</c:v>
                </c:pt>
                <c:pt idx="4">
                  <c:v>0</c:v>
                </c:pt>
                <c:pt idx="5">
                  <c:v>0</c:v>
                </c:pt>
                <c:pt idx="6">
                  <c:v>0</c:v>
                </c:pt>
                <c:pt idx="7">
                  <c:v>76</c:v>
                </c:pt>
                <c:pt idx="8">
                  <c:v>0</c:v>
                </c:pt>
                <c:pt idx="9">
                  <c:v>26</c:v>
                </c:pt>
                <c:pt idx="10">
                  <c:v>4</c:v>
                </c:pt>
                <c:pt idx="11">
                  <c:v>4</c:v>
                </c:pt>
                <c:pt idx="12">
                  <c:v>2</c:v>
                </c:pt>
                <c:pt idx="13">
                  <c:v>0</c:v>
                </c:pt>
                <c:pt idx="14">
                  <c:v>1</c:v>
                </c:pt>
              </c:numCache>
            </c:numRef>
          </c:val>
          <c:smooth val="0"/>
        </c:ser>
        <c:ser>
          <c:idx val="1"/>
          <c:order val="1"/>
          <c:tx>
            <c:strRef>
              <c:f>Sheet1!$C$1</c:f>
              <c:strCache>
                <c:ptCount val="1"/>
                <c:pt idx="0">
                  <c:v>Fast mover (527 orders)</c:v>
                </c:pt>
              </c:strCache>
            </c:strRef>
          </c:tx>
          <c:spPr>
            <a:solidFill>
              <a:srgbClr val="2A78D6"/>
            </a:solidFill>
            <a:ln w="3810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7"/>
            <c:spPr>
              <a:solidFill>
                <a:srgbClr val="2A78D6"/>
              </a:solidFill>
              <a:ln w="9525" cap="flat">
                <a:solidFill>
                  <a:srgbClr val="2A78D6"/>
                </a:solidFill>
                <a:prstDash val="solid"/>
                <a:round/>
              </a:ln>
              <a:effectLst/>
            </c:spPr>
          </c:marker>
          <c:cat>
            <c:multiLvlStrRef>
              <c:f>Sheet1!$A$2:$A$16</c:f>
              <c:multiLvlStrCache>
                <c:ptCount val="15"/>
                <c:lvl>
                  <c:pt idx="0">
                    <c:v>2017-06</c:v>
                  </c:pt>
                  <c:pt idx="1">
                    <c:v>2017-07</c:v>
                  </c:pt>
                  <c:pt idx="2">
                    <c:v>2017-08</c:v>
                  </c:pt>
                  <c:pt idx="3">
                    <c:v>2017-09</c:v>
                  </c:pt>
                  <c:pt idx="4">
                    <c:v>2017-10</c:v>
                  </c:pt>
                  <c:pt idx="5">
                    <c:v>2017-11</c:v>
                  </c:pt>
                  <c:pt idx="6">
                    <c:v>2017-12</c:v>
                  </c:pt>
                  <c:pt idx="7">
                    <c:v>2018-01</c:v>
                  </c:pt>
                  <c:pt idx="8">
                    <c:v>2018-02</c:v>
                  </c:pt>
                  <c:pt idx="9">
                    <c:v>2018-03</c:v>
                  </c:pt>
                  <c:pt idx="10">
                    <c:v>2018-04</c:v>
                  </c:pt>
                  <c:pt idx="11">
                    <c:v>2018-05</c:v>
                  </c:pt>
                  <c:pt idx="12">
                    <c:v>2018-06</c:v>
                  </c:pt>
                  <c:pt idx="13">
                    <c:v>2018-07</c:v>
                  </c:pt>
                  <c:pt idx="14">
                    <c:v>2018-08</c:v>
                  </c:pt>
                </c:lvl>
              </c:multiLvlStrCache>
            </c:multiLvlStrRef>
          </c:cat>
          <c:val>
            <c:numRef>
              <c:f>Sheet1!$C$2:$C$16</c:f>
              <c:numCache>
                <c:formatCode>General</c:formatCode>
                <c:ptCount val="15"/>
                <c:pt idx="0">
                  <c:v>0</c:v>
                </c:pt>
                <c:pt idx="1">
                  <c:v>5</c:v>
                </c:pt>
                <c:pt idx="2">
                  <c:v>13</c:v>
                </c:pt>
                <c:pt idx="3">
                  <c:v>0</c:v>
                </c:pt>
                <c:pt idx="4">
                  <c:v>5</c:v>
                </c:pt>
                <c:pt idx="5">
                  <c:v>44</c:v>
                </c:pt>
                <c:pt idx="6">
                  <c:v>47</c:v>
                </c:pt>
                <c:pt idx="7">
                  <c:v>122</c:v>
                </c:pt>
                <c:pt idx="8">
                  <c:v>44</c:v>
                </c:pt>
                <c:pt idx="9">
                  <c:v>65</c:v>
                </c:pt>
                <c:pt idx="10">
                  <c:v>83</c:v>
                </c:pt>
                <c:pt idx="11">
                  <c:v>92</c:v>
                </c:pt>
                <c:pt idx="12">
                  <c:v>2</c:v>
                </c:pt>
                <c:pt idx="13">
                  <c:v>2</c:v>
                </c:pt>
                <c:pt idx="14">
                  <c:v>3</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6200000"/>
          <a:lstStyle/>
          <a:p>
            <a:pPr>
              <a:defRPr sz="900" b="0" i="0" u="none" strike="noStrike">
                <a:solidFill>
                  <a:srgbClr val="5F7180"/>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AF2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71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621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4C5C"/>
                </a:solidFill>
                <a:latin typeface="+mn-lt"/>
              </a:defRPr>
            </a:pPr>
            <a:r>
              <a:rPr sz="1200" b="0" i="0" u="none" strike="noStrike">
                <a:solidFill>
                  <a:srgbClr val="0F4C5C"/>
                </a:solidFill>
                <a:latin typeface="+mn-lt"/>
              </a:rPr>
              <a:t>Walk per pick in the model (metres)</a:t>
            </a:r>
          </a:p>
        </c:rich>
      </c:tx>
      <c:layout/>
      <c:overlay val="0"/>
    </c:title>
    <c:autoTitleDeleted val="0"/>
    <c:plotArea>
      <c:layout/>
      <c:barChart>
        <c:barDir val="bar"/>
        <c:grouping val="clustered"/>
        <c:varyColors val="0"/>
        <c:ser>
          <c:idx val="0"/>
          <c:order val="0"/>
          <c:tx>
            <c:strRef>
              <c:f>Sheet1!$B$1</c:f>
              <c:strCache>
                <c:ptCount val="1"/>
                <c:pt idx="0">
                  <c:v>Walk per pick (m)</c:v>
                </c:pt>
              </c:strCache>
            </c:strRef>
          </c:tx>
          <c:spPr>
            <a:solidFill>
              <a:srgbClr val="008300"/>
            </a:solidFill>
            <a:effectLst/>
          </c:spPr>
          <c:invertIfNegative val="0"/>
          <c:dLbls>
            <c:numFmt formatCode="0.0&quot; m&quot;" sourceLinked="0"/>
            <c:txPr>
              <a:bodyPr/>
              <a:lstStyle/>
              <a:p>
                <a:pPr>
                  <a:defRPr b="0" i="0" strike="noStrike" sz="1200" u="none">
                    <a:solidFill>
                      <a:srgbClr val="16212B"/>
                    </a:solidFill>
                    <a:latin typeface="+mn-lt"/>
                  </a:defRPr>
                </a:pPr>
              </a:p>
            </c:txPr>
            <c:showLegendKey val="0"/>
            <c:showVal val="1"/>
            <c:showCatName val="0"/>
            <c:showSerName val="0"/>
            <c:showPercent val="0"/>
            <c:showBubbleSize val="0"/>
            <c:showLeaderLines val="0"/>
          </c:dLbls>
          <c:dPt>
            <c:idx val="0"/>
            <c:invertIfNegative val="0"/>
            <c:bubble3D val="0"/>
            <c:spPr>
              <a:solidFill>
                <a:srgbClr val="008300"/>
              </a:solidFill>
              <a:effectLst/>
            </c:spPr>
          </c:dPt>
          <c:dPt>
            <c:idx val="1"/>
            <c:invertIfNegative val="0"/>
            <c:bubble3D val="0"/>
            <c:spPr>
              <a:solidFill>
                <a:srgbClr val="9BBBE4"/>
              </a:solidFill>
              <a:effectLst/>
            </c:spPr>
          </c:dPt>
          <c:cat>
            <c:multiLvlStrRef>
              <c:f>Sheet1!$A$2:$A$3</c:f>
              <c:multiLvlStrCache>
                <c:ptCount val="2"/>
                <c:lvl>
                  <c:pt idx="0">
                    <c:v>K-Means zones</c:v>
                  </c:pt>
                  <c:pt idx="1">
                    <c:v>No grouping</c:v>
                  </c:pt>
                </c:lvl>
              </c:multiLvlStrCache>
            </c:multiLvlStrRef>
          </c:cat>
          <c:val>
            <c:numRef>
              <c:f>Sheet1!$B$2:$B$3</c:f>
              <c:numCache>
                <c:formatCode>General</c:formatCode>
                <c:ptCount val="2"/>
                <c:pt idx="0">
                  <c:v>46.5</c:v>
                </c:pt>
                <c:pt idx="1">
                  <c:v>63.8</c:v>
                </c:pt>
              </c:numCache>
            </c:numRef>
          </c:val>
        </c:ser>
        <c:dLbls>
          <c:numFmt formatCode="0.0&quot; m&quot;" sourceLinked="0"/>
          <c:txPr>
            <a:bodyPr/>
            <a:lstStyle/>
            <a:p>
              <a:pPr>
                <a:defRPr b="0" i="0" strike="noStrike" sz="1200" u="none">
                  <a:solidFill>
                    <a:srgbClr val="1621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F7180"/>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b"/>
        <c:majorGridlines>
          <c:spPr>
            <a:ln w="9525" cap="flat">
              <a:solidFill>
                <a:srgbClr val="EAF2F3"/>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F71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topic. We group warehouse products using K-Means clustering, the solution we picked from Unit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problem in simple words. A warehouse has thousands of products. If similar products are grouped, managers can decide where to keep each group, and workers walk less. We group using four things shown in the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term in one line before going further. SKU is one product type. Pick frequency and seasonal demand describe how a product moves. Clustering, centroid and unsupervised learning are the machine learning words we use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3 gives four families of solutions. K-Means and hierarchical clustering make groups. Mixtures of Gaussians make soft groups with probabilities. PCA and factor analysis only reduce the number of features. We compared all of them for our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solution we selected. Say the definition slowly. Then give the four reasons. The strongest reason: our problem says partition, and K-Means is a partitioning method where every item gets exactly one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reviewer will ask why we did not pick the others. Mixtures of Gaussians give probabilities, but a product needs one fixed zone. Hierarchical clustering compares every pair, so it is slow for a big warehouse. PCA and factor analysis do not make groups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steps from Unit 3. Start with k random centres. Measure the distance of every SKU to every centre. Assign each SKU to the nearest centre. Move each centre to the mean of its SKUs. Repeat until no SKU changes its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real data: the public e-commerce dataset from Olist, with about ninety-nine thousand orders from 2016 to 2018. We kept the 383 products that were ordered at least 30 times. Each SKU becomes a row of four numbers: orders, season index, volume and weight. Weight stands for handling needs, because the dataset has no handling field. Orders, volume and weight are very uneven, so we take their log, and then bring every column to the same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graph shows the real orders in each month. The dataset has 99,441 orders for 32,951 products. Orders grow through 2017, and November 2017, the Black Friday month, is the highest. From all these products we kept the 383 that were ordered at least 30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K-Means needs k before it starts. We used the elbow method from Unit 3 on the real data. We ran K-Means for k from 1 to 8 and plotted the within-cluster variance. The error falls by 33, 25 and 22 percent up to k equal to 4, and then only by 15 percent. So the bend is at 4, and we use 4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elbow gave k equal to 4. We checked it a second way with the silhouette score. It tells how well each SKU sits inside its own group, and higher is better. The score is highest at k equal to 4, at 0.37. So both checks agree, and we use 4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clusters K-Means found in the real data. Fast movers: 76 SKUs, ordered about 160 times each, so they go closest to packing. Bulky and heavy: 84 SKUs, about 47 litres and 7.6 kilos, kept at ground level. Seasonal: 25 SKUs whose orders bunch into one month, kept in a flexible zone. Regular small items: 198 SKUs, on the back racks.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dot is one real SKU, and its colour is its cluster. A SKU has four numbers, so we cannot draw it directly. PCA, which is also in Unit 3, squeezes the four numbers into two, and keeps 76 percent of the variation. Dots of the same colour sit together, which means similar products landed in the same cluster. The letters mark the cluster centres.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graphs show the average of each number for each cluster. Cluster A is ordered the most, about 160 times. Cluster B is the biggest and the heaviest. Cluster C has the highest season index. Cluster D is small and steady. This is how we gave the clusters their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real products, month by month. The pink line is the most ordered SKU of the seasonal cluster. Of its 114 orders, 76 came in one month, January 2018. The blue line is the most ordered fast mover. It has 527 orders, spread over many months. That is the difference between the two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back to the problem statement. Fast movers sit closest to packing. In our simple one-aisle model the walk per pick falls from about 64 metres to about 47 metres, which is 27 percent less. Say clearly that this is a model, not a measurement. Bulky and heavy products get their own ground-level zone, and seasonal products are one group that is easy to move forward in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strip on top is one aisle of 128 metres, starting at the packing desk. Each cluster takes as much of the aisle as it has products, and the most ordered cluster, A, comes first. The bars below show the walk for each pick in this simple model. With no grouping it is about 64 metres. With the K-Means zones it is about 47 metres, which is 27 percent less. This is a model, not a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points: the problem, the chosen solution, and the test on real data. Point to the live demo and the Colab code,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548640" y="365760"/>
            <a:ext cx="2514600" cy="1024128"/>
          </a:xfrm>
          <a:prstGeom prst="roundRect">
            <a:avLst>
              <a:gd name="adj" fmla="val 7143"/>
            </a:avLst>
          </a:prstGeom>
          <a:solidFill>
            <a:schemeClr val="bg1"/>
          </a:solidFill>
          <a:ln>
            <a:solidFill>
              <a:schemeClr val="bg1"/>
            </a:solidFill>
          </a:ln>
        </p:spPr>
        <p:txBody>
          <a:bodyPr wrap="square" rtlCol="0" anchor="ctr"/>
          <a:lstStyle/>
          <a:p>
            <a:pPr indent="0" marL="0">
              <a:buNone/>
            </a:pPr>
            <a:endParaRPr lang="en-US" dirty="0"/>
          </a:p>
        </p:txBody>
      </p:sp>
      <p:pic>
        <p:nvPicPr>
          <p:cNvPr id="3" name="Image 0" descr="SRM Institute of Science and Technology logo">    </p:cNvPr>
          <p:cNvPicPr>
            <a:picLocks noChangeAspect="1"/>
          </p:cNvPicPr>
          <p:nvPr/>
        </p:nvPicPr>
        <p:blipFill>
          <a:blip r:embed="rId1"/>
          <a:stretch>
            <a:fillRect/>
          </a:stretch>
        </p:blipFill>
        <p:spPr>
          <a:xfrm>
            <a:off x="685800" y="434340"/>
            <a:ext cx="2240280" cy="886968"/>
          </a:xfrm>
          <a:prstGeom prst="rect">
            <a:avLst/>
          </a:prstGeom>
        </p:spPr>
      </p:pic>
      <p:sp>
        <p:nvSpPr>
          <p:cNvPr id="4" name="Text 1"/>
          <p:cNvSpPr/>
          <p:nvPr>
            <p:ph idx="102" type="title" hasCustomPrompt="1"/>
          </p:nvPr>
        </p:nvSpPr>
        <p:spPr>
          <a:xfrm>
            <a:off x="548640" y="1645920"/>
            <a:ext cx="5120640" cy="16002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5" name="Text 1"/>
          <p:cNvSpPr/>
          <p:nvPr>
            <p:ph idx="103" type="body" hasCustomPrompt="1"/>
          </p:nvPr>
        </p:nvSpPr>
        <p:spPr>
          <a:xfrm>
            <a:off x="548640" y="3291840"/>
            <a:ext cx="5120640" cy="36576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315200" cy="68580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7973568" y="521208"/>
            <a:ext cx="182880" cy="182880"/>
          </a:xfrm>
          <a:prstGeom prst="ellipse">
            <a:avLst/>
          </a:prstGeom>
          <a:solidFill>
            <a:schemeClr val="accent2"/>
          </a:solidFill>
          <a:ln>
            <a:solidFill>
              <a:schemeClr val="accent2"/>
            </a:solidFill>
          </a:ln>
        </p:spPr>
        <p:txBody>
          <a:bodyPr wrap="square" rtlCol="0" anchor="ctr"/>
          <a:lstStyle/>
          <a:p>
            <a:pPr indent="0" marL="0">
              <a:buNone/>
            </a:pPr>
            <a:endParaRPr lang="en-US" dirty="0"/>
          </a:p>
        </p:txBody>
      </p:sp>
      <p:sp>
        <p:nvSpPr>
          <p:cNvPr id="4" name="Text 1"/>
          <p:cNvSpPr/>
          <p:nvPr/>
        </p:nvSpPr>
        <p:spPr>
          <a:xfrm>
            <a:off x="8229600" y="521208"/>
            <a:ext cx="182880" cy="182880"/>
          </a:xfrm>
          <a:prstGeom prst="ellipse">
            <a:avLst/>
          </a:prstGeom>
          <a:solidFill>
            <a:schemeClr val="accent3"/>
          </a:solidFill>
          <a:ln>
            <a:solidFill>
              <a:schemeClr val="accent3"/>
            </a:solidFill>
          </a:ln>
        </p:spPr>
        <p:txBody>
          <a:bodyPr wrap="square" rtlCol="0" anchor="ctr"/>
          <a:lstStyle/>
          <a:p>
            <a:pPr indent="0" marL="0">
              <a:buNone/>
            </a:pPr>
            <a:endParaRPr lang="en-US" dirty="0"/>
          </a:p>
        </p:txBody>
      </p:sp>
      <p:sp>
        <p:nvSpPr>
          <p:cNvPr id="5" name="Text 2"/>
          <p:cNvSpPr/>
          <p:nvPr/>
        </p:nvSpPr>
        <p:spPr>
          <a:xfrm>
            <a:off x="8485632" y="521208"/>
            <a:ext cx="182880" cy="182880"/>
          </a:xfrm>
          <a:prstGeom prst="ellipse">
            <a:avLst/>
          </a:prstGeom>
          <a:solidFill>
            <a:schemeClr val="accent4"/>
          </a:solidFill>
          <a:ln>
            <a:solidFill>
              <a:schemeClr val="accent4"/>
            </a:solidFill>
          </a:ln>
        </p:spPr>
        <p:txBody>
          <a:bodyPr wrap="square" rtlCol="0" anchor="ctr"/>
          <a:lstStyle/>
          <a:p>
            <a:pPr indent="0" marL="0">
              <a:buNone/>
            </a:pPr>
            <a:endParaRPr lang="en-US" dirty="0"/>
          </a:p>
        </p:txBody>
      </p:sp>
      <p:sp>
        <p:nvSpPr>
          <p:cNvPr id="6" name="Text 3"/>
          <p:cNvSpPr/>
          <p:nvPr/>
        </p:nvSpPr>
        <p:spPr>
          <a:xfrm>
            <a:off x="457200" y="4727448"/>
            <a:ext cx="5486400" cy="274320"/>
          </a:xfrm>
          <a:prstGeom prst="rect">
            <a:avLst/>
          </a:prstGeom>
          <a:noFill/>
          <a:ln/>
        </p:spPr>
        <p:txBody>
          <a:bodyPr wrap="square" lIns="0" tIns="0" rIns="0" bIns="0" rtlCol="0" anchor="ctr"/>
          <a:lstStyle/>
          <a:p>
            <a:pPr algn="l" indent="0" marL="0">
              <a:buNone/>
            </a:pPr>
            <a:r>
              <a:rPr lang="en-US" sz="1000" dirty="0">
                <a:solidFill>
                  <a:schemeClr val="accent5"/>
                </a:solidFill>
              </a:rPr>
              <a:t>Warehouse SKU clustering  |  Project Review 3</a:t>
            </a:r>
            <a:endParaRPr lang="en-US" sz="1000" dirty="0"/>
          </a:p>
        </p:txBody>
      </p:sp>
      <p:sp>
        <p:nvSpPr>
          <p:cNvPr id="25" name="Slide Number Placeholder 0"/>
          <p:cNvSpPr>
            <a:spLocks noGrp="1"/>
          </p:cNvSpPr>
          <p:nvPr>
            <p:ph type="sldNum" sz="quarter" idx="4294967295"/>
          </p:nvPr>
        </p:nvSpPr>
        <p:spPr>
          <a:xfrm>
            <a:off x="8229600" y="47274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5120640"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8229600" y="47274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274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olist/work-at-olist-data" TargetMode="Externa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chart" Target="/ppt/charts/chart6.xml"/><Relationship Id="rId4" Type="http://schemas.openxmlformats.org/officeDocument/2006/relationships/chart" Target="/ppt/charts/chart7.xml"/><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548640" y="1645920"/>
            <a:ext cx="5120640" cy="1600200"/>
          </a:xfrm>
          <a:prstGeom prst="rect">
            <a:avLst/>
          </a:prstGeom>
          <a:noFill/>
          <a:ln/>
        </p:spPr>
        <p:txBody>
          <a:bodyPr wrap="square" lIns="0" tIns="0" rIns="0" bIns="0" rtlCol="0" anchor="t"/>
          <a:lstStyle/>
          <a:p>
            <a:pPr algn="l" indent="0" marL="0">
              <a:buNone/>
            </a:pPr>
            <a:r>
              <a:rPr lang="en-US" sz="3400" b="1" dirty="0">
                <a:solidFill>
                  <a:schemeClr val="bg1"/>
                </a:solidFill>
              </a:rPr>
              <a:t>Grouping Warehouse Products with K-Means Clustering</a:t>
            </a:r>
            <a:endParaRPr lang="en-US" sz="3400" dirty="0"/>
          </a:p>
        </p:txBody>
      </p:sp>
      <p:sp>
        <p:nvSpPr>
          <p:cNvPr id="3" name="Text 1"/>
          <p:cNvSpPr/>
          <p:nvPr>
            <p:ph idx="103" type="body" hasCustomPrompt="1"/>
          </p:nvPr>
        </p:nvSpPr>
        <p:spPr>
          <a:xfrm>
            <a:off x="548640" y="3291840"/>
            <a:ext cx="5120640" cy="365760"/>
          </a:xfrm>
          <a:prstGeom prst="rect">
            <a:avLst/>
          </a:prstGeom>
          <a:noFill/>
          <a:ln/>
        </p:spPr>
        <p:txBody>
          <a:bodyPr wrap="square" lIns="0" tIns="0" rIns="0" bIns="0" rtlCol="0" anchor="ctr"/>
          <a:lstStyle/>
          <a:p>
            <a:pPr algn="l" indent="0" marL="0">
              <a:buNone/>
            </a:pPr>
            <a:r>
              <a:rPr lang="en-US" sz="1600" dirty="0">
                <a:solidFill>
                  <a:schemeClr val="bg2"/>
                </a:solidFill>
              </a:rPr>
              <a:t>Project Review 3  |  Unit 3</a:t>
            </a:r>
            <a:endParaRPr lang="en-US" sz="1600" dirty="0"/>
          </a:p>
        </p:txBody>
      </p:sp>
      <p:sp>
        <p:nvSpPr>
          <p:cNvPr id="4" name="Text 1"/>
          <p:cNvSpPr txBox="1"/>
          <p:nvPr/>
        </p:nvSpPr>
        <p:spPr>
          <a:xfrm>
            <a:off x="3291840" y="365760"/>
            <a:ext cx="2377440" cy="1024128"/>
          </a:xfrm>
          <a:prstGeom prst="rect">
            <a:avLst/>
          </a:prstGeom>
          <a:noFill/>
          <a:ln/>
        </p:spPr>
        <p:txBody>
          <a:bodyPr wrap="square" lIns="0" tIns="0" rIns="0" bIns="0" rtlCol="0" anchor="ctr"/>
          <a:lstStyle/>
          <a:p>
            <a:pPr algn="l" indent="0" marL="0">
              <a:buNone/>
            </a:pPr>
            <a:r>
              <a:rPr lang="en-US" sz="1800" b="1" dirty="0">
                <a:solidFill>
                  <a:schemeClr val="accent4"/>
                </a:solidFill>
              </a:rPr>
              <a:t>21CSC305P</a:t>
            </a:r>
            <a:endParaRPr lang="en-US" sz="1400" dirty="0"/>
          </a:p>
          <a:p>
            <a:pPr algn="l" indent="0" marL="0">
              <a:buNone/>
            </a:pPr>
            <a:r>
              <a:rPr lang="en-US" sz="1800" b="1" dirty="0">
                <a:solidFill>
                  <a:schemeClr val="bg1"/>
                </a:solidFill>
              </a:rPr>
              <a:t>MACHINE LEARNING</a:t>
            </a:r>
            <a:endParaRPr lang="en-US" sz="1400" dirty="0"/>
          </a:p>
        </p:txBody>
      </p:sp>
      <p:sp>
        <p:nvSpPr>
          <p:cNvPr id="5" name="Text 2"/>
          <p:cNvSpPr txBox="1"/>
          <p:nvPr/>
        </p:nvSpPr>
        <p:spPr>
          <a:xfrm>
            <a:off x="548640" y="3767328"/>
            <a:ext cx="5120640" cy="914400"/>
          </a:xfrm>
          <a:prstGeom prst="rect">
            <a:avLst/>
          </a:prstGeom>
          <a:noFill/>
          <a:ln/>
        </p:spPr>
        <p:txBody>
          <a:bodyPr wrap="square" lIns="0" tIns="0" rIns="0" bIns="0" rtlCol="0" anchor="t"/>
          <a:lstStyle/>
          <a:p>
            <a:pPr algn="l" indent="0" marL="0">
              <a:spcAft>
                <a:spcPts val="600"/>
              </a:spcAft>
              <a:buNone/>
            </a:pPr>
            <a:r>
              <a:rPr lang="en-US" sz="1500" b="1" dirty="0">
                <a:solidFill>
                  <a:schemeClr val="accent4"/>
                </a:solidFill>
              </a:rPr>
              <a:t>Team: Cash guard (No. 17)</a:t>
            </a:r>
            <a:endParaRPr lang="en-US" sz="1400" dirty="0"/>
          </a:p>
          <a:p>
            <a:pPr algn="l" indent="0" marL="0">
              <a:spcAft>
                <a:spcPts val="600"/>
              </a:spcAft>
              <a:buNone/>
            </a:pPr>
            <a:r>
              <a:rPr lang="en-US" sz="1400" dirty="0">
                <a:solidFill>
                  <a:schemeClr val="bg1"/>
                </a:solidFill>
              </a:rPr>
              <a:t>V. Anbu Chelvan,  S Roopesh,  B. Charith Reddy,  Y Rupesh Reddy</a:t>
            </a:r>
            <a:endParaRPr lang="en-US" sz="1400" dirty="0"/>
          </a:p>
          <a:p>
            <a:pPr algn="l" indent="0" marL="0">
              <a:spcAft>
                <a:spcPts val="600"/>
              </a:spcAft>
              <a:buNone/>
            </a:pPr>
            <a:r>
              <a:rPr lang="en-US" sz="1200" dirty="0">
                <a:solidFill>
                  <a:schemeClr val="bg2"/>
                </a:solidFill>
              </a:rPr>
              <a:t>13 October 2026</a:t>
            </a:r>
            <a:endParaRPr lang="en-US" sz="1400" dirty="0"/>
          </a:p>
        </p:txBody>
      </p:sp>
      <p:sp>
        <p:nvSpPr>
          <p:cNvPr id="6" name="Dot 3"/>
          <p:cNvSpPr/>
          <p:nvPr/>
        </p:nvSpPr>
        <p:spPr>
          <a:xfrm>
            <a:off x="6318504" y="1124712"/>
            <a:ext cx="219456" cy="219456"/>
          </a:xfrm>
          <a:prstGeom prst="ellipse">
            <a:avLst/>
          </a:prstGeom>
          <a:solidFill>
            <a:schemeClr val="accent2"/>
          </a:solidFill>
          <a:ln w="12700">
            <a:solidFill>
              <a:schemeClr val="accent2"/>
            </a:solidFill>
            <a:prstDash val="solid"/>
          </a:ln>
        </p:spPr>
      </p:sp>
      <p:sp>
        <p:nvSpPr>
          <p:cNvPr id="7" name="Dot 4"/>
          <p:cNvSpPr/>
          <p:nvPr/>
        </p:nvSpPr>
        <p:spPr>
          <a:xfrm>
            <a:off x="6592824" y="896112"/>
            <a:ext cx="219456" cy="219456"/>
          </a:xfrm>
          <a:prstGeom prst="ellipse">
            <a:avLst/>
          </a:prstGeom>
          <a:solidFill>
            <a:schemeClr val="accent2"/>
          </a:solidFill>
          <a:ln w="12700">
            <a:solidFill>
              <a:schemeClr val="accent2"/>
            </a:solidFill>
            <a:prstDash val="solid"/>
          </a:ln>
        </p:spPr>
      </p:sp>
      <p:sp>
        <p:nvSpPr>
          <p:cNvPr id="8" name="Dot 5"/>
          <p:cNvSpPr/>
          <p:nvPr/>
        </p:nvSpPr>
        <p:spPr>
          <a:xfrm>
            <a:off x="6976872" y="1005840"/>
            <a:ext cx="219456" cy="219456"/>
          </a:xfrm>
          <a:prstGeom prst="ellipse">
            <a:avLst/>
          </a:prstGeom>
          <a:solidFill>
            <a:schemeClr val="accent2"/>
          </a:solidFill>
          <a:ln w="12700">
            <a:solidFill>
              <a:schemeClr val="accent2"/>
            </a:solidFill>
            <a:prstDash val="solid"/>
          </a:ln>
        </p:spPr>
      </p:sp>
      <p:sp>
        <p:nvSpPr>
          <p:cNvPr id="9" name="Dot 6"/>
          <p:cNvSpPr/>
          <p:nvPr/>
        </p:nvSpPr>
        <p:spPr>
          <a:xfrm>
            <a:off x="7123176" y="1353312"/>
            <a:ext cx="219456" cy="219456"/>
          </a:xfrm>
          <a:prstGeom prst="ellipse">
            <a:avLst/>
          </a:prstGeom>
          <a:solidFill>
            <a:schemeClr val="accent2"/>
          </a:solidFill>
          <a:ln w="12700">
            <a:solidFill>
              <a:schemeClr val="accent2"/>
            </a:solidFill>
            <a:prstDash val="solid"/>
          </a:ln>
        </p:spPr>
      </p:sp>
      <p:sp>
        <p:nvSpPr>
          <p:cNvPr id="10" name="Dot 7"/>
          <p:cNvSpPr/>
          <p:nvPr/>
        </p:nvSpPr>
        <p:spPr>
          <a:xfrm>
            <a:off x="6867144" y="1655064"/>
            <a:ext cx="219456" cy="219456"/>
          </a:xfrm>
          <a:prstGeom prst="ellipse">
            <a:avLst/>
          </a:prstGeom>
          <a:solidFill>
            <a:schemeClr val="accent2"/>
          </a:solidFill>
          <a:ln w="12700">
            <a:solidFill>
              <a:schemeClr val="accent2"/>
            </a:solidFill>
            <a:prstDash val="solid"/>
          </a:ln>
        </p:spPr>
      </p:sp>
      <p:sp>
        <p:nvSpPr>
          <p:cNvPr id="11" name="Dot 8"/>
          <p:cNvSpPr/>
          <p:nvPr/>
        </p:nvSpPr>
        <p:spPr>
          <a:xfrm>
            <a:off x="6473952" y="1581912"/>
            <a:ext cx="219456" cy="219456"/>
          </a:xfrm>
          <a:prstGeom prst="ellipse">
            <a:avLst/>
          </a:prstGeom>
          <a:solidFill>
            <a:schemeClr val="accent2"/>
          </a:solidFill>
          <a:ln w="12700">
            <a:solidFill>
              <a:schemeClr val="accent2"/>
            </a:solidFill>
            <a:prstDash val="solid"/>
          </a:ln>
        </p:spPr>
      </p:sp>
      <p:sp>
        <p:nvSpPr>
          <p:cNvPr id="12" name="Dot 9"/>
          <p:cNvSpPr/>
          <p:nvPr/>
        </p:nvSpPr>
        <p:spPr>
          <a:xfrm>
            <a:off x="6245352" y="1417320"/>
            <a:ext cx="219456" cy="219456"/>
          </a:xfrm>
          <a:prstGeom prst="ellipse">
            <a:avLst/>
          </a:prstGeom>
          <a:solidFill>
            <a:schemeClr val="accent2"/>
          </a:solidFill>
          <a:ln w="12700">
            <a:solidFill>
              <a:schemeClr val="accent2"/>
            </a:solidFill>
            <a:prstDash val="solid"/>
          </a:ln>
        </p:spPr>
      </p:sp>
      <p:sp>
        <p:nvSpPr>
          <p:cNvPr id="13" name="Centroid 10"/>
          <p:cNvSpPr/>
          <p:nvPr/>
        </p:nvSpPr>
        <p:spPr>
          <a:xfrm>
            <a:off x="6693408" y="1298448"/>
            <a:ext cx="237744" cy="237744"/>
          </a:xfrm>
          <a:prstGeom prst="ellipse">
            <a:avLst/>
          </a:prstGeom>
          <a:solidFill>
            <a:schemeClr val="tx2"/>
          </a:solidFill>
          <a:ln w="31750">
            <a:solidFill>
              <a:schemeClr val="accent2"/>
            </a:solidFill>
            <a:prstDash val="solid"/>
          </a:ln>
        </p:spPr>
      </p:sp>
      <p:sp>
        <p:nvSpPr>
          <p:cNvPr id="14" name="Dot 11"/>
          <p:cNvSpPr/>
          <p:nvPr/>
        </p:nvSpPr>
        <p:spPr>
          <a:xfrm>
            <a:off x="7415784" y="2313432"/>
            <a:ext cx="219456" cy="219456"/>
          </a:xfrm>
          <a:prstGeom prst="ellipse">
            <a:avLst/>
          </a:prstGeom>
          <a:solidFill>
            <a:schemeClr val="accent4"/>
          </a:solidFill>
          <a:ln w="12700">
            <a:solidFill>
              <a:schemeClr val="accent4"/>
            </a:solidFill>
            <a:prstDash val="solid"/>
          </a:ln>
        </p:spPr>
      </p:sp>
      <p:sp>
        <p:nvSpPr>
          <p:cNvPr id="15" name="Dot 12"/>
          <p:cNvSpPr/>
          <p:nvPr/>
        </p:nvSpPr>
        <p:spPr>
          <a:xfrm>
            <a:off x="7690104" y="2084832"/>
            <a:ext cx="219456" cy="219456"/>
          </a:xfrm>
          <a:prstGeom prst="ellipse">
            <a:avLst/>
          </a:prstGeom>
          <a:solidFill>
            <a:schemeClr val="accent4"/>
          </a:solidFill>
          <a:ln w="12700">
            <a:solidFill>
              <a:schemeClr val="accent4"/>
            </a:solidFill>
            <a:prstDash val="solid"/>
          </a:ln>
        </p:spPr>
      </p:sp>
      <p:sp>
        <p:nvSpPr>
          <p:cNvPr id="16" name="Dot 13"/>
          <p:cNvSpPr/>
          <p:nvPr/>
        </p:nvSpPr>
        <p:spPr>
          <a:xfrm>
            <a:off x="8074152" y="2194560"/>
            <a:ext cx="219456" cy="219456"/>
          </a:xfrm>
          <a:prstGeom prst="ellipse">
            <a:avLst/>
          </a:prstGeom>
          <a:solidFill>
            <a:schemeClr val="accent4"/>
          </a:solidFill>
          <a:ln w="12700">
            <a:solidFill>
              <a:schemeClr val="accent4"/>
            </a:solidFill>
            <a:prstDash val="solid"/>
          </a:ln>
        </p:spPr>
      </p:sp>
      <p:sp>
        <p:nvSpPr>
          <p:cNvPr id="17" name="Dot 14"/>
          <p:cNvSpPr/>
          <p:nvPr/>
        </p:nvSpPr>
        <p:spPr>
          <a:xfrm>
            <a:off x="8220456" y="2542032"/>
            <a:ext cx="219456" cy="219456"/>
          </a:xfrm>
          <a:prstGeom prst="ellipse">
            <a:avLst/>
          </a:prstGeom>
          <a:solidFill>
            <a:schemeClr val="accent4"/>
          </a:solidFill>
          <a:ln w="12700">
            <a:solidFill>
              <a:schemeClr val="accent4"/>
            </a:solidFill>
            <a:prstDash val="solid"/>
          </a:ln>
        </p:spPr>
      </p:sp>
      <p:sp>
        <p:nvSpPr>
          <p:cNvPr id="18" name="Dot 15"/>
          <p:cNvSpPr/>
          <p:nvPr/>
        </p:nvSpPr>
        <p:spPr>
          <a:xfrm>
            <a:off x="7964424" y="2843784"/>
            <a:ext cx="219456" cy="219456"/>
          </a:xfrm>
          <a:prstGeom prst="ellipse">
            <a:avLst/>
          </a:prstGeom>
          <a:solidFill>
            <a:schemeClr val="accent4"/>
          </a:solidFill>
          <a:ln w="12700">
            <a:solidFill>
              <a:schemeClr val="accent4"/>
            </a:solidFill>
            <a:prstDash val="solid"/>
          </a:ln>
        </p:spPr>
      </p:sp>
      <p:sp>
        <p:nvSpPr>
          <p:cNvPr id="19" name="Dot 16"/>
          <p:cNvSpPr/>
          <p:nvPr/>
        </p:nvSpPr>
        <p:spPr>
          <a:xfrm>
            <a:off x="7571232" y="2770632"/>
            <a:ext cx="219456" cy="219456"/>
          </a:xfrm>
          <a:prstGeom prst="ellipse">
            <a:avLst/>
          </a:prstGeom>
          <a:solidFill>
            <a:schemeClr val="accent4"/>
          </a:solidFill>
          <a:ln w="12700">
            <a:solidFill>
              <a:schemeClr val="accent4"/>
            </a:solidFill>
            <a:prstDash val="solid"/>
          </a:ln>
        </p:spPr>
      </p:sp>
      <p:sp>
        <p:nvSpPr>
          <p:cNvPr id="20" name="Dot 17"/>
          <p:cNvSpPr/>
          <p:nvPr/>
        </p:nvSpPr>
        <p:spPr>
          <a:xfrm>
            <a:off x="7342632" y="2606040"/>
            <a:ext cx="219456" cy="219456"/>
          </a:xfrm>
          <a:prstGeom prst="ellipse">
            <a:avLst/>
          </a:prstGeom>
          <a:solidFill>
            <a:schemeClr val="accent4"/>
          </a:solidFill>
          <a:ln w="12700">
            <a:solidFill>
              <a:schemeClr val="accent4"/>
            </a:solidFill>
            <a:prstDash val="solid"/>
          </a:ln>
        </p:spPr>
      </p:sp>
      <p:sp>
        <p:nvSpPr>
          <p:cNvPr id="21" name="Centroid 18"/>
          <p:cNvSpPr/>
          <p:nvPr/>
        </p:nvSpPr>
        <p:spPr>
          <a:xfrm>
            <a:off x="7790688" y="2487168"/>
            <a:ext cx="237744" cy="237744"/>
          </a:xfrm>
          <a:prstGeom prst="ellipse">
            <a:avLst/>
          </a:prstGeom>
          <a:solidFill>
            <a:schemeClr val="tx2"/>
          </a:solidFill>
          <a:ln w="31750">
            <a:solidFill>
              <a:schemeClr val="accent4"/>
            </a:solidFill>
            <a:prstDash val="solid"/>
          </a:ln>
        </p:spPr>
      </p:sp>
      <p:sp>
        <p:nvSpPr>
          <p:cNvPr id="22" name="Dot 19"/>
          <p:cNvSpPr/>
          <p:nvPr/>
        </p:nvSpPr>
        <p:spPr>
          <a:xfrm>
            <a:off x="6227064" y="3364992"/>
            <a:ext cx="219456" cy="219456"/>
          </a:xfrm>
          <a:prstGeom prst="ellipse">
            <a:avLst/>
          </a:prstGeom>
          <a:solidFill>
            <a:schemeClr val="accent3"/>
          </a:solidFill>
          <a:ln w="12700">
            <a:solidFill>
              <a:schemeClr val="accent3"/>
            </a:solidFill>
            <a:prstDash val="solid"/>
          </a:ln>
        </p:spPr>
      </p:sp>
      <p:sp>
        <p:nvSpPr>
          <p:cNvPr id="23" name="Dot 20"/>
          <p:cNvSpPr/>
          <p:nvPr/>
        </p:nvSpPr>
        <p:spPr>
          <a:xfrm>
            <a:off x="6501384" y="3136392"/>
            <a:ext cx="219456" cy="219456"/>
          </a:xfrm>
          <a:prstGeom prst="ellipse">
            <a:avLst/>
          </a:prstGeom>
          <a:solidFill>
            <a:schemeClr val="accent3"/>
          </a:solidFill>
          <a:ln w="12700">
            <a:solidFill>
              <a:schemeClr val="accent3"/>
            </a:solidFill>
            <a:prstDash val="solid"/>
          </a:ln>
        </p:spPr>
      </p:sp>
      <p:sp>
        <p:nvSpPr>
          <p:cNvPr id="24" name="Dot 21"/>
          <p:cNvSpPr/>
          <p:nvPr/>
        </p:nvSpPr>
        <p:spPr>
          <a:xfrm>
            <a:off x="6885432" y="3246120"/>
            <a:ext cx="219456" cy="219456"/>
          </a:xfrm>
          <a:prstGeom prst="ellipse">
            <a:avLst/>
          </a:prstGeom>
          <a:solidFill>
            <a:schemeClr val="accent3"/>
          </a:solidFill>
          <a:ln w="12700">
            <a:solidFill>
              <a:schemeClr val="accent3"/>
            </a:solidFill>
            <a:prstDash val="solid"/>
          </a:ln>
        </p:spPr>
      </p:sp>
      <p:sp>
        <p:nvSpPr>
          <p:cNvPr id="25" name="Dot 22"/>
          <p:cNvSpPr/>
          <p:nvPr/>
        </p:nvSpPr>
        <p:spPr>
          <a:xfrm>
            <a:off x="7031736" y="3593592"/>
            <a:ext cx="219456" cy="219456"/>
          </a:xfrm>
          <a:prstGeom prst="ellipse">
            <a:avLst/>
          </a:prstGeom>
          <a:solidFill>
            <a:schemeClr val="accent3"/>
          </a:solidFill>
          <a:ln w="12700">
            <a:solidFill>
              <a:schemeClr val="accent3"/>
            </a:solidFill>
            <a:prstDash val="solid"/>
          </a:ln>
        </p:spPr>
      </p:sp>
      <p:sp>
        <p:nvSpPr>
          <p:cNvPr id="26" name="Dot 23"/>
          <p:cNvSpPr/>
          <p:nvPr/>
        </p:nvSpPr>
        <p:spPr>
          <a:xfrm>
            <a:off x="6775704" y="3895344"/>
            <a:ext cx="219456" cy="219456"/>
          </a:xfrm>
          <a:prstGeom prst="ellipse">
            <a:avLst/>
          </a:prstGeom>
          <a:solidFill>
            <a:schemeClr val="accent3"/>
          </a:solidFill>
          <a:ln w="12700">
            <a:solidFill>
              <a:schemeClr val="accent3"/>
            </a:solidFill>
            <a:prstDash val="solid"/>
          </a:ln>
        </p:spPr>
      </p:sp>
      <p:sp>
        <p:nvSpPr>
          <p:cNvPr id="27" name="Dot 24"/>
          <p:cNvSpPr/>
          <p:nvPr/>
        </p:nvSpPr>
        <p:spPr>
          <a:xfrm>
            <a:off x="6382512" y="3822192"/>
            <a:ext cx="219456" cy="219456"/>
          </a:xfrm>
          <a:prstGeom prst="ellipse">
            <a:avLst/>
          </a:prstGeom>
          <a:solidFill>
            <a:schemeClr val="accent3"/>
          </a:solidFill>
          <a:ln w="12700">
            <a:solidFill>
              <a:schemeClr val="accent3"/>
            </a:solidFill>
            <a:prstDash val="solid"/>
          </a:ln>
        </p:spPr>
      </p:sp>
      <p:sp>
        <p:nvSpPr>
          <p:cNvPr id="28" name="Dot 25"/>
          <p:cNvSpPr/>
          <p:nvPr/>
        </p:nvSpPr>
        <p:spPr>
          <a:xfrm>
            <a:off x="6153912" y="3657600"/>
            <a:ext cx="219456" cy="219456"/>
          </a:xfrm>
          <a:prstGeom prst="ellipse">
            <a:avLst/>
          </a:prstGeom>
          <a:solidFill>
            <a:schemeClr val="accent3"/>
          </a:solidFill>
          <a:ln w="12700">
            <a:solidFill>
              <a:schemeClr val="accent3"/>
            </a:solidFill>
            <a:prstDash val="solid"/>
          </a:ln>
        </p:spPr>
      </p:sp>
      <p:sp>
        <p:nvSpPr>
          <p:cNvPr id="29" name="Centroid 26"/>
          <p:cNvSpPr/>
          <p:nvPr/>
        </p:nvSpPr>
        <p:spPr>
          <a:xfrm>
            <a:off x="6601968" y="3538728"/>
            <a:ext cx="237744" cy="237744"/>
          </a:xfrm>
          <a:prstGeom prst="ellipse">
            <a:avLst/>
          </a:prstGeom>
          <a:solidFill>
            <a:schemeClr val="tx2"/>
          </a:solidFill>
          <a:ln w="31750">
            <a:solidFill>
              <a:schemeClr val="accent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315200" cy="685800"/>
          </a:xfrm>
          <a:prstGeom prst="rect">
            <a:avLst/>
          </a:prstGeom>
          <a:noFill/>
          <a:ln/>
        </p:spPr>
        <p:txBody>
          <a:bodyPr wrap="square" lIns="0" tIns="0" rIns="0" bIns="0" rtlCol="0" anchor="ctr"/>
          <a:lstStyle/>
          <a:p>
            <a:pPr algn="l" indent="0" marL="0">
              <a:buNone/>
            </a:pPr>
            <a:r>
              <a:rPr lang="en-US" sz="3600" b="1" dirty="0">
                <a:solidFill>
                  <a:schemeClr val="tx2"/>
                </a:solidFill>
              </a:rPr>
              <a:t>Our problem statement</a:t>
            </a:r>
            <a:endParaRPr lang="en-US" sz="3600" dirty="0"/>
          </a:p>
        </p:txBody>
      </p:sp>
      <p:sp>
        <p:nvSpPr>
          <p:cNvPr id="4" name="Card 27"/>
          <p:cNvSpPr/>
          <p:nvPr/>
        </p:nvSpPr>
        <p:spPr>
          <a:xfrm>
            <a:off x="457200" y="1143000"/>
            <a:ext cx="8229600" cy="868680"/>
          </a:xfrm>
          <a:prstGeom prst="roundRect">
            <a:avLst>
              <a:gd name="adj" fmla="val 8421"/>
            </a:avLst>
          </a:prstGeom>
          <a:solidFill>
            <a:schemeClr val="bg2"/>
          </a:solidFill>
          <a:ln w="12700">
            <a:solidFill>
              <a:schemeClr val="bg2"/>
            </a:solidFill>
            <a:prstDash val="solid"/>
          </a:ln>
        </p:spPr>
      </p:sp>
      <p:sp>
        <p:nvSpPr>
          <p:cNvPr id="5" name="Text 28"/>
          <p:cNvSpPr txBox="1"/>
          <p:nvPr/>
        </p:nvSpPr>
        <p:spPr>
          <a:xfrm>
            <a:off x="640080" y="1143000"/>
            <a:ext cx="7863840" cy="868680"/>
          </a:xfrm>
          <a:prstGeom prst="rect">
            <a:avLst/>
          </a:prstGeom>
          <a:noFill/>
          <a:ln/>
        </p:spPr>
        <p:txBody>
          <a:bodyPr wrap="square" lIns="0" tIns="0" rIns="0" bIns="0" rtlCol="0" anchor="ctr"/>
          <a:lstStyle/>
          <a:p>
            <a:pPr algn="l" indent="0" marL="0">
              <a:buNone/>
            </a:pPr>
            <a:r>
              <a:rPr lang="en-US" sz="1700" dirty="0">
                <a:solidFill>
                  <a:schemeClr val="tx1"/>
                </a:solidFill>
              </a:rPr>
              <a:t>Group warehouse products (SKUs) that behave alike, so managers can place them smartly and workers walk less while picking orders.</a:t>
            </a:r>
            <a:endParaRPr lang="en-US" sz="1700" dirty="0"/>
          </a:p>
        </p:txBody>
      </p:sp>
      <p:sp>
        <p:nvSpPr>
          <p:cNvPr id="6" name="Text 29"/>
          <p:cNvSpPr txBox="1"/>
          <p:nvPr/>
        </p:nvSpPr>
        <p:spPr>
          <a:xfrm>
            <a:off x="457200" y="2130552"/>
            <a:ext cx="8229600" cy="274320"/>
          </a:xfrm>
          <a:prstGeom prst="rect">
            <a:avLst/>
          </a:prstGeom>
          <a:noFill/>
          <a:ln/>
        </p:spPr>
        <p:txBody>
          <a:bodyPr wrap="square" lIns="0" tIns="0" rIns="0" bIns="0" rtlCol="0" anchor="t"/>
          <a:lstStyle/>
          <a:p>
            <a:pPr algn="l" indent="0" marL="0">
              <a:buNone/>
            </a:pPr>
            <a:r>
              <a:rPr lang="en-US" sz="1500" b="1" dirty="0">
                <a:solidFill>
                  <a:schemeClr val="tx2"/>
                </a:solidFill>
              </a:rPr>
              <a:t>We group the SKUs using four things</a:t>
            </a:r>
            <a:endParaRPr lang="en-US" sz="1500" dirty="0"/>
          </a:p>
        </p:txBody>
      </p:sp>
      <p:sp>
        <p:nvSpPr>
          <p:cNvPr id="7" name="Card 30"/>
          <p:cNvSpPr/>
          <p:nvPr/>
        </p:nvSpPr>
        <p:spPr>
          <a:xfrm>
            <a:off x="457200" y="2468880"/>
            <a:ext cx="1920240" cy="1371600"/>
          </a:xfrm>
          <a:prstGeom prst="roundRect">
            <a:avLst>
              <a:gd name="adj" fmla="val 5333"/>
            </a:avLst>
          </a:prstGeom>
          <a:solidFill>
            <a:schemeClr val="bg2"/>
          </a:solidFill>
          <a:ln w="12700">
            <a:solidFill>
              <a:schemeClr val="bg2"/>
            </a:solidFill>
            <a:prstDash val="solid"/>
          </a:ln>
        </p:spPr>
      </p:sp>
      <p:sp>
        <p:nvSpPr>
          <p:cNvPr id="8" name="Badge 31"/>
          <p:cNvSpPr/>
          <p:nvPr/>
        </p:nvSpPr>
        <p:spPr>
          <a:xfrm>
            <a:off x="594360" y="2578608"/>
            <a:ext cx="347472" cy="347472"/>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32"/>
          <p:cNvSpPr txBox="1"/>
          <p:nvPr/>
        </p:nvSpPr>
        <p:spPr>
          <a:xfrm>
            <a:off x="594360" y="2990088"/>
            <a:ext cx="1691640" cy="292608"/>
          </a:xfrm>
          <a:prstGeom prst="rect">
            <a:avLst/>
          </a:prstGeom>
          <a:noFill/>
          <a:ln/>
        </p:spPr>
        <p:txBody>
          <a:bodyPr wrap="square" lIns="0" tIns="0" rIns="0" bIns="0" rtlCol="0" anchor="t"/>
          <a:lstStyle/>
          <a:p>
            <a:pPr algn="l" indent="0" marL="0">
              <a:buNone/>
            </a:pPr>
            <a:r>
              <a:rPr lang="en-US" sz="1500" b="1" dirty="0">
                <a:solidFill>
                  <a:schemeClr val="tx2"/>
                </a:solidFill>
              </a:rPr>
              <a:t>Pick frequency</a:t>
            </a:r>
            <a:endParaRPr lang="en-US" sz="1500" dirty="0"/>
          </a:p>
        </p:txBody>
      </p:sp>
      <p:sp>
        <p:nvSpPr>
          <p:cNvPr id="10" name="Text 33"/>
          <p:cNvSpPr txBox="1"/>
          <p:nvPr/>
        </p:nvSpPr>
        <p:spPr>
          <a:xfrm>
            <a:off x="594360" y="3291840"/>
            <a:ext cx="1691640" cy="502920"/>
          </a:xfrm>
          <a:prstGeom prst="rect">
            <a:avLst/>
          </a:prstGeom>
          <a:noFill/>
          <a:ln/>
        </p:spPr>
        <p:txBody>
          <a:bodyPr wrap="square" lIns="0" tIns="0" rIns="0" bIns="0" rtlCol="0" anchor="t"/>
          <a:lstStyle/>
          <a:p>
            <a:pPr algn="l" indent="0" marL="0">
              <a:buNone/>
            </a:pPr>
            <a:r>
              <a:rPr lang="en-US" sz="1400" dirty="0">
                <a:solidFill>
                  <a:schemeClr val="tx1"/>
                </a:solidFill>
              </a:rPr>
              <a:t>How often it is picked for orders</a:t>
            </a:r>
            <a:endParaRPr lang="en-US" sz="1400" dirty="0"/>
          </a:p>
        </p:txBody>
      </p:sp>
      <p:sp>
        <p:nvSpPr>
          <p:cNvPr id="11" name="Card 34"/>
          <p:cNvSpPr/>
          <p:nvPr/>
        </p:nvSpPr>
        <p:spPr>
          <a:xfrm>
            <a:off x="2560320" y="2468880"/>
            <a:ext cx="1920240" cy="1371600"/>
          </a:xfrm>
          <a:prstGeom prst="roundRect">
            <a:avLst>
              <a:gd name="adj" fmla="val 5333"/>
            </a:avLst>
          </a:prstGeom>
          <a:solidFill>
            <a:schemeClr val="bg2"/>
          </a:solidFill>
          <a:ln w="12700">
            <a:solidFill>
              <a:schemeClr val="bg2"/>
            </a:solidFill>
            <a:prstDash val="solid"/>
          </a:ln>
        </p:spPr>
      </p:sp>
      <p:sp>
        <p:nvSpPr>
          <p:cNvPr id="12" name="Badge 35"/>
          <p:cNvSpPr/>
          <p:nvPr/>
        </p:nvSpPr>
        <p:spPr>
          <a:xfrm>
            <a:off x="2697480" y="2578608"/>
            <a:ext cx="347472" cy="347472"/>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36"/>
          <p:cNvSpPr txBox="1"/>
          <p:nvPr/>
        </p:nvSpPr>
        <p:spPr>
          <a:xfrm>
            <a:off x="2697480" y="2990088"/>
            <a:ext cx="1691640" cy="292608"/>
          </a:xfrm>
          <a:prstGeom prst="rect">
            <a:avLst/>
          </a:prstGeom>
          <a:noFill/>
          <a:ln/>
        </p:spPr>
        <p:txBody>
          <a:bodyPr wrap="square" lIns="0" tIns="0" rIns="0" bIns="0" rtlCol="0" anchor="t"/>
          <a:lstStyle/>
          <a:p>
            <a:pPr algn="l" indent="0" marL="0">
              <a:buNone/>
            </a:pPr>
            <a:r>
              <a:rPr lang="en-US" sz="1500" b="1" dirty="0">
                <a:solidFill>
                  <a:schemeClr val="tx2"/>
                </a:solidFill>
              </a:rPr>
              <a:t>Seasonal demand</a:t>
            </a:r>
            <a:endParaRPr lang="en-US" sz="1500" dirty="0"/>
          </a:p>
        </p:txBody>
      </p:sp>
      <p:sp>
        <p:nvSpPr>
          <p:cNvPr id="14" name="Text 37"/>
          <p:cNvSpPr txBox="1"/>
          <p:nvPr/>
        </p:nvSpPr>
        <p:spPr>
          <a:xfrm>
            <a:off x="2697480" y="3291840"/>
            <a:ext cx="1691640" cy="502920"/>
          </a:xfrm>
          <a:prstGeom prst="rect">
            <a:avLst/>
          </a:prstGeom>
          <a:noFill/>
          <a:ln/>
        </p:spPr>
        <p:txBody>
          <a:bodyPr wrap="square" lIns="0" tIns="0" rIns="0" bIns="0" rtlCol="0" anchor="t"/>
          <a:lstStyle/>
          <a:p>
            <a:pPr algn="l" indent="0" marL="0">
              <a:buNone/>
            </a:pPr>
            <a:r>
              <a:rPr lang="en-US" sz="1400" dirty="0">
                <a:solidFill>
                  <a:schemeClr val="tx1"/>
                </a:solidFill>
              </a:rPr>
              <a:t>How fast it sells in each season</a:t>
            </a:r>
            <a:endParaRPr lang="en-US" sz="1400" dirty="0"/>
          </a:p>
        </p:txBody>
      </p:sp>
      <p:sp>
        <p:nvSpPr>
          <p:cNvPr id="15" name="Card 38"/>
          <p:cNvSpPr/>
          <p:nvPr/>
        </p:nvSpPr>
        <p:spPr>
          <a:xfrm>
            <a:off x="4663440" y="2468880"/>
            <a:ext cx="1920240" cy="1371600"/>
          </a:xfrm>
          <a:prstGeom prst="roundRect">
            <a:avLst>
              <a:gd name="adj" fmla="val 5333"/>
            </a:avLst>
          </a:prstGeom>
          <a:solidFill>
            <a:schemeClr val="bg2"/>
          </a:solidFill>
          <a:ln w="12700">
            <a:solidFill>
              <a:schemeClr val="bg2"/>
            </a:solidFill>
            <a:prstDash val="solid"/>
          </a:ln>
        </p:spPr>
      </p:sp>
      <p:sp>
        <p:nvSpPr>
          <p:cNvPr id="16" name="Badge 39"/>
          <p:cNvSpPr/>
          <p:nvPr/>
        </p:nvSpPr>
        <p:spPr>
          <a:xfrm>
            <a:off x="4800600" y="2578608"/>
            <a:ext cx="347472" cy="347472"/>
          </a:xfrm>
          <a:prstGeom prst="ellipse">
            <a:avLst/>
          </a:prstGeom>
          <a:solidFill>
            <a:schemeClr val="accent5"/>
          </a:solidFill>
          <a:ln>
            <a:solidFill>
              <a:schemeClr val="accent5"/>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40"/>
          <p:cNvSpPr txBox="1"/>
          <p:nvPr/>
        </p:nvSpPr>
        <p:spPr>
          <a:xfrm>
            <a:off x="4800600" y="2990088"/>
            <a:ext cx="1691640" cy="292608"/>
          </a:xfrm>
          <a:prstGeom prst="rect">
            <a:avLst/>
          </a:prstGeom>
          <a:noFill/>
          <a:ln/>
        </p:spPr>
        <p:txBody>
          <a:bodyPr wrap="square" lIns="0" tIns="0" rIns="0" bIns="0" rtlCol="0" anchor="t"/>
          <a:lstStyle/>
          <a:p>
            <a:pPr algn="l" indent="0" marL="0">
              <a:buNone/>
            </a:pPr>
            <a:r>
              <a:rPr lang="en-US" sz="1500" b="1" dirty="0">
                <a:solidFill>
                  <a:schemeClr val="tx2"/>
                </a:solidFill>
              </a:rPr>
              <a:t>Physical size</a:t>
            </a:r>
            <a:endParaRPr lang="en-US" sz="1500" dirty="0"/>
          </a:p>
        </p:txBody>
      </p:sp>
      <p:sp>
        <p:nvSpPr>
          <p:cNvPr id="18" name="Text 41"/>
          <p:cNvSpPr txBox="1"/>
          <p:nvPr/>
        </p:nvSpPr>
        <p:spPr>
          <a:xfrm>
            <a:off x="4800600" y="3291840"/>
            <a:ext cx="1691640" cy="502920"/>
          </a:xfrm>
          <a:prstGeom prst="rect">
            <a:avLst/>
          </a:prstGeom>
          <a:noFill/>
          <a:ln/>
        </p:spPr>
        <p:txBody>
          <a:bodyPr wrap="square" lIns="0" tIns="0" rIns="0" bIns="0" rtlCol="0" anchor="t"/>
          <a:lstStyle/>
          <a:p>
            <a:pPr algn="l" indent="0" marL="0">
              <a:buNone/>
            </a:pPr>
            <a:r>
              <a:rPr lang="en-US" sz="1400" dirty="0">
                <a:solidFill>
                  <a:schemeClr val="tx1"/>
                </a:solidFill>
              </a:rPr>
              <a:t>Length, width, height and weight</a:t>
            </a:r>
            <a:endParaRPr lang="en-US" sz="1400" dirty="0"/>
          </a:p>
        </p:txBody>
      </p:sp>
      <p:sp>
        <p:nvSpPr>
          <p:cNvPr id="19" name="Card 42"/>
          <p:cNvSpPr/>
          <p:nvPr/>
        </p:nvSpPr>
        <p:spPr>
          <a:xfrm>
            <a:off x="6766560" y="2468880"/>
            <a:ext cx="1920240" cy="1371600"/>
          </a:xfrm>
          <a:prstGeom prst="roundRect">
            <a:avLst>
              <a:gd name="adj" fmla="val 5333"/>
            </a:avLst>
          </a:prstGeom>
          <a:solidFill>
            <a:schemeClr val="bg2"/>
          </a:solidFill>
          <a:ln w="12700">
            <a:solidFill>
              <a:schemeClr val="bg2"/>
            </a:solidFill>
            <a:prstDash val="solid"/>
          </a:ln>
        </p:spPr>
      </p:sp>
      <p:sp>
        <p:nvSpPr>
          <p:cNvPr id="20" name="Badge 43"/>
          <p:cNvSpPr/>
          <p:nvPr/>
        </p:nvSpPr>
        <p:spPr>
          <a:xfrm>
            <a:off x="6903720" y="2578608"/>
            <a:ext cx="347472" cy="347472"/>
          </a:xfrm>
          <a:prstGeom prst="ellipse">
            <a:avLst/>
          </a:prstGeom>
          <a:solidFill>
            <a:schemeClr val="accent6"/>
          </a:solidFill>
          <a:ln>
            <a:solidFill>
              <a:schemeClr val="accent6"/>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44"/>
          <p:cNvSpPr txBox="1"/>
          <p:nvPr/>
        </p:nvSpPr>
        <p:spPr>
          <a:xfrm>
            <a:off x="6903720" y="2990088"/>
            <a:ext cx="1691640" cy="292608"/>
          </a:xfrm>
          <a:prstGeom prst="rect">
            <a:avLst/>
          </a:prstGeom>
          <a:noFill/>
          <a:ln/>
        </p:spPr>
        <p:txBody>
          <a:bodyPr wrap="square" lIns="0" tIns="0" rIns="0" bIns="0" rtlCol="0" anchor="t"/>
          <a:lstStyle/>
          <a:p>
            <a:pPr algn="l" indent="0" marL="0">
              <a:buNone/>
            </a:pPr>
            <a:r>
              <a:rPr lang="en-US" sz="1500" b="1" dirty="0">
                <a:solidFill>
                  <a:schemeClr val="tx2"/>
                </a:solidFill>
              </a:rPr>
              <a:t>Handling needs</a:t>
            </a:r>
            <a:endParaRPr lang="en-US" sz="1500" dirty="0"/>
          </a:p>
        </p:txBody>
      </p:sp>
      <p:sp>
        <p:nvSpPr>
          <p:cNvPr id="22" name="Text 45"/>
          <p:cNvSpPr txBox="1"/>
          <p:nvPr/>
        </p:nvSpPr>
        <p:spPr>
          <a:xfrm>
            <a:off x="6903720" y="3291840"/>
            <a:ext cx="1691640" cy="502920"/>
          </a:xfrm>
          <a:prstGeom prst="rect">
            <a:avLst/>
          </a:prstGeom>
          <a:noFill/>
          <a:ln/>
        </p:spPr>
        <p:txBody>
          <a:bodyPr wrap="square" lIns="0" tIns="0" rIns="0" bIns="0" rtlCol="0" anchor="t"/>
          <a:lstStyle/>
          <a:p>
            <a:pPr algn="l" indent="0" marL="0">
              <a:buNone/>
            </a:pPr>
            <a:r>
              <a:rPr lang="en-US" sz="1400" dirty="0">
                <a:solidFill>
                  <a:schemeClr val="tx1"/>
                </a:solidFill>
              </a:rPr>
              <a:t>Fragile, heavy or needs special care</a:t>
            </a:r>
            <a:endParaRPr lang="en-US" sz="1400" dirty="0"/>
          </a:p>
        </p:txBody>
      </p:sp>
      <p:sp>
        <p:nvSpPr>
          <p:cNvPr id="23" name="Card 46"/>
          <p:cNvSpPr/>
          <p:nvPr/>
        </p:nvSpPr>
        <p:spPr>
          <a:xfrm>
            <a:off x="457200" y="4005072"/>
            <a:ext cx="8229600" cy="457200"/>
          </a:xfrm>
          <a:prstGeom prst="roundRect">
            <a:avLst>
              <a:gd name="adj" fmla="val 16000"/>
            </a:avLst>
          </a:prstGeom>
          <a:solidFill>
            <a:schemeClr val="accent1"/>
          </a:solidFill>
          <a:ln w="12700">
            <a:solidFill>
              <a:schemeClr val="accent1"/>
            </a:solidFill>
            <a:prstDash val="solid"/>
          </a:ln>
        </p:spPr>
      </p:sp>
      <p:sp>
        <p:nvSpPr>
          <p:cNvPr id="24" name="Text 47"/>
          <p:cNvSpPr txBox="1"/>
          <p:nvPr/>
        </p:nvSpPr>
        <p:spPr>
          <a:xfrm>
            <a:off x="640080" y="4005072"/>
            <a:ext cx="7863840" cy="457200"/>
          </a:xfrm>
          <a:prstGeom prst="rect">
            <a:avLst/>
          </a:prstGeom>
          <a:noFill/>
          <a:ln/>
        </p:spPr>
        <p:txBody>
          <a:bodyPr wrap="square" lIns="0" tIns="0" rIns="0" bIns="0" rtlCol="0" anchor="ctr"/>
          <a:lstStyle/>
          <a:p>
            <a:pPr algn="l" indent="0" marL="0">
              <a:buNone/>
            </a:pPr>
            <a:r>
              <a:rPr lang="en-US" sz="1500" b="1" dirty="0">
                <a:solidFill>
                  <a:schemeClr val="bg1"/>
                </a:solidFill>
              </a:rPr>
              <a:t>Goal: better inventory placement and less travel time during order fulfilment</a:t>
            </a:r>
            <a:endParaRPr lang="en-US" sz="1500" dirty="0"/>
          </a:p>
        </p:txBody>
      </p:sp>
      <p:sp>
        <p:nvSpPr>
          <p:cNvPr id="25" name="Slide Number Placeholder 0"/>
          <p:cNvSpPr>
            <a:spLocks noGrp="1"/>
          </p:cNvSpPr>
          <p:nvPr>
            <p:ph type="sldNum" sz="quarter" idx="4294967295"/>
          </p:nvPr>
        </p:nvSpPr>
        <p:spPr>
          <a:xfrm>
            <a:off x="8229600" y="47274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315200" cy="685800"/>
          </a:xfrm>
          <a:prstGeom prst="rect">
            <a:avLst/>
          </a:prstGeom>
          <a:noFill/>
          <a:ln/>
        </p:spPr>
        <p:txBody>
          <a:bodyPr wrap="square" lIns="0" tIns="0" rIns="0" bIns="0" rtlCol="0" anchor="ctr"/>
          <a:lstStyle/>
          <a:p>
            <a:pPr algn="l" indent="0" marL="0">
              <a:buNone/>
            </a:pPr>
            <a:r>
              <a:rPr lang="en-US" sz="3600" b="1" dirty="0">
                <a:solidFill>
                  <a:schemeClr val="tx2"/>
                </a:solidFill>
              </a:rPr>
              <a:t>Key terms in simple words</a:t>
            </a:r>
            <a:endParaRPr lang="en-US" sz="3600" dirty="0"/>
          </a:p>
        </p:txBody>
      </p:sp>
      <p:sp>
        <p:nvSpPr>
          <p:cNvPr id="4" name="Card 48"/>
          <p:cNvSpPr/>
          <p:nvPr/>
        </p:nvSpPr>
        <p:spPr>
          <a:xfrm>
            <a:off x="457200" y="1188720"/>
            <a:ext cx="4023360" cy="1005840"/>
          </a:xfrm>
          <a:prstGeom prst="roundRect">
            <a:avLst>
              <a:gd name="adj" fmla="val 7273"/>
            </a:avLst>
          </a:prstGeom>
          <a:solidFill>
            <a:schemeClr val="bg2"/>
          </a:solidFill>
          <a:ln w="12700">
            <a:solidFill>
              <a:schemeClr val="bg2"/>
            </a:solidFill>
            <a:prstDash val="solid"/>
          </a:ln>
        </p:spPr>
      </p:sp>
      <p:sp>
        <p:nvSpPr>
          <p:cNvPr id="5" name="Dot 49"/>
          <p:cNvSpPr/>
          <p:nvPr/>
        </p:nvSpPr>
        <p:spPr>
          <a:xfrm>
            <a:off x="621792" y="1371600"/>
            <a:ext cx="164592" cy="164592"/>
          </a:xfrm>
          <a:prstGeom prst="ellipse">
            <a:avLst/>
          </a:prstGeom>
          <a:solidFill>
            <a:schemeClr val="accent2"/>
          </a:solidFill>
          <a:ln w="12700">
            <a:solidFill>
              <a:schemeClr val="accent2"/>
            </a:solidFill>
            <a:prstDash val="solid"/>
          </a:ln>
        </p:spPr>
      </p:sp>
      <p:sp>
        <p:nvSpPr>
          <p:cNvPr id="6" name="Text 50"/>
          <p:cNvSpPr txBox="1"/>
          <p:nvPr/>
        </p:nvSpPr>
        <p:spPr>
          <a:xfrm>
            <a:off x="896112" y="1280160"/>
            <a:ext cx="3474720" cy="329184"/>
          </a:xfrm>
          <a:prstGeom prst="rect">
            <a:avLst/>
          </a:prstGeom>
          <a:noFill/>
          <a:ln/>
        </p:spPr>
        <p:txBody>
          <a:bodyPr wrap="square" lIns="0" tIns="0" rIns="0" bIns="0" rtlCol="0" anchor="ctr"/>
          <a:lstStyle/>
          <a:p>
            <a:pPr algn="l" indent="0" marL="0">
              <a:buNone/>
            </a:pPr>
            <a:r>
              <a:rPr lang="en-US" sz="1600" b="1" dirty="0">
                <a:solidFill>
                  <a:schemeClr val="tx2"/>
                </a:solidFill>
              </a:rPr>
              <a:t>SKU</a:t>
            </a:r>
            <a:endParaRPr lang="en-US" sz="1600" dirty="0"/>
          </a:p>
        </p:txBody>
      </p:sp>
      <p:sp>
        <p:nvSpPr>
          <p:cNvPr id="7" name="Text 51"/>
          <p:cNvSpPr txBox="1"/>
          <p:nvPr/>
        </p:nvSpPr>
        <p:spPr>
          <a:xfrm>
            <a:off x="621792" y="1645920"/>
            <a:ext cx="3703320" cy="502920"/>
          </a:xfrm>
          <a:prstGeom prst="rect">
            <a:avLst/>
          </a:prstGeom>
          <a:noFill/>
          <a:ln/>
        </p:spPr>
        <p:txBody>
          <a:bodyPr wrap="square" lIns="0" tIns="0" rIns="0" bIns="0" rtlCol="0" anchor="t"/>
          <a:lstStyle/>
          <a:p>
            <a:pPr algn="l" indent="0" marL="0">
              <a:buNone/>
            </a:pPr>
            <a:r>
              <a:rPr lang="en-US" sz="1400" dirty="0">
                <a:solidFill>
                  <a:schemeClr val="tx1"/>
                </a:solidFill>
              </a:rPr>
              <a:t>Stock Keeping Unit: one unique product type stored in the warehouse.</a:t>
            </a:r>
            <a:endParaRPr lang="en-US" sz="1400" dirty="0"/>
          </a:p>
        </p:txBody>
      </p:sp>
      <p:sp>
        <p:nvSpPr>
          <p:cNvPr id="8" name="Card 52"/>
          <p:cNvSpPr/>
          <p:nvPr/>
        </p:nvSpPr>
        <p:spPr>
          <a:xfrm>
            <a:off x="457200" y="2331720"/>
            <a:ext cx="4023360" cy="1005840"/>
          </a:xfrm>
          <a:prstGeom prst="roundRect">
            <a:avLst>
              <a:gd name="adj" fmla="val 7273"/>
            </a:avLst>
          </a:prstGeom>
          <a:solidFill>
            <a:schemeClr val="bg2"/>
          </a:solidFill>
          <a:ln w="12700">
            <a:solidFill>
              <a:schemeClr val="bg2"/>
            </a:solidFill>
            <a:prstDash val="solid"/>
          </a:ln>
        </p:spPr>
      </p:sp>
      <p:sp>
        <p:nvSpPr>
          <p:cNvPr id="9" name="Dot 53"/>
          <p:cNvSpPr/>
          <p:nvPr/>
        </p:nvSpPr>
        <p:spPr>
          <a:xfrm>
            <a:off x="621792" y="2514600"/>
            <a:ext cx="164592" cy="164592"/>
          </a:xfrm>
          <a:prstGeom prst="ellipse">
            <a:avLst/>
          </a:prstGeom>
          <a:solidFill>
            <a:schemeClr val="accent2"/>
          </a:solidFill>
          <a:ln w="12700">
            <a:solidFill>
              <a:schemeClr val="accent2"/>
            </a:solidFill>
            <a:prstDash val="solid"/>
          </a:ln>
        </p:spPr>
      </p:sp>
      <p:sp>
        <p:nvSpPr>
          <p:cNvPr id="10" name="Text 54"/>
          <p:cNvSpPr txBox="1"/>
          <p:nvPr/>
        </p:nvSpPr>
        <p:spPr>
          <a:xfrm>
            <a:off x="896112" y="2423160"/>
            <a:ext cx="3474720" cy="329184"/>
          </a:xfrm>
          <a:prstGeom prst="rect">
            <a:avLst/>
          </a:prstGeom>
          <a:noFill/>
          <a:ln/>
        </p:spPr>
        <p:txBody>
          <a:bodyPr wrap="square" lIns="0" tIns="0" rIns="0" bIns="0" rtlCol="0" anchor="ctr"/>
          <a:lstStyle/>
          <a:p>
            <a:pPr algn="l" indent="0" marL="0">
              <a:buNone/>
            </a:pPr>
            <a:r>
              <a:rPr lang="en-US" sz="1600" b="1" dirty="0">
                <a:solidFill>
                  <a:schemeClr val="tx2"/>
                </a:solidFill>
              </a:rPr>
              <a:t>Pick frequency</a:t>
            </a:r>
            <a:endParaRPr lang="en-US" sz="1600" dirty="0"/>
          </a:p>
        </p:txBody>
      </p:sp>
      <p:sp>
        <p:nvSpPr>
          <p:cNvPr id="11" name="Text 55"/>
          <p:cNvSpPr txBox="1"/>
          <p:nvPr/>
        </p:nvSpPr>
        <p:spPr>
          <a:xfrm>
            <a:off x="621792" y="2788920"/>
            <a:ext cx="3703320" cy="502920"/>
          </a:xfrm>
          <a:prstGeom prst="rect">
            <a:avLst/>
          </a:prstGeom>
          <a:noFill/>
          <a:ln/>
        </p:spPr>
        <p:txBody>
          <a:bodyPr wrap="square" lIns="0" tIns="0" rIns="0" bIns="0" rtlCol="0" anchor="t"/>
          <a:lstStyle/>
          <a:p>
            <a:pPr algn="l" indent="0" marL="0">
              <a:buNone/>
            </a:pPr>
            <a:r>
              <a:rPr lang="en-US" sz="1400" dirty="0">
                <a:solidFill>
                  <a:schemeClr val="tx1"/>
                </a:solidFill>
              </a:rPr>
              <a:t>How many times a product is taken from the shelf to fill orders.</a:t>
            </a:r>
            <a:endParaRPr lang="en-US" sz="1400" dirty="0"/>
          </a:p>
        </p:txBody>
      </p:sp>
      <p:sp>
        <p:nvSpPr>
          <p:cNvPr id="12" name="Card 56"/>
          <p:cNvSpPr/>
          <p:nvPr/>
        </p:nvSpPr>
        <p:spPr>
          <a:xfrm>
            <a:off x="457200" y="3474720"/>
            <a:ext cx="4023360" cy="1005840"/>
          </a:xfrm>
          <a:prstGeom prst="roundRect">
            <a:avLst>
              <a:gd name="adj" fmla="val 7273"/>
            </a:avLst>
          </a:prstGeom>
          <a:solidFill>
            <a:schemeClr val="bg2"/>
          </a:solidFill>
          <a:ln w="12700">
            <a:solidFill>
              <a:schemeClr val="bg2"/>
            </a:solidFill>
            <a:prstDash val="solid"/>
          </a:ln>
        </p:spPr>
      </p:sp>
      <p:sp>
        <p:nvSpPr>
          <p:cNvPr id="13" name="Dot 57"/>
          <p:cNvSpPr/>
          <p:nvPr/>
        </p:nvSpPr>
        <p:spPr>
          <a:xfrm>
            <a:off x="621792" y="3657600"/>
            <a:ext cx="164592" cy="164592"/>
          </a:xfrm>
          <a:prstGeom prst="ellipse">
            <a:avLst/>
          </a:prstGeom>
          <a:solidFill>
            <a:schemeClr val="accent2"/>
          </a:solidFill>
          <a:ln w="12700">
            <a:solidFill>
              <a:schemeClr val="accent2"/>
            </a:solidFill>
            <a:prstDash val="solid"/>
          </a:ln>
        </p:spPr>
      </p:sp>
      <p:sp>
        <p:nvSpPr>
          <p:cNvPr id="14" name="Text 58"/>
          <p:cNvSpPr txBox="1"/>
          <p:nvPr/>
        </p:nvSpPr>
        <p:spPr>
          <a:xfrm>
            <a:off x="896112" y="3566160"/>
            <a:ext cx="3474720" cy="329184"/>
          </a:xfrm>
          <a:prstGeom prst="rect">
            <a:avLst/>
          </a:prstGeom>
          <a:noFill/>
          <a:ln/>
        </p:spPr>
        <p:txBody>
          <a:bodyPr wrap="square" lIns="0" tIns="0" rIns="0" bIns="0" rtlCol="0" anchor="ctr"/>
          <a:lstStyle/>
          <a:p>
            <a:pPr algn="l" indent="0" marL="0">
              <a:buNone/>
            </a:pPr>
            <a:r>
              <a:rPr lang="en-US" sz="1600" b="1" dirty="0">
                <a:solidFill>
                  <a:schemeClr val="tx2"/>
                </a:solidFill>
              </a:rPr>
              <a:t>Seasonal demand velocity</a:t>
            </a:r>
            <a:endParaRPr lang="en-US" sz="1600" dirty="0"/>
          </a:p>
        </p:txBody>
      </p:sp>
      <p:sp>
        <p:nvSpPr>
          <p:cNvPr id="15" name="Text 59"/>
          <p:cNvSpPr txBox="1"/>
          <p:nvPr/>
        </p:nvSpPr>
        <p:spPr>
          <a:xfrm>
            <a:off x="621792" y="3931920"/>
            <a:ext cx="3703320" cy="502920"/>
          </a:xfrm>
          <a:prstGeom prst="rect">
            <a:avLst/>
          </a:prstGeom>
          <a:noFill/>
          <a:ln/>
        </p:spPr>
        <p:txBody>
          <a:bodyPr wrap="square" lIns="0" tIns="0" rIns="0" bIns="0" rtlCol="0" anchor="t"/>
          <a:lstStyle/>
          <a:p>
            <a:pPr algn="l" indent="0" marL="0">
              <a:buNone/>
            </a:pPr>
            <a:r>
              <a:rPr lang="en-US" sz="1400" dirty="0">
                <a:solidFill>
                  <a:schemeClr val="tx1"/>
                </a:solidFill>
              </a:rPr>
              <a:t>How fast a product sells in a season. Example: umbrellas in the monsoon.</a:t>
            </a:r>
            <a:endParaRPr lang="en-US" sz="1400" dirty="0"/>
          </a:p>
        </p:txBody>
      </p:sp>
      <p:sp>
        <p:nvSpPr>
          <p:cNvPr id="16" name="Card 60"/>
          <p:cNvSpPr/>
          <p:nvPr/>
        </p:nvSpPr>
        <p:spPr>
          <a:xfrm>
            <a:off x="4663440" y="1188720"/>
            <a:ext cx="4023360" cy="1005840"/>
          </a:xfrm>
          <a:prstGeom prst="roundRect">
            <a:avLst>
              <a:gd name="adj" fmla="val 7273"/>
            </a:avLst>
          </a:prstGeom>
          <a:solidFill>
            <a:schemeClr val="bg2"/>
          </a:solidFill>
          <a:ln w="12700">
            <a:solidFill>
              <a:schemeClr val="bg2"/>
            </a:solidFill>
            <a:prstDash val="solid"/>
          </a:ln>
        </p:spPr>
      </p:sp>
      <p:sp>
        <p:nvSpPr>
          <p:cNvPr id="17" name="Dot 61"/>
          <p:cNvSpPr/>
          <p:nvPr/>
        </p:nvSpPr>
        <p:spPr>
          <a:xfrm>
            <a:off x="4828032" y="1371600"/>
            <a:ext cx="164592" cy="164592"/>
          </a:xfrm>
          <a:prstGeom prst="ellipse">
            <a:avLst/>
          </a:prstGeom>
          <a:solidFill>
            <a:schemeClr val="accent3"/>
          </a:solidFill>
          <a:ln w="12700">
            <a:solidFill>
              <a:schemeClr val="accent3"/>
            </a:solidFill>
            <a:prstDash val="solid"/>
          </a:ln>
        </p:spPr>
      </p:sp>
      <p:sp>
        <p:nvSpPr>
          <p:cNvPr id="18" name="Text 62"/>
          <p:cNvSpPr txBox="1"/>
          <p:nvPr/>
        </p:nvSpPr>
        <p:spPr>
          <a:xfrm>
            <a:off x="5102352" y="1280160"/>
            <a:ext cx="3474720" cy="329184"/>
          </a:xfrm>
          <a:prstGeom prst="rect">
            <a:avLst/>
          </a:prstGeom>
          <a:noFill/>
          <a:ln/>
        </p:spPr>
        <p:txBody>
          <a:bodyPr wrap="square" lIns="0" tIns="0" rIns="0" bIns="0" rtlCol="0" anchor="ctr"/>
          <a:lstStyle/>
          <a:p>
            <a:pPr algn="l" indent="0" marL="0">
              <a:buNone/>
            </a:pPr>
            <a:r>
              <a:rPr lang="en-US" sz="1600" b="1" dirty="0">
                <a:solidFill>
                  <a:schemeClr val="tx2"/>
                </a:solidFill>
              </a:rPr>
              <a:t>Clustering</a:t>
            </a:r>
            <a:endParaRPr lang="en-US" sz="1600" dirty="0"/>
          </a:p>
        </p:txBody>
      </p:sp>
      <p:sp>
        <p:nvSpPr>
          <p:cNvPr id="19" name="Text 63"/>
          <p:cNvSpPr txBox="1"/>
          <p:nvPr/>
        </p:nvSpPr>
        <p:spPr>
          <a:xfrm>
            <a:off x="4828032" y="1645920"/>
            <a:ext cx="3703320" cy="502920"/>
          </a:xfrm>
          <a:prstGeom prst="rect">
            <a:avLst/>
          </a:prstGeom>
          <a:noFill/>
          <a:ln/>
        </p:spPr>
        <p:txBody>
          <a:bodyPr wrap="square" lIns="0" tIns="0" rIns="0" bIns="0" rtlCol="0" anchor="t"/>
          <a:lstStyle/>
          <a:p>
            <a:pPr algn="l" indent="0" marL="0">
              <a:buNone/>
            </a:pPr>
            <a:r>
              <a:rPr lang="en-US" sz="1400" dirty="0">
                <a:solidFill>
                  <a:schemeClr val="tx1"/>
                </a:solidFill>
              </a:rPr>
              <a:t>Dividing data into groups where items in a group are very similar.</a:t>
            </a:r>
            <a:endParaRPr lang="en-US" sz="1400" dirty="0"/>
          </a:p>
        </p:txBody>
      </p:sp>
      <p:sp>
        <p:nvSpPr>
          <p:cNvPr id="20" name="Card 64"/>
          <p:cNvSpPr/>
          <p:nvPr/>
        </p:nvSpPr>
        <p:spPr>
          <a:xfrm>
            <a:off x="4663440" y="2331720"/>
            <a:ext cx="4023360" cy="1005840"/>
          </a:xfrm>
          <a:prstGeom prst="roundRect">
            <a:avLst>
              <a:gd name="adj" fmla="val 7273"/>
            </a:avLst>
          </a:prstGeom>
          <a:solidFill>
            <a:schemeClr val="bg2"/>
          </a:solidFill>
          <a:ln w="12700">
            <a:solidFill>
              <a:schemeClr val="bg2"/>
            </a:solidFill>
            <a:prstDash val="solid"/>
          </a:ln>
        </p:spPr>
      </p:sp>
      <p:sp>
        <p:nvSpPr>
          <p:cNvPr id="21" name="Dot 65"/>
          <p:cNvSpPr/>
          <p:nvPr/>
        </p:nvSpPr>
        <p:spPr>
          <a:xfrm>
            <a:off x="4828032" y="2514600"/>
            <a:ext cx="164592" cy="164592"/>
          </a:xfrm>
          <a:prstGeom prst="ellipse">
            <a:avLst/>
          </a:prstGeom>
          <a:solidFill>
            <a:schemeClr val="accent3"/>
          </a:solidFill>
          <a:ln w="12700">
            <a:solidFill>
              <a:schemeClr val="accent3"/>
            </a:solidFill>
            <a:prstDash val="solid"/>
          </a:ln>
        </p:spPr>
      </p:sp>
      <p:sp>
        <p:nvSpPr>
          <p:cNvPr id="22" name="Text 66"/>
          <p:cNvSpPr txBox="1"/>
          <p:nvPr/>
        </p:nvSpPr>
        <p:spPr>
          <a:xfrm>
            <a:off x="5102352" y="2423160"/>
            <a:ext cx="3474720" cy="329184"/>
          </a:xfrm>
          <a:prstGeom prst="rect">
            <a:avLst/>
          </a:prstGeom>
          <a:noFill/>
          <a:ln/>
        </p:spPr>
        <p:txBody>
          <a:bodyPr wrap="square" lIns="0" tIns="0" rIns="0" bIns="0" rtlCol="0" anchor="ctr"/>
          <a:lstStyle/>
          <a:p>
            <a:pPr algn="l" indent="0" marL="0">
              <a:buNone/>
            </a:pPr>
            <a:r>
              <a:rPr lang="en-US" sz="1600" b="1" dirty="0">
                <a:solidFill>
                  <a:schemeClr val="tx2"/>
                </a:solidFill>
              </a:rPr>
              <a:t>Centroid</a:t>
            </a:r>
            <a:endParaRPr lang="en-US" sz="1600" dirty="0"/>
          </a:p>
        </p:txBody>
      </p:sp>
      <p:sp>
        <p:nvSpPr>
          <p:cNvPr id="23" name="Text 67"/>
          <p:cNvSpPr txBox="1"/>
          <p:nvPr/>
        </p:nvSpPr>
        <p:spPr>
          <a:xfrm>
            <a:off x="4828032" y="2788920"/>
            <a:ext cx="3703320" cy="502920"/>
          </a:xfrm>
          <a:prstGeom prst="rect">
            <a:avLst/>
          </a:prstGeom>
          <a:noFill/>
          <a:ln/>
        </p:spPr>
        <p:txBody>
          <a:bodyPr wrap="square" lIns="0" tIns="0" rIns="0" bIns="0" rtlCol="0" anchor="t"/>
          <a:lstStyle/>
          <a:p>
            <a:pPr algn="l" indent="0" marL="0">
              <a:buNone/>
            </a:pPr>
            <a:r>
              <a:rPr lang="en-US" sz="1400" dirty="0">
                <a:solidFill>
                  <a:schemeClr val="tx1"/>
                </a:solidFill>
              </a:rPr>
              <a:t>The centre (mean point) of a cluster. Each cluster has one.</a:t>
            </a:r>
            <a:endParaRPr lang="en-US" sz="1400" dirty="0"/>
          </a:p>
        </p:txBody>
      </p:sp>
      <p:sp>
        <p:nvSpPr>
          <p:cNvPr id="24" name="Card 68"/>
          <p:cNvSpPr/>
          <p:nvPr/>
        </p:nvSpPr>
        <p:spPr>
          <a:xfrm>
            <a:off x="4663440" y="3474720"/>
            <a:ext cx="4023360" cy="1005840"/>
          </a:xfrm>
          <a:prstGeom prst="roundRect">
            <a:avLst>
              <a:gd name="adj" fmla="val 7273"/>
            </a:avLst>
          </a:prstGeom>
          <a:solidFill>
            <a:schemeClr val="bg2"/>
          </a:solidFill>
          <a:ln w="12700">
            <a:solidFill>
              <a:schemeClr val="bg2"/>
            </a:solidFill>
            <a:prstDash val="solid"/>
          </a:ln>
        </p:spPr>
      </p:sp>
      <p:sp>
        <p:nvSpPr>
          <p:cNvPr id="25" name="Dot 69"/>
          <p:cNvSpPr/>
          <p:nvPr/>
        </p:nvSpPr>
        <p:spPr>
          <a:xfrm>
            <a:off x="4828032" y="3657600"/>
            <a:ext cx="164592" cy="164592"/>
          </a:xfrm>
          <a:prstGeom prst="ellipse">
            <a:avLst/>
          </a:prstGeom>
          <a:solidFill>
            <a:schemeClr val="accent3"/>
          </a:solidFill>
          <a:ln w="12700">
            <a:solidFill>
              <a:schemeClr val="accent3"/>
            </a:solidFill>
            <a:prstDash val="solid"/>
          </a:ln>
        </p:spPr>
      </p:sp>
      <p:sp>
        <p:nvSpPr>
          <p:cNvPr id="26" name="Text 70"/>
          <p:cNvSpPr txBox="1"/>
          <p:nvPr/>
        </p:nvSpPr>
        <p:spPr>
          <a:xfrm>
            <a:off x="5102352" y="3566160"/>
            <a:ext cx="3474720" cy="329184"/>
          </a:xfrm>
          <a:prstGeom prst="rect">
            <a:avLst/>
          </a:prstGeom>
          <a:noFill/>
          <a:ln/>
        </p:spPr>
        <p:txBody>
          <a:bodyPr wrap="square" lIns="0" tIns="0" rIns="0" bIns="0" rtlCol="0" anchor="ctr"/>
          <a:lstStyle/>
          <a:p>
            <a:pPr algn="l" indent="0" marL="0">
              <a:buNone/>
            </a:pPr>
            <a:r>
              <a:rPr lang="en-US" sz="1600" b="1" dirty="0">
                <a:solidFill>
                  <a:schemeClr val="tx2"/>
                </a:solidFill>
              </a:rPr>
              <a:t>Unsupervised learning</a:t>
            </a:r>
            <a:endParaRPr lang="en-US" sz="1600" dirty="0"/>
          </a:p>
        </p:txBody>
      </p:sp>
      <p:sp>
        <p:nvSpPr>
          <p:cNvPr id="27" name="Text 71"/>
          <p:cNvSpPr txBox="1"/>
          <p:nvPr/>
        </p:nvSpPr>
        <p:spPr>
          <a:xfrm>
            <a:off x="4828032" y="3931920"/>
            <a:ext cx="3703320" cy="502920"/>
          </a:xfrm>
          <a:prstGeom prst="rect">
            <a:avLst/>
          </a:prstGeom>
          <a:noFill/>
          <a:ln/>
        </p:spPr>
        <p:txBody>
          <a:bodyPr wrap="square" lIns="0" tIns="0" rIns="0" bIns="0" rtlCol="0" anchor="t"/>
          <a:lstStyle/>
          <a:p>
            <a:pPr algn="l" indent="0" marL="0">
              <a:buNone/>
            </a:pPr>
            <a:r>
              <a:rPr lang="en-US" sz="1400" dirty="0">
                <a:solidFill>
                  <a:schemeClr val="tx1"/>
                </a:solidFill>
              </a:rPr>
              <a:t>Learning from data that has no labels. The algorithm finds the groups itself.</a:t>
            </a:r>
            <a:endParaRPr lang="en-US" sz="1400" dirty="0"/>
          </a:p>
        </p:txBody>
      </p:sp>
      <p:sp>
        <p:nvSpPr>
          <p:cNvPr id="25" name="Slide Number Placeholder 0"/>
          <p:cNvSpPr>
            <a:spLocks noGrp="1"/>
          </p:cNvSpPr>
          <p:nvPr>
            <p:ph type="sldNum" sz="quarter" idx="4294967295"/>
          </p:nvPr>
        </p:nvSpPr>
        <p:spPr>
          <a:xfrm>
            <a:off x="8229600" y="47274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315200" cy="685800"/>
          </a:xfrm>
          <a:prstGeom prst="rect">
            <a:avLst/>
          </a:prstGeom>
          <a:noFill/>
          <a:ln/>
        </p:spPr>
        <p:txBody>
          <a:bodyPr wrap="square" lIns="0" tIns="0" rIns="0" bIns="0" rtlCol="0" anchor="ctr"/>
          <a:lstStyle/>
          <a:p>
            <a:pPr algn="l" indent="0" marL="0">
              <a:buNone/>
            </a:pPr>
            <a:r>
              <a:rPr lang="en-US" sz="3600" b="1" dirty="0">
                <a:solidFill>
                  <a:schemeClr val="tx2"/>
                </a:solidFill>
              </a:rPr>
              <a:t>Unit 3 solutions we reviewed</a:t>
            </a:r>
            <a:endParaRPr lang="en-US" sz="3600" dirty="0"/>
          </a:p>
        </p:txBody>
      </p:sp>
      <p:sp>
        <p:nvSpPr>
          <p:cNvPr id="4" name="Card 72"/>
          <p:cNvSpPr/>
          <p:nvPr/>
        </p:nvSpPr>
        <p:spPr>
          <a:xfrm>
            <a:off x="457200" y="1188720"/>
            <a:ext cx="1920240" cy="2926080"/>
          </a:xfrm>
          <a:prstGeom prst="roundRect">
            <a:avLst>
              <a:gd name="adj" fmla="val 3810"/>
            </a:avLst>
          </a:prstGeom>
          <a:solidFill>
            <a:schemeClr val="accent1"/>
          </a:solidFill>
          <a:ln w="12700">
            <a:solidFill>
              <a:schemeClr val="accent1"/>
            </a:solidFill>
            <a:prstDash val="solid"/>
          </a:ln>
        </p:spPr>
      </p:sp>
      <p:sp>
        <p:nvSpPr>
          <p:cNvPr id="5" name="Text 73"/>
          <p:cNvSpPr txBox="1"/>
          <p:nvPr/>
        </p:nvSpPr>
        <p:spPr>
          <a:xfrm>
            <a:off x="594360" y="1325880"/>
            <a:ext cx="1645920" cy="274320"/>
          </a:xfrm>
          <a:prstGeom prst="rect">
            <a:avLst/>
          </a:prstGeom>
          <a:noFill/>
          <a:ln/>
        </p:spPr>
        <p:txBody>
          <a:bodyPr wrap="square" lIns="0" tIns="0" rIns="0" bIns="0" rtlCol="0" anchor="t"/>
          <a:lstStyle/>
          <a:p>
            <a:pPr algn="l" indent="0" marL="0">
              <a:buNone/>
            </a:pPr>
            <a:r>
              <a:rPr lang="en-US" sz="1100" b="1" dirty="0">
                <a:solidFill>
                  <a:schemeClr val="accent4"/>
                </a:solidFill>
              </a:rPr>
              <a:t>Centroid-based</a:t>
            </a:r>
            <a:endParaRPr lang="en-US" sz="1100" dirty="0"/>
          </a:p>
        </p:txBody>
      </p:sp>
      <p:sp>
        <p:nvSpPr>
          <p:cNvPr id="6" name="Text 74"/>
          <p:cNvSpPr txBox="1"/>
          <p:nvPr/>
        </p:nvSpPr>
        <p:spPr>
          <a:xfrm>
            <a:off x="594360" y="1627632"/>
            <a:ext cx="1645920" cy="640080"/>
          </a:xfrm>
          <a:prstGeom prst="rect">
            <a:avLst/>
          </a:prstGeom>
          <a:noFill/>
          <a:ln/>
        </p:spPr>
        <p:txBody>
          <a:bodyPr wrap="square" lIns="0" tIns="0" rIns="0" bIns="0" rtlCol="0" anchor="t"/>
          <a:lstStyle/>
          <a:p>
            <a:pPr algn="l" indent="0" marL="0">
              <a:buNone/>
            </a:pPr>
            <a:r>
              <a:rPr lang="en-US" sz="1700" b="1" dirty="0">
                <a:solidFill>
                  <a:schemeClr val="bg1"/>
                </a:solidFill>
              </a:rPr>
              <a:t>K-Means clustering</a:t>
            </a:r>
            <a:endParaRPr lang="en-US" sz="1700" dirty="0"/>
          </a:p>
        </p:txBody>
      </p:sp>
      <p:sp>
        <p:nvSpPr>
          <p:cNvPr id="7" name="Text 75"/>
          <p:cNvSpPr txBox="1"/>
          <p:nvPr/>
        </p:nvSpPr>
        <p:spPr>
          <a:xfrm>
            <a:off x="594360" y="2331720"/>
            <a:ext cx="1645920" cy="1188720"/>
          </a:xfrm>
          <a:prstGeom prst="rect">
            <a:avLst/>
          </a:prstGeom>
          <a:noFill/>
          <a:ln/>
        </p:spPr>
        <p:txBody>
          <a:bodyPr wrap="square" lIns="0" tIns="0" rIns="0" bIns="0" rtlCol="0" anchor="t"/>
          <a:lstStyle/>
          <a:p>
            <a:pPr algn="l" indent="0" marL="0">
              <a:buNone/>
            </a:pPr>
            <a:r>
              <a:rPr lang="en-US" sz="1400" dirty="0">
                <a:solidFill>
                  <a:schemeClr val="bg1"/>
                </a:solidFill>
              </a:rPr>
              <a:t>Splits data into k groups. Each item joins the nearest centre.</a:t>
            </a:r>
            <a:endParaRPr lang="en-US" sz="1400" dirty="0"/>
          </a:p>
        </p:txBody>
      </p:sp>
      <p:sp>
        <p:nvSpPr>
          <p:cNvPr id="8" name="Pill 76"/>
          <p:cNvSpPr/>
          <p:nvPr/>
        </p:nvSpPr>
        <p:spPr>
          <a:xfrm>
            <a:off x="594360" y="3611880"/>
            <a:ext cx="1188720" cy="329184"/>
          </a:xfrm>
          <a:prstGeom prst="roundRect">
            <a:avLst>
              <a:gd name="adj" fmla="val 41667"/>
            </a:avLst>
          </a:prstGeom>
          <a:solidFill>
            <a:schemeClr val="accent2"/>
          </a:solidFill>
          <a:ln>
            <a:solidFill>
              <a:schemeClr val="accent2"/>
            </a:solidFill>
          </a:ln>
        </p:spPr>
        <p:txBody>
          <a:bodyPr wrap="square" lIns="0" tIns="0" rIns="0" bIns="0" rtlCol="0" anchor="ctr"/>
          <a:lstStyle/>
          <a:p>
            <a:pPr algn="ctr" indent="0" marL="0">
              <a:buNone/>
            </a:pPr>
            <a:r>
              <a:rPr lang="en-US" sz="1300" b="1" dirty="0">
                <a:solidFill>
                  <a:schemeClr val="tx1"/>
                </a:solidFill>
              </a:rPr>
              <a:t>Our choice</a:t>
            </a:r>
            <a:endParaRPr lang="en-US" sz="1300" dirty="0"/>
          </a:p>
        </p:txBody>
      </p:sp>
      <p:sp>
        <p:nvSpPr>
          <p:cNvPr id="9" name="Card 77"/>
          <p:cNvSpPr/>
          <p:nvPr/>
        </p:nvSpPr>
        <p:spPr>
          <a:xfrm>
            <a:off x="2560320" y="1188720"/>
            <a:ext cx="1920240" cy="2926080"/>
          </a:xfrm>
          <a:prstGeom prst="roundRect">
            <a:avLst>
              <a:gd name="adj" fmla="val 3810"/>
            </a:avLst>
          </a:prstGeom>
          <a:solidFill>
            <a:schemeClr val="bg2"/>
          </a:solidFill>
          <a:ln w="12700">
            <a:solidFill>
              <a:schemeClr val="bg2"/>
            </a:solidFill>
            <a:prstDash val="solid"/>
          </a:ln>
        </p:spPr>
      </p:sp>
      <p:sp>
        <p:nvSpPr>
          <p:cNvPr id="10" name="Text 78"/>
          <p:cNvSpPr txBox="1"/>
          <p:nvPr/>
        </p:nvSpPr>
        <p:spPr>
          <a:xfrm>
            <a:off x="2697480" y="1325880"/>
            <a:ext cx="1645920" cy="274320"/>
          </a:xfrm>
          <a:prstGeom prst="rect">
            <a:avLst/>
          </a:prstGeom>
          <a:noFill/>
          <a:ln/>
        </p:spPr>
        <p:txBody>
          <a:bodyPr wrap="square" lIns="0" tIns="0" rIns="0" bIns="0" rtlCol="0" anchor="t"/>
          <a:lstStyle/>
          <a:p>
            <a:pPr algn="l" indent="0" marL="0">
              <a:buNone/>
            </a:pPr>
            <a:r>
              <a:rPr lang="en-US" sz="1100" b="1" dirty="0">
                <a:solidFill>
                  <a:schemeClr val="accent5"/>
                </a:solidFill>
              </a:rPr>
              <a:t>Distribution-based</a:t>
            </a:r>
            <a:endParaRPr lang="en-US" sz="1100" dirty="0"/>
          </a:p>
        </p:txBody>
      </p:sp>
      <p:sp>
        <p:nvSpPr>
          <p:cNvPr id="11" name="Text 79"/>
          <p:cNvSpPr txBox="1"/>
          <p:nvPr/>
        </p:nvSpPr>
        <p:spPr>
          <a:xfrm>
            <a:off x="2697480" y="1627632"/>
            <a:ext cx="1645920" cy="640080"/>
          </a:xfrm>
          <a:prstGeom prst="rect">
            <a:avLst/>
          </a:prstGeom>
          <a:noFill/>
          <a:ln/>
        </p:spPr>
        <p:txBody>
          <a:bodyPr wrap="square" lIns="0" tIns="0" rIns="0" bIns="0" rtlCol="0" anchor="t"/>
          <a:lstStyle/>
          <a:p>
            <a:pPr algn="l" indent="0" marL="0">
              <a:buNone/>
            </a:pPr>
            <a:r>
              <a:rPr lang="en-US" sz="1700" b="1" dirty="0">
                <a:solidFill>
                  <a:schemeClr val="tx2"/>
                </a:solidFill>
              </a:rPr>
              <a:t>Mixtures of Gaussians (EM)</a:t>
            </a:r>
            <a:endParaRPr lang="en-US" sz="1700" dirty="0"/>
          </a:p>
        </p:txBody>
      </p:sp>
      <p:sp>
        <p:nvSpPr>
          <p:cNvPr id="12" name="Text 80"/>
          <p:cNvSpPr txBox="1"/>
          <p:nvPr/>
        </p:nvSpPr>
        <p:spPr>
          <a:xfrm>
            <a:off x="2697480" y="2331720"/>
            <a:ext cx="1645920" cy="1188720"/>
          </a:xfrm>
          <a:prstGeom prst="rect">
            <a:avLst/>
          </a:prstGeom>
          <a:noFill/>
          <a:ln/>
        </p:spPr>
        <p:txBody>
          <a:bodyPr wrap="square" lIns="0" tIns="0" rIns="0" bIns="0" rtlCol="0" anchor="t"/>
          <a:lstStyle/>
          <a:p>
            <a:pPr algn="l" indent="0" marL="0">
              <a:buNone/>
            </a:pPr>
            <a:r>
              <a:rPr lang="en-US" sz="1400" dirty="0">
                <a:solidFill>
                  <a:schemeClr val="tx1"/>
                </a:solidFill>
              </a:rPr>
              <a:t>Soft clustering. Each item gets a probability for every group.</a:t>
            </a:r>
            <a:endParaRPr lang="en-US" sz="1400" dirty="0"/>
          </a:p>
        </p:txBody>
      </p:sp>
      <p:sp>
        <p:nvSpPr>
          <p:cNvPr id="13" name="Card 81"/>
          <p:cNvSpPr/>
          <p:nvPr/>
        </p:nvSpPr>
        <p:spPr>
          <a:xfrm>
            <a:off x="4663440" y="1188720"/>
            <a:ext cx="1920240" cy="2926080"/>
          </a:xfrm>
          <a:prstGeom prst="roundRect">
            <a:avLst>
              <a:gd name="adj" fmla="val 3810"/>
            </a:avLst>
          </a:prstGeom>
          <a:solidFill>
            <a:schemeClr val="bg2"/>
          </a:solidFill>
          <a:ln w="12700">
            <a:solidFill>
              <a:schemeClr val="bg2"/>
            </a:solidFill>
            <a:prstDash val="solid"/>
          </a:ln>
        </p:spPr>
      </p:sp>
      <p:sp>
        <p:nvSpPr>
          <p:cNvPr id="14" name="Text 82"/>
          <p:cNvSpPr txBox="1"/>
          <p:nvPr/>
        </p:nvSpPr>
        <p:spPr>
          <a:xfrm>
            <a:off x="4800600" y="1325880"/>
            <a:ext cx="1645920" cy="274320"/>
          </a:xfrm>
          <a:prstGeom prst="rect">
            <a:avLst/>
          </a:prstGeom>
          <a:noFill/>
          <a:ln/>
        </p:spPr>
        <p:txBody>
          <a:bodyPr wrap="square" lIns="0" tIns="0" rIns="0" bIns="0" rtlCol="0" anchor="t"/>
          <a:lstStyle/>
          <a:p>
            <a:pPr algn="l" indent="0" marL="0">
              <a:buNone/>
            </a:pPr>
            <a:r>
              <a:rPr lang="en-US" sz="1100" b="1" dirty="0">
                <a:solidFill>
                  <a:schemeClr val="accent5"/>
                </a:solidFill>
              </a:rPr>
              <a:t>Tree-based</a:t>
            </a:r>
            <a:endParaRPr lang="en-US" sz="1100" dirty="0"/>
          </a:p>
        </p:txBody>
      </p:sp>
      <p:sp>
        <p:nvSpPr>
          <p:cNvPr id="15" name="Text 83"/>
          <p:cNvSpPr txBox="1"/>
          <p:nvPr/>
        </p:nvSpPr>
        <p:spPr>
          <a:xfrm>
            <a:off x="4800600" y="1627632"/>
            <a:ext cx="1645920" cy="640080"/>
          </a:xfrm>
          <a:prstGeom prst="rect">
            <a:avLst/>
          </a:prstGeom>
          <a:noFill/>
          <a:ln/>
        </p:spPr>
        <p:txBody>
          <a:bodyPr wrap="square" lIns="0" tIns="0" rIns="0" bIns="0" rtlCol="0" anchor="t"/>
          <a:lstStyle/>
          <a:p>
            <a:pPr algn="l" indent="0" marL="0">
              <a:buNone/>
            </a:pPr>
            <a:r>
              <a:rPr lang="en-US" sz="1700" b="1" dirty="0">
                <a:solidFill>
                  <a:schemeClr val="tx2"/>
                </a:solidFill>
              </a:rPr>
              <a:t>Hierarchical clustering</a:t>
            </a:r>
            <a:endParaRPr lang="en-US" sz="1700" dirty="0"/>
          </a:p>
        </p:txBody>
      </p:sp>
      <p:sp>
        <p:nvSpPr>
          <p:cNvPr id="16" name="Text 84"/>
          <p:cNvSpPr txBox="1"/>
          <p:nvPr/>
        </p:nvSpPr>
        <p:spPr>
          <a:xfrm>
            <a:off x="4800600" y="2331720"/>
            <a:ext cx="1645920" cy="1188720"/>
          </a:xfrm>
          <a:prstGeom prst="rect">
            <a:avLst/>
          </a:prstGeom>
          <a:noFill/>
          <a:ln/>
        </p:spPr>
        <p:txBody>
          <a:bodyPr wrap="square" lIns="0" tIns="0" rIns="0" bIns="0" rtlCol="0" anchor="t"/>
          <a:lstStyle/>
          <a:p>
            <a:pPr algn="l" indent="0" marL="0">
              <a:buNone/>
            </a:pPr>
            <a:r>
              <a:rPr lang="en-US" sz="1400" dirty="0">
                <a:solidFill>
                  <a:schemeClr val="tx1"/>
                </a:solidFill>
              </a:rPr>
              <a:t>Builds a tree of clusters by merging or splitting step by step.</a:t>
            </a:r>
            <a:endParaRPr lang="en-US" sz="1400" dirty="0"/>
          </a:p>
        </p:txBody>
      </p:sp>
      <p:sp>
        <p:nvSpPr>
          <p:cNvPr id="17" name="Card 85"/>
          <p:cNvSpPr/>
          <p:nvPr/>
        </p:nvSpPr>
        <p:spPr>
          <a:xfrm>
            <a:off x="6766560" y="1188720"/>
            <a:ext cx="1920240" cy="2926080"/>
          </a:xfrm>
          <a:prstGeom prst="roundRect">
            <a:avLst>
              <a:gd name="adj" fmla="val 3810"/>
            </a:avLst>
          </a:prstGeom>
          <a:solidFill>
            <a:schemeClr val="bg2"/>
          </a:solidFill>
          <a:ln w="12700">
            <a:solidFill>
              <a:schemeClr val="bg2"/>
            </a:solidFill>
            <a:prstDash val="solid"/>
          </a:ln>
        </p:spPr>
      </p:sp>
      <p:sp>
        <p:nvSpPr>
          <p:cNvPr id="18" name="Text 86"/>
          <p:cNvSpPr txBox="1"/>
          <p:nvPr/>
        </p:nvSpPr>
        <p:spPr>
          <a:xfrm>
            <a:off x="6903720" y="1325880"/>
            <a:ext cx="1645920" cy="274320"/>
          </a:xfrm>
          <a:prstGeom prst="rect">
            <a:avLst/>
          </a:prstGeom>
          <a:noFill/>
          <a:ln/>
        </p:spPr>
        <p:txBody>
          <a:bodyPr wrap="square" lIns="0" tIns="0" rIns="0" bIns="0" rtlCol="0" anchor="t"/>
          <a:lstStyle/>
          <a:p>
            <a:pPr algn="l" indent="0" marL="0">
              <a:buNone/>
            </a:pPr>
            <a:r>
              <a:rPr lang="en-US" sz="1100" b="1" dirty="0">
                <a:solidFill>
                  <a:schemeClr val="accent5"/>
                </a:solidFill>
              </a:rPr>
              <a:t>Fewer features</a:t>
            </a:r>
            <a:endParaRPr lang="en-US" sz="1100" dirty="0"/>
          </a:p>
        </p:txBody>
      </p:sp>
      <p:sp>
        <p:nvSpPr>
          <p:cNvPr id="19" name="Text 87"/>
          <p:cNvSpPr txBox="1"/>
          <p:nvPr/>
        </p:nvSpPr>
        <p:spPr>
          <a:xfrm>
            <a:off x="6903720" y="1627632"/>
            <a:ext cx="1645920" cy="640080"/>
          </a:xfrm>
          <a:prstGeom prst="rect">
            <a:avLst/>
          </a:prstGeom>
          <a:noFill/>
          <a:ln/>
        </p:spPr>
        <p:txBody>
          <a:bodyPr wrap="square" lIns="0" tIns="0" rIns="0" bIns="0" rtlCol="0" anchor="t"/>
          <a:lstStyle/>
          <a:p>
            <a:pPr algn="l" indent="0" marL="0">
              <a:buNone/>
            </a:pPr>
            <a:r>
              <a:rPr lang="en-US" sz="1700" b="1" dirty="0">
                <a:solidFill>
                  <a:schemeClr val="tx2"/>
                </a:solidFill>
              </a:rPr>
              <a:t>PCA and Factor analysis</a:t>
            </a:r>
            <a:endParaRPr lang="en-US" sz="1700" dirty="0"/>
          </a:p>
        </p:txBody>
      </p:sp>
      <p:sp>
        <p:nvSpPr>
          <p:cNvPr id="20" name="Text 88"/>
          <p:cNvSpPr txBox="1"/>
          <p:nvPr/>
        </p:nvSpPr>
        <p:spPr>
          <a:xfrm>
            <a:off x="6903720" y="2331720"/>
            <a:ext cx="1645920" cy="1188720"/>
          </a:xfrm>
          <a:prstGeom prst="rect">
            <a:avLst/>
          </a:prstGeom>
          <a:noFill/>
          <a:ln/>
        </p:spPr>
        <p:txBody>
          <a:bodyPr wrap="square" lIns="0" tIns="0" rIns="0" bIns="0" rtlCol="0" anchor="t"/>
          <a:lstStyle/>
          <a:p>
            <a:pPr algn="l" indent="0" marL="0">
              <a:buNone/>
            </a:pPr>
            <a:r>
              <a:rPr lang="en-US" sz="1400" dirty="0">
                <a:solidFill>
                  <a:schemeClr val="tx1"/>
                </a:solidFill>
              </a:rPr>
              <a:t>Reduces many features to a few. It does not make groups.</a:t>
            </a:r>
            <a:endParaRPr lang="en-US" sz="1400" dirty="0"/>
          </a:p>
        </p:txBody>
      </p:sp>
      <p:sp>
        <p:nvSpPr>
          <p:cNvPr id="21" name="Text 89"/>
          <p:cNvSpPr txBox="1"/>
          <p:nvPr/>
        </p:nvSpPr>
        <p:spPr>
          <a:xfrm>
            <a:off x="457200" y="4224528"/>
            <a:ext cx="8229600" cy="274320"/>
          </a:xfrm>
          <a:prstGeom prst="rect">
            <a:avLst/>
          </a:prstGeom>
          <a:noFill/>
          <a:ln/>
        </p:spPr>
        <p:txBody>
          <a:bodyPr wrap="square" lIns="0" tIns="0" rIns="0" bIns="0" rtlCol="0" anchor="ctr"/>
          <a:lstStyle/>
          <a:p>
            <a:pPr algn="l" indent="0" marL="0">
              <a:buNone/>
            </a:pPr>
            <a:r>
              <a:rPr lang="en-US" sz="1100" dirty="0">
                <a:solidFill>
                  <a:schemeClr val="accent5"/>
                </a:solidFill>
              </a:rPr>
              <a:t>From the Unit 3 syllabus: K-means, mixtures of Gaussians, EM, factor analysis, PCA, hierarchical clustering</a:t>
            </a:r>
            <a:endParaRPr lang="en-US" sz="1100" dirty="0"/>
          </a:p>
        </p:txBody>
      </p:sp>
      <p:sp>
        <p:nvSpPr>
          <p:cNvPr id="25" name="Slide Number Placeholder 0"/>
          <p:cNvSpPr>
            <a:spLocks noGrp="1"/>
          </p:cNvSpPr>
          <p:nvPr>
            <p:ph type="sldNum" sz="quarter" idx="4294967295"/>
          </p:nvPr>
        </p:nvSpPr>
        <p:spPr>
          <a:xfrm>
            <a:off x="8229600" y="47274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315200" cy="685800"/>
          </a:xfrm>
          <a:prstGeom prst="rect">
            <a:avLst/>
          </a:prstGeom>
          <a:noFill/>
          <a:ln/>
        </p:spPr>
        <p:txBody>
          <a:bodyPr wrap="square" lIns="0" tIns="0" rIns="0" bIns="0" rtlCol="0" anchor="ctr"/>
          <a:lstStyle/>
          <a:p>
            <a:pPr algn="l" indent="0" marL="0">
              <a:buNone/>
            </a:pPr>
            <a:r>
              <a:rPr lang="en-US" sz="3600" b="1" dirty="0">
                <a:solidFill>
                  <a:schemeClr val="tx2"/>
                </a:solidFill>
              </a:rPr>
              <a:t>Our choice: K-Means clustering</a:t>
            </a:r>
            <a:endParaRPr lang="en-US" sz="3600" dirty="0"/>
          </a:p>
        </p:txBody>
      </p:sp>
      <p:sp>
        <p:nvSpPr>
          <p:cNvPr id="4" name="Card 90"/>
          <p:cNvSpPr/>
          <p:nvPr/>
        </p:nvSpPr>
        <p:spPr>
          <a:xfrm>
            <a:off x="457200" y="1188720"/>
            <a:ext cx="3566160" cy="3200400"/>
          </a:xfrm>
          <a:prstGeom prst="roundRect">
            <a:avLst>
              <a:gd name="adj" fmla="val 2286"/>
            </a:avLst>
          </a:prstGeom>
          <a:solidFill>
            <a:schemeClr val="accent1"/>
          </a:solidFill>
          <a:ln w="12700">
            <a:solidFill>
              <a:schemeClr val="accent1"/>
            </a:solidFill>
            <a:prstDash val="solid"/>
          </a:ln>
        </p:spPr>
      </p:sp>
      <p:sp>
        <p:nvSpPr>
          <p:cNvPr id="5" name="Text 91"/>
          <p:cNvSpPr txBox="1"/>
          <p:nvPr/>
        </p:nvSpPr>
        <p:spPr>
          <a:xfrm>
            <a:off x="685800" y="1371600"/>
            <a:ext cx="3108960" cy="274320"/>
          </a:xfrm>
          <a:prstGeom prst="rect">
            <a:avLst/>
          </a:prstGeom>
          <a:noFill/>
          <a:ln/>
        </p:spPr>
        <p:txBody>
          <a:bodyPr wrap="square" lIns="0" tIns="0" rIns="0" bIns="0" rtlCol="0" anchor="t"/>
          <a:lstStyle/>
          <a:p>
            <a:pPr algn="l" indent="0" marL="0">
              <a:buNone/>
            </a:pPr>
            <a:r>
              <a:rPr lang="en-US" sz="1200" b="1" spc="200" kern="0" dirty="0">
                <a:solidFill>
                  <a:schemeClr val="accent4"/>
                </a:solidFill>
              </a:rPr>
              <a:t>DEFINITION</a:t>
            </a:r>
            <a:endParaRPr lang="en-US" sz="1200" dirty="0"/>
          </a:p>
        </p:txBody>
      </p:sp>
      <p:sp>
        <p:nvSpPr>
          <p:cNvPr id="6" name="Text 92"/>
          <p:cNvSpPr txBox="1"/>
          <p:nvPr/>
        </p:nvSpPr>
        <p:spPr>
          <a:xfrm>
            <a:off x="685800" y="1691640"/>
            <a:ext cx="3108960" cy="1143000"/>
          </a:xfrm>
          <a:prstGeom prst="rect">
            <a:avLst/>
          </a:prstGeom>
          <a:noFill/>
          <a:ln/>
        </p:spPr>
        <p:txBody>
          <a:bodyPr wrap="square" lIns="0" tIns="0" rIns="0" bIns="0" rtlCol="0" anchor="t"/>
          <a:lstStyle/>
          <a:p>
            <a:pPr algn="l" indent="0" marL="0">
              <a:buNone/>
            </a:pPr>
            <a:r>
              <a:rPr lang="en-US" sz="1800" b="1" dirty="0">
                <a:solidFill>
                  <a:schemeClr val="bg1"/>
                </a:solidFill>
              </a:rPr>
              <a:t>K-Means groups similar data points into k clusters without needing labelled data.</a:t>
            </a:r>
            <a:endParaRPr lang="en-US" sz="1800" dirty="0"/>
          </a:p>
        </p:txBody>
      </p:sp>
      <p:sp>
        <p:nvSpPr>
          <p:cNvPr id="7" name="Text 93"/>
          <p:cNvSpPr txBox="1"/>
          <p:nvPr/>
        </p:nvSpPr>
        <p:spPr>
          <a:xfrm>
            <a:off x="685800" y="2880360"/>
            <a:ext cx="3108960" cy="274320"/>
          </a:xfrm>
          <a:prstGeom prst="rect">
            <a:avLst/>
          </a:prstGeom>
          <a:noFill/>
          <a:ln/>
        </p:spPr>
        <p:txBody>
          <a:bodyPr wrap="square" lIns="0" tIns="0" rIns="0" bIns="0" rtlCol="0" anchor="t"/>
          <a:lstStyle/>
          <a:p>
            <a:pPr algn="l" indent="0" marL="0">
              <a:buNone/>
            </a:pPr>
            <a:r>
              <a:rPr lang="en-US" sz="1400" dirty="0">
                <a:solidFill>
                  <a:schemeClr val="bg2"/>
                </a:solidFill>
              </a:rPr>
              <a:t>k = the number of groups we want</a:t>
            </a:r>
            <a:endParaRPr lang="en-US" sz="1400" dirty="0"/>
          </a:p>
        </p:txBody>
      </p:sp>
      <p:sp>
        <p:nvSpPr>
          <p:cNvPr id="8" name="Dot 94"/>
          <p:cNvSpPr/>
          <p:nvPr/>
        </p:nvSpPr>
        <p:spPr>
          <a:xfrm>
            <a:off x="982614" y="3621938"/>
            <a:ext cx="118872" cy="118872"/>
          </a:xfrm>
          <a:prstGeom prst="ellipse">
            <a:avLst/>
          </a:prstGeom>
          <a:solidFill>
            <a:schemeClr val="accent2"/>
          </a:solidFill>
          <a:ln w="12700">
            <a:solidFill>
              <a:schemeClr val="accent2"/>
            </a:solidFill>
            <a:prstDash val="solid"/>
          </a:ln>
        </p:spPr>
      </p:sp>
      <p:sp>
        <p:nvSpPr>
          <p:cNvPr id="9" name="Dot 95"/>
          <p:cNvSpPr/>
          <p:nvPr/>
        </p:nvSpPr>
        <p:spPr>
          <a:xfrm>
            <a:off x="1152693" y="3480206"/>
            <a:ext cx="118872" cy="118872"/>
          </a:xfrm>
          <a:prstGeom prst="ellipse">
            <a:avLst/>
          </a:prstGeom>
          <a:solidFill>
            <a:schemeClr val="accent2"/>
          </a:solidFill>
          <a:ln w="12700">
            <a:solidFill>
              <a:schemeClr val="accent2"/>
            </a:solidFill>
            <a:prstDash val="solid"/>
          </a:ln>
        </p:spPr>
      </p:sp>
      <p:sp>
        <p:nvSpPr>
          <p:cNvPr id="10" name="Dot 96"/>
          <p:cNvSpPr/>
          <p:nvPr/>
        </p:nvSpPr>
        <p:spPr>
          <a:xfrm>
            <a:off x="1390802" y="3548238"/>
            <a:ext cx="118872" cy="118872"/>
          </a:xfrm>
          <a:prstGeom prst="ellipse">
            <a:avLst/>
          </a:prstGeom>
          <a:solidFill>
            <a:schemeClr val="accent2"/>
          </a:solidFill>
          <a:ln w="12700">
            <a:solidFill>
              <a:schemeClr val="accent2"/>
            </a:solidFill>
            <a:prstDash val="solid"/>
          </a:ln>
        </p:spPr>
      </p:sp>
      <p:sp>
        <p:nvSpPr>
          <p:cNvPr id="11" name="Dot 97"/>
          <p:cNvSpPr/>
          <p:nvPr/>
        </p:nvSpPr>
        <p:spPr>
          <a:xfrm>
            <a:off x="1481511" y="3763670"/>
            <a:ext cx="118872" cy="118872"/>
          </a:xfrm>
          <a:prstGeom prst="ellipse">
            <a:avLst/>
          </a:prstGeom>
          <a:solidFill>
            <a:schemeClr val="accent2"/>
          </a:solidFill>
          <a:ln w="12700">
            <a:solidFill>
              <a:schemeClr val="accent2"/>
            </a:solidFill>
            <a:prstDash val="solid"/>
          </a:ln>
        </p:spPr>
      </p:sp>
      <p:sp>
        <p:nvSpPr>
          <p:cNvPr id="12" name="Dot 98"/>
          <p:cNvSpPr/>
          <p:nvPr/>
        </p:nvSpPr>
        <p:spPr>
          <a:xfrm>
            <a:off x="1322771" y="3950757"/>
            <a:ext cx="118872" cy="118872"/>
          </a:xfrm>
          <a:prstGeom prst="ellipse">
            <a:avLst/>
          </a:prstGeom>
          <a:solidFill>
            <a:schemeClr val="accent2"/>
          </a:solidFill>
          <a:ln w="12700">
            <a:solidFill>
              <a:schemeClr val="accent2"/>
            </a:solidFill>
            <a:prstDash val="solid"/>
          </a:ln>
        </p:spPr>
      </p:sp>
      <p:sp>
        <p:nvSpPr>
          <p:cNvPr id="13" name="Dot 99"/>
          <p:cNvSpPr/>
          <p:nvPr/>
        </p:nvSpPr>
        <p:spPr>
          <a:xfrm>
            <a:off x="1078992" y="3905402"/>
            <a:ext cx="118872" cy="118872"/>
          </a:xfrm>
          <a:prstGeom prst="ellipse">
            <a:avLst/>
          </a:prstGeom>
          <a:solidFill>
            <a:schemeClr val="accent2"/>
          </a:solidFill>
          <a:ln w="12700">
            <a:solidFill>
              <a:schemeClr val="accent2"/>
            </a:solidFill>
            <a:prstDash val="solid"/>
          </a:ln>
        </p:spPr>
      </p:sp>
      <p:sp>
        <p:nvSpPr>
          <p:cNvPr id="14" name="Dot 100"/>
          <p:cNvSpPr/>
          <p:nvPr/>
        </p:nvSpPr>
        <p:spPr>
          <a:xfrm>
            <a:off x="937260" y="3803355"/>
            <a:ext cx="118872" cy="118872"/>
          </a:xfrm>
          <a:prstGeom prst="ellipse">
            <a:avLst/>
          </a:prstGeom>
          <a:solidFill>
            <a:schemeClr val="accent2"/>
          </a:solidFill>
          <a:ln w="12700">
            <a:solidFill>
              <a:schemeClr val="accent2"/>
            </a:solidFill>
            <a:prstDash val="solid"/>
          </a:ln>
        </p:spPr>
      </p:sp>
      <p:sp>
        <p:nvSpPr>
          <p:cNvPr id="15" name="Centroid 101"/>
          <p:cNvSpPr/>
          <p:nvPr/>
        </p:nvSpPr>
        <p:spPr>
          <a:xfrm>
            <a:off x="1196950" y="3711550"/>
            <a:ext cx="166421" cy="166421"/>
          </a:xfrm>
          <a:prstGeom prst="ellipse">
            <a:avLst/>
          </a:prstGeom>
          <a:solidFill>
            <a:schemeClr val="accent1"/>
          </a:solidFill>
          <a:ln w="22225">
            <a:solidFill>
              <a:schemeClr val="accent2"/>
            </a:solidFill>
            <a:prstDash val="solid"/>
          </a:ln>
        </p:spPr>
      </p:sp>
      <p:sp>
        <p:nvSpPr>
          <p:cNvPr id="16" name="Dot 102"/>
          <p:cNvSpPr/>
          <p:nvPr/>
        </p:nvSpPr>
        <p:spPr>
          <a:xfrm>
            <a:off x="1942734" y="3621938"/>
            <a:ext cx="118872" cy="118872"/>
          </a:xfrm>
          <a:prstGeom prst="ellipse">
            <a:avLst/>
          </a:prstGeom>
          <a:solidFill>
            <a:schemeClr val="accent4"/>
          </a:solidFill>
          <a:ln w="12700">
            <a:solidFill>
              <a:schemeClr val="accent4"/>
            </a:solidFill>
            <a:prstDash val="solid"/>
          </a:ln>
        </p:spPr>
      </p:sp>
      <p:sp>
        <p:nvSpPr>
          <p:cNvPr id="17" name="Dot 103"/>
          <p:cNvSpPr/>
          <p:nvPr/>
        </p:nvSpPr>
        <p:spPr>
          <a:xfrm>
            <a:off x="2112813" y="3480206"/>
            <a:ext cx="118872" cy="118872"/>
          </a:xfrm>
          <a:prstGeom prst="ellipse">
            <a:avLst/>
          </a:prstGeom>
          <a:solidFill>
            <a:schemeClr val="accent4"/>
          </a:solidFill>
          <a:ln w="12700">
            <a:solidFill>
              <a:schemeClr val="accent4"/>
            </a:solidFill>
            <a:prstDash val="solid"/>
          </a:ln>
        </p:spPr>
      </p:sp>
      <p:sp>
        <p:nvSpPr>
          <p:cNvPr id="18" name="Dot 104"/>
          <p:cNvSpPr/>
          <p:nvPr/>
        </p:nvSpPr>
        <p:spPr>
          <a:xfrm>
            <a:off x="2350922" y="3548238"/>
            <a:ext cx="118872" cy="118872"/>
          </a:xfrm>
          <a:prstGeom prst="ellipse">
            <a:avLst/>
          </a:prstGeom>
          <a:solidFill>
            <a:schemeClr val="accent4"/>
          </a:solidFill>
          <a:ln w="12700">
            <a:solidFill>
              <a:schemeClr val="accent4"/>
            </a:solidFill>
            <a:prstDash val="solid"/>
          </a:ln>
        </p:spPr>
      </p:sp>
      <p:sp>
        <p:nvSpPr>
          <p:cNvPr id="19" name="Dot 105"/>
          <p:cNvSpPr/>
          <p:nvPr/>
        </p:nvSpPr>
        <p:spPr>
          <a:xfrm>
            <a:off x="2441631" y="3763670"/>
            <a:ext cx="118872" cy="118872"/>
          </a:xfrm>
          <a:prstGeom prst="ellipse">
            <a:avLst/>
          </a:prstGeom>
          <a:solidFill>
            <a:schemeClr val="accent4"/>
          </a:solidFill>
          <a:ln w="12700">
            <a:solidFill>
              <a:schemeClr val="accent4"/>
            </a:solidFill>
            <a:prstDash val="solid"/>
          </a:ln>
        </p:spPr>
      </p:sp>
      <p:sp>
        <p:nvSpPr>
          <p:cNvPr id="20" name="Dot 106"/>
          <p:cNvSpPr/>
          <p:nvPr/>
        </p:nvSpPr>
        <p:spPr>
          <a:xfrm>
            <a:off x="2282891" y="3950757"/>
            <a:ext cx="118872" cy="118872"/>
          </a:xfrm>
          <a:prstGeom prst="ellipse">
            <a:avLst/>
          </a:prstGeom>
          <a:solidFill>
            <a:schemeClr val="accent4"/>
          </a:solidFill>
          <a:ln w="12700">
            <a:solidFill>
              <a:schemeClr val="accent4"/>
            </a:solidFill>
            <a:prstDash val="solid"/>
          </a:ln>
        </p:spPr>
      </p:sp>
      <p:sp>
        <p:nvSpPr>
          <p:cNvPr id="21" name="Dot 107"/>
          <p:cNvSpPr/>
          <p:nvPr/>
        </p:nvSpPr>
        <p:spPr>
          <a:xfrm>
            <a:off x="2039112" y="3905402"/>
            <a:ext cx="118872" cy="118872"/>
          </a:xfrm>
          <a:prstGeom prst="ellipse">
            <a:avLst/>
          </a:prstGeom>
          <a:solidFill>
            <a:schemeClr val="accent4"/>
          </a:solidFill>
          <a:ln w="12700">
            <a:solidFill>
              <a:schemeClr val="accent4"/>
            </a:solidFill>
            <a:prstDash val="solid"/>
          </a:ln>
        </p:spPr>
      </p:sp>
      <p:sp>
        <p:nvSpPr>
          <p:cNvPr id="22" name="Dot 108"/>
          <p:cNvSpPr/>
          <p:nvPr/>
        </p:nvSpPr>
        <p:spPr>
          <a:xfrm>
            <a:off x="1897380" y="3803355"/>
            <a:ext cx="118872" cy="118872"/>
          </a:xfrm>
          <a:prstGeom prst="ellipse">
            <a:avLst/>
          </a:prstGeom>
          <a:solidFill>
            <a:schemeClr val="accent4"/>
          </a:solidFill>
          <a:ln w="12700">
            <a:solidFill>
              <a:schemeClr val="accent4"/>
            </a:solidFill>
            <a:prstDash val="solid"/>
          </a:ln>
        </p:spPr>
      </p:sp>
      <p:sp>
        <p:nvSpPr>
          <p:cNvPr id="23" name="Centroid 109"/>
          <p:cNvSpPr/>
          <p:nvPr/>
        </p:nvSpPr>
        <p:spPr>
          <a:xfrm>
            <a:off x="2157070" y="3711550"/>
            <a:ext cx="166421" cy="166421"/>
          </a:xfrm>
          <a:prstGeom prst="ellipse">
            <a:avLst/>
          </a:prstGeom>
          <a:solidFill>
            <a:schemeClr val="accent1"/>
          </a:solidFill>
          <a:ln w="22225">
            <a:solidFill>
              <a:schemeClr val="accent4"/>
            </a:solidFill>
            <a:prstDash val="solid"/>
          </a:ln>
        </p:spPr>
      </p:sp>
      <p:sp>
        <p:nvSpPr>
          <p:cNvPr id="24" name="Dot 110"/>
          <p:cNvSpPr/>
          <p:nvPr/>
        </p:nvSpPr>
        <p:spPr>
          <a:xfrm>
            <a:off x="2902854" y="3621938"/>
            <a:ext cx="118872" cy="118872"/>
          </a:xfrm>
          <a:prstGeom prst="ellipse">
            <a:avLst/>
          </a:prstGeom>
          <a:solidFill>
            <a:schemeClr val="accent3"/>
          </a:solidFill>
          <a:ln w="12700">
            <a:solidFill>
              <a:schemeClr val="accent3"/>
            </a:solidFill>
            <a:prstDash val="solid"/>
          </a:ln>
        </p:spPr>
      </p:sp>
      <p:sp>
        <p:nvSpPr>
          <p:cNvPr id="25" name="Dot 111"/>
          <p:cNvSpPr/>
          <p:nvPr/>
        </p:nvSpPr>
        <p:spPr>
          <a:xfrm>
            <a:off x="3072933" y="3480206"/>
            <a:ext cx="118872" cy="118872"/>
          </a:xfrm>
          <a:prstGeom prst="ellipse">
            <a:avLst/>
          </a:prstGeom>
          <a:solidFill>
            <a:schemeClr val="accent3"/>
          </a:solidFill>
          <a:ln w="12700">
            <a:solidFill>
              <a:schemeClr val="accent3"/>
            </a:solidFill>
            <a:prstDash val="solid"/>
          </a:ln>
        </p:spPr>
      </p:sp>
      <p:sp>
        <p:nvSpPr>
          <p:cNvPr id="26" name="Dot 112"/>
          <p:cNvSpPr/>
          <p:nvPr/>
        </p:nvSpPr>
        <p:spPr>
          <a:xfrm>
            <a:off x="3311042" y="3548238"/>
            <a:ext cx="118872" cy="118872"/>
          </a:xfrm>
          <a:prstGeom prst="ellipse">
            <a:avLst/>
          </a:prstGeom>
          <a:solidFill>
            <a:schemeClr val="accent3"/>
          </a:solidFill>
          <a:ln w="12700">
            <a:solidFill>
              <a:schemeClr val="accent3"/>
            </a:solidFill>
            <a:prstDash val="solid"/>
          </a:ln>
        </p:spPr>
      </p:sp>
      <p:sp>
        <p:nvSpPr>
          <p:cNvPr id="27" name="Dot 113"/>
          <p:cNvSpPr/>
          <p:nvPr/>
        </p:nvSpPr>
        <p:spPr>
          <a:xfrm>
            <a:off x="3401751" y="3763670"/>
            <a:ext cx="118872" cy="118872"/>
          </a:xfrm>
          <a:prstGeom prst="ellipse">
            <a:avLst/>
          </a:prstGeom>
          <a:solidFill>
            <a:schemeClr val="accent3"/>
          </a:solidFill>
          <a:ln w="12700">
            <a:solidFill>
              <a:schemeClr val="accent3"/>
            </a:solidFill>
            <a:prstDash val="solid"/>
          </a:ln>
        </p:spPr>
      </p:sp>
      <p:sp>
        <p:nvSpPr>
          <p:cNvPr id="28" name="Dot 114"/>
          <p:cNvSpPr/>
          <p:nvPr/>
        </p:nvSpPr>
        <p:spPr>
          <a:xfrm>
            <a:off x="3243011" y="3950757"/>
            <a:ext cx="118872" cy="118872"/>
          </a:xfrm>
          <a:prstGeom prst="ellipse">
            <a:avLst/>
          </a:prstGeom>
          <a:solidFill>
            <a:schemeClr val="accent3"/>
          </a:solidFill>
          <a:ln w="12700">
            <a:solidFill>
              <a:schemeClr val="accent3"/>
            </a:solidFill>
            <a:prstDash val="solid"/>
          </a:ln>
        </p:spPr>
      </p:sp>
      <p:sp>
        <p:nvSpPr>
          <p:cNvPr id="29" name="Dot 115"/>
          <p:cNvSpPr/>
          <p:nvPr/>
        </p:nvSpPr>
        <p:spPr>
          <a:xfrm>
            <a:off x="2999232" y="3905402"/>
            <a:ext cx="118872" cy="118872"/>
          </a:xfrm>
          <a:prstGeom prst="ellipse">
            <a:avLst/>
          </a:prstGeom>
          <a:solidFill>
            <a:schemeClr val="accent3"/>
          </a:solidFill>
          <a:ln w="12700">
            <a:solidFill>
              <a:schemeClr val="accent3"/>
            </a:solidFill>
            <a:prstDash val="solid"/>
          </a:ln>
        </p:spPr>
      </p:sp>
      <p:sp>
        <p:nvSpPr>
          <p:cNvPr id="30" name="Dot 116"/>
          <p:cNvSpPr/>
          <p:nvPr/>
        </p:nvSpPr>
        <p:spPr>
          <a:xfrm>
            <a:off x="2857500" y="3803355"/>
            <a:ext cx="118872" cy="118872"/>
          </a:xfrm>
          <a:prstGeom prst="ellipse">
            <a:avLst/>
          </a:prstGeom>
          <a:solidFill>
            <a:schemeClr val="accent3"/>
          </a:solidFill>
          <a:ln w="12700">
            <a:solidFill>
              <a:schemeClr val="accent3"/>
            </a:solidFill>
            <a:prstDash val="solid"/>
          </a:ln>
        </p:spPr>
      </p:sp>
      <p:sp>
        <p:nvSpPr>
          <p:cNvPr id="31" name="Centroid 117"/>
          <p:cNvSpPr/>
          <p:nvPr/>
        </p:nvSpPr>
        <p:spPr>
          <a:xfrm>
            <a:off x="3117190" y="3711550"/>
            <a:ext cx="166421" cy="166421"/>
          </a:xfrm>
          <a:prstGeom prst="ellipse">
            <a:avLst/>
          </a:prstGeom>
          <a:solidFill>
            <a:schemeClr val="accent1"/>
          </a:solidFill>
          <a:ln w="22225">
            <a:solidFill>
              <a:schemeClr val="accent3"/>
            </a:solidFill>
            <a:prstDash val="solid"/>
          </a:ln>
        </p:spPr>
      </p:sp>
      <p:sp>
        <p:nvSpPr>
          <p:cNvPr id="32" name="Text 118"/>
          <p:cNvSpPr txBox="1"/>
          <p:nvPr/>
        </p:nvSpPr>
        <p:spPr>
          <a:xfrm>
            <a:off x="4297680" y="1188720"/>
            <a:ext cx="4389120" cy="320040"/>
          </a:xfrm>
          <a:prstGeom prst="rect">
            <a:avLst/>
          </a:prstGeom>
          <a:noFill/>
          <a:ln/>
        </p:spPr>
        <p:txBody>
          <a:bodyPr wrap="square" lIns="0" tIns="0" rIns="0" bIns="0" rtlCol="0" anchor="t"/>
          <a:lstStyle/>
          <a:p>
            <a:pPr algn="l" indent="0" marL="0">
              <a:buNone/>
            </a:pPr>
            <a:r>
              <a:rPr lang="en-US" sz="1700" b="1" dirty="0">
                <a:solidFill>
                  <a:schemeClr val="tx2"/>
                </a:solidFill>
              </a:rPr>
              <a:t>Why it suits our project</a:t>
            </a:r>
            <a:endParaRPr lang="en-US" sz="1700" dirty="0"/>
          </a:p>
        </p:txBody>
      </p:sp>
      <p:sp>
        <p:nvSpPr>
          <p:cNvPr id="33" name="Badge 119"/>
          <p:cNvSpPr/>
          <p:nvPr/>
        </p:nvSpPr>
        <p:spPr>
          <a:xfrm>
            <a:off x="4297680" y="1700784"/>
            <a:ext cx="365760" cy="3657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34" name="Text 120"/>
          <p:cNvSpPr txBox="1"/>
          <p:nvPr/>
        </p:nvSpPr>
        <p:spPr>
          <a:xfrm>
            <a:off x="4800600" y="1664208"/>
            <a:ext cx="3886200" cy="548640"/>
          </a:xfrm>
          <a:prstGeom prst="rect">
            <a:avLst/>
          </a:prstGeom>
          <a:noFill/>
          <a:ln/>
        </p:spPr>
        <p:txBody>
          <a:bodyPr wrap="square" lIns="0" tIns="0" rIns="0" bIns="0" rtlCol="0" anchor="ctr"/>
          <a:lstStyle/>
          <a:p>
            <a:pPr algn="l" indent="0" marL="0">
              <a:buNone/>
            </a:pPr>
            <a:r>
              <a:rPr lang="en-US" sz="1400" dirty="0">
                <a:solidFill>
                  <a:schemeClr val="tx1"/>
                </a:solidFill>
              </a:rPr>
              <a:t>Our task says "partition". K-Means is a partitioning method.</a:t>
            </a:r>
            <a:endParaRPr lang="en-US" sz="1400" dirty="0"/>
          </a:p>
        </p:txBody>
      </p:sp>
      <p:sp>
        <p:nvSpPr>
          <p:cNvPr id="35" name="Badge 121"/>
          <p:cNvSpPr/>
          <p:nvPr/>
        </p:nvSpPr>
        <p:spPr>
          <a:xfrm>
            <a:off x="4297680" y="2386584"/>
            <a:ext cx="365760" cy="3657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36" name="Text 122"/>
          <p:cNvSpPr txBox="1"/>
          <p:nvPr/>
        </p:nvSpPr>
        <p:spPr>
          <a:xfrm>
            <a:off x="4800600" y="2350008"/>
            <a:ext cx="3886200" cy="548640"/>
          </a:xfrm>
          <a:prstGeom prst="rect">
            <a:avLst/>
          </a:prstGeom>
          <a:noFill/>
          <a:ln/>
        </p:spPr>
        <p:txBody>
          <a:bodyPr wrap="square" lIns="0" tIns="0" rIns="0" bIns="0" rtlCol="0" anchor="ctr"/>
          <a:lstStyle/>
          <a:p>
            <a:pPr algn="l" indent="0" marL="0">
              <a:buNone/>
            </a:pPr>
            <a:r>
              <a:rPr lang="en-US" sz="1400" dirty="0">
                <a:solidFill>
                  <a:schemeClr val="tx1"/>
                </a:solidFill>
              </a:rPr>
              <a:t>Every SKU gets exactly one group, just like one storage zone.</a:t>
            </a:r>
            <a:endParaRPr lang="en-US" sz="1400" dirty="0"/>
          </a:p>
        </p:txBody>
      </p:sp>
      <p:sp>
        <p:nvSpPr>
          <p:cNvPr id="37" name="Badge 123"/>
          <p:cNvSpPr/>
          <p:nvPr/>
        </p:nvSpPr>
        <p:spPr>
          <a:xfrm>
            <a:off x="4297680" y="3072384"/>
            <a:ext cx="365760" cy="3657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38" name="Text 124"/>
          <p:cNvSpPr txBox="1"/>
          <p:nvPr/>
        </p:nvSpPr>
        <p:spPr>
          <a:xfrm>
            <a:off x="4800600" y="3035808"/>
            <a:ext cx="3886200" cy="548640"/>
          </a:xfrm>
          <a:prstGeom prst="rect">
            <a:avLst/>
          </a:prstGeom>
          <a:noFill/>
          <a:ln/>
        </p:spPr>
        <p:txBody>
          <a:bodyPr wrap="square" lIns="0" tIns="0" rIns="0" bIns="0" rtlCol="0" anchor="ctr"/>
          <a:lstStyle/>
          <a:p>
            <a:pPr algn="l" indent="0" marL="0">
              <a:buNone/>
            </a:pPr>
            <a:r>
              <a:rPr lang="en-US" sz="1400" dirty="0">
                <a:solidFill>
                  <a:schemeClr val="tx1"/>
                </a:solidFill>
              </a:rPr>
              <a:t>All four inputs can be written as numbers, so distance works.</a:t>
            </a:r>
            <a:endParaRPr lang="en-US" sz="1400" dirty="0"/>
          </a:p>
        </p:txBody>
      </p:sp>
      <p:sp>
        <p:nvSpPr>
          <p:cNvPr id="39" name="Badge 125"/>
          <p:cNvSpPr/>
          <p:nvPr/>
        </p:nvSpPr>
        <p:spPr>
          <a:xfrm>
            <a:off x="4297680" y="3758184"/>
            <a:ext cx="365760" cy="3657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40" name="Text 126"/>
          <p:cNvSpPr txBox="1"/>
          <p:nvPr/>
        </p:nvSpPr>
        <p:spPr>
          <a:xfrm>
            <a:off x="4800600" y="3721608"/>
            <a:ext cx="3886200" cy="548640"/>
          </a:xfrm>
          <a:prstGeom prst="rect">
            <a:avLst/>
          </a:prstGeom>
          <a:noFill/>
          <a:ln/>
        </p:spPr>
        <p:txBody>
          <a:bodyPr wrap="square" lIns="0" tIns="0" rIns="0" bIns="0" rtlCol="0" anchor="ctr"/>
          <a:lstStyle/>
          <a:p>
            <a:pPr algn="l" indent="0" marL="0">
              <a:buNone/>
            </a:pPr>
            <a:r>
              <a:rPr lang="en-US" sz="1400" dirty="0">
                <a:solidFill>
                  <a:schemeClr val="tx1"/>
                </a:solidFill>
              </a:rPr>
              <a:t>Simple, fast for thousands of SKUs, easy to re-run each season.</a:t>
            </a:r>
            <a:endParaRPr lang="en-US" sz="1400" dirty="0"/>
          </a:p>
        </p:txBody>
      </p:sp>
      <p:sp>
        <p:nvSpPr>
          <p:cNvPr id="25" name="Slide Number Placeholder 0"/>
          <p:cNvSpPr>
            <a:spLocks noGrp="1"/>
          </p:cNvSpPr>
          <p:nvPr>
            <p:ph type="sldNum" sz="quarter" idx="4294967295"/>
          </p:nvPr>
        </p:nvSpPr>
        <p:spPr>
          <a:xfrm>
            <a:off x="8229600" y="47274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315200" cy="685800"/>
          </a:xfrm>
          <a:prstGeom prst="rect">
            <a:avLst/>
          </a:prstGeom>
          <a:noFill/>
          <a:ln/>
        </p:spPr>
        <p:txBody>
          <a:bodyPr wrap="square" lIns="0" tIns="0" rIns="0" bIns="0" rtlCol="0" anchor="ctr"/>
          <a:lstStyle/>
          <a:p>
            <a:pPr algn="l" indent="0" marL="0">
              <a:buNone/>
            </a:pPr>
            <a:r>
              <a:rPr lang="en-US" sz="3600" b="1" dirty="0">
                <a:solidFill>
                  <a:schemeClr val="tx2"/>
                </a:solidFill>
              </a:rPr>
              <a:t>Why not the other solutions</a:t>
            </a:r>
            <a:endParaRPr lang="en-US" sz="3600" dirty="0"/>
          </a:p>
        </p:txBody>
      </p:sp>
      <p:graphicFrame>
        <p:nvGraphicFramePr>
          <p:cNvPr id="7" name="Comparison table"/>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94560"/>
                <a:gridCol w="2377440"/>
                <a:gridCol w="3657600"/>
              </a:tblGrid>
              <a:tr h="411480">
                <a:tc>
                  <a:txBody>
                    <a:bodyPr/>
                    <a:lstStyle/>
                    <a:p>
                      <a:pPr indent="0" marL="0">
                        <a:buNone/>
                      </a:pPr>
                      <a:r>
                        <a:rPr lang="en-US" sz="1400" b="1" dirty="0">
                          <a:solidFill>
                            <a:schemeClr val="bg1"/>
                          </a:solidFill>
                        </a:rPr>
                        <a:t>Method</a:t>
                      </a:r>
                      <a:endParaRPr lang="en-US" sz="1400" dirty="0"/>
                    </a:p>
                  </a:txBody>
                  <a:tcPr marL="109728" marR="109728"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What it gives</a:t>
                      </a:r>
                      <a:endParaRPr lang="en-US" sz="1400" dirty="0"/>
                    </a:p>
                  </a:txBody>
                  <a:tcPr marL="109728" marR="109728"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Fit for our problem</a:t>
                      </a:r>
                      <a:endParaRPr lang="en-US" sz="1400" dirty="0"/>
                    </a:p>
                  </a:txBody>
                  <a:tcPr marL="109728" marR="109728"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solidFill>
                      <a:schemeClr val="accent1"/>
                    </a:solidFill>
                  </a:tcPr>
                </a:tc>
              </a:tr>
              <a:tr h="658368">
                <a:tc>
                  <a:txBody>
                    <a:bodyPr/>
                    <a:lstStyle/>
                    <a:p>
                      <a:pPr indent="0" marL="0">
                        <a:buNone/>
                      </a:pPr>
                      <a:r>
                        <a:rPr lang="en-US" sz="1400" dirty="0">
                          <a:solidFill>
                            <a:schemeClr val="tx1"/>
                          </a:solidFill>
                        </a:rPr>
                        <a:t>Mixtures of Gaussians (EM)</a:t>
                      </a:r>
                      <a:endParaRPr lang="en-US" sz="1400" dirty="0"/>
                    </a:p>
                  </a:txBody>
                  <a:tcPr marL="109728" marR="109728"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indent="0" marL="0">
                        <a:buNone/>
                      </a:pPr>
                      <a:r>
                        <a:rPr lang="en-US" sz="1400" dirty="0">
                          <a:solidFill>
                            <a:schemeClr val="tx1"/>
                          </a:solidFill>
                        </a:rPr>
                        <a:t>A probability for every group (soft)</a:t>
                      </a:r>
                      <a:endParaRPr lang="en-US" sz="1400" dirty="0"/>
                    </a:p>
                  </a:txBody>
                  <a:tcPr marL="109728" marR="109728"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indent="0" marL="0">
                        <a:buNone/>
                      </a:pPr>
                      <a:r>
                        <a:rPr lang="en-US" sz="1400" dirty="0">
                          <a:solidFill>
                            <a:schemeClr val="tx1"/>
                          </a:solidFill>
                        </a:rPr>
                        <a:t>A product cannot sit 60% in one zone and 40% in another.</a:t>
                      </a:r>
                      <a:endParaRPr lang="en-US" sz="1400" dirty="0"/>
                    </a:p>
                  </a:txBody>
                  <a:tcPr marL="109728" marR="109728"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r>
              <a:tr h="658368">
                <a:tc>
                  <a:txBody>
                    <a:bodyPr/>
                    <a:lstStyle/>
                    <a:p>
                      <a:pPr indent="0" marL="0">
                        <a:buNone/>
                      </a:pPr>
                      <a:r>
                        <a:rPr lang="en-US" sz="1400" dirty="0">
                          <a:solidFill>
                            <a:schemeClr val="tx1"/>
                          </a:solidFill>
                        </a:rPr>
                        <a:t>Hierarchical clustering</a:t>
                      </a:r>
                      <a:endParaRPr lang="en-US" sz="1400" dirty="0"/>
                    </a:p>
                  </a:txBody>
                  <a:tcPr marL="109728" marR="109728"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indent="0" marL="0">
                        <a:buNone/>
                      </a:pPr>
                      <a:r>
                        <a:rPr lang="en-US" sz="1400" dirty="0">
                          <a:solidFill>
                            <a:schemeClr val="tx1"/>
                          </a:solidFill>
                        </a:rPr>
                        <a:t>A tree of clusters (dendrogram)</a:t>
                      </a:r>
                      <a:endParaRPr lang="en-US" sz="1400" dirty="0"/>
                    </a:p>
                  </a:txBody>
                  <a:tcPr marL="109728" marR="109728"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indent="0" marL="0">
                        <a:buNone/>
                      </a:pPr>
                      <a:r>
                        <a:rPr lang="en-US" sz="1400" dirty="0">
                          <a:solidFill>
                            <a:schemeClr val="tx1"/>
                          </a:solidFill>
                        </a:rPr>
                        <a:t>Compares every pair of items, so it gets slow for thousands of SKUs.</a:t>
                      </a:r>
                      <a:endParaRPr lang="en-US" sz="1400" dirty="0"/>
                    </a:p>
                  </a:txBody>
                  <a:tcPr marL="109728" marR="109728"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r>
              <a:tr h="658368">
                <a:tc>
                  <a:txBody>
                    <a:bodyPr/>
                    <a:lstStyle/>
                    <a:p>
                      <a:pPr indent="0" marL="0">
                        <a:buNone/>
                      </a:pPr>
                      <a:r>
                        <a:rPr lang="en-US" sz="1400" dirty="0">
                          <a:solidFill>
                            <a:schemeClr val="tx1"/>
                          </a:solidFill>
                        </a:rPr>
                        <a:t>PCA / Factor analysis</a:t>
                      </a:r>
                      <a:endParaRPr lang="en-US" sz="1400" dirty="0"/>
                    </a:p>
                  </a:txBody>
                  <a:tcPr marL="109728" marR="109728"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indent="0" marL="0">
                        <a:buNone/>
                      </a:pPr>
                      <a:r>
                        <a:rPr lang="en-US" sz="1400" dirty="0">
                          <a:solidFill>
                            <a:schemeClr val="tx1"/>
                          </a:solidFill>
                        </a:rPr>
                        <a:t>Fewer features</a:t>
                      </a:r>
                      <a:endParaRPr lang="en-US" sz="1400" dirty="0"/>
                    </a:p>
                  </a:txBody>
                  <a:tcPr marL="109728" marR="109728"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indent="0" marL="0">
                        <a:buNone/>
                      </a:pPr>
                      <a:r>
                        <a:rPr lang="en-US" sz="1400" dirty="0">
                          <a:solidFill>
                            <a:schemeClr val="tx1"/>
                          </a:solidFill>
                        </a:rPr>
                        <a:t>Does not create groups. It can only help before clustering.</a:t>
                      </a:r>
                      <a:endParaRPr lang="en-US" sz="1400" dirty="0"/>
                    </a:p>
                  </a:txBody>
                  <a:tcPr marL="109728" marR="109728"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r>
              <a:tr h="658368">
                <a:tc>
                  <a:txBody>
                    <a:bodyPr/>
                    <a:lstStyle/>
                    <a:p>
                      <a:pPr indent="0" marL="0">
                        <a:buNone/>
                      </a:pPr>
                      <a:r>
                        <a:rPr lang="en-US" sz="1400" b="1" dirty="0">
                          <a:solidFill>
                            <a:schemeClr val="tx2"/>
                          </a:solidFill>
                        </a:rPr>
                        <a:t>K-Means clustering</a:t>
                      </a:r>
                      <a:endParaRPr lang="en-US" sz="1400" dirty="0"/>
                    </a:p>
                  </a:txBody>
                  <a:tcPr marL="109728" marR="109728"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solidFill>
                      <a:schemeClr val="bg2"/>
                    </a:solidFill>
                  </a:tcPr>
                </a:tc>
                <a:tc>
                  <a:txBody>
                    <a:bodyPr/>
                    <a:lstStyle/>
                    <a:p>
                      <a:pPr indent="0" marL="0">
                        <a:buNone/>
                      </a:pPr>
                      <a:r>
                        <a:rPr lang="en-US" sz="1400" b="1" dirty="0">
                          <a:solidFill>
                            <a:schemeClr val="tx2"/>
                          </a:solidFill>
                        </a:rPr>
                        <a:t>k clear groups, one centre each</a:t>
                      </a:r>
                      <a:endParaRPr lang="en-US" sz="1400" dirty="0"/>
                    </a:p>
                  </a:txBody>
                  <a:tcPr marL="109728" marR="109728"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solidFill>
                      <a:schemeClr val="bg2"/>
                    </a:solidFill>
                  </a:tcPr>
                </a:tc>
                <a:tc>
                  <a:txBody>
                    <a:bodyPr/>
                    <a:lstStyle/>
                    <a:p>
                      <a:pPr indent="0" marL="0">
                        <a:buNone/>
                      </a:pPr>
                      <a:r>
                        <a:rPr lang="en-US" sz="1400" b="1" dirty="0">
                          <a:solidFill>
                            <a:schemeClr val="tx2"/>
                          </a:solidFill>
                        </a:rPr>
                        <a:t>Fits our need: one clear group for every SKU.</a:t>
                      </a:r>
                      <a:endParaRPr lang="en-US" sz="1400" dirty="0"/>
                    </a:p>
                  </a:txBody>
                  <a:tcPr marL="109728" marR="109728"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7274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315200" cy="685800"/>
          </a:xfrm>
          <a:prstGeom prst="rect">
            <a:avLst/>
          </a:prstGeom>
          <a:noFill/>
          <a:ln/>
        </p:spPr>
        <p:txBody>
          <a:bodyPr wrap="square" lIns="0" tIns="0" rIns="0" bIns="0" rtlCol="0" anchor="ctr"/>
          <a:lstStyle/>
          <a:p>
            <a:pPr algn="l" indent="0" marL="0">
              <a:buNone/>
            </a:pPr>
            <a:r>
              <a:rPr lang="en-US" sz="3600" b="1" dirty="0">
                <a:solidFill>
                  <a:schemeClr val="tx2"/>
                </a:solidFill>
              </a:rPr>
              <a:t>How K-Means works</a:t>
            </a:r>
            <a:endParaRPr lang="en-US" sz="3600" dirty="0"/>
          </a:p>
        </p:txBody>
      </p:sp>
      <p:sp>
        <p:nvSpPr>
          <p:cNvPr id="4" name="Arrow 127"/>
          <p:cNvSpPr/>
          <p:nvPr/>
        </p:nvSpPr>
        <p:spPr>
          <a:xfrm>
            <a:off x="1024128" y="1463040"/>
            <a:ext cx="1097280" cy="0"/>
          </a:xfrm>
          <a:prstGeom prst="line">
            <a:avLst/>
          </a:prstGeom>
          <a:noFill/>
          <a:ln w="19050">
            <a:solidFill>
              <a:schemeClr val="accent5"/>
            </a:solidFill>
            <a:prstDash val="solid"/>
            <a:tailEnd type="triangle"/>
          </a:ln>
        </p:spPr>
      </p:sp>
      <p:sp>
        <p:nvSpPr>
          <p:cNvPr id="5" name="Badge 128"/>
          <p:cNvSpPr/>
          <p:nvPr/>
        </p:nvSpPr>
        <p:spPr>
          <a:xfrm>
            <a:off x="457200" y="1216152"/>
            <a:ext cx="502920" cy="50292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129"/>
          <p:cNvSpPr txBox="1"/>
          <p:nvPr/>
        </p:nvSpPr>
        <p:spPr>
          <a:xfrm>
            <a:off x="457200" y="1874520"/>
            <a:ext cx="1499616" cy="502920"/>
          </a:xfrm>
          <a:prstGeom prst="rect">
            <a:avLst/>
          </a:prstGeom>
          <a:noFill/>
          <a:ln/>
        </p:spPr>
        <p:txBody>
          <a:bodyPr wrap="square" lIns="0" tIns="0" rIns="0" bIns="0" rtlCol="0" anchor="t"/>
          <a:lstStyle/>
          <a:p>
            <a:pPr algn="l" indent="0" marL="0">
              <a:buNone/>
            </a:pPr>
            <a:r>
              <a:rPr lang="en-US" sz="1500" b="1" dirty="0">
                <a:solidFill>
                  <a:schemeClr val="tx2"/>
                </a:solidFill>
              </a:rPr>
              <a:t>Pick k centres</a:t>
            </a:r>
            <a:endParaRPr lang="en-US" sz="1500" dirty="0"/>
          </a:p>
        </p:txBody>
      </p:sp>
      <p:sp>
        <p:nvSpPr>
          <p:cNvPr id="7" name="Text 130"/>
          <p:cNvSpPr txBox="1"/>
          <p:nvPr/>
        </p:nvSpPr>
        <p:spPr>
          <a:xfrm>
            <a:off x="457200" y="2395728"/>
            <a:ext cx="1499616" cy="1234440"/>
          </a:xfrm>
          <a:prstGeom prst="rect">
            <a:avLst/>
          </a:prstGeom>
          <a:noFill/>
          <a:ln/>
        </p:spPr>
        <p:txBody>
          <a:bodyPr wrap="square" lIns="0" tIns="0" rIns="0" bIns="0" rtlCol="0" anchor="t"/>
          <a:lstStyle/>
          <a:p>
            <a:pPr algn="l" indent="0" marL="0">
              <a:buNone/>
            </a:pPr>
            <a:r>
              <a:rPr lang="en-US" sz="1400" dirty="0">
                <a:solidFill>
                  <a:schemeClr val="tx1"/>
                </a:solidFill>
              </a:rPr>
              <a:t>Choose k centroids at random to start.</a:t>
            </a:r>
            <a:endParaRPr lang="en-US" sz="1400" dirty="0"/>
          </a:p>
        </p:txBody>
      </p:sp>
      <p:sp>
        <p:nvSpPr>
          <p:cNvPr id="8" name="Arrow 131"/>
          <p:cNvSpPr/>
          <p:nvPr/>
        </p:nvSpPr>
        <p:spPr>
          <a:xfrm>
            <a:off x="2706624" y="1463040"/>
            <a:ext cx="1097280" cy="0"/>
          </a:xfrm>
          <a:prstGeom prst="line">
            <a:avLst/>
          </a:prstGeom>
          <a:noFill/>
          <a:ln w="19050">
            <a:solidFill>
              <a:schemeClr val="accent5"/>
            </a:solidFill>
            <a:prstDash val="solid"/>
            <a:tailEnd type="triangle"/>
          </a:ln>
        </p:spPr>
      </p:sp>
      <p:sp>
        <p:nvSpPr>
          <p:cNvPr id="9" name="Badge 132"/>
          <p:cNvSpPr/>
          <p:nvPr/>
        </p:nvSpPr>
        <p:spPr>
          <a:xfrm>
            <a:off x="2139696" y="1216152"/>
            <a:ext cx="502920" cy="50292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133"/>
          <p:cNvSpPr txBox="1"/>
          <p:nvPr/>
        </p:nvSpPr>
        <p:spPr>
          <a:xfrm>
            <a:off x="2139696" y="1874520"/>
            <a:ext cx="1499616" cy="502920"/>
          </a:xfrm>
          <a:prstGeom prst="rect">
            <a:avLst/>
          </a:prstGeom>
          <a:noFill/>
          <a:ln/>
        </p:spPr>
        <p:txBody>
          <a:bodyPr wrap="square" lIns="0" tIns="0" rIns="0" bIns="0" rtlCol="0" anchor="t"/>
          <a:lstStyle/>
          <a:p>
            <a:pPr algn="l" indent="0" marL="0">
              <a:buNone/>
            </a:pPr>
            <a:r>
              <a:rPr lang="en-US" sz="1500" b="1" dirty="0">
                <a:solidFill>
                  <a:schemeClr val="tx2"/>
                </a:solidFill>
              </a:rPr>
              <a:t>Measure distance</a:t>
            </a:r>
            <a:endParaRPr lang="en-US" sz="1500" dirty="0"/>
          </a:p>
        </p:txBody>
      </p:sp>
      <p:sp>
        <p:nvSpPr>
          <p:cNvPr id="11" name="Text 134"/>
          <p:cNvSpPr txBox="1"/>
          <p:nvPr/>
        </p:nvSpPr>
        <p:spPr>
          <a:xfrm>
            <a:off x="2139696" y="2395728"/>
            <a:ext cx="1499616" cy="1234440"/>
          </a:xfrm>
          <a:prstGeom prst="rect">
            <a:avLst/>
          </a:prstGeom>
          <a:noFill/>
          <a:ln/>
        </p:spPr>
        <p:txBody>
          <a:bodyPr wrap="square" lIns="0" tIns="0" rIns="0" bIns="0" rtlCol="0" anchor="t"/>
          <a:lstStyle/>
          <a:p>
            <a:pPr algn="l" indent="0" marL="0">
              <a:buNone/>
            </a:pPr>
            <a:r>
              <a:rPr lang="en-US" sz="1400" dirty="0">
                <a:solidFill>
                  <a:schemeClr val="tx1"/>
                </a:solidFill>
              </a:rPr>
              <a:t>Find the distance from each SKU to every centroid.</a:t>
            </a:r>
            <a:endParaRPr lang="en-US" sz="1400" dirty="0"/>
          </a:p>
        </p:txBody>
      </p:sp>
      <p:sp>
        <p:nvSpPr>
          <p:cNvPr id="12" name="Arrow 135"/>
          <p:cNvSpPr/>
          <p:nvPr/>
        </p:nvSpPr>
        <p:spPr>
          <a:xfrm>
            <a:off x="4389120" y="1463040"/>
            <a:ext cx="1097280" cy="0"/>
          </a:xfrm>
          <a:prstGeom prst="line">
            <a:avLst/>
          </a:prstGeom>
          <a:noFill/>
          <a:ln w="19050">
            <a:solidFill>
              <a:schemeClr val="accent5"/>
            </a:solidFill>
            <a:prstDash val="solid"/>
            <a:tailEnd type="triangle"/>
          </a:ln>
        </p:spPr>
      </p:sp>
      <p:sp>
        <p:nvSpPr>
          <p:cNvPr id="13" name="Badge 136"/>
          <p:cNvSpPr/>
          <p:nvPr/>
        </p:nvSpPr>
        <p:spPr>
          <a:xfrm>
            <a:off x="3822192" y="1216152"/>
            <a:ext cx="502920" cy="50292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Text 137"/>
          <p:cNvSpPr txBox="1"/>
          <p:nvPr/>
        </p:nvSpPr>
        <p:spPr>
          <a:xfrm>
            <a:off x="3822192" y="1874520"/>
            <a:ext cx="1499616" cy="502920"/>
          </a:xfrm>
          <a:prstGeom prst="rect">
            <a:avLst/>
          </a:prstGeom>
          <a:noFill/>
          <a:ln/>
        </p:spPr>
        <p:txBody>
          <a:bodyPr wrap="square" lIns="0" tIns="0" rIns="0" bIns="0" rtlCol="0" anchor="t"/>
          <a:lstStyle/>
          <a:p>
            <a:pPr algn="l" indent="0" marL="0">
              <a:buNone/>
            </a:pPr>
            <a:r>
              <a:rPr lang="en-US" sz="1500" b="1" dirty="0">
                <a:solidFill>
                  <a:schemeClr val="tx2"/>
                </a:solidFill>
              </a:rPr>
              <a:t>Assign</a:t>
            </a:r>
            <a:endParaRPr lang="en-US" sz="1500" dirty="0"/>
          </a:p>
        </p:txBody>
      </p:sp>
      <p:sp>
        <p:nvSpPr>
          <p:cNvPr id="15" name="Text 138"/>
          <p:cNvSpPr txBox="1"/>
          <p:nvPr/>
        </p:nvSpPr>
        <p:spPr>
          <a:xfrm>
            <a:off x="3822192" y="2395728"/>
            <a:ext cx="1499616" cy="1234440"/>
          </a:xfrm>
          <a:prstGeom prst="rect">
            <a:avLst/>
          </a:prstGeom>
          <a:noFill/>
          <a:ln/>
        </p:spPr>
        <p:txBody>
          <a:bodyPr wrap="square" lIns="0" tIns="0" rIns="0" bIns="0" rtlCol="0" anchor="t"/>
          <a:lstStyle/>
          <a:p>
            <a:pPr algn="l" indent="0" marL="0">
              <a:buNone/>
            </a:pPr>
            <a:r>
              <a:rPr lang="en-US" sz="1400" dirty="0">
                <a:solidFill>
                  <a:schemeClr val="tx1"/>
                </a:solidFill>
              </a:rPr>
              <a:t>Put each SKU in the cluster with the nearest centroid.</a:t>
            </a:r>
            <a:endParaRPr lang="en-US" sz="1400" dirty="0"/>
          </a:p>
        </p:txBody>
      </p:sp>
      <p:sp>
        <p:nvSpPr>
          <p:cNvPr id="16" name="Arrow 139"/>
          <p:cNvSpPr/>
          <p:nvPr/>
        </p:nvSpPr>
        <p:spPr>
          <a:xfrm>
            <a:off x="6071616" y="1463040"/>
            <a:ext cx="1097280" cy="0"/>
          </a:xfrm>
          <a:prstGeom prst="line">
            <a:avLst/>
          </a:prstGeom>
          <a:noFill/>
          <a:ln w="19050">
            <a:solidFill>
              <a:schemeClr val="accent5"/>
            </a:solidFill>
            <a:prstDash val="solid"/>
            <a:tailEnd type="triangle"/>
          </a:ln>
        </p:spPr>
      </p:sp>
      <p:sp>
        <p:nvSpPr>
          <p:cNvPr id="17" name="Badge 140"/>
          <p:cNvSpPr/>
          <p:nvPr/>
        </p:nvSpPr>
        <p:spPr>
          <a:xfrm>
            <a:off x="5504688" y="1216152"/>
            <a:ext cx="502920" cy="50292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8" name="Text 141"/>
          <p:cNvSpPr txBox="1"/>
          <p:nvPr/>
        </p:nvSpPr>
        <p:spPr>
          <a:xfrm>
            <a:off x="5504688" y="1874520"/>
            <a:ext cx="1499616" cy="502920"/>
          </a:xfrm>
          <a:prstGeom prst="rect">
            <a:avLst/>
          </a:prstGeom>
          <a:noFill/>
          <a:ln/>
        </p:spPr>
        <p:txBody>
          <a:bodyPr wrap="square" lIns="0" tIns="0" rIns="0" bIns="0" rtlCol="0" anchor="t"/>
          <a:lstStyle/>
          <a:p>
            <a:pPr algn="l" indent="0" marL="0">
              <a:buNone/>
            </a:pPr>
            <a:r>
              <a:rPr lang="en-US" sz="1500" b="1" dirty="0">
                <a:solidFill>
                  <a:schemeClr val="tx2"/>
                </a:solidFill>
              </a:rPr>
              <a:t>Update centres</a:t>
            </a:r>
            <a:endParaRPr lang="en-US" sz="1500" dirty="0"/>
          </a:p>
        </p:txBody>
      </p:sp>
      <p:sp>
        <p:nvSpPr>
          <p:cNvPr id="19" name="Text 142"/>
          <p:cNvSpPr txBox="1"/>
          <p:nvPr/>
        </p:nvSpPr>
        <p:spPr>
          <a:xfrm>
            <a:off x="5504688" y="2395728"/>
            <a:ext cx="1499616" cy="1234440"/>
          </a:xfrm>
          <a:prstGeom prst="rect">
            <a:avLst/>
          </a:prstGeom>
          <a:noFill/>
          <a:ln/>
        </p:spPr>
        <p:txBody>
          <a:bodyPr wrap="square" lIns="0" tIns="0" rIns="0" bIns="0" rtlCol="0" anchor="t"/>
          <a:lstStyle/>
          <a:p>
            <a:pPr algn="l" indent="0" marL="0">
              <a:buNone/>
            </a:pPr>
            <a:r>
              <a:rPr lang="en-US" sz="1400" dirty="0">
                <a:solidFill>
                  <a:schemeClr val="tx1"/>
                </a:solidFill>
              </a:rPr>
              <a:t>Move each centroid to the mean of its SKUs.</a:t>
            </a:r>
            <a:endParaRPr lang="en-US" sz="1400" dirty="0"/>
          </a:p>
        </p:txBody>
      </p:sp>
      <p:sp>
        <p:nvSpPr>
          <p:cNvPr id="20" name="Badge 143"/>
          <p:cNvSpPr/>
          <p:nvPr/>
        </p:nvSpPr>
        <p:spPr>
          <a:xfrm>
            <a:off x="7187184" y="1216152"/>
            <a:ext cx="502920" cy="50292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1" name="Text 144"/>
          <p:cNvSpPr txBox="1"/>
          <p:nvPr/>
        </p:nvSpPr>
        <p:spPr>
          <a:xfrm>
            <a:off x="7187184" y="1874520"/>
            <a:ext cx="1499616" cy="502920"/>
          </a:xfrm>
          <a:prstGeom prst="rect">
            <a:avLst/>
          </a:prstGeom>
          <a:noFill/>
          <a:ln/>
        </p:spPr>
        <p:txBody>
          <a:bodyPr wrap="square" lIns="0" tIns="0" rIns="0" bIns="0" rtlCol="0" anchor="t"/>
          <a:lstStyle/>
          <a:p>
            <a:pPr algn="l" indent="0" marL="0">
              <a:buNone/>
            </a:pPr>
            <a:r>
              <a:rPr lang="en-US" sz="1500" b="1" dirty="0">
                <a:solidFill>
                  <a:schemeClr val="tx2"/>
                </a:solidFill>
              </a:rPr>
              <a:t>Repeat</a:t>
            </a:r>
            <a:endParaRPr lang="en-US" sz="1500" dirty="0"/>
          </a:p>
        </p:txBody>
      </p:sp>
      <p:sp>
        <p:nvSpPr>
          <p:cNvPr id="22" name="Text 145"/>
          <p:cNvSpPr txBox="1"/>
          <p:nvPr/>
        </p:nvSpPr>
        <p:spPr>
          <a:xfrm>
            <a:off x="7187184" y="2395728"/>
            <a:ext cx="1499616" cy="1234440"/>
          </a:xfrm>
          <a:prstGeom prst="rect">
            <a:avLst/>
          </a:prstGeom>
          <a:noFill/>
          <a:ln/>
        </p:spPr>
        <p:txBody>
          <a:bodyPr wrap="square" lIns="0" tIns="0" rIns="0" bIns="0" rtlCol="0" anchor="t"/>
          <a:lstStyle/>
          <a:p>
            <a:pPr algn="l" indent="0" marL="0">
              <a:buNone/>
            </a:pPr>
            <a:r>
              <a:rPr lang="en-US" sz="1400" dirty="0">
                <a:solidFill>
                  <a:schemeClr val="tx1"/>
                </a:solidFill>
              </a:rPr>
              <a:t>Do steps 2 to 4 again until no SKU changes its cluster.</a:t>
            </a:r>
            <a:endParaRPr lang="en-US" sz="1400" dirty="0"/>
          </a:p>
        </p:txBody>
      </p:sp>
      <p:sp>
        <p:nvSpPr>
          <p:cNvPr id="23" name="Card 146"/>
          <p:cNvSpPr/>
          <p:nvPr/>
        </p:nvSpPr>
        <p:spPr>
          <a:xfrm>
            <a:off x="457200" y="3794760"/>
            <a:ext cx="8229600" cy="566928"/>
          </a:xfrm>
          <a:prstGeom prst="roundRect">
            <a:avLst>
              <a:gd name="adj" fmla="val 12903"/>
            </a:avLst>
          </a:prstGeom>
          <a:solidFill>
            <a:schemeClr val="bg2"/>
          </a:solidFill>
          <a:ln w="12700">
            <a:solidFill>
              <a:schemeClr val="bg2"/>
            </a:solidFill>
            <a:prstDash val="solid"/>
          </a:ln>
        </p:spPr>
      </p:sp>
      <p:sp>
        <p:nvSpPr>
          <p:cNvPr id="24" name="Text 147"/>
          <p:cNvSpPr txBox="1"/>
          <p:nvPr/>
        </p:nvSpPr>
        <p:spPr>
          <a:xfrm>
            <a:off x="640080" y="3794760"/>
            <a:ext cx="7863840" cy="566928"/>
          </a:xfrm>
          <a:prstGeom prst="rect">
            <a:avLst/>
          </a:prstGeom>
          <a:noFill/>
          <a:ln/>
        </p:spPr>
        <p:txBody>
          <a:bodyPr wrap="square" lIns="0" tIns="0" rIns="0" bIns="0" rtlCol="0" anchor="ctr"/>
          <a:lstStyle/>
          <a:p>
            <a:pPr algn="l" indent="0" marL="0">
              <a:buNone/>
            </a:pPr>
            <a:r>
              <a:rPr lang="en-US" sz="1400" b="1" dirty="0">
                <a:solidFill>
                  <a:schemeClr val="tx2"/>
                </a:solidFill>
              </a:rPr>
              <a:t>Distance used: </a:t>
            </a:r>
            <a:pPr algn="l" indent="0" marL="0">
              <a:buNone/>
            </a:pPr>
            <a:r>
              <a:rPr lang="en-US" sz="1400" dirty="0">
                <a:solidFill>
                  <a:schemeClr val="tx1"/>
                </a:solidFill>
              </a:rPr>
              <a:t>Euclidean distance, the straight-line distance between two points.</a:t>
            </a:r>
            <a:endParaRPr lang="en-US" sz="1400" dirty="0"/>
          </a:p>
        </p:txBody>
      </p:sp>
      <p:sp>
        <p:nvSpPr>
          <p:cNvPr id="25" name="Slide Number Placeholder 0"/>
          <p:cNvSpPr>
            <a:spLocks noGrp="1"/>
          </p:cNvSpPr>
          <p:nvPr>
            <p:ph type="sldNum" sz="quarter" idx="4294967295"/>
          </p:nvPr>
        </p:nvSpPr>
        <p:spPr>
          <a:xfrm>
            <a:off x="8229600" y="47274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315200" cy="685800"/>
          </a:xfrm>
          <a:prstGeom prst="rect">
            <a:avLst/>
          </a:prstGeom>
          <a:noFill/>
          <a:ln/>
        </p:spPr>
        <p:txBody>
          <a:bodyPr wrap="square" lIns="0" tIns="0" rIns="0" bIns="0" rtlCol="0" anchor="ctr"/>
          <a:lstStyle/>
          <a:p>
            <a:pPr algn="l" indent="0" marL="0">
              <a:buNone/>
            </a:pPr>
            <a:r>
              <a:rPr lang="en-US" sz="3600" b="1" dirty="0">
                <a:solidFill>
                  <a:schemeClr val="tx2"/>
                </a:solidFill>
              </a:rPr>
              <a:t>Step 1: Prepare the SKU data</a:t>
            </a:r>
            <a:endParaRPr lang="en-US" sz="3600" dirty="0"/>
          </a:p>
        </p:txBody>
      </p:sp>
      <p:sp>
        <p:nvSpPr>
          <p:cNvPr id="4" name="Text 148"/>
          <p:cNvSpPr txBox="1"/>
          <p:nvPr/>
        </p:nvSpPr>
        <p:spPr>
          <a:xfrm>
            <a:off x="457200" y="1115568"/>
            <a:ext cx="4846320" cy="256032"/>
          </a:xfrm>
          <a:prstGeom prst="rect">
            <a:avLst/>
          </a:prstGeom>
          <a:noFill/>
          <a:ln/>
        </p:spPr>
        <p:txBody>
          <a:bodyPr wrap="square" lIns="0" tIns="0" rIns="0" bIns="0" rtlCol="0" anchor="ctr"/>
          <a:lstStyle/>
          <a:p>
            <a:pPr algn="l" indent="0" marL="0">
              <a:buNone/>
            </a:pPr>
            <a:r>
              <a:rPr lang="en-US" sz="1100" dirty="0">
                <a:solidFill>
                  <a:schemeClr val="accent5"/>
                </a:solidFill>
              </a:rPr>
              <a:t>Real data: Olist public e-commerce dataset, 99,441 orders (2016 to 2018)</a:t>
            </a:r>
            <a:endParaRPr lang="en-US" sz="1100" dirty="0"/>
          </a:p>
        </p:txBody>
      </p:sp>
      <p:graphicFrame>
        <p:nvGraphicFramePr>
          <p:cNvPr id="9" name="Real SKU table"/>
          <p:cNvGraphicFramePr>
            <a:graphicFrameLocks noGrp="1"/>
          </p:cNvGraphicFramePr>
          <p:nvPr>
            <p:extLst>
              <p:ext uri="{D42A27DB-BD31-4B8C-83A1-F6EECF244321}">
                <p14:modId xmlns:p14="http://schemas.microsoft.com/office/powerpoint/2010/main" val="1579011935"/>
              </p:ext>
            </p:extLst>
          </p:nvPr>
        </p:nvGraphicFramePr>
        <p:xfrm>
          <a:off x="457200" y="1417320"/>
          <a:ext cx="4846320" cy="914400"/>
        </p:xfrm>
        <a:graphic>
          <a:graphicData uri="http://schemas.openxmlformats.org/drawingml/2006/table">
            <a:tbl>
              <a:tblPr/>
              <a:tblGrid>
                <a:gridCol w="1097280"/>
                <a:gridCol w="822960"/>
                <a:gridCol w="1005840"/>
                <a:gridCol w="960120"/>
                <a:gridCol w="960120"/>
              </a:tblGrid>
              <a:tr h="566928">
                <a:tc>
                  <a:txBody>
                    <a:bodyPr/>
                    <a:lstStyle/>
                    <a:p>
                      <a:pPr algn="ctr" indent="0" marL="0">
                        <a:buNone/>
                      </a:pPr>
                      <a:r>
                        <a:rPr lang="en-US" sz="1400" b="1" dirty="0">
                          <a:solidFill>
                            <a:schemeClr val="bg1"/>
                          </a:solidFill>
                        </a:rPr>
                        <a:t>SKU</a:t>
                      </a:r>
                      <a:endParaRPr lang="en-US" sz="1400" dirty="0"/>
                    </a:p>
                  </a:txBody>
                  <a:tcPr marL="73152" marR="73152" marT="27432" marB="27432"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Orders</a:t>
                      </a:r>
                      <a:endParaRPr lang="en-US" sz="1400" dirty="0"/>
                    </a:p>
                  </a:txBody>
                  <a:tcPr marL="73152" marR="73152" marT="27432" marB="27432"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Season index</a:t>
                      </a:r>
                      <a:endParaRPr lang="en-US" sz="1400" dirty="0"/>
                    </a:p>
                  </a:txBody>
                  <a:tcPr marL="73152" marR="73152" marT="27432" marB="27432"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Volume (L)</a:t>
                      </a:r>
                      <a:endParaRPr lang="en-US" sz="1400" dirty="0"/>
                    </a:p>
                  </a:txBody>
                  <a:tcPr marL="73152" marR="73152" marT="27432" marB="27432"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Weight (kg)</a:t>
                      </a:r>
                      <a:endParaRPr lang="en-US" sz="1400" dirty="0"/>
                    </a:p>
                  </a:txBody>
                  <a:tcPr marL="73152" marR="73152" marT="27432" marB="27432"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solidFill>
                      <a:schemeClr val="accent1"/>
                    </a:solidFill>
                  </a:tcPr>
                </a:tc>
              </a:tr>
              <a:tr h="384048">
                <a:tc>
                  <a:txBody>
                    <a:bodyPr/>
                    <a:lstStyle/>
                    <a:p>
                      <a:pPr indent="0" marL="0">
                        <a:buNone/>
                      </a:pPr>
                      <a:r>
                        <a:rPr lang="en-US" sz="1400" dirty="0">
                          <a:solidFill>
                            <a:schemeClr val="tx1"/>
                          </a:solidFill>
                        </a:rPr>
                        <a:t>aca2eb7d</a:t>
                      </a:r>
                      <a:endParaRPr lang="en-US" sz="1400" dirty="0"/>
                    </a:p>
                  </a:txBody>
                  <a:tcPr marL="73152" marR="73152" marT="27432" marB="27432"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algn="ctr" indent="0" marL="0">
                        <a:buNone/>
                      </a:pPr>
                      <a:r>
                        <a:rPr lang="en-US" sz="1400" dirty="0">
                          <a:solidFill>
                            <a:schemeClr val="tx1"/>
                          </a:solidFill>
                        </a:rPr>
                        <a:t>527</a:t>
                      </a:r>
                      <a:endParaRPr lang="en-US" sz="1400" dirty="0"/>
                    </a:p>
                  </a:txBody>
                  <a:tcPr marL="73152" marR="73152" marT="27432" marB="27432"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algn="ctr" indent="0" marL="0">
                        <a:buNone/>
                      </a:pPr>
                      <a:r>
                        <a:rPr lang="en-US" sz="1400" dirty="0">
                          <a:solidFill>
                            <a:schemeClr val="tx1"/>
                          </a:solidFill>
                        </a:rPr>
                        <a:t>2.8</a:t>
                      </a:r>
                      <a:endParaRPr lang="en-US" sz="1400" dirty="0"/>
                    </a:p>
                  </a:txBody>
                  <a:tcPr marL="73152" marR="73152" marT="27432" marB="27432"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algn="ctr" indent="0" marL="0">
                        <a:buNone/>
                      </a:pPr>
                      <a:r>
                        <a:rPr lang="en-US" sz="1400" dirty="0">
                          <a:solidFill>
                            <a:schemeClr val="tx1"/>
                          </a:solidFill>
                        </a:rPr>
                        <a:t>15.0</a:t>
                      </a:r>
                      <a:endParaRPr lang="en-US" sz="1400" dirty="0"/>
                    </a:p>
                  </a:txBody>
                  <a:tcPr marL="73152" marR="73152" marT="27432" marB="27432"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algn="ctr" indent="0" marL="0">
                        <a:buNone/>
                      </a:pPr>
                      <a:r>
                        <a:rPr lang="en-US" sz="1400" dirty="0">
                          <a:solidFill>
                            <a:schemeClr val="tx1"/>
                          </a:solidFill>
                        </a:rPr>
                        <a:t>2.6</a:t>
                      </a:r>
                      <a:endParaRPr lang="en-US" sz="1400" dirty="0"/>
                    </a:p>
                  </a:txBody>
                  <a:tcPr marL="73152" marR="73152" marT="27432" marB="27432"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r>
              <a:tr h="384048">
                <a:tc>
                  <a:txBody>
                    <a:bodyPr/>
                    <a:lstStyle/>
                    <a:p>
                      <a:pPr indent="0" marL="0">
                        <a:buNone/>
                      </a:pPr>
                      <a:r>
                        <a:rPr lang="en-US" sz="1400" dirty="0">
                          <a:solidFill>
                            <a:schemeClr val="tx1"/>
                          </a:solidFill>
                        </a:rPr>
                        <a:t>42a2c92a</a:t>
                      </a:r>
                      <a:endParaRPr lang="en-US" sz="1400" dirty="0"/>
                    </a:p>
                  </a:txBody>
                  <a:tcPr marL="73152" marR="73152" marT="27432" marB="27432"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algn="ctr" indent="0" marL="0">
                        <a:buNone/>
                      </a:pPr>
                      <a:r>
                        <a:rPr lang="en-US" sz="1400" dirty="0">
                          <a:solidFill>
                            <a:schemeClr val="tx1"/>
                          </a:solidFill>
                        </a:rPr>
                        <a:t>183</a:t>
                      </a:r>
                      <a:endParaRPr lang="en-US" sz="1400" dirty="0"/>
                    </a:p>
                  </a:txBody>
                  <a:tcPr marL="73152" marR="73152" marT="27432" marB="27432"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algn="ctr" indent="0" marL="0">
                        <a:buNone/>
                      </a:pPr>
                      <a:r>
                        <a:rPr lang="en-US" sz="1400" dirty="0">
                          <a:solidFill>
                            <a:schemeClr val="tx1"/>
                          </a:solidFill>
                        </a:rPr>
                        <a:t>4.8</a:t>
                      </a:r>
                      <a:endParaRPr lang="en-US" sz="1400" dirty="0"/>
                    </a:p>
                  </a:txBody>
                  <a:tcPr marL="73152" marR="73152" marT="27432" marB="27432"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algn="ctr" indent="0" marL="0">
                        <a:buNone/>
                      </a:pPr>
                      <a:r>
                        <a:rPr lang="en-US" sz="1400" dirty="0">
                          <a:solidFill>
                            <a:schemeClr val="tx1"/>
                          </a:solidFill>
                        </a:rPr>
                        <a:t>33.0</a:t>
                      </a:r>
                      <a:endParaRPr lang="en-US" sz="1400" dirty="0"/>
                    </a:p>
                  </a:txBody>
                  <a:tcPr marL="73152" marR="73152" marT="27432" marB="27432"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algn="ctr" indent="0" marL="0">
                        <a:buNone/>
                      </a:pPr>
                      <a:r>
                        <a:rPr lang="en-US" sz="1400" dirty="0">
                          <a:solidFill>
                            <a:schemeClr val="tx1"/>
                          </a:solidFill>
                        </a:rPr>
                        <a:t>7.0</a:t>
                      </a:r>
                      <a:endParaRPr lang="en-US" sz="1400" dirty="0"/>
                    </a:p>
                  </a:txBody>
                  <a:tcPr marL="73152" marR="73152" marT="27432" marB="27432"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r>
              <a:tr h="384048">
                <a:tc>
                  <a:txBody>
                    <a:bodyPr/>
                    <a:lstStyle/>
                    <a:p>
                      <a:pPr indent="0" marL="0">
                        <a:buNone/>
                      </a:pPr>
                      <a:r>
                        <a:rPr lang="en-US" sz="1400" dirty="0">
                          <a:solidFill>
                            <a:schemeClr val="tx1"/>
                          </a:solidFill>
                        </a:rPr>
                        <a:t>54d9ac71</a:t>
                      </a:r>
                      <a:endParaRPr lang="en-US" sz="1400" dirty="0"/>
                    </a:p>
                  </a:txBody>
                  <a:tcPr marL="73152" marR="73152" marT="27432" marB="27432"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algn="ctr" indent="0" marL="0">
                        <a:buNone/>
                      </a:pPr>
                      <a:r>
                        <a:rPr lang="en-US" sz="1400" dirty="0">
                          <a:solidFill>
                            <a:schemeClr val="tx1"/>
                          </a:solidFill>
                        </a:rPr>
                        <a:t>114</a:t>
                      </a:r>
                      <a:endParaRPr lang="en-US" sz="1400" dirty="0"/>
                    </a:p>
                  </a:txBody>
                  <a:tcPr marL="73152" marR="73152" marT="27432" marB="27432"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algn="ctr" indent="0" marL="0">
                        <a:buNone/>
                      </a:pPr>
                      <a:r>
                        <a:rPr lang="en-US" sz="1400" dirty="0">
                          <a:solidFill>
                            <a:schemeClr val="tx1"/>
                          </a:solidFill>
                        </a:rPr>
                        <a:t>8.0</a:t>
                      </a:r>
                      <a:endParaRPr lang="en-US" sz="1400" dirty="0"/>
                    </a:p>
                  </a:txBody>
                  <a:tcPr marL="73152" marR="73152" marT="27432" marB="27432"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algn="ctr" indent="0" marL="0">
                        <a:buNone/>
                      </a:pPr>
                      <a:r>
                        <a:rPr lang="en-US" sz="1400" dirty="0">
                          <a:solidFill>
                            <a:schemeClr val="tx1"/>
                          </a:solidFill>
                        </a:rPr>
                        <a:t>7.8</a:t>
                      </a:r>
                      <a:endParaRPr lang="en-US" sz="1400" dirty="0"/>
                    </a:p>
                  </a:txBody>
                  <a:tcPr marL="73152" marR="73152" marT="27432" marB="27432"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algn="ctr" indent="0" marL="0">
                        <a:buNone/>
                      </a:pPr>
                      <a:r>
                        <a:rPr lang="en-US" sz="1400" dirty="0">
                          <a:solidFill>
                            <a:schemeClr val="tx1"/>
                          </a:solidFill>
                        </a:rPr>
                        <a:t>1.9</a:t>
                      </a:r>
                      <a:endParaRPr lang="en-US" sz="1400" dirty="0"/>
                    </a:p>
                  </a:txBody>
                  <a:tcPr marL="73152" marR="73152" marT="27432" marB="27432"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r>
              <a:tr h="384048">
                <a:tc>
                  <a:txBody>
                    <a:bodyPr/>
                    <a:lstStyle/>
                    <a:p>
                      <a:pPr indent="0" marL="0">
                        <a:buNone/>
                      </a:pPr>
                      <a:r>
                        <a:rPr lang="en-US" sz="1400" dirty="0">
                          <a:solidFill>
                            <a:schemeClr val="tx1"/>
                          </a:solidFill>
                        </a:rPr>
                        <a:t>dbb67791</a:t>
                      </a:r>
                      <a:endParaRPr lang="en-US" sz="1400" dirty="0"/>
                    </a:p>
                  </a:txBody>
                  <a:tcPr marL="73152" marR="73152" marT="27432" marB="27432"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algn="ctr" indent="0" marL="0">
                        <a:buNone/>
                      </a:pPr>
                      <a:r>
                        <a:rPr lang="en-US" sz="1400" dirty="0">
                          <a:solidFill>
                            <a:schemeClr val="tx1"/>
                          </a:solidFill>
                        </a:rPr>
                        <a:t>88</a:t>
                      </a:r>
                      <a:endParaRPr lang="en-US" sz="1400" dirty="0"/>
                    </a:p>
                  </a:txBody>
                  <a:tcPr marL="73152" marR="73152" marT="27432" marB="27432"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algn="ctr" indent="0" marL="0">
                        <a:buNone/>
                      </a:pPr>
                      <a:r>
                        <a:rPr lang="en-US" sz="1400" dirty="0">
                          <a:solidFill>
                            <a:schemeClr val="tx1"/>
                          </a:solidFill>
                        </a:rPr>
                        <a:t>4.5</a:t>
                      </a:r>
                      <a:endParaRPr lang="en-US" sz="1400" dirty="0"/>
                    </a:p>
                  </a:txBody>
                  <a:tcPr marL="73152" marR="73152" marT="27432" marB="27432"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algn="ctr" indent="0" marL="0">
                        <a:buNone/>
                      </a:pPr>
                      <a:r>
                        <a:rPr lang="en-US" sz="1400" dirty="0">
                          <a:solidFill>
                            <a:schemeClr val="tx1"/>
                          </a:solidFill>
                        </a:rPr>
                        <a:t>2.7</a:t>
                      </a:r>
                      <a:endParaRPr lang="en-US" sz="1400" dirty="0"/>
                    </a:p>
                  </a:txBody>
                  <a:tcPr marL="73152" marR="73152" marT="27432" marB="27432"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algn="ctr" indent="0" marL="0">
                        <a:buNone/>
                      </a:pPr>
                      <a:r>
                        <a:rPr lang="en-US" sz="1400" dirty="0">
                          <a:solidFill>
                            <a:schemeClr val="tx1"/>
                          </a:solidFill>
                        </a:rPr>
                        <a:t>0.2</a:t>
                      </a:r>
                      <a:endParaRPr lang="en-US" sz="1400" dirty="0"/>
                    </a:p>
                  </a:txBody>
                  <a:tcPr marL="73152" marR="73152" marT="27432" marB="27432"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r>
            </a:tbl>
          </a:graphicData>
        </a:graphic>
      </p:graphicFrame>
      <p:sp>
        <p:nvSpPr>
          <p:cNvPr id="6" name="Card 149"/>
          <p:cNvSpPr/>
          <p:nvPr/>
        </p:nvSpPr>
        <p:spPr>
          <a:xfrm>
            <a:off x="457200" y="3730752"/>
            <a:ext cx="4846320" cy="621792"/>
          </a:xfrm>
          <a:prstGeom prst="roundRect">
            <a:avLst>
              <a:gd name="adj" fmla="val 11765"/>
            </a:avLst>
          </a:prstGeom>
          <a:solidFill>
            <a:schemeClr val="bg2"/>
          </a:solidFill>
          <a:ln w="12700">
            <a:solidFill>
              <a:schemeClr val="bg2"/>
            </a:solidFill>
            <a:prstDash val="solid"/>
          </a:ln>
        </p:spPr>
      </p:sp>
      <p:sp>
        <p:nvSpPr>
          <p:cNvPr id="7" name="Text 150"/>
          <p:cNvSpPr txBox="1"/>
          <p:nvPr/>
        </p:nvSpPr>
        <p:spPr>
          <a:xfrm>
            <a:off x="621792" y="3730752"/>
            <a:ext cx="4526280" cy="621792"/>
          </a:xfrm>
          <a:prstGeom prst="rect">
            <a:avLst/>
          </a:prstGeom>
          <a:noFill/>
          <a:ln/>
        </p:spPr>
        <p:txBody>
          <a:bodyPr wrap="square" lIns="0" tIns="0" rIns="0" bIns="0" rtlCol="0" anchor="ctr"/>
          <a:lstStyle/>
          <a:p>
            <a:pPr algn="l" indent="0" marL="0">
              <a:buNone/>
            </a:pPr>
            <a:r>
              <a:rPr lang="en-US" sz="1400" b="1" dirty="0">
                <a:solidFill>
                  <a:schemeClr val="tx2"/>
                </a:solidFill>
              </a:rPr>
              <a:t>Season index </a:t>
            </a:r>
            <a:pPr algn="l" indent="0" marL="0">
              <a:buNone/>
            </a:pPr>
            <a:r>
              <a:rPr lang="en-US" sz="1400" dirty="0">
                <a:solidFill>
                  <a:schemeClr val="tx1"/>
                </a:solidFill>
              </a:rPr>
              <a:t>= share of orders in the busiest month x 12</a:t>
            </a:r>
            <a:endParaRPr lang="en-US" sz="1400" dirty="0"/>
          </a:p>
        </p:txBody>
      </p:sp>
      <p:sp>
        <p:nvSpPr>
          <p:cNvPr id="8" name="Text 151"/>
          <p:cNvSpPr txBox="1"/>
          <p:nvPr/>
        </p:nvSpPr>
        <p:spPr>
          <a:xfrm>
            <a:off x="457200" y="4407408"/>
            <a:ext cx="4846320" cy="256032"/>
          </a:xfrm>
          <a:prstGeom prst="rect">
            <a:avLst/>
          </a:prstGeom>
          <a:noFill/>
          <a:ln/>
        </p:spPr>
        <p:txBody>
          <a:bodyPr wrap="square" lIns="0" tIns="0" rIns="0" bIns="0" rtlCol="0" anchor="ctr"/>
          <a:lstStyle/>
          <a:p>
            <a:pPr algn="l" indent="0" marL="0">
              <a:buNone/>
            </a:pPr>
            <a:r>
              <a:rPr lang="en-US" sz="1100" dirty="0">
                <a:solidFill>
                  <a:schemeClr val="accent5"/>
                </a:solidFill>
              </a:rPr>
              <a:t>Source: </a:t>
            </a:r>
            <a:pPr algn="l" indent="0" marL="0">
              <a:buNone/>
            </a:pPr>
            <a:r>
              <a:rPr lang="en-US" sz="1100" b="1" u="sng" dirty="0">
                <a:solidFill>
                  <a:schemeClr val="tx2"/>
                </a:solidFill>
                <a:hlinkClick r:id="rId1" invalidUrl="" action="" tgtFrame="" tooltip="Brazilian E-Commerce Public Dataset by Olist" history="1" highlightClick="0" endSnd="0">
                  <a:extLst>
                    <a:ext uri="{A12FA001-AC4F-418D-AE19-62706E023703}">
                      <ahyp:hlinkClr xmlns:ahyp="http://schemas.microsoft.com/office/drawing/2018/hyperlinkcolor" val="tx"/>
                    </a:ext>
                  </a:extLst>
                </a:hlinkClick>
              </a:rPr>
              <a:t>github.com/olist/work-at-olist-data</a:t>
            </a:r>
            <a:pPr algn="l" indent="0" marL="0">
              <a:buNone/>
            </a:pPr>
            <a:r>
              <a:rPr lang="en-US" sz="1100" dirty="0">
                <a:solidFill>
                  <a:schemeClr val="accent5"/>
                </a:solidFill>
              </a:rPr>
              <a:t>  (Olist, MIT licence)</a:t>
            </a:r>
            <a:endParaRPr lang="en-US" sz="1100" dirty="0"/>
          </a:p>
        </p:txBody>
      </p:sp>
      <p:sp>
        <p:nvSpPr>
          <p:cNvPr id="9" name="Badge 152"/>
          <p:cNvSpPr/>
          <p:nvPr/>
        </p:nvSpPr>
        <p:spPr>
          <a:xfrm>
            <a:off x="5577840" y="1188720"/>
            <a:ext cx="365760" cy="3657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0" name="Text 153"/>
          <p:cNvSpPr txBox="1"/>
          <p:nvPr/>
        </p:nvSpPr>
        <p:spPr>
          <a:xfrm>
            <a:off x="6053328" y="1188720"/>
            <a:ext cx="2633472" cy="310896"/>
          </a:xfrm>
          <a:prstGeom prst="rect">
            <a:avLst/>
          </a:prstGeom>
          <a:noFill/>
          <a:ln/>
        </p:spPr>
        <p:txBody>
          <a:bodyPr wrap="square" lIns="0" tIns="0" rIns="0" bIns="0" rtlCol="0" anchor="ctr"/>
          <a:lstStyle/>
          <a:p>
            <a:pPr algn="l" indent="0" marL="0">
              <a:buNone/>
            </a:pPr>
            <a:r>
              <a:rPr lang="en-US" sz="1500" b="1" dirty="0">
                <a:solidFill>
                  <a:schemeClr val="tx2"/>
                </a:solidFill>
              </a:rPr>
              <a:t>383 real SKUs</a:t>
            </a:r>
            <a:endParaRPr lang="en-US" sz="1500" dirty="0"/>
          </a:p>
        </p:txBody>
      </p:sp>
      <p:sp>
        <p:nvSpPr>
          <p:cNvPr id="11" name="Text 154"/>
          <p:cNvSpPr txBox="1"/>
          <p:nvPr/>
        </p:nvSpPr>
        <p:spPr>
          <a:xfrm>
            <a:off x="6053328" y="1517904"/>
            <a:ext cx="2633472" cy="685800"/>
          </a:xfrm>
          <a:prstGeom prst="rect">
            <a:avLst/>
          </a:prstGeom>
          <a:noFill/>
          <a:ln/>
        </p:spPr>
        <p:txBody>
          <a:bodyPr wrap="square" lIns="0" tIns="0" rIns="0" bIns="0" rtlCol="0" anchor="t"/>
          <a:lstStyle/>
          <a:p>
            <a:pPr algn="l" indent="0" marL="0">
              <a:buNone/>
            </a:pPr>
            <a:r>
              <a:rPr lang="en-US" sz="1400" dirty="0">
                <a:solidFill>
                  <a:schemeClr val="tx1"/>
                </a:solidFill>
              </a:rPr>
              <a:t>Products ordered at least 30 times, out of 32,951.</a:t>
            </a:r>
            <a:endParaRPr lang="en-US" sz="1400" dirty="0"/>
          </a:p>
        </p:txBody>
      </p:sp>
      <p:sp>
        <p:nvSpPr>
          <p:cNvPr id="12" name="Badge 155"/>
          <p:cNvSpPr/>
          <p:nvPr/>
        </p:nvSpPr>
        <p:spPr>
          <a:xfrm>
            <a:off x="5577840" y="2258568"/>
            <a:ext cx="365760" cy="3657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56"/>
          <p:cNvSpPr txBox="1"/>
          <p:nvPr/>
        </p:nvSpPr>
        <p:spPr>
          <a:xfrm>
            <a:off x="6053328" y="2258568"/>
            <a:ext cx="2633472" cy="310896"/>
          </a:xfrm>
          <a:prstGeom prst="rect">
            <a:avLst/>
          </a:prstGeom>
          <a:noFill/>
          <a:ln/>
        </p:spPr>
        <p:txBody>
          <a:bodyPr wrap="square" lIns="0" tIns="0" rIns="0" bIns="0" rtlCol="0" anchor="ctr"/>
          <a:lstStyle/>
          <a:p>
            <a:pPr algn="l" indent="0" marL="0">
              <a:buNone/>
            </a:pPr>
            <a:r>
              <a:rPr lang="en-US" sz="1500" b="1" dirty="0">
                <a:solidFill>
                  <a:schemeClr val="tx2"/>
                </a:solidFill>
              </a:rPr>
              <a:t>Four numbers each</a:t>
            </a:r>
            <a:endParaRPr lang="en-US" sz="1500" dirty="0"/>
          </a:p>
        </p:txBody>
      </p:sp>
      <p:sp>
        <p:nvSpPr>
          <p:cNvPr id="14" name="Text 157"/>
          <p:cNvSpPr txBox="1"/>
          <p:nvPr/>
        </p:nvSpPr>
        <p:spPr>
          <a:xfrm>
            <a:off x="6053328" y="2587752"/>
            <a:ext cx="2633472" cy="685800"/>
          </a:xfrm>
          <a:prstGeom prst="rect">
            <a:avLst/>
          </a:prstGeom>
          <a:noFill/>
          <a:ln/>
        </p:spPr>
        <p:txBody>
          <a:bodyPr wrap="square" lIns="0" tIns="0" rIns="0" bIns="0" rtlCol="0" anchor="t"/>
          <a:lstStyle/>
          <a:p>
            <a:pPr algn="l" indent="0" marL="0">
              <a:buNone/>
            </a:pPr>
            <a:r>
              <a:rPr lang="en-US" sz="1400" dirty="0">
                <a:solidFill>
                  <a:schemeClr val="tx1"/>
                </a:solidFill>
              </a:rPr>
              <a:t>Orders, season index, volume, and weight for handling.</a:t>
            </a:r>
            <a:endParaRPr lang="en-US" sz="1400" dirty="0"/>
          </a:p>
        </p:txBody>
      </p:sp>
      <p:sp>
        <p:nvSpPr>
          <p:cNvPr id="15" name="Badge 158"/>
          <p:cNvSpPr/>
          <p:nvPr/>
        </p:nvSpPr>
        <p:spPr>
          <a:xfrm>
            <a:off x="5577840" y="3328416"/>
            <a:ext cx="365760" cy="3657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59"/>
          <p:cNvSpPr txBox="1"/>
          <p:nvPr/>
        </p:nvSpPr>
        <p:spPr>
          <a:xfrm>
            <a:off x="6053328" y="3328416"/>
            <a:ext cx="2633472" cy="310896"/>
          </a:xfrm>
          <a:prstGeom prst="rect">
            <a:avLst/>
          </a:prstGeom>
          <a:noFill/>
          <a:ln/>
        </p:spPr>
        <p:txBody>
          <a:bodyPr wrap="square" lIns="0" tIns="0" rIns="0" bIns="0" rtlCol="0" anchor="ctr"/>
          <a:lstStyle/>
          <a:p>
            <a:pPr algn="l" indent="0" marL="0">
              <a:buNone/>
            </a:pPr>
            <a:r>
              <a:rPr lang="en-US" sz="1500" b="1" dirty="0">
                <a:solidFill>
                  <a:schemeClr val="tx2"/>
                </a:solidFill>
              </a:rPr>
              <a:t>Scale the features</a:t>
            </a:r>
            <a:endParaRPr lang="en-US" sz="1500" dirty="0"/>
          </a:p>
        </p:txBody>
      </p:sp>
      <p:sp>
        <p:nvSpPr>
          <p:cNvPr id="17" name="Text 160"/>
          <p:cNvSpPr txBox="1"/>
          <p:nvPr/>
        </p:nvSpPr>
        <p:spPr>
          <a:xfrm>
            <a:off x="6053328" y="3657600"/>
            <a:ext cx="2633472" cy="685800"/>
          </a:xfrm>
          <a:prstGeom prst="rect">
            <a:avLst/>
          </a:prstGeom>
          <a:noFill/>
          <a:ln/>
        </p:spPr>
        <p:txBody>
          <a:bodyPr wrap="square" lIns="0" tIns="0" rIns="0" bIns="0" rtlCol="0" anchor="t"/>
          <a:lstStyle/>
          <a:p>
            <a:pPr algn="l" indent="0" marL="0">
              <a:buNone/>
            </a:pPr>
            <a:r>
              <a:rPr lang="en-US" sz="1400" dirty="0">
                <a:solidFill>
                  <a:schemeClr val="tx1"/>
                </a:solidFill>
              </a:rPr>
              <a:t>Log of the uneven columns, then all on the same scale.</a:t>
            </a:r>
            <a:endParaRPr lang="en-US" sz="1400" dirty="0"/>
          </a:p>
        </p:txBody>
      </p:sp>
      <p:sp>
        <p:nvSpPr>
          <p:cNvPr id="25" name="Slide Number Placeholder 0"/>
          <p:cNvSpPr>
            <a:spLocks noGrp="1"/>
          </p:cNvSpPr>
          <p:nvPr>
            <p:ph type="sldNum" sz="quarter" idx="4294967295"/>
          </p:nvPr>
        </p:nvSpPr>
        <p:spPr>
          <a:xfrm>
            <a:off x="8229600" y="47274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315200" cy="685800"/>
          </a:xfrm>
          <a:prstGeom prst="rect">
            <a:avLst/>
          </a:prstGeom>
          <a:noFill/>
          <a:ln/>
        </p:spPr>
        <p:txBody>
          <a:bodyPr wrap="square" lIns="0" tIns="0" rIns="0" bIns="0" rtlCol="0" anchor="ctr"/>
          <a:lstStyle/>
          <a:p>
            <a:pPr algn="l" indent="0" marL="0">
              <a:buNone/>
            </a:pPr>
            <a:r>
              <a:rPr lang="en-US" sz="3600" b="1" dirty="0">
                <a:solidFill>
                  <a:schemeClr val="tx2"/>
                </a:solidFill>
              </a:rPr>
              <a:t>The real data at a glance</a:t>
            </a:r>
            <a:endParaRPr lang="en-US" sz="3600" dirty="0"/>
          </a:p>
        </p:txBody>
      </p:sp>
      <p:sp>
        <p:nvSpPr>
          <p:cNvPr id="4" name="Card 161"/>
          <p:cNvSpPr/>
          <p:nvPr/>
        </p:nvSpPr>
        <p:spPr>
          <a:xfrm>
            <a:off x="457200" y="1188720"/>
            <a:ext cx="2624328" cy="868680"/>
          </a:xfrm>
          <a:prstGeom prst="roundRect">
            <a:avLst>
              <a:gd name="adj" fmla="val 8421"/>
            </a:avLst>
          </a:prstGeom>
          <a:solidFill>
            <a:schemeClr val="bg2"/>
          </a:solidFill>
          <a:ln w="12700">
            <a:solidFill>
              <a:schemeClr val="bg2"/>
            </a:solidFill>
            <a:prstDash val="solid"/>
          </a:ln>
        </p:spPr>
      </p:sp>
      <p:sp>
        <p:nvSpPr>
          <p:cNvPr id="5" name="Text 162"/>
          <p:cNvSpPr txBox="1"/>
          <p:nvPr/>
        </p:nvSpPr>
        <p:spPr>
          <a:xfrm>
            <a:off x="640080" y="1243584"/>
            <a:ext cx="2286000" cy="457200"/>
          </a:xfrm>
          <a:prstGeom prst="rect">
            <a:avLst/>
          </a:prstGeom>
          <a:noFill/>
          <a:ln/>
        </p:spPr>
        <p:txBody>
          <a:bodyPr wrap="square" lIns="0" tIns="0" rIns="0" bIns="0" rtlCol="0" anchor="ctr"/>
          <a:lstStyle/>
          <a:p>
            <a:pPr algn="l" indent="0" marL="0">
              <a:buNone/>
            </a:pPr>
            <a:r>
              <a:rPr lang="en-US" sz="2600" b="1" dirty="0">
                <a:solidFill>
                  <a:schemeClr val="tx2"/>
                </a:solidFill>
              </a:rPr>
              <a:t>99,441</a:t>
            </a:r>
            <a:endParaRPr lang="en-US" sz="2600" dirty="0"/>
          </a:p>
        </p:txBody>
      </p:sp>
      <p:sp>
        <p:nvSpPr>
          <p:cNvPr id="6" name="Text 163"/>
          <p:cNvSpPr txBox="1"/>
          <p:nvPr/>
        </p:nvSpPr>
        <p:spPr>
          <a:xfrm>
            <a:off x="640080" y="1682496"/>
            <a:ext cx="2286000" cy="292608"/>
          </a:xfrm>
          <a:prstGeom prst="rect">
            <a:avLst/>
          </a:prstGeom>
          <a:noFill/>
          <a:ln/>
        </p:spPr>
        <p:txBody>
          <a:bodyPr wrap="square" lIns="0" tIns="0" rIns="0" bIns="0" rtlCol="0" anchor="ctr"/>
          <a:lstStyle/>
          <a:p>
            <a:pPr algn="l" indent="0" marL="0">
              <a:buNone/>
            </a:pPr>
            <a:r>
              <a:rPr lang="en-US" sz="1200" dirty="0">
                <a:solidFill>
                  <a:schemeClr val="accent5"/>
                </a:solidFill>
              </a:rPr>
              <a:t>real orders, 2016 to 2018</a:t>
            </a:r>
            <a:endParaRPr lang="en-US" sz="1200" dirty="0"/>
          </a:p>
        </p:txBody>
      </p:sp>
      <p:sp>
        <p:nvSpPr>
          <p:cNvPr id="7" name="Card 164"/>
          <p:cNvSpPr/>
          <p:nvPr/>
        </p:nvSpPr>
        <p:spPr>
          <a:xfrm>
            <a:off x="3264408" y="1188720"/>
            <a:ext cx="2624328" cy="868680"/>
          </a:xfrm>
          <a:prstGeom prst="roundRect">
            <a:avLst>
              <a:gd name="adj" fmla="val 8421"/>
            </a:avLst>
          </a:prstGeom>
          <a:solidFill>
            <a:schemeClr val="bg2"/>
          </a:solidFill>
          <a:ln w="12700">
            <a:solidFill>
              <a:schemeClr val="bg2"/>
            </a:solidFill>
            <a:prstDash val="solid"/>
          </a:ln>
        </p:spPr>
      </p:sp>
      <p:sp>
        <p:nvSpPr>
          <p:cNvPr id="8" name="Text 165"/>
          <p:cNvSpPr txBox="1"/>
          <p:nvPr/>
        </p:nvSpPr>
        <p:spPr>
          <a:xfrm>
            <a:off x="3447288" y="1243584"/>
            <a:ext cx="2286000" cy="457200"/>
          </a:xfrm>
          <a:prstGeom prst="rect">
            <a:avLst/>
          </a:prstGeom>
          <a:noFill/>
          <a:ln/>
        </p:spPr>
        <p:txBody>
          <a:bodyPr wrap="square" lIns="0" tIns="0" rIns="0" bIns="0" rtlCol="0" anchor="ctr"/>
          <a:lstStyle/>
          <a:p>
            <a:pPr algn="l" indent="0" marL="0">
              <a:buNone/>
            </a:pPr>
            <a:r>
              <a:rPr lang="en-US" sz="2600" b="1" dirty="0">
                <a:solidFill>
                  <a:schemeClr val="tx2"/>
                </a:solidFill>
              </a:rPr>
              <a:t>32,951</a:t>
            </a:r>
            <a:endParaRPr lang="en-US" sz="2600" dirty="0"/>
          </a:p>
        </p:txBody>
      </p:sp>
      <p:sp>
        <p:nvSpPr>
          <p:cNvPr id="9" name="Text 166"/>
          <p:cNvSpPr txBox="1"/>
          <p:nvPr/>
        </p:nvSpPr>
        <p:spPr>
          <a:xfrm>
            <a:off x="3447288" y="1682496"/>
            <a:ext cx="2286000" cy="292608"/>
          </a:xfrm>
          <a:prstGeom prst="rect">
            <a:avLst/>
          </a:prstGeom>
          <a:noFill/>
          <a:ln/>
        </p:spPr>
        <p:txBody>
          <a:bodyPr wrap="square" lIns="0" tIns="0" rIns="0" bIns="0" rtlCol="0" anchor="ctr"/>
          <a:lstStyle/>
          <a:p>
            <a:pPr algn="l" indent="0" marL="0">
              <a:buNone/>
            </a:pPr>
            <a:r>
              <a:rPr lang="en-US" sz="1200" dirty="0">
                <a:solidFill>
                  <a:schemeClr val="accent5"/>
                </a:solidFill>
              </a:rPr>
              <a:t>products in the dataset</a:t>
            </a:r>
            <a:endParaRPr lang="en-US" sz="1200" dirty="0"/>
          </a:p>
        </p:txBody>
      </p:sp>
      <p:sp>
        <p:nvSpPr>
          <p:cNvPr id="10" name="Card 167"/>
          <p:cNvSpPr/>
          <p:nvPr/>
        </p:nvSpPr>
        <p:spPr>
          <a:xfrm>
            <a:off x="6071616" y="1188720"/>
            <a:ext cx="2624328" cy="868680"/>
          </a:xfrm>
          <a:prstGeom prst="roundRect">
            <a:avLst>
              <a:gd name="adj" fmla="val 8421"/>
            </a:avLst>
          </a:prstGeom>
          <a:solidFill>
            <a:schemeClr val="bg2"/>
          </a:solidFill>
          <a:ln w="12700">
            <a:solidFill>
              <a:schemeClr val="bg2"/>
            </a:solidFill>
            <a:prstDash val="solid"/>
          </a:ln>
        </p:spPr>
      </p:sp>
      <p:sp>
        <p:nvSpPr>
          <p:cNvPr id="11" name="Text 168"/>
          <p:cNvSpPr txBox="1"/>
          <p:nvPr/>
        </p:nvSpPr>
        <p:spPr>
          <a:xfrm>
            <a:off x="6254496" y="1243584"/>
            <a:ext cx="2286000" cy="457200"/>
          </a:xfrm>
          <a:prstGeom prst="rect">
            <a:avLst/>
          </a:prstGeom>
          <a:noFill/>
          <a:ln/>
        </p:spPr>
        <p:txBody>
          <a:bodyPr wrap="square" lIns="0" tIns="0" rIns="0" bIns="0" rtlCol="0" anchor="ctr"/>
          <a:lstStyle/>
          <a:p>
            <a:pPr algn="l" indent="0" marL="0">
              <a:buNone/>
            </a:pPr>
            <a:r>
              <a:rPr lang="en-US" sz="2600" b="1" dirty="0">
                <a:solidFill>
                  <a:schemeClr val="tx2"/>
                </a:solidFill>
              </a:rPr>
              <a:t>383</a:t>
            </a:r>
            <a:endParaRPr lang="en-US" sz="2600" dirty="0"/>
          </a:p>
        </p:txBody>
      </p:sp>
      <p:sp>
        <p:nvSpPr>
          <p:cNvPr id="12" name="Text 169"/>
          <p:cNvSpPr txBox="1"/>
          <p:nvPr/>
        </p:nvSpPr>
        <p:spPr>
          <a:xfrm>
            <a:off x="6254496" y="1682496"/>
            <a:ext cx="2286000" cy="292608"/>
          </a:xfrm>
          <a:prstGeom prst="rect">
            <a:avLst/>
          </a:prstGeom>
          <a:noFill/>
          <a:ln/>
        </p:spPr>
        <p:txBody>
          <a:bodyPr wrap="square" lIns="0" tIns="0" rIns="0" bIns="0" rtlCol="0" anchor="ctr"/>
          <a:lstStyle/>
          <a:p>
            <a:pPr algn="l" indent="0" marL="0">
              <a:buNone/>
            </a:pPr>
            <a:r>
              <a:rPr lang="en-US" sz="1200" dirty="0">
                <a:solidFill>
                  <a:schemeClr val="accent5"/>
                </a:solidFill>
              </a:rPr>
              <a:t>SKUs ordered 30 times or more</a:t>
            </a:r>
            <a:endParaRPr lang="en-US" sz="1200" dirty="0"/>
          </a:p>
        </p:txBody>
      </p:sp>
      <p:graphicFrame>
        <p:nvGraphicFramePr>
          <p:cNvPr id="13" name="Orders by month" descr=""/>
          <p:cNvGraphicFramePr/>
          <p:nvPr/>
        </p:nvGraphicFramePr>
        <p:xfrm>
          <a:off x="457200" y="2194560"/>
          <a:ext cx="8229600" cy="23774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274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315200" cy="685800"/>
          </a:xfrm>
          <a:prstGeom prst="rect">
            <a:avLst/>
          </a:prstGeom>
          <a:noFill/>
          <a:ln/>
        </p:spPr>
        <p:txBody>
          <a:bodyPr wrap="square" lIns="0" tIns="0" rIns="0" bIns="0" rtlCol="0" anchor="ctr"/>
          <a:lstStyle/>
          <a:p>
            <a:pPr algn="l" indent="0" marL="0">
              <a:buNone/>
            </a:pPr>
            <a:r>
              <a:rPr lang="en-US" sz="3600" b="1" dirty="0">
                <a:solidFill>
                  <a:schemeClr val="tx2"/>
                </a:solidFill>
              </a:rPr>
              <a:t>Step 2: Choose the value of k</a:t>
            </a:r>
            <a:endParaRPr lang="en-US" sz="3600" dirty="0"/>
          </a:p>
        </p:txBody>
      </p:sp>
      <p:graphicFrame>
        <p:nvGraphicFramePr>
          <p:cNvPr id="4" name="Elbow chart" descr=""/>
          <p:cNvGraphicFramePr/>
          <p:nvPr/>
        </p:nvGraphicFramePr>
        <p:xfrm>
          <a:off x="457200" y="1188720"/>
          <a:ext cx="4754880" cy="3246120"/>
        </p:xfrm>
        <a:graphic xmlns:a="http://schemas.openxmlformats.org/drawingml/2006/main">
          <a:graphicData uri="http://schemas.openxmlformats.org/drawingml/2006/chart">
            <c:chart xmlns:c="http://schemas.openxmlformats.org/drawingml/2006/chart" r:id="rId1"/>
          </a:graphicData>
        </a:graphic>
      </p:graphicFrame>
      <p:sp>
        <p:nvSpPr>
          <p:cNvPr id="5" name="Badge 170"/>
          <p:cNvSpPr/>
          <p:nvPr/>
        </p:nvSpPr>
        <p:spPr>
          <a:xfrm>
            <a:off x="5486400" y="1188720"/>
            <a:ext cx="365760" cy="3657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171"/>
          <p:cNvSpPr txBox="1"/>
          <p:nvPr/>
        </p:nvSpPr>
        <p:spPr>
          <a:xfrm>
            <a:off x="5961888" y="1188720"/>
            <a:ext cx="2724912" cy="310896"/>
          </a:xfrm>
          <a:prstGeom prst="rect">
            <a:avLst/>
          </a:prstGeom>
          <a:noFill/>
          <a:ln/>
        </p:spPr>
        <p:txBody>
          <a:bodyPr wrap="square" lIns="0" tIns="0" rIns="0" bIns="0" rtlCol="0" anchor="ctr"/>
          <a:lstStyle/>
          <a:p>
            <a:pPr algn="l" indent="0" marL="0">
              <a:buNone/>
            </a:pPr>
            <a:r>
              <a:rPr lang="en-US" sz="1500" b="1" dirty="0">
                <a:solidFill>
                  <a:schemeClr val="tx2"/>
                </a:solidFill>
              </a:rPr>
              <a:t>Try many values</a:t>
            </a:r>
            <a:endParaRPr lang="en-US" sz="1500" dirty="0"/>
          </a:p>
        </p:txBody>
      </p:sp>
      <p:sp>
        <p:nvSpPr>
          <p:cNvPr id="7" name="Text 172"/>
          <p:cNvSpPr txBox="1"/>
          <p:nvPr/>
        </p:nvSpPr>
        <p:spPr>
          <a:xfrm>
            <a:off x="5961888" y="1517904"/>
            <a:ext cx="2724912" cy="566928"/>
          </a:xfrm>
          <a:prstGeom prst="rect">
            <a:avLst/>
          </a:prstGeom>
          <a:noFill/>
          <a:ln/>
        </p:spPr>
        <p:txBody>
          <a:bodyPr wrap="square" lIns="0" tIns="0" rIns="0" bIns="0" rtlCol="0" anchor="t"/>
          <a:lstStyle/>
          <a:p>
            <a:pPr algn="l" indent="0" marL="0">
              <a:buNone/>
            </a:pPr>
            <a:r>
              <a:rPr lang="en-US" sz="1400" dirty="0">
                <a:solidFill>
                  <a:schemeClr val="tx1"/>
                </a:solidFill>
              </a:rPr>
              <a:t>Run K-Means for k = 1 to 8. Note the error each time.</a:t>
            </a:r>
            <a:endParaRPr lang="en-US" sz="1400" dirty="0"/>
          </a:p>
        </p:txBody>
      </p:sp>
      <p:sp>
        <p:nvSpPr>
          <p:cNvPr id="8" name="Badge 173"/>
          <p:cNvSpPr/>
          <p:nvPr/>
        </p:nvSpPr>
        <p:spPr>
          <a:xfrm>
            <a:off x="5486400" y="2130552"/>
            <a:ext cx="365760" cy="3657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174"/>
          <p:cNvSpPr txBox="1"/>
          <p:nvPr/>
        </p:nvSpPr>
        <p:spPr>
          <a:xfrm>
            <a:off x="5961888" y="2130552"/>
            <a:ext cx="2724912" cy="310896"/>
          </a:xfrm>
          <a:prstGeom prst="rect">
            <a:avLst/>
          </a:prstGeom>
          <a:noFill/>
          <a:ln/>
        </p:spPr>
        <p:txBody>
          <a:bodyPr wrap="square" lIns="0" tIns="0" rIns="0" bIns="0" rtlCol="0" anchor="ctr"/>
          <a:lstStyle/>
          <a:p>
            <a:pPr algn="l" indent="0" marL="0">
              <a:buNone/>
            </a:pPr>
            <a:r>
              <a:rPr lang="en-US" sz="1500" b="1" dirty="0">
                <a:solidFill>
                  <a:schemeClr val="tx2"/>
                </a:solidFill>
              </a:rPr>
              <a:t>Plot the curve</a:t>
            </a:r>
            <a:endParaRPr lang="en-US" sz="1500" dirty="0"/>
          </a:p>
        </p:txBody>
      </p:sp>
      <p:sp>
        <p:nvSpPr>
          <p:cNvPr id="10" name="Text 175"/>
          <p:cNvSpPr txBox="1"/>
          <p:nvPr/>
        </p:nvSpPr>
        <p:spPr>
          <a:xfrm>
            <a:off x="5961888" y="2459736"/>
            <a:ext cx="2724912" cy="566928"/>
          </a:xfrm>
          <a:prstGeom prst="rect">
            <a:avLst/>
          </a:prstGeom>
          <a:noFill/>
          <a:ln/>
        </p:spPr>
        <p:txBody>
          <a:bodyPr wrap="square" lIns="0" tIns="0" rIns="0" bIns="0" rtlCol="0" anchor="t"/>
          <a:lstStyle/>
          <a:p>
            <a:pPr algn="l" indent="0" marL="0">
              <a:buNone/>
            </a:pPr>
            <a:r>
              <a:rPr lang="en-US" sz="1400" dirty="0">
                <a:solidFill>
                  <a:schemeClr val="tx1"/>
                </a:solidFill>
              </a:rPr>
              <a:t>Error = within-cluster variance. It falls as k grows.</a:t>
            </a:r>
            <a:endParaRPr lang="en-US" sz="1400" dirty="0"/>
          </a:p>
        </p:txBody>
      </p:sp>
      <p:sp>
        <p:nvSpPr>
          <p:cNvPr id="11" name="Badge 176"/>
          <p:cNvSpPr/>
          <p:nvPr/>
        </p:nvSpPr>
        <p:spPr>
          <a:xfrm>
            <a:off x="5486400" y="3072384"/>
            <a:ext cx="365760" cy="3657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Text 177"/>
          <p:cNvSpPr txBox="1"/>
          <p:nvPr/>
        </p:nvSpPr>
        <p:spPr>
          <a:xfrm>
            <a:off x="5961888" y="3072384"/>
            <a:ext cx="2724912" cy="310896"/>
          </a:xfrm>
          <a:prstGeom prst="rect">
            <a:avLst/>
          </a:prstGeom>
          <a:noFill/>
          <a:ln/>
        </p:spPr>
        <p:txBody>
          <a:bodyPr wrap="square" lIns="0" tIns="0" rIns="0" bIns="0" rtlCol="0" anchor="ctr"/>
          <a:lstStyle/>
          <a:p>
            <a:pPr algn="l" indent="0" marL="0">
              <a:buNone/>
            </a:pPr>
            <a:r>
              <a:rPr lang="en-US" sz="1500" b="1" dirty="0">
                <a:solidFill>
                  <a:schemeClr val="tx2"/>
                </a:solidFill>
              </a:rPr>
              <a:t>Find the elbow</a:t>
            </a:r>
            <a:endParaRPr lang="en-US" sz="1500" dirty="0"/>
          </a:p>
        </p:txBody>
      </p:sp>
      <p:sp>
        <p:nvSpPr>
          <p:cNvPr id="13" name="Text 178"/>
          <p:cNvSpPr txBox="1"/>
          <p:nvPr/>
        </p:nvSpPr>
        <p:spPr>
          <a:xfrm>
            <a:off x="5961888" y="3401568"/>
            <a:ext cx="2724912" cy="566928"/>
          </a:xfrm>
          <a:prstGeom prst="rect">
            <a:avLst/>
          </a:prstGeom>
          <a:noFill/>
          <a:ln/>
        </p:spPr>
        <p:txBody>
          <a:bodyPr wrap="square" lIns="0" tIns="0" rIns="0" bIns="0" rtlCol="0" anchor="t"/>
          <a:lstStyle/>
          <a:p>
            <a:pPr algn="l" indent="0" marL="0">
              <a:buNone/>
            </a:pPr>
            <a:r>
              <a:rPr lang="en-US" sz="1400" dirty="0">
                <a:solidFill>
                  <a:schemeClr val="tx1"/>
                </a:solidFill>
              </a:rPr>
              <a:t>The error falls 22% at k = 4, then only 15% at k = 5.</a:t>
            </a:r>
            <a:endParaRPr lang="en-US" sz="1400" dirty="0"/>
          </a:p>
        </p:txBody>
      </p:sp>
      <p:sp>
        <p:nvSpPr>
          <p:cNvPr id="14" name="Pill 179"/>
          <p:cNvSpPr/>
          <p:nvPr/>
        </p:nvSpPr>
        <p:spPr>
          <a:xfrm>
            <a:off x="5486400" y="4041648"/>
            <a:ext cx="3200400" cy="393192"/>
          </a:xfrm>
          <a:prstGeom prst="roundRect">
            <a:avLst>
              <a:gd name="adj" fmla="val 34884"/>
            </a:avLst>
          </a:prstGeom>
          <a:solidFill>
            <a:schemeClr val="accent2"/>
          </a:solidFill>
          <a:ln>
            <a:solidFill>
              <a:schemeClr val="accent2"/>
            </a:solidFill>
          </a:ln>
        </p:spPr>
        <p:txBody>
          <a:bodyPr wrap="square" lIns="0" tIns="0" rIns="0" bIns="0" rtlCol="0" anchor="ctr"/>
          <a:lstStyle/>
          <a:p>
            <a:pPr algn="ctr" indent="0" marL="0">
              <a:buNone/>
            </a:pPr>
            <a:r>
              <a:rPr lang="en-US" sz="1500" b="1" dirty="0">
                <a:solidFill>
                  <a:schemeClr val="tx1"/>
                </a:solidFill>
              </a:rPr>
              <a:t>On the real data: k = 4</a:t>
            </a:r>
            <a:endParaRPr lang="en-US" sz="1500" dirty="0"/>
          </a:p>
        </p:txBody>
      </p:sp>
      <p:sp>
        <p:nvSpPr>
          <p:cNvPr id="25" name="Slide Number Placeholder 0"/>
          <p:cNvSpPr>
            <a:spLocks noGrp="1"/>
          </p:cNvSpPr>
          <p:nvPr>
            <p:ph type="sldNum" sz="quarter" idx="4294967295"/>
          </p:nvPr>
        </p:nvSpPr>
        <p:spPr>
          <a:xfrm>
            <a:off x="8229600" y="47274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315200" cy="685800"/>
          </a:xfrm>
          <a:prstGeom prst="rect">
            <a:avLst/>
          </a:prstGeom>
          <a:noFill/>
          <a:ln/>
        </p:spPr>
        <p:txBody>
          <a:bodyPr wrap="square" lIns="0" tIns="0" rIns="0" bIns="0" rtlCol="0" anchor="ctr"/>
          <a:lstStyle/>
          <a:p>
            <a:pPr algn="l" indent="0" marL="0">
              <a:buNone/>
            </a:pPr>
            <a:r>
              <a:rPr lang="en-US" sz="3600" b="1" dirty="0">
                <a:solidFill>
                  <a:schemeClr val="tx2"/>
                </a:solidFill>
              </a:rPr>
              <a:t>A second check: silhouette</a:t>
            </a:r>
            <a:endParaRPr lang="en-US" sz="3600" dirty="0"/>
          </a:p>
        </p:txBody>
      </p:sp>
      <p:graphicFrame>
        <p:nvGraphicFramePr>
          <p:cNvPr id="4" name="Silhouette chart" descr=""/>
          <p:cNvGraphicFramePr/>
          <p:nvPr/>
        </p:nvGraphicFramePr>
        <p:xfrm>
          <a:off x="457200" y="1188720"/>
          <a:ext cx="4754880" cy="3246120"/>
        </p:xfrm>
        <a:graphic xmlns:a="http://schemas.openxmlformats.org/drawingml/2006/main">
          <a:graphicData uri="http://schemas.openxmlformats.org/drawingml/2006/chart">
            <c:chart xmlns:c="http://schemas.openxmlformats.org/drawingml/2006/chart" r:id="rId1"/>
          </a:graphicData>
        </a:graphic>
      </p:graphicFrame>
      <p:sp>
        <p:nvSpPr>
          <p:cNvPr id="5" name="Badge 180"/>
          <p:cNvSpPr/>
          <p:nvPr/>
        </p:nvSpPr>
        <p:spPr>
          <a:xfrm>
            <a:off x="5486400" y="1188720"/>
            <a:ext cx="365760" cy="3657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181"/>
          <p:cNvSpPr txBox="1"/>
          <p:nvPr/>
        </p:nvSpPr>
        <p:spPr>
          <a:xfrm>
            <a:off x="5961888" y="1188720"/>
            <a:ext cx="2724912" cy="310896"/>
          </a:xfrm>
          <a:prstGeom prst="rect">
            <a:avLst/>
          </a:prstGeom>
          <a:noFill/>
          <a:ln/>
        </p:spPr>
        <p:txBody>
          <a:bodyPr wrap="square" lIns="0" tIns="0" rIns="0" bIns="0" rtlCol="0" anchor="ctr"/>
          <a:lstStyle/>
          <a:p>
            <a:pPr algn="l" indent="0" marL="0">
              <a:buNone/>
            </a:pPr>
            <a:r>
              <a:rPr lang="en-US" sz="1500" b="1" dirty="0">
                <a:solidFill>
                  <a:schemeClr val="tx2"/>
                </a:solidFill>
              </a:rPr>
              <a:t>What it measures</a:t>
            </a:r>
            <a:endParaRPr lang="en-US" sz="1500" dirty="0"/>
          </a:p>
        </p:txBody>
      </p:sp>
      <p:sp>
        <p:nvSpPr>
          <p:cNvPr id="7" name="Text 182"/>
          <p:cNvSpPr txBox="1"/>
          <p:nvPr/>
        </p:nvSpPr>
        <p:spPr>
          <a:xfrm>
            <a:off x="5961888" y="1517904"/>
            <a:ext cx="2724912" cy="566928"/>
          </a:xfrm>
          <a:prstGeom prst="rect">
            <a:avLst/>
          </a:prstGeom>
          <a:noFill/>
          <a:ln/>
        </p:spPr>
        <p:txBody>
          <a:bodyPr wrap="square" lIns="0" tIns="0" rIns="0" bIns="0" rtlCol="0" anchor="t"/>
          <a:lstStyle/>
          <a:p>
            <a:pPr algn="l" indent="0" marL="0">
              <a:buNone/>
            </a:pPr>
            <a:r>
              <a:rPr lang="en-US" sz="1400" dirty="0">
                <a:solidFill>
                  <a:schemeClr val="tx1"/>
                </a:solidFill>
              </a:rPr>
              <a:t>How well each SKU sits inside its own group. Higher is better.</a:t>
            </a:r>
            <a:endParaRPr lang="en-US" sz="1400" dirty="0"/>
          </a:p>
        </p:txBody>
      </p:sp>
      <p:sp>
        <p:nvSpPr>
          <p:cNvPr id="8" name="Badge 183"/>
          <p:cNvSpPr/>
          <p:nvPr/>
        </p:nvSpPr>
        <p:spPr>
          <a:xfrm>
            <a:off x="5486400" y="2130552"/>
            <a:ext cx="365760" cy="3657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184"/>
          <p:cNvSpPr txBox="1"/>
          <p:nvPr/>
        </p:nvSpPr>
        <p:spPr>
          <a:xfrm>
            <a:off x="5961888" y="2130552"/>
            <a:ext cx="2724912" cy="310896"/>
          </a:xfrm>
          <a:prstGeom prst="rect">
            <a:avLst/>
          </a:prstGeom>
          <a:noFill/>
          <a:ln/>
        </p:spPr>
        <p:txBody>
          <a:bodyPr wrap="square" lIns="0" tIns="0" rIns="0" bIns="0" rtlCol="0" anchor="ctr"/>
          <a:lstStyle/>
          <a:p>
            <a:pPr algn="l" indent="0" marL="0">
              <a:buNone/>
            </a:pPr>
            <a:r>
              <a:rPr lang="en-US" sz="1500" b="1" dirty="0">
                <a:solidFill>
                  <a:schemeClr val="tx2"/>
                </a:solidFill>
              </a:rPr>
              <a:t>Highest at k = 4</a:t>
            </a:r>
            <a:endParaRPr lang="en-US" sz="1500" dirty="0"/>
          </a:p>
        </p:txBody>
      </p:sp>
      <p:sp>
        <p:nvSpPr>
          <p:cNvPr id="10" name="Text 185"/>
          <p:cNvSpPr txBox="1"/>
          <p:nvPr/>
        </p:nvSpPr>
        <p:spPr>
          <a:xfrm>
            <a:off x="5961888" y="2459736"/>
            <a:ext cx="2724912" cy="566928"/>
          </a:xfrm>
          <a:prstGeom prst="rect">
            <a:avLst/>
          </a:prstGeom>
          <a:noFill/>
          <a:ln/>
        </p:spPr>
        <p:txBody>
          <a:bodyPr wrap="square" lIns="0" tIns="0" rIns="0" bIns="0" rtlCol="0" anchor="t"/>
          <a:lstStyle/>
          <a:p>
            <a:pPr algn="l" indent="0" marL="0">
              <a:buNone/>
            </a:pPr>
            <a:r>
              <a:rPr lang="en-US" sz="1400" dirty="0">
                <a:solidFill>
                  <a:schemeClr val="tx1"/>
                </a:solidFill>
              </a:rPr>
              <a:t>The score is 0.37 at k = 4, above every other k.</a:t>
            </a:r>
            <a:endParaRPr lang="en-US" sz="1400" dirty="0"/>
          </a:p>
        </p:txBody>
      </p:sp>
      <p:sp>
        <p:nvSpPr>
          <p:cNvPr id="11" name="Badge 186"/>
          <p:cNvSpPr/>
          <p:nvPr/>
        </p:nvSpPr>
        <p:spPr>
          <a:xfrm>
            <a:off x="5486400" y="3072384"/>
            <a:ext cx="365760" cy="3657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Text 187"/>
          <p:cNvSpPr txBox="1"/>
          <p:nvPr/>
        </p:nvSpPr>
        <p:spPr>
          <a:xfrm>
            <a:off x="5961888" y="3072384"/>
            <a:ext cx="2724912" cy="310896"/>
          </a:xfrm>
          <a:prstGeom prst="rect">
            <a:avLst/>
          </a:prstGeom>
          <a:noFill/>
          <a:ln/>
        </p:spPr>
        <p:txBody>
          <a:bodyPr wrap="square" lIns="0" tIns="0" rIns="0" bIns="0" rtlCol="0" anchor="ctr"/>
          <a:lstStyle/>
          <a:p>
            <a:pPr algn="l" indent="0" marL="0">
              <a:buNone/>
            </a:pPr>
            <a:r>
              <a:rPr lang="en-US" sz="1500" b="1" dirty="0">
                <a:solidFill>
                  <a:schemeClr val="tx2"/>
                </a:solidFill>
              </a:rPr>
              <a:t>Both checks agree</a:t>
            </a:r>
            <a:endParaRPr lang="en-US" sz="1500" dirty="0"/>
          </a:p>
        </p:txBody>
      </p:sp>
      <p:sp>
        <p:nvSpPr>
          <p:cNvPr id="13" name="Text 188"/>
          <p:cNvSpPr txBox="1"/>
          <p:nvPr/>
        </p:nvSpPr>
        <p:spPr>
          <a:xfrm>
            <a:off x="5961888" y="3401568"/>
            <a:ext cx="2724912" cy="566928"/>
          </a:xfrm>
          <a:prstGeom prst="rect">
            <a:avLst/>
          </a:prstGeom>
          <a:noFill/>
          <a:ln/>
        </p:spPr>
        <p:txBody>
          <a:bodyPr wrap="square" lIns="0" tIns="0" rIns="0" bIns="0" rtlCol="0" anchor="t"/>
          <a:lstStyle/>
          <a:p>
            <a:pPr algn="l" indent="0" marL="0">
              <a:buNone/>
            </a:pPr>
            <a:r>
              <a:rPr lang="en-US" sz="1400" dirty="0">
                <a:solidFill>
                  <a:schemeClr val="tx1"/>
                </a:solidFill>
              </a:rPr>
              <a:t>The elbow and the silhouette both point to 4 clusters.</a:t>
            </a:r>
            <a:endParaRPr lang="en-US" sz="1400" dirty="0"/>
          </a:p>
        </p:txBody>
      </p:sp>
      <p:sp>
        <p:nvSpPr>
          <p:cNvPr id="14" name="Pill 189"/>
          <p:cNvSpPr/>
          <p:nvPr/>
        </p:nvSpPr>
        <p:spPr>
          <a:xfrm>
            <a:off x="5486400" y="4041648"/>
            <a:ext cx="3200400" cy="393192"/>
          </a:xfrm>
          <a:prstGeom prst="roundRect">
            <a:avLst>
              <a:gd name="adj" fmla="val 34884"/>
            </a:avLst>
          </a:prstGeom>
          <a:solidFill>
            <a:schemeClr val="accent2"/>
          </a:solidFill>
          <a:ln>
            <a:solidFill>
              <a:schemeClr val="accent2"/>
            </a:solidFill>
          </a:ln>
        </p:spPr>
        <p:txBody>
          <a:bodyPr wrap="square" lIns="0" tIns="0" rIns="0" bIns="0" rtlCol="0" anchor="ctr"/>
          <a:lstStyle/>
          <a:p>
            <a:pPr algn="ctr" indent="0" marL="0">
              <a:buNone/>
            </a:pPr>
            <a:r>
              <a:rPr lang="en-US" sz="1500" b="1" dirty="0">
                <a:solidFill>
                  <a:schemeClr val="tx1"/>
                </a:solidFill>
              </a:rPr>
              <a:t>Both checks: k = 4</a:t>
            </a:r>
            <a:endParaRPr lang="en-US" sz="1500" dirty="0"/>
          </a:p>
        </p:txBody>
      </p:sp>
      <p:sp>
        <p:nvSpPr>
          <p:cNvPr id="25" name="Slide Number Placeholder 0"/>
          <p:cNvSpPr>
            <a:spLocks noGrp="1"/>
          </p:cNvSpPr>
          <p:nvPr>
            <p:ph type="sldNum" sz="quarter" idx="4294967295"/>
          </p:nvPr>
        </p:nvSpPr>
        <p:spPr>
          <a:xfrm>
            <a:off x="8229600" y="47274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315200" cy="685800"/>
          </a:xfrm>
          <a:prstGeom prst="rect">
            <a:avLst/>
          </a:prstGeom>
          <a:noFill/>
          <a:ln/>
        </p:spPr>
        <p:txBody>
          <a:bodyPr wrap="square" lIns="0" tIns="0" rIns="0" bIns="0" rtlCol="0" anchor="ctr"/>
          <a:lstStyle/>
          <a:p>
            <a:pPr algn="l" indent="0" marL="0">
              <a:buNone/>
            </a:pPr>
            <a:r>
              <a:rPr lang="en-US" sz="3600" b="1" dirty="0">
                <a:solidFill>
                  <a:schemeClr val="tx2"/>
                </a:solidFill>
              </a:rPr>
              <a:t>Step 3: Clusters become zones</a:t>
            </a:r>
            <a:endParaRPr lang="en-US" sz="3600" dirty="0"/>
          </a:p>
        </p:txBody>
      </p:sp>
      <p:graphicFrame>
        <p:nvGraphicFramePr>
          <p:cNvPr id="13" name="Cluster to zone table"/>
          <p:cNvGraphicFramePr>
            <a:graphicFrameLocks noGrp="1"/>
          </p:cNvGraphicFramePr>
          <p:nvPr>
            <p:extLst>
              <p:ext uri="{D42A27DB-BD31-4B8C-83A1-F6EECF244321}">
                <p14:modId xmlns:p14="http://schemas.microsoft.com/office/powerpoint/2010/main" val="1579011935"/>
              </p:ext>
            </p:extLst>
          </p:nvPr>
        </p:nvGraphicFramePr>
        <p:xfrm>
          <a:off x="457200" y="1188720"/>
          <a:ext cx="5120640" cy="914400"/>
        </p:xfrm>
        <a:graphic>
          <a:graphicData uri="http://schemas.openxmlformats.org/drawingml/2006/table">
            <a:tbl>
              <a:tblPr/>
              <a:tblGrid>
                <a:gridCol w="1508760"/>
                <a:gridCol w="1783080"/>
                <a:gridCol w="1828800"/>
              </a:tblGrid>
              <a:tr h="411480">
                <a:tc>
                  <a:txBody>
                    <a:bodyPr/>
                    <a:lstStyle/>
                    <a:p>
                      <a:pPr indent="0" marL="0">
                        <a:buNone/>
                      </a:pPr>
                      <a:r>
                        <a:rPr lang="en-US" sz="1400" b="1" dirty="0">
                          <a:solidFill>
                            <a:schemeClr val="bg1"/>
                          </a:solidFill>
                        </a:rPr>
                        <a:t>Cluster</a:t>
                      </a:r>
                      <a:endParaRPr lang="en-US" sz="1400" dirty="0"/>
                    </a:p>
                  </a:txBody>
                  <a:tcPr marL="91440" marR="91440"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SKUs in it</a:t>
                      </a:r>
                      <a:endParaRPr lang="en-US" sz="1400" dirty="0"/>
                    </a:p>
                  </a:txBody>
                  <a:tcPr marL="91440" marR="91440"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Where to place</a:t>
                      </a:r>
                      <a:endParaRPr lang="en-US" sz="1400" dirty="0"/>
                    </a:p>
                  </a:txBody>
                  <a:tcPr marL="91440" marR="91440"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solidFill>
                      <a:schemeClr val="accent1"/>
                    </a:solidFill>
                  </a:tcPr>
                </a:tc>
              </a:tr>
              <a:tr h="621792">
                <a:tc>
                  <a:txBody>
                    <a:bodyPr/>
                    <a:lstStyle/>
                    <a:p>
                      <a:pPr indent="0" marL="0">
                        <a:buNone/>
                      </a:pPr>
                      <a:r>
                        <a:rPr lang="en-US" sz="1400" b="1" dirty="0">
                          <a:solidFill>
                            <a:schemeClr val="tx2"/>
                          </a:solidFill>
                        </a:rPr>
                        <a:t>A  Fast movers</a:t>
                      </a:r>
                      <a:endParaRPr lang="en-US" sz="1400" dirty="0"/>
                    </a:p>
                  </a:txBody>
                  <a:tcPr marL="91440" marR="91440"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indent="0" marL="0">
                        <a:buNone/>
                      </a:pPr>
                      <a:r>
                        <a:rPr lang="en-US" sz="1400" dirty="0">
                          <a:solidFill>
                            <a:schemeClr val="tx1"/>
                          </a:solidFill>
                        </a:rPr>
                        <a:t>76 SKUs, about 160 orders each</a:t>
                      </a:r>
                      <a:endParaRPr lang="en-US" sz="1400" dirty="0"/>
                    </a:p>
                  </a:txBody>
                  <a:tcPr marL="91440" marR="91440"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indent="0" marL="0">
                        <a:buNone/>
                      </a:pPr>
                      <a:r>
                        <a:rPr lang="en-US" sz="1400" dirty="0">
                          <a:solidFill>
                            <a:schemeClr val="tx1"/>
                          </a:solidFill>
                        </a:rPr>
                        <a:t>Front racks, near packing</a:t>
                      </a:r>
                      <a:endParaRPr lang="en-US" sz="1400" dirty="0"/>
                    </a:p>
                  </a:txBody>
                  <a:tcPr marL="91440" marR="91440"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r>
              <a:tr h="621792">
                <a:tc>
                  <a:txBody>
                    <a:bodyPr/>
                    <a:lstStyle/>
                    <a:p>
                      <a:pPr indent="0" marL="0">
                        <a:buNone/>
                      </a:pPr>
                      <a:r>
                        <a:rPr lang="en-US" sz="1400" b="1" dirty="0">
                          <a:solidFill>
                            <a:schemeClr val="tx2"/>
                          </a:solidFill>
                        </a:rPr>
                        <a:t>B  Bulky / heavy</a:t>
                      </a:r>
                      <a:endParaRPr lang="en-US" sz="1400" dirty="0"/>
                    </a:p>
                  </a:txBody>
                  <a:tcPr marL="91440" marR="91440"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indent="0" marL="0">
                        <a:buNone/>
                      </a:pPr>
                      <a:r>
                        <a:rPr lang="en-US" sz="1400" dirty="0">
                          <a:solidFill>
                            <a:schemeClr val="tx1"/>
                          </a:solidFill>
                        </a:rPr>
                        <a:t>84 SKUs, about 47 L and 7.6 kg</a:t>
                      </a:r>
                      <a:endParaRPr lang="en-US" sz="1400" dirty="0"/>
                    </a:p>
                  </a:txBody>
                  <a:tcPr marL="91440" marR="91440"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indent="0" marL="0">
                        <a:buNone/>
                      </a:pPr>
                      <a:r>
                        <a:rPr lang="en-US" sz="1400" dirty="0">
                          <a:solidFill>
                            <a:schemeClr val="tx1"/>
                          </a:solidFill>
                        </a:rPr>
                        <a:t>Ground level, low racks</a:t>
                      </a:r>
                      <a:endParaRPr lang="en-US" sz="1400" dirty="0"/>
                    </a:p>
                  </a:txBody>
                  <a:tcPr marL="91440" marR="91440"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r>
              <a:tr h="621792">
                <a:tc>
                  <a:txBody>
                    <a:bodyPr/>
                    <a:lstStyle/>
                    <a:p>
                      <a:pPr indent="0" marL="0">
                        <a:buNone/>
                      </a:pPr>
                      <a:r>
                        <a:rPr lang="en-US" sz="1400" b="1" dirty="0">
                          <a:solidFill>
                            <a:schemeClr val="tx2"/>
                          </a:solidFill>
                        </a:rPr>
                        <a:t>C  Seasonal</a:t>
                      </a:r>
                      <a:endParaRPr lang="en-US" sz="1400" dirty="0"/>
                    </a:p>
                  </a:txBody>
                  <a:tcPr marL="91440" marR="91440"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indent="0" marL="0">
                        <a:buNone/>
                      </a:pPr>
                      <a:r>
                        <a:rPr lang="en-US" sz="1400" dirty="0">
                          <a:solidFill>
                            <a:schemeClr val="tx1"/>
                          </a:solidFill>
                        </a:rPr>
                        <a:t>25 SKUs, season index 7.4</a:t>
                      </a:r>
                      <a:endParaRPr lang="en-US" sz="1400" dirty="0"/>
                    </a:p>
                  </a:txBody>
                  <a:tcPr marL="91440" marR="91440"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indent="0" marL="0">
                        <a:buNone/>
                      </a:pPr>
                      <a:r>
                        <a:rPr lang="en-US" sz="1400" dirty="0">
                          <a:solidFill>
                            <a:schemeClr val="tx1"/>
                          </a:solidFill>
                        </a:rPr>
                        <a:t>Flexible zone, moved forward in season</a:t>
                      </a:r>
                      <a:endParaRPr lang="en-US" sz="1400" dirty="0"/>
                    </a:p>
                  </a:txBody>
                  <a:tcPr marL="91440" marR="91440"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r>
              <a:tr h="621792">
                <a:tc>
                  <a:txBody>
                    <a:bodyPr/>
                    <a:lstStyle/>
                    <a:p>
                      <a:pPr indent="0" marL="0">
                        <a:buNone/>
                      </a:pPr>
                      <a:r>
                        <a:rPr lang="en-US" sz="1400" b="1" dirty="0">
                          <a:solidFill>
                            <a:schemeClr val="tx2"/>
                          </a:solidFill>
                        </a:rPr>
                        <a:t>D  Regular small</a:t>
                      </a:r>
                      <a:endParaRPr lang="en-US" sz="1400" dirty="0"/>
                    </a:p>
                  </a:txBody>
                  <a:tcPr marL="91440" marR="91440"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indent="0" marL="0">
                        <a:buNone/>
                      </a:pPr>
                      <a:r>
                        <a:rPr lang="en-US" sz="1400" dirty="0">
                          <a:solidFill>
                            <a:schemeClr val="tx1"/>
                          </a:solidFill>
                        </a:rPr>
                        <a:t>198 SKUs, about 45 orders each</a:t>
                      </a:r>
                      <a:endParaRPr lang="en-US" sz="1400" dirty="0"/>
                    </a:p>
                  </a:txBody>
                  <a:tcPr marL="91440" marR="91440"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c>
                  <a:txBody>
                    <a:bodyPr/>
                    <a:lstStyle/>
                    <a:p>
                      <a:pPr indent="0" marL="0">
                        <a:buNone/>
                      </a:pPr>
                      <a:r>
                        <a:rPr lang="en-US" sz="1400" dirty="0">
                          <a:solidFill>
                            <a:schemeClr val="tx1"/>
                          </a:solidFill>
                        </a:rPr>
                        <a:t>Back racks</a:t>
                      </a:r>
                      <a:endParaRPr lang="en-US" sz="1400" dirty="0"/>
                    </a:p>
                  </a:txBody>
                  <a:tcPr marL="91440" marR="91440" marT="36576" marB="36576" anchor="ctr">
                    <a:lnL w="9525" cap="flat" cmpd="sng" algn="ctr">
                      <a:solidFill>
                        <a:srgbClr val="EAF2F3"/>
                      </a:solidFill>
                      <a:prstDash val="solid"/>
                      <a:round/>
                      <a:headEnd type="none" w="med" len="med"/>
                      <a:tailEnd type="none" w="med" len="med"/>
                    </a:lnL>
                    <a:lnR w="9525" cap="flat" cmpd="sng" algn="ctr">
                      <a:solidFill>
                        <a:srgbClr val="EAF2F3"/>
                      </a:solidFill>
                      <a:prstDash val="solid"/>
                      <a:round/>
                      <a:headEnd type="none" w="med" len="med"/>
                      <a:tailEnd type="none" w="med" len="med"/>
                    </a:lnR>
                    <a:lnT w="9525" cap="flat" cmpd="sng" algn="ctr">
                      <a:solidFill>
                        <a:srgbClr val="EAF2F3"/>
                      </a:solidFill>
                      <a:prstDash val="solid"/>
                      <a:round/>
                      <a:headEnd type="none" w="med" len="med"/>
                      <a:tailEnd type="none" w="med" len="med"/>
                    </a:lnT>
                    <a:lnB w="9525" cap="flat" cmpd="sng" algn="ctr">
                      <a:solidFill>
                        <a:srgbClr val="EAF2F3"/>
                      </a:solidFill>
                      <a:prstDash val="solid"/>
                      <a:round/>
                      <a:headEnd type="none" w="med" len="med"/>
                      <a:tailEnd type="none" w="med" len="med"/>
                    </a:lnB>
                  </a:tcPr>
                </a:tc>
              </a:tr>
            </a:tbl>
          </a:graphicData>
        </a:graphic>
      </p:graphicFrame>
      <p:sp>
        <p:nvSpPr>
          <p:cNvPr id="5" name="Text 190"/>
          <p:cNvSpPr txBox="1"/>
          <p:nvPr/>
        </p:nvSpPr>
        <p:spPr>
          <a:xfrm>
            <a:off x="457200" y="4187952"/>
            <a:ext cx="5120640" cy="274320"/>
          </a:xfrm>
          <a:prstGeom prst="rect">
            <a:avLst/>
          </a:prstGeom>
          <a:noFill/>
          <a:ln/>
        </p:spPr>
        <p:txBody>
          <a:bodyPr wrap="square" lIns="0" tIns="0" rIns="0" bIns="0" rtlCol="0" anchor="ctr"/>
          <a:lstStyle/>
          <a:p>
            <a:pPr algn="l" indent="0" marL="0">
              <a:buNone/>
            </a:pPr>
            <a:r>
              <a:rPr lang="en-US" sz="1100" dirty="0">
                <a:solidFill>
                  <a:schemeClr val="accent5"/>
                </a:solidFill>
              </a:rPr>
              <a:t>Real clusters: K-Means with k = 4 on 383 Olist SKUs.</a:t>
            </a:r>
            <a:endParaRPr lang="en-US" sz="1100" dirty="0"/>
          </a:p>
        </p:txBody>
      </p:sp>
      <p:sp>
        <p:nvSpPr>
          <p:cNvPr id="6" name="Card 191"/>
          <p:cNvSpPr/>
          <p:nvPr/>
        </p:nvSpPr>
        <p:spPr>
          <a:xfrm>
            <a:off x="5852160" y="1188720"/>
            <a:ext cx="2834640" cy="3246120"/>
          </a:xfrm>
          <a:prstGeom prst="roundRect">
            <a:avLst>
              <a:gd name="adj" fmla="val 2581"/>
            </a:avLst>
          </a:prstGeom>
          <a:solidFill>
            <a:schemeClr val="bg2"/>
          </a:solidFill>
          <a:ln w="12700">
            <a:solidFill>
              <a:schemeClr val="bg2"/>
            </a:solidFill>
            <a:prstDash val="solid"/>
          </a:ln>
        </p:spPr>
      </p:sp>
      <p:sp>
        <p:nvSpPr>
          <p:cNvPr id="7" name="Text 192"/>
          <p:cNvSpPr txBox="1"/>
          <p:nvPr/>
        </p:nvSpPr>
        <p:spPr>
          <a:xfrm>
            <a:off x="5989320" y="1261872"/>
            <a:ext cx="2560320" cy="256032"/>
          </a:xfrm>
          <a:prstGeom prst="rect">
            <a:avLst/>
          </a:prstGeom>
          <a:noFill/>
          <a:ln/>
        </p:spPr>
        <p:txBody>
          <a:bodyPr wrap="square" lIns="0" tIns="0" rIns="0" bIns="0" rtlCol="0" anchor="ctr"/>
          <a:lstStyle/>
          <a:p>
            <a:pPr algn="l" indent="0" marL="0">
              <a:buNone/>
            </a:pPr>
            <a:r>
              <a:rPr lang="en-US" sz="1100" b="1" dirty="0">
                <a:solidFill>
                  <a:schemeClr val="tx2"/>
                </a:solidFill>
              </a:rPr>
              <a:t>Floor plan</a:t>
            </a:r>
            <a:endParaRPr lang="en-US" sz="1100" dirty="0"/>
          </a:p>
        </p:txBody>
      </p:sp>
      <p:sp>
        <p:nvSpPr>
          <p:cNvPr id="8" name="Zone 193"/>
          <p:cNvSpPr/>
          <p:nvPr/>
        </p:nvSpPr>
        <p:spPr>
          <a:xfrm>
            <a:off x="5989320" y="1572768"/>
            <a:ext cx="1188720" cy="960120"/>
          </a:xfrm>
          <a:prstGeom prst="roundRect">
            <a:avLst>
              <a:gd name="adj" fmla="val 5714"/>
            </a:avLst>
          </a:prstGeom>
          <a:solidFill>
            <a:srgbClr val="E87BA4"/>
          </a:solidFill>
          <a:ln>
            <a:solidFill>
              <a:srgbClr val="E87BA4"/>
            </a:solidFill>
          </a:ln>
        </p:spPr>
        <p:txBody>
          <a:bodyPr wrap="square" lIns="508" tIns="508" rIns="508" bIns="508" rtlCol="0" anchor="ctr"/>
          <a:lstStyle/>
          <a:p>
            <a:pPr algn="ctr" indent="0" marL="0">
              <a:buNone/>
            </a:pPr>
            <a:r>
              <a:rPr lang="en-US" sz="2200" b="1" dirty="0">
                <a:solidFill>
                  <a:srgbClr val="16212B"/>
                </a:solidFill>
              </a:rPr>
              <a:t>C</a:t>
            </a:r>
            <a:endParaRPr lang="en-US" sz="2200" dirty="0"/>
          </a:p>
          <a:p>
            <a:pPr algn="ctr" indent="0" marL="0">
              <a:buNone/>
            </a:pPr>
            <a:r>
              <a:rPr lang="en-US" sz="1200" b="1" dirty="0">
                <a:solidFill>
                  <a:srgbClr val="16212B"/>
                </a:solidFill>
              </a:rPr>
              <a:t>Seasonal</a:t>
            </a:r>
            <a:endParaRPr lang="en-US" sz="2200" dirty="0"/>
          </a:p>
        </p:txBody>
      </p:sp>
      <p:sp>
        <p:nvSpPr>
          <p:cNvPr id="9" name="Zone 194"/>
          <p:cNvSpPr/>
          <p:nvPr/>
        </p:nvSpPr>
        <p:spPr>
          <a:xfrm>
            <a:off x="7360920" y="1572768"/>
            <a:ext cx="1188720" cy="960120"/>
          </a:xfrm>
          <a:prstGeom prst="roundRect">
            <a:avLst>
              <a:gd name="adj" fmla="val 5714"/>
            </a:avLst>
          </a:prstGeom>
          <a:solidFill>
            <a:srgbClr val="008300"/>
          </a:solidFill>
          <a:ln>
            <a:solidFill>
              <a:srgbClr val="008300"/>
            </a:solidFill>
          </a:ln>
        </p:spPr>
        <p:txBody>
          <a:bodyPr wrap="square" lIns="508" tIns="508" rIns="508" bIns="508" rtlCol="0" anchor="ctr"/>
          <a:lstStyle/>
          <a:p>
            <a:pPr algn="ctr" indent="0" marL="0">
              <a:buNone/>
            </a:pPr>
            <a:r>
              <a:rPr lang="en-US" sz="2200" b="1" dirty="0">
                <a:solidFill>
                  <a:srgbClr val="FFFFFF"/>
                </a:solidFill>
              </a:rPr>
              <a:t>D</a:t>
            </a:r>
            <a:endParaRPr lang="en-US" sz="2200" dirty="0"/>
          </a:p>
          <a:p>
            <a:pPr algn="ctr" indent="0" marL="0">
              <a:buNone/>
            </a:pPr>
            <a:r>
              <a:rPr lang="en-US" sz="1200" b="1" dirty="0">
                <a:solidFill>
                  <a:srgbClr val="FFFFFF"/>
                </a:solidFill>
              </a:rPr>
              <a:t>Regular small</a:t>
            </a:r>
            <a:endParaRPr lang="en-US" sz="2200" dirty="0"/>
          </a:p>
        </p:txBody>
      </p:sp>
      <p:sp>
        <p:nvSpPr>
          <p:cNvPr id="10" name="Zone 195"/>
          <p:cNvSpPr/>
          <p:nvPr/>
        </p:nvSpPr>
        <p:spPr>
          <a:xfrm>
            <a:off x="5989320" y="2670048"/>
            <a:ext cx="1188720" cy="960120"/>
          </a:xfrm>
          <a:prstGeom prst="roundRect">
            <a:avLst>
              <a:gd name="adj" fmla="val 5714"/>
            </a:avLst>
          </a:prstGeom>
          <a:solidFill>
            <a:srgbClr val="2A78D6"/>
          </a:solidFill>
          <a:ln>
            <a:solidFill>
              <a:srgbClr val="2A78D6"/>
            </a:solidFill>
          </a:ln>
        </p:spPr>
        <p:txBody>
          <a:bodyPr wrap="square" lIns="508" tIns="508" rIns="508" bIns="508" rtlCol="0" anchor="ctr"/>
          <a:lstStyle/>
          <a:p>
            <a:pPr algn="ctr" indent="0" marL="0">
              <a:buNone/>
            </a:pPr>
            <a:r>
              <a:rPr lang="en-US" sz="2200" b="1" dirty="0">
                <a:solidFill>
                  <a:srgbClr val="FFFFFF"/>
                </a:solidFill>
              </a:rPr>
              <a:t>A</a:t>
            </a:r>
            <a:endParaRPr lang="en-US" sz="2200" dirty="0"/>
          </a:p>
          <a:p>
            <a:pPr algn="ctr" indent="0" marL="0">
              <a:buNone/>
            </a:pPr>
            <a:r>
              <a:rPr lang="en-US" sz="1200" b="1" dirty="0">
                <a:solidFill>
                  <a:srgbClr val="FFFFFF"/>
                </a:solidFill>
              </a:rPr>
              <a:t>Fast movers</a:t>
            </a:r>
            <a:endParaRPr lang="en-US" sz="2200" dirty="0"/>
          </a:p>
        </p:txBody>
      </p:sp>
      <p:sp>
        <p:nvSpPr>
          <p:cNvPr id="11" name="Zone 196"/>
          <p:cNvSpPr/>
          <p:nvPr/>
        </p:nvSpPr>
        <p:spPr>
          <a:xfrm>
            <a:off x="7360920" y="2670048"/>
            <a:ext cx="1188720" cy="960120"/>
          </a:xfrm>
          <a:prstGeom prst="roundRect">
            <a:avLst>
              <a:gd name="adj" fmla="val 5714"/>
            </a:avLst>
          </a:prstGeom>
          <a:solidFill>
            <a:srgbClr val="EDA100"/>
          </a:solidFill>
          <a:ln>
            <a:solidFill>
              <a:srgbClr val="EDA100"/>
            </a:solidFill>
          </a:ln>
        </p:spPr>
        <p:txBody>
          <a:bodyPr wrap="square" lIns="508" tIns="508" rIns="508" bIns="508" rtlCol="0" anchor="ctr"/>
          <a:lstStyle/>
          <a:p>
            <a:pPr algn="ctr" indent="0" marL="0">
              <a:buNone/>
            </a:pPr>
            <a:r>
              <a:rPr lang="en-US" sz="2200" b="1" dirty="0">
                <a:solidFill>
                  <a:srgbClr val="16212B"/>
                </a:solidFill>
              </a:rPr>
              <a:t>B</a:t>
            </a:r>
            <a:endParaRPr lang="en-US" sz="2200" dirty="0"/>
          </a:p>
          <a:p>
            <a:pPr algn="ctr" indent="0" marL="0">
              <a:buNone/>
            </a:pPr>
            <a:r>
              <a:rPr lang="en-US" sz="1200" b="1" dirty="0">
                <a:solidFill>
                  <a:srgbClr val="16212B"/>
                </a:solidFill>
              </a:rPr>
              <a:t>Bulky / heavy</a:t>
            </a:r>
            <a:endParaRPr lang="en-US" sz="2200" dirty="0"/>
          </a:p>
        </p:txBody>
      </p:sp>
      <p:sp>
        <p:nvSpPr>
          <p:cNvPr id="12" name="Packing 197"/>
          <p:cNvSpPr/>
          <p:nvPr/>
        </p:nvSpPr>
        <p:spPr>
          <a:xfrm>
            <a:off x="5989320" y="3794760"/>
            <a:ext cx="2560320" cy="457200"/>
          </a:xfrm>
          <a:prstGeom prst="roundRect">
            <a:avLst>
              <a:gd name="adj" fmla="val 12000"/>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bg1"/>
                </a:solidFill>
              </a:rPr>
              <a:t>Packing and dispatch</a:t>
            </a:r>
            <a:endParaRPr lang="en-US" sz="1300" dirty="0"/>
          </a:p>
        </p:txBody>
      </p:sp>
      <p:sp>
        <p:nvSpPr>
          <p:cNvPr id="25" name="Slide Number Placeholder 0"/>
          <p:cNvSpPr>
            <a:spLocks noGrp="1"/>
          </p:cNvSpPr>
          <p:nvPr>
            <p:ph type="sldNum" sz="quarter" idx="4294967295"/>
          </p:nvPr>
        </p:nvSpPr>
        <p:spPr>
          <a:xfrm>
            <a:off x="8229600" y="47274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315200" cy="685800"/>
          </a:xfrm>
          <a:prstGeom prst="rect">
            <a:avLst/>
          </a:prstGeom>
          <a:noFill/>
          <a:ln/>
        </p:spPr>
        <p:txBody>
          <a:bodyPr wrap="square" lIns="0" tIns="0" rIns="0" bIns="0" rtlCol="0" anchor="ctr"/>
          <a:lstStyle/>
          <a:p>
            <a:pPr algn="l" indent="0" marL="0">
              <a:buNone/>
            </a:pPr>
            <a:r>
              <a:rPr lang="en-US" sz="3600" b="1" dirty="0">
                <a:solidFill>
                  <a:schemeClr val="tx2"/>
                </a:solidFill>
              </a:rPr>
              <a:t>The four clusters in one picture</a:t>
            </a:r>
            <a:endParaRPr lang="en-US" sz="3600" dirty="0"/>
          </a:p>
        </p:txBody>
      </p:sp>
      <p:sp>
        <p:nvSpPr>
          <p:cNvPr id="4" name="Plot area"/>
          <p:cNvSpPr/>
          <p:nvPr/>
        </p:nvSpPr>
        <p:spPr>
          <a:xfrm>
            <a:off x="457200" y="1188720"/>
            <a:ext cx="5120640" cy="2926080"/>
          </a:xfrm>
          <a:prstGeom prst="rect">
            <a:avLst/>
          </a:prstGeom>
          <a:solidFill>
            <a:schemeClr val="bg1"/>
          </a:solidFill>
          <a:ln w="9525">
            <a:solidFill>
              <a:srgbClr val="D5DEE2"/>
            </a:solidFill>
            <a:prstDash val="solid"/>
          </a:ln>
        </p:spPr>
      </p:sp>
      <p:sp>
        <p:nvSpPr>
          <p:cNvPr id="5" name="SKU 198"/>
          <p:cNvSpPr/>
          <p:nvPr/>
        </p:nvSpPr>
        <p:spPr>
          <a:xfrm>
            <a:off x="4798645" y="2152817"/>
            <a:ext cx="77724" cy="77724"/>
          </a:xfrm>
          <a:prstGeom prst="ellipse">
            <a:avLst/>
          </a:prstGeom>
          <a:solidFill>
            <a:srgbClr val="EDA100">
              <a:alpha val="88000"/>
            </a:srgbClr>
          </a:solidFill>
          <a:ln w="3175">
            <a:solidFill>
              <a:srgbClr val="FFFFFF"/>
            </a:solidFill>
            <a:prstDash val="solid"/>
          </a:ln>
        </p:spPr>
      </p:sp>
      <p:sp>
        <p:nvSpPr>
          <p:cNvPr id="6" name="SKU 199"/>
          <p:cNvSpPr/>
          <p:nvPr/>
        </p:nvSpPr>
        <p:spPr>
          <a:xfrm>
            <a:off x="1335743" y="2458532"/>
            <a:ext cx="77724" cy="77724"/>
          </a:xfrm>
          <a:prstGeom prst="ellipse">
            <a:avLst/>
          </a:prstGeom>
          <a:solidFill>
            <a:srgbClr val="008300">
              <a:alpha val="88000"/>
            </a:srgbClr>
          </a:solidFill>
          <a:ln w="3175">
            <a:solidFill>
              <a:srgbClr val="FFFFFF"/>
            </a:solidFill>
            <a:prstDash val="solid"/>
          </a:ln>
        </p:spPr>
      </p:sp>
      <p:sp>
        <p:nvSpPr>
          <p:cNvPr id="7" name="SKU 200"/>
          <p:cNvSpPr/>
          <p:nvPr/>
        </p:nvSpPr>
        <p:spPr>
          <a:xfrm>
            <a:off x="1241198" y="2191367"/>
            <a:ext cx="77724" cy="77724"/>
          </a:xfrm>
          <a:prstGeom prst="ellipse">
            <a:avLst/>
          </a:prstGeom>
          <a:solidFill>
            <a:srgbClr val="2A78D6">
              <a:alpha val="88000"/>
            </a:srgbClr>
          </a:solidFill>
          <a:ln w="3175">
            <a:solidFill>
              <a:srgbClr val="FFFFFF"/>
            </a:solidFill>
            <a:prstDash val="solid"/>
          </a:ln>
        </p:spPr>
      </p:sp>
      <p:sp>
        <p:nvSpPr>
          <p:cNvPr id="8" name="SKU 201"/>
          <p:cNvSpPr/>
          <p:nvPr/>
        </p:nvSpPr>
        <p:spPr>
          <a:xfrm>
            <a:off x="3952549" y="2487360"/>
            <a:ext cx="77724" cy="77724"/>
          </a:xfrm>
          <a:prstGeom prst="ellipse">
            <a:avLst/>
          </a:prstGeom>
          <a:solidFill>
            <a:srgbClr val="EDA100">
              <a:alpha val="88000"/>
            </a:srgbClr>
          </a:solidFill>
          <a:ln w="3175">
            <a:solidFill>
              <a:srgbClr val="FFFFFF"/>
            </a:solidFill>
            <a:prstDash val="solid"/>
          </a:ln>
        </p:spPr>
      </p:sp>
      <p:sp>
        <p:nvSpPr>
          <p:cNvPr id="9" name="SKU 202"/>
          <p:cNvSpPr/>
          <p:nvPr/>
        </p:nvSpPr>
        <p:spPr>
          <a:xfrm>
            <a:off x="2186645" y="2208128"/>
            <a:ext cx="77724" cy="77724"/>
          </a:xfrm>
          <a:prstGeom prst="ellipse">
            <a:avLst/>
          </a:prstGeom>
          <a:solidFill>
            <a:srgbClr val="008300">
              <a:alpha val="88000"/>
            </a:srgbClr>
          </a:solidFill>
          <a:ln w="3175">
            <a:solidFill>
              <a:srgbClr val="FFFFFF"/>
            </a:solidFill>
            <a:prstDash val="solid"/>
          </a:ln>
        </p:spPr>
      </p:sp>
      <p:sp>
        <p:nvSpPr>
          <p:cNvPr id="10" name="SKU 203"/>
          <p:cNvSpPr/>
          <p:nvPr/>
        </p:nvSpPr>
        <p:spPr>
          <a:xfrm>
            <a:off x="1382214" y="1814587"/>
            <a:ext cx="77724" cy="77724"/>
          </a:xfrm>
          <a:prstGeom prst="ellipse">
            <a:avLst/>
          </a:prstGeom>
          <a:solidFill>
            <a:srgbClr val="2A78D6">
              <a:alpha val="88000"/>
            </a:srgbClr>
          </a:solidFill>
          <a:ln w="3175">
            <a:solidFill>
              <a:srgbClr val="FFFFFF"/>
            </a:solidFill>
            <a:prstDash val="solid"/>
          </a:ln>
        </p:spPr>
      </p:sp>
      <p:sp>
        <p:nvSpPr>
          <p:cNvPr id="11" name="SKU 204"/>
          <p:cNvSpPr/>
          <p:nvPr/>
        </p:nvSpPr>
        <p:spPr>
          <a:xfrm>
            <a:off x="954359" y="2359644"/>
            <a:ext cx="77724" cy="77724"/>
          </a:xfrm>
          <a:prstGeom prst="ellipse">
            <a:avLst/>
          </a:prstGeom>
          <a:solidFill>
            <a:srgbClr val="008300">
              <a:alpha val="88000"/>
            </a:srgbClr>
          </a:solidFill>
          <a:ln w="3175">
            <a:solidFill>
              <a:srgbClr val="FFFFFF"/>
            </a:solidFill>
            <a:prstDash val="solid"/>
          </a:ln>
        </p:spPr>
      </p:sp>
      <p:sp>
        <p:nvSpPr>
          <p:cNvPr id="12" name="SKU 205"/>
          <p:cNvSpPr/>
          <p:nvPr/>
        </p:nvSpPr>
        <p:spPr>
          <a:xfrm>
            <a:off x="1753983" y="2604685"/>
            <a:ext cx="77724" cy="77724"/>
          </a:xfrm>
          <a:prstGeom prst="ellipse">
            <a:avLst/>
          </a:prstGeom>
          <a:solidFill>
            <a:srgbClr val="008300">
              <a:alpha val="88000"/>
            </a:srgbClr>
          </a:solidFill>
          <a:ln w="3175">
            <a:solidFill>
              <a:srgbClr val="FFFFFF"/>
            </a:solidFill>
            <a:prstDash val="solid"/>
          </a:ln>
        </p:spPr>
      </p:sp>
      <p:sp>
        <p:nvSpPr>
          <p:cNvPr id="13" name="SKU 206"/>
          <p:cNvSpPr/>
          <p:nvPr/>
        </p:nvSpPr>
        <p:spPr>
          <a:xfrm>
            <a:off x="3822750" y="2151141"/>
            <a:ext cx="77724" cy="77724"/>
          </a:xfrm>
          <a:prstGeom prst="ellipse">
            <a:avLst/>
          </a:prstGeom>
          <a:solidFill>
            <a:srgbClr val="EDA100">
              <a:alpha val="88000"/>
            </a:srgbClr>
          </a:solidFill>
          <a:ln w="3175">
            <a:solidFill>
              <a:srgbClr val="FFFFFF"/>
            </a:solidFill>
            <a:prstDash val="solid"/>
          </a:ln>
        </p:spPr>
      </p:sp>
      <p:sp>
        <p:nvSpPr>
          <p:cNvPr id="14" name="SKU 207"/>
          <p:cNvSpPr/>
          <p:nvPr/>
        </p:nvSpPr>
        <p:spPr>
          <a:xfrm>
            <a:off x="2967841" y="2763241"/>
            <a:ext cx="77724" cy="77724"/>
          </a:xfrm>
          <a:prstGeom prst="ellipse">
            <a:avLst/>
          </a:prstGeom>
          <a:solidFill>
            <a:srgbClr val="EDA100">
              <a:alpha val="88000"/>
            </a:srgbClr>
          </a:solidFill>
          <a:ln w="3175">
            <a:solidFill>
              <a:srgbClr val="FFFFFF"/>
            </a:solidFill>
            <a:prstDash val="solid"/>
          </a:ln>
        </p:spPr>
      </p:sp>
      <p:sp>
        <p:nvSpPr>
          <p:cNvPr id="15" name="SKU 208"/>
          <p:cNvSpPr/>
          <p:nvPr/>
        </p:nvSpPr>
        <p:spPr>
          <a:xfrm>
            <a:off x="3230644" y="2606697"/>
            <a:ext cx="77724" cy="77724"/>
          </a:xfrm>
          <a:prstGeom prst="ellipse">
            <a:avLst/>
          </a:prstGeom>
          <a:solidFill>
            <a:srgbClr val="EDA100">
              <a:alpha val="88000"/>
            </a:srgbClr>
          </a:solidFill>
          <a:ln w="3175">
            <a:solidFill>
              <a:srgbClr val="FFFFFF"/>
            </a:solidFill>
            <a:prstDash val="solid"/>
          </a:ln>
        </p:spPr>
      </p:sp>
      <p:sp>
        <p:nvSpPr>
          <p:cNvPr id="16" name="SKU 209"/>
          <p:cNvSpPr/>
          <p:nvPr/>
        </p:nvSpPr>
        <p:spPr>
          <a:xfrm>
            <a:off x="1968712" y="2734748"/>
            <a:ext cx="77724" cy="77724"/>
          </a:xfrm>
          <a:prstGeom prst="ellipse">
            <a:avLst/>
          </a:prstGeom>
          <a:solidFill>
            <a:srgbClr val="008300">
              <a:alpha val="88000"/>
            </a:srgbClr>
          </a:solidFill>
          <a:ln w="3175">
            <a:solidFill>
              <a:srgbClr val="FFFFFF"/>
            </a:solidFill>
            <a:prstDash val="solid"/>
          </a:ln>
        </p:spPr>
      </p:sp>
      <p:sp>
        <p:nvSpPr>
          <p:cNvPr id="17" name="SKU 210"/>
          <p:cNvSpPr/>
          <p:nvPr/>
        </p:nvSpPr>
        <p:spPr>
          <a:xfrm>
            <a:off x="1665848" y="2096166"/>
            <a:ext cx="77724" cy="77724"/>
          </a:xfrm>
          <a:prstGeom prst="ellipse">
            <a:avLst/>
          </a:prstGeom>
          <a:solidFill>
            <a:srgbClr val="008300">
              <a:alpha val="88000"/>
            </a:srgbClr>
          </a:solidFill>
          <a:ln w="3175">
            <a:solidFill>
              <a:srgbClr val="FFFFFF"/>
            </a:solidFill>
            <a:prstDash val="solid"/>
          </a:ln>
        </p:spPr>
      </p:sp>
      <p:sp>
        <p:nvSpPr>
          <p:cNvPr id="18" name="SKU 211"/>
          <p:cNvSpPr/>
          <p:nvPr/>
        </p:nvSpPr>
        <p:spPr>
          <a:xfrm>
            <a:off x="2131361" y="2619770"/>
            <a:ext cx="77724" cy="77724"/>
          </a:xfrm>
          <a:prstGeom prst="ellipse">
            <a:avLst/>
          </a:prstGeom>
          <a:solidFill>
            <a:srgbClr val="008300">
              <a:alpha val="88000"/>
            </a:srgbClr>
          </a:solidFill>
          <a:ln w="3175">
            <a:solidFill>
              <a:srgbClr val="FFFFFF"/>
            </a:solidFill>
            <a:prstDash val="solid"/>
          </a:ln>
        </p:spPr>
      </p:sp>
      <p:sp>
        <p:nvSpPr>
          <p:cNvPr id="19" name="SKU 212"/>
          <p:cNvSpPr/>
          <p:nvPr/>
        </p:nvSpPr>
        <p:spPr>
          <a:xfrm>
            <a:off x="1719530" y="3428305"/>
            <a:ext cx="77724" cy="77724"/>
          </a:xfrm>
          <a:prstGeom prst="ellipse">
            <a:avLst/>
          </a:prstGeom>
          <a:solidFill>
            <a:srgbClr val="E87BA4">
              <a:alpha val="88000"/>
            </a:srgbClr>
          </a:solidFill>
          <a:ln w="3175">
            <a:solidFill>
              <a:srgbClr val="FFFFFF"/>
            </a:solidFill>
            <a:prstDash val="solid"/>
          </a:ln>
        </p:spPr>
      </p:sp>
      <p:sp>
        <p:nvSpPr>
          <p:cNvPr id="20" name="SKU 213"/>
          <p:cNvSpPr/>
          <p:nvPr/>
        </p:nvSpPr>
        <p:spPr>
          <a:xfrm>
            <a:off x="2531974" y="1819280"/>
            <a:ext cx="77724" cy="77724"/>
          </a:xfrm>
          <a:prstGeom prst="ellipse">
            <a:avLst/>
          </a:prstGeom>
          <a:solidFill>
            <a:srgbClr val="2A78D6">
              <a:alpha val="88000"/>
            </a:srgbClr>
          </a:solidFill>
          <a:ln w="3175">
            <a:solidFill>
              <a:srgbClr val="FFFFFF"/>
            </a:solidFill>
            <a:prstDash val="solid"/>
          </a:ln>
        </p:spPr>
      </p:sp>
      <p:sp>
        <p:nvSpPr>
          <p:cNvPr id="21" name="SKU 214"/>
          <p:cNvSpPr/>
          <p:nvPr/>
        </p:nvSpPr>
        <p:spPr>
          <a:xfrm>
            <a:off x="1278054" y="1424733"/>
            <a:ext cx="77724" cy="77724"/>
          </a:xfrm>
          <a:prstGeom prst="ellipse">
            <a:avLst/>
          </a:prstGeom>
          <a:solidFill>
            <a:srgbClr val="2A78D6">
              <a:alpha val="88000"/>
            </a:srgbClr>
          </a:solidFill>
          <a:ln w="3175">
            <a:solidFill>
              <a:srgbClr val="FFFFFF"/>
            </a:solidFill>
            <a:prstDash val="solid"/>
          </a:ln>
        </p:spPr>
      </p:sp>
      <p:sp>
        <p:nvSpPr>
          <p:cNvPr id="22" name="SKU 215"/>
          <p:cNvSpPr/>
          <p:nvPr/>
        </p:nvSpPr>
        <p:spPr>
          <a:xfrm>
            <a:off x="1762796" y="2716311"/>
            <a:ext cx="77724" cy="77724"/>
          </a:xfrm>
          <a:prstGeom prst="ellipse">
            <a:avLst/>
          </a:prstGeom>
          <a:solidFill>
            <a:srgbClr val="008300">
              <a:alpha val="88000"/>
            </a:srgbClr>
          </a:solidFill>
          <a:ln w="3175">
            <a:solidFill>
              <a:srgbClr val="FFFFFF"/>
            </a:solidFill>
            <a:prstDash val="solid"/>
          </a:ln>
        </p:spPr>
      </p:sp>
      <p:sp>
        <p:nvSpPr>
          <p:cNvPr id="23" name="SKU 216"/>
          <p:cNvSpPr/>
          <p:nvPr/>
        </p:nvSpPr>
        <p:spPr>
          <a:xfrm>
            <a:off x="1794044" y="1962081"/>
            <a:ext cx="77724" cy="77724"/>
          </a:xfrm>
          <a:prstGeom prst="ellipse">
            <a:avLst/>
          </a:prstGeom>
          <a:solidFill>
            <a:srgbClr val="2A78D6">
              <a:alpha val="88000"/>
            </a:srgbClr>
          </a:solidFill>
          <a:ln w="3175">
            <a:solidFill>
              <a:srgbClr val="FFFFFF"/>
            </a:solidFill>
            <a:prstDash val="solid"/>
          </a:ln>
        </p:spPr>
      </p:sp>
      <p:sp>
        <p:nvSpPr>
          <p:cNvPr id="24" name="SKU 217"/>
          <p:cNvSpPr/>
          <p:nvPr/>
        </p:nvSpPr>
        <p:spPr>
          <a:xfrm>
            <a:off x="3418131" y="2642229"/>
            <a:ext cx="77724" cy="77724"/>
          </a:xfrm>
          <a:prstGeom prst="ellipse">
            <a:avLst/>
          </a:prstGeom>
          <a:solidFill>
            <a:srgbClr val="EDA100">
              <a:alpha val="88000"/>
            </a:srgbClr>
          </a:solidFill>
          <a:ln w="3175">
            <a:solidFill>
              <a:srgbClr val="FFFFFF"/>
            </a:solidFill>
            <a:prstDash val="solid"/>
          </a:ln>
        </p:spPr>
      </p:sp>
      <p:sp>
        <p:nvSpPr>
          <p:cNvPr id="25" name="SKU 218"/>
          <p:cNvSpPr/>
          <p:nvPr/>
        </p:nvSpPr>
        <p:spPr>
          <a:xfrm>
            <a:off x="1316513" y="2587254"/>
            <a:ext cx="77724" cy="77724"/>
          </a:xfrm>
          <a:prstGeom prst="ellipse">
            <a:avLst/>
          </a:prstGeom>
          <a:solidFill>
            <a:srgbClr val="008300">
              <a:alpha val="88000"/>
            </a:srgbClr>
          </a:solidFill>
          <a:ln w="3175">
            <a:solidFill>
              <a:srgbClr val="FFFFFF"/>
            </a:solidFill>
            <a:prstDash val="solid"/>
          </a:ln>
        </p:spPr>
      </p:sp>
      <p:sp>
        <p:nvSpPr>
          <p:cNvPr id="26" name="SKU 219"/>
          <p:cNvSpPr/>
          <p:nvPr/>
        </p:nvSpPr>
        <p:spPr>
          <a:xfrm>
            <a:off x="1568900" y="2468589"/>
            <a:ext cx="77724" cy="77724"/>
          </a:xfrm>
          <a:prstGeom prst="ellipse">
            <a:avLst/>
          </a:prstGeom>
          <a:solidFill>
            <a:srgbClr val="008300">
              <a:alpha val="88000"/>
            </a:srgbClr>
          </a:solidFill>
          <a:ln w="3175">
            <a:solidFill>
              <a:srgbClr val="FFFFFF"/>
            </a:solidFill>
            <a:prstDash val="solid"/>
          </a:ln>
        </p:spPr>
      </p:sp>
      <p:sp>
        <p:nvSpPr>
          <p:cNvPr id="27" name="SKU 220"/>
          <p:cNvSpPr/>
          <p:nvPr/>
        </p:nvSpPr>
        <p:spPr>
          <a:xfrm>
            <a:off x="1470349" y="2981801"/>
            <a:ext cx="77724" cy="77724"/>
          </a:xfrm>
          <a:prstGeom prst="ellipse">
            <a:avLst/>
          </a:prstGeom>
          <a:solidFill>
            <a:srgbClr val="E87BA4">
              <a:alpha val="88000"/>
            </a:srgbClr>
          </a:solidFill>
          <a:ln w="3175">
            <a:solidFill>
              <a:srgbClr val="FFFFFF"/>
            </a:solidFill>
            <a:prstDash val="solid"/>
          </a:ln>
        </p:spPr>
      </p:sp>
      <p:sp>
        <p:nvSpPr>
          <p:cNvPr id="28" name="SKU 221"/>
          <p:cNvSpPr/>
          <p:nvPr/>
        </p:nvSpPr>
        <p:spPr>
          <a:xfrm>
            <a:off x="2625718" y="1860846"/>
            <a:ext cx="77724" cy="77724"/>
          </a:xfrm>
          <a:prstGeom prst="ellipse">
            <a:avLst/>
          </a:prstGeom>
          <a:solidFill>
            <a:srgbClr val="2A78D6">
              <a:alpha val="88000"/>
            </a:srgbClr>
          </a:solidFill>
          <a:ln w="3175">
            <a:solidFill>
              <a:srgbClr val="FFFFFF"/>
            </a:solidFill>
            <a:prstDash val="solid"/>
          </a:ln>
        </p:spPr>
      </p:sp>
      <p:sp>
        <p:nvSpPr>
          <p:cNvPr id="29" name="SKU 222"/>
          <p:cNvSpPr/>
          <p:nvPr/>
        </p:nvSpPr>
        <p:spPr>
          <a:xfrm>
            <a:off x="2392561" y="2469594"/>
            <a:ext cx="77724" cy="77724"/>
          </a:xfrm>
          <a:prstGeom prst="ellipse">
            <a:avLst/>
          </a:prstGeom>
          <a:solidFill>
            <a:srgbClr val="008300">
              <a:alpha val="88000"/>
            </a:srgbClr>
          </a:solidFill>
          <a:ln w="3175">
            <a:solidFill>
              <a:srgbClr val="FFFFFF"/>
            </a:solidFill>
            <a:prstDash val="solid"/>
          </a:ln>
        </p:spPr>
      </p:sp>
      <p:sp>
        <p:nvSpPr>
          <p:cNvPr id="30" name="SKU 223"/>
          <p:cNvSpPr/>
          <p:nvPr/>
        </p:nvSpPr>
        <p:spPr>
          <a:xfrm>
            <a:off x="925515" y="2134381"/>
            <a:ext cx="77724" cy="77724"/>
          </a:xfrm>
          <a:prstGeom prst="ellipse">
            <a:avLst/>
          </a:prstGeom>
          <a:solidFill>
            <a:srgbClr val="008300">
              <a:alpha val="88000"/>
            </a:srgbClr>
          </a:solidFill>
          <a:ln w="3175">
            <a:solidFill>
              <a:srgbClr val="FFFFFF"/>
            </a:solidFill>
            <a:prstDash val="solid"/>
          </a:ln>
        </p:spPr>
      </p:sp>
      <p:sp>
        <p:nvSpPr>
          <p:cNvPr id="31" name="SKU 224"/>
          <p:cNvSpPr/>
          <p:nvPr/>
        </p:nvSpPr>
        <p:spPr>
          <a:xfrm>
            <a:off x="1269241" y="2399535"/>
            <a:ext cx="77724" cy="77724"/>
          </a:xfrm>
          <a:prstGeom prst="ellipse">
            <a:avLst/>
          </a:prstGeom>
          <a:solidFill>
            <a:srgbClr val="008300">
              <a:alpha val="88000"/>
            </a:srgbClr>
          </a:solidFill>
          <a:ln w="3175">
            <a:solidFill>
              <a:srgbClr val="FFFFFF"/>
            </a:solidFill>
            <a:prstDash val="solid"/>
          </a:ln>
        </p:spPr>
      </p:sp>
      <p:sp>
        <p:nvSpPr>
          <p:cNvPr id="32" name="SKU 225"/>
          <p:cNvSpPr/>
          <p:nvPr/>
        </p:nvSpPr>
        <p:spPr>
          <a:xfrm>
            <a:off x="1930253" y="2191367"/>
            <a:ext cx="77724" cy="77724"/>
          </a:xfrm>
          <a:prstGeom prst="ellipse">
            <a:avLst/>
          </a:prstGeom>
          <a:solidFill>
            <a:srgbClr val="008300">
              <a:alpha val="88000"/>
            </a:srgbClr>
          </a:solidFill>
          <a:ln w="3175">
            <a:solidFill>
              <a:srgbClr val="FFFFFF"/>
            </a:solidFill>
            <a:prstDash val="solid"/>
          </a:ln>
        </p:spPr>
      </p:sp>
      <p:sp>
        <p:nvSpPr>
          <p:cNvPr id="33" name="SKU 226"/>
          <p:cNvSpPr/>
          <p:nvPr/>
        </p:nvSpPr>
        <p:spPr>
          <a:xfrm>
            <a:off x="1372599" y="2639883"/>
            <a:ext cx="77724" cy="77724"/>
          </a:xfrm>
          <a:prstGeom prst="ellipse">
            <a:avLst/>
          </a:prstGeom>
          <a:solidFill>
            <a:srgbClr val="008300">
              <a:alpha val="88000"/>
            </a:srgbClr>
          </a:solidFill>
          <a:ln w="3175">
            <a:solidFill>
              <a:srgbClr val="FFFFFF"/>
            </a:solidFill>
            <a:prstDash val="solid"/>
          </a:ln>
        </p:spPr>
      </p:sp>
      <p:sp>
        <p:nvSpPr>
          <p:cNvPr id="34" name="SKU 227"/>
          <p:cNvSpPr/>
          <p:nvPr/>
        </p:nvSpPr>
        <p:spPr>
          <a:xfrm>
            <a:off x="1216360" y="1928895"/>
            <a:ext cx="77724" cy="77724"/>
          </a:xfrm>
          <a:prstGeom prst="ellipse">
            <a:avLst/>
          </a:prstGeom>
          <a:solidFill>
            <a:srgbClr val="2A78D6">
              <a:alpha val="88000"/>
            </a:srgbClr>
          </a:solidFill>
          <a:ln w="3175">
            <a:solidFill>
              <a:srgbClr val="FFFFFF"/>
            </a:solidFill>
            <a:prstDash val="solid"/>
          </a:ln>
        </p:spPr>
      </p:sp>
      <p:sp>
        <p:nvSpPr>
          <p:cNvPr id="35" name="SKU 228"/>
          <p:cNvSpPr/>
          <p:nvPr/>
        </p:nvSpPr>
        <p:spPr>
          <a:xfrm>
            <a:off x="4494178" y="2175947"/>
            <a:ext cx="77724" cy="77724"/>
          </a:xfrm>
          <a:prstGeom prst="ellipse">
            <a:avLst/>
          </a:prstGeom>
          <a:solidFill>
            <a:srgbClr val="EDA100">
              <a:alpha val="88000"/>
            </a:srgbClr>
          </a:solidFill>
          <a:ln w="3175">
            <a:solidFill>
              <a:srgbClr val="FFFFFF"/>
            </a:solidFill>
            <a:prstDash val="solid"/>
          </a:ln>
        </p:spPr>
      </p:sp>
      <p:sp>
        <p:nvSpPr>
          <p:cNvPr id="36" name="SKU 229"/>
          <p:cNvSpPr/>
          <p:nvPr/>
        </p:nvSpPr>
        <p:spPr>
          <a:xfrm>
            <a:off x="1310905" y="1835035"/>
            <a:ext cx="77724" cy="77724"/>
          </a:xfrm>
          <a:prstGeom prst="ellipse">
            <a:avLst/>
          </a:prstGeom>
          <a:solidFill>
            <a:srgbClr val="2A78D6">
              <a:alpha val="88000"/>
            </a:srgbClr>
          </a:solidFill>
          <a:ln w="3175">
            <a:solidFill>
              <a:srgbClr val="FFFFFF"/>
            </a:solidFill>
            <a:prstDash val="solid"/>
          </a:ln>
        </p:spPr>
      </p:sp>
      <p:sp>
        <p:nvSpPr>
          <p:cNvPr id="37" name="SKU 230"/>
          <p:cNvSpPr/>
          <p:nvPr/>
        </p:nvSpPr>
        <p:spPr>
          <a:xfrm>
            <a:off x="1286067" y="2512837"/>
            <a:ext cx="77724" cy="77724"/>
          </a:xfrm>
          <a:prstGeom prst="ellipse">
            <a:avLst/>
          </a:prstGeom>
          <a:solidFill>
            <a:srgbClr val="008300">
              <a:alpha val="88000"/>
            </a:srgbClr>
          </a:solidFill>
          <a:ln w="3175">
            <a:solidFill>
              <a:srgbClr val="FFFFFF"/>
            </a:solidFill>
            <a:prstDash val="solid"/>
          </a:ln>
        </p:spPr>
      </p:sp>
      <p:sp>
        <p:nvSpPr>
          <p:cNvPr id="38" name="SKU 231"/>
          <p:cNvSpPr/>
          <p:nvPr/>
        </p:nvSpPr>
        <p:spPr>
          <a:xfrm>
            <a:off x="1299687" y="1511889"/>
            <a:ext cx="77724" cy="77724"/>
          </a:xfrm>
          <a:prstGeom prst="ellipse">
            <a:avLst/>
          </a:prstGeom>
          <a:solidFill>
            <a:srgbClr val="2A78D6">
              <a:alpha val="88000"/>
            </a:srgbClr>
          </a:solidFill>
          <a:ln w="3175">
            <a:solidFill>
              <a:srgbClr val="FFFFFF"/>
            </a:solidFill>
            <a:prstDash val="solid"/>
          </a:ln>
        </p:spPr>
      </p:sp>
      <p:sp>
        <p:nvSpPr>
          <p:cNvPr id="39" name="SKU 232"/>
          <p:cNvSpPr/>
          <p:nvPr/>
        </p:nvSpPr>
        <p:spPr>
          <a:xfrm>
            <a:off x="2650556" y="2550716"/>
            <a:ext cx="77724" cy="77724"/>
          </a:xfrm>
          <a:prstGeom prst="ellipse">
            <a:avLst/>
          </a:prstGeom>
          <a:solidFill>
            <a:srgbClr val="008300">
              <a:alpha val="88000"/>
            </a:srgbClr>
          </a:solidFill>
          <a:ln w="3175">
            <a:solidFill>
              <a:srgbClr val="FFFFFF"/>
            </a:solidFill>
            <a:prstDash val="solid"/>
          </a:ln>
        </p:spPr>
      </p:sp>
      <p:sp>
        <p:nvSpPr>
          <p:cNvPr id="40" name="SKU 233"/>
          <p:cNvSpPr/>
          <p:nvPr/>
        </p:nvSpPr>
        <p:spPr>
          <a:xfrm>
            <a:off x="940738" y="2698210"/>
            <a:ext cx="77724" cy="77724"/>
          </a:xfrm>
          <a:prstGeom prst="ellipse">
            <a:avLst/>
          </a:prstGeom>
          <a:solidFill>
            <a:srgbClr val="008300">
              <a:alpha val="88000"/>
            </a:srgbClr>
          </a:solidFill>
          <a:ln w="3175">
            <a:solidFill>
              <a:srgbClr val="FFFFFF"/>
            </a:solidFill>
            <a:prstDash val="solid"/>
          </a:ln>
        </p:spPr>
      </p:sp>
      <p:sp>
        <p:nvSpPr>
          <p:cNvPr id="41" name="SKU 234"/>
          <p:cNvSpPr/>
          <p:nvPr/>
        </p:nvSpPr>
        <p:spPr>
          <a:xfrm>
            <a:off x="1979929" y="1970796"/>
            <a:ext cx="77724" cy="77724"/>
          </a:xfrm>
          <a:prstGeom prst="ellipse">
            <a:avLst/>
          </a:prstGeom>
          <a:solidFill>
            <a:srgbClr val="2A78D6">
              <a:alpha val="88000"/>
            </a:srgbClr>
          </a:solidFill>
          <a:ln w="3175">
            <a:solidFill>
              <a:srgbClr val="FFFFFF"/>
            </a:solidFill>
            <a:prstDash val="solid"/>
          </a:ln>
        </p:spPr>
      </p:sp>
      <p:sp>
        <p:nvSpPr>
          <p:cNvPr id="42" name="SKU 235"/>
          <p:cNvSpPr/>
          <p:nvPr/>
        </p:nvSpPr>
        <p:spPr>
          <a:xfrm>
            <a:off x="4609555" y="2292266"/>
            <a:ext cx="77724" cy="77724"/>
          </a:xfrm>
          <a:prstGeom prst="ellipse">
            <a:avLst/>
          </a:prstGeom>
          <a:solidFill>
            <a:srgbClr val="EDA100">
              <a:alpha val="88000"/>
            </a:srgbClr>
          </a:solidFill>
          <a:ln w="3175">
            <a:solidFill>
              <a:srgbClr val="FFFFFF"/>
            </a:solidFill>
            <a:prstDash val="solid"/>
          </a:ln>
        </p:spPr>
      </p:sp>
      <p:sp>
        <p:nvSpPr>
          <p:cNvPr id="43" name="SKU 236"/>
          <p:cNvSpPr/>
          <p:nvPr/>
        </p:nvSpPr>
        <p:spPr>
          <a:xfrm>
            <a:off x="1133833" y="2251035"/>
            <a:ext cx="77724" cy="77724"/>
          </a:xfrm>
          <a:prstGeom prst="ellipse">
            <a:avLst/>
          </a:prstGeom>
          <a:solidFill>
            <a:srgbClr val="008300">
              <a:alpha val="88000"/>
            </a:srgbClr>
          </a:solidFill>
          <a:ln w="3175">
            <a:solidFill>
              <a:srgbClr val="FFFFFF"/>
            </a:solidFill>
            <a:prstDash val="solid"/>
          </a:ln>
        </p:spPr>
      </p:sp>
      <p:sp>
        <p:nvSpPr>
          <p:cNvPr id="44" name="SKU 237"/>
          <p:cNvSpPr/>
          <p:nvPr/>
        </p:nvSpPr>
        <p:spPr>
          <a:xfrm>
            <a:off x="1201137" y="2203435"/>
            <a:ext cx="77724" cy="77724"/>
          </a:xfrm>
          <a:prstGeom prst="ellipse">
            <a:avLst/>
          </a:prstGeom>
          <a:solidFill>
            <a:srgbClr val="008300">
              <a:alpha val="88000"/>
            </a:srgbClr>
          </a:solidFill>
          <a:ln w="3175">
            <a:solidFill>
              <a:srgbClr val="FFFFFF"/>
            </a:solidFill>
            <a:prstDash val="solid"/>
          </a:ln>
        </p:spPr>
      </p:sp>
      <p:sp>
        <p:nvSpPr>
          <p:cNvPr id="45" name="SKU 238"/>
          <p:cNvSpPr/>
          <p:nvPr/>
        </p:nvSpPr>
        <p:spPr>
          <a:xfrm>
            <a:off x="1431890" y="2120302"/>
            <a:ext cx="77724" cy="77724"/>
          </a:xfrm>
          <a:prstGeom prst="ellipse">
            <a:avLst/>
          </a:prstGeom>
          <a:solidFill>
            <a:srgbClr val="2A78D6">
              <a:alpha val="88000"/>
            </a:srgbClr>
          </a:solidFill>
          <a:ln w="3175">
            <a:solidFill>
              <a:srgbClr val="FFFFFF"/>
            </a:solidFill>
            <a:prstDash val="solid"/>
          </a:ln>
        </p:spPr>
      </p:sp>
      <p:sp>
        <p:nvSpPr>
          <p:cNvPr id="46" name="SKU 239"/>
          <p:cNvSpPr/>
          <p:nvPr/>
        </p:nvSpPr>
        <p:spPr>
          <a:xfrm>
            <a:off x="937533" y="2310032"/>
            <a:ext cx="77724" cy="77724"/>
          </a:xfrm>
          <a:prstGeom prst="ellipse">
            <a:avLst/>
          </a:prstGeom>
          <a:solidFill>
            <a:srgbClr val="008300">
              <a:alpha val="88000"/>
            </a:srgbClr>
          </a:solidFill>
          <a:ln w="3175">
            <a:solidFill>
              <a:srgbClr val="FFFFFF"/>
            </a:solidFill>
            <a:prstDash val="solid"/>
          </a:ln>
        </p:spPr>
      </p:sp>
      <p:sp>
        <p:nvSpPr>
          <p:cNvPr id="47" name="SKU 240"/>
          <p:cNvSpPr/>
          <p:nvPr/>
        </p:nvSpPr>
        <p:spPr>
          <a:xfrm>
            <a:off x="1395033" y="2550045"/>
            <a:ext cx="77724" cy="77724"/>
          </a:xfrm>
          <a:prstGeom prst="ellipse">
            <a:avLst/>
          </a:prstGeom>
          <a:solidFill>
            <a:srgbClr val="008300">
              <a:alpha val="88000"/>
            </a:srgbClr>
          </a:solidFill>
          <a:ln w="3175">
            <a:solidFill>
              <a:srgbClr val="FFFFFF"/>
            </a:solidFill>
            <a:prstDash val="solid"/>
          </a:ln>
        </p:spPr>
      </p:sp>
      <p:sp>
        <p:nvSpPr>
          <p:cNvPr id="48" name="SKU 241"/>
          <p:cNvSpPr/>
          <p:nvPr/>
        </p:nvSpPr>
        <p:spPr>
          <a:xfrm>
            <a:off x="4630387" y="2405568"/>
            <a:ext cx="77724" cy="77724"/>
          </a:xfrm>
          <a:prstGeom prst="ellipse">
            <a:avLst/>
          </a:prstGeom>
          <a:solidFill>
            <a:srgbClr val="EDA100">
              <a:alpha val="88000"/>
            </a:srgbClr>
          </a:solidFill>
          <a:ln w="3175">
            <a:solidFill>
              <a:srgbClr val="FFFFFF"/>
            </a:solidFill>
            <a:prstDash val="solid"/>
          </a:ln>
        </p:spPr>
      </p:sp>
      <p:sp>
        <p:nvSpPr>
          <p:cNvPr id="49" name="SKU 242"/>
          <p:cNvSpPr/>
          <p:nvPr/>
        </p:nvSpPr>
        <p:spPr>
          <a:xfrm>
            <a:off x="1446312" y="2369030"/>
            <a:ext cx="77724" cy="77724"/>
          </a:xfrm>
          <a:prstGeom prst="ellipse">
            <a:avLst/>
          </a:prstGeom>
          <a:solidFill>
            <a:srgbClr val="008300">
              <a:alpha val="88000"/>
            </a:srgbClr>
          </a:solidFill>
          <a:ln w="3175">
            <a:solidFill>
              <a:srgbClr val="FFFFFF"/>
            </a:solidFill>
            <a:prstDash val="solid"/>
          </a:ln>
        </p:spPr>
      </p:sp>
      <p:sp>
        <p:nvSpPr>
          <p:cNvPr id="50" name="SKU 243"/>
          <p:cNvSpPr/>
          <p:nvPr/>
        </p:nvSpPr>
        <p:spPr>
          <a:xfrm>
            <a:off x="3807527" y="1936604"/>
            <a:ext cx="77724" cy="77724"/>
          </a:xfrm>
          <a:prstGeom prst="ellipse">
            <a:avLst/>
          </a:prstGeom>
          <a:solidFill>
            <a:srgbClr val="EDA100">
              <a:alpha val="88000"/>
            </a:srgbClr>
          </a:solidFill>
          <a:ln w="3175">
            <a:solidFill>
              <a:srgbClr val="FFFFFF"/>
            </a:solidFill>
            <a:prstDash val="solid"/>
          </a:ln>
        </p:spPr>
      </p:sp>
      <p:sp>
        <p:nvSpPr>
          <p:cNvPr id="51" name="SKU 244"/>
          <p:cNvSpPr/>
          <p:nvPr/>
        </p:nvSpPr>
        <p:spPr>
          <a:xfrm>
            <a:off x="2616103" y="1371769"/>
            <a:ext cx="77724" cy="77724"/>
          </a:xfrm>
          <a:prstGeom prst="ellipse">
            <a:avLst/>
          </a:prstGeom>
          <a:solidFill>
            <a:srgbClr val="2A78D6">
              <a:alpha val="88000"/>
            </a:srgbClr>
          </a:solidFill>
          <a:ln w="3175">
            <a:solidFill>
              <a:srgbClr val="FFFFFF"/>
            </a:solidFill>
            <a:prstDash val="solid"/>
          </a:ln>
        </p:spPr>
      </p:sp>
      <p:sp>
        <p:nvSpPr>
          <p:cNvPr id="52" name="SKU 245"/>
          <p:cNvSpPr/>
          <p:nvPr/>
        </p:nvSpPr>
        <p:spPr>
          <a:xfrm>
            <a:off x="1514416" y="2663348"/>
            <a:ext cx="77724" cy="77724"/>
          </a:xfrm>
          <a:prstGeom prst="ellipse">
            <a:avLst/>
          </a:prstGeom>
          <a:solidFill>
            <a:srgbClr val="008300">
              <a:alpha val="88000"/>
            </a:srgbClr>
          </a:solidFill>
          <a:ln w="3175">
            <a:solidFill>
              <a:srgbClr val="FFFFFF"/>
            </a:solidFill>
            <a:prstDash val="solid"/>
          </a:ln>
        </p:spPr>
      </p:sp>
      <p:sp>
        <p:nvSpPr>
          <p:cNvPr id="53" name="SKU 246"/>
          <p:cNvSpPr/>
          <p:nvPr/>
        </p:nvSpPr>
        <p:spPr>
          <a:xfrm>
            <a:off x="4281853" y="2311373"/>
            <a:ext cx="77724" cy="77724"/>
          </a:xfrm>
          <a:prstGeom prst="ellipse">
            <a:avLst/>
          </a:prstGeom>
          <a:solidFill>
            <a:srgbClr val="EDA100">
              <a:alpha val="88000"/>
            </a:srgbClr>
          </a:solidFill>
          <a:ln w="3175">
            <a:solidFill>
              <a:srgbClr val="FFFFFF"/>
            </a:solidFill>
            <a:prstDash val="solid"/>
          </a:ln>
        </p:spPr>
      </p:sp>
      <p:sp>
        <p:nvSpPr>
          <p:cNvPr id="54" name="SKU 247"/>
          <p:cNvSpPr/>
          <p:nvPr/>
        </p:nvSpPr>
        <p:spPr>
          <a:xfrm>
            <a:off x="979998" y="2180305"/>
            <a:ext cx="77724" cy="77724"/>
          </a:xfrm>
          <a:prstGeom prst="ellipse">
            <a:avLst/>
          </a:prstGeom>
          <a:solidFill>
            <a:srgbClr val="008300">
              <a:alpha val="88000"/>
            </a:srgbClr>
          </a:solidFill>
          <a:ln w="3175">
            <a:solidFill>
              <a:srgbClr val="FFFFFF"/>
            </a:solidFill>
            <a:prstDash val="solid"/>
          </a:ln>
        </p:spPr>
      </p:sp>
      <p:sp>
        <p:nvSpPr>
          <p:cNvPr id="55" name="SKU 248"/>
          <p:cNvSpPr/>
          <p:nvPr/>
        </p:nvSpPr>
        <p:spPr>
          <a:xfrm>
            <a:off x="3718591" y="3958613"/>
            <a:ext cx="77724" cy="77724"/>
          </a:xfrm>
          <a:prstGeom prst="ellipse">
            <a:avLst/>
          </a:prstGeom>
          <a:solidFill>
            <a:srgbClr val="E87BA4">
              <a:alpha val="88000"/>
            </a:srgbClr>
          </a:solidFill>
          <a:ln w="3175">
            <a:solidFill>
              <a:srgbClr val="FFFFFF"/>
            </a:solidFill>
            <a:prstDash val="solid"/>
          </a:ln>
        </p:spPr>
      </p:sp>
      <p:sp>
        <p:nvSpPr>
          <p:cNvPr id="56" name="SKU 249"/>
          <p:cNvSpPr/>
          <p:nvPr/>
        </p:nvSpPr>
        <p:spPr>
          <a:xfrm>
            <a:off x="2019189" y="2384785"/>
            <a:ext cx="77724" cy="77724"/>
          </a:xfrm>
          <a:prstGeom prst="ellipse">
            <a:avLst/>
          </a:prstGeom>
          <a:solidFill>
            <a:srgbClr val="008300">
              <a:alpha val="88000"/>
            </a:srgbClr>
          </a:solidFill>
          <a:ln w="3175">
            <a:solidFill>
              <a:srgbClr val="FFFFFF"/>
            </a:solidFill>
            <a:prstDash val="solid"/>
          </a:ln>
        </p:spPr>
      </p:sp>
      <p:sp>
        <p:nvSpPr>
          <p:cNvPr id="57" name="SKU 250"/>
          <p:cNvSpPr/>
          <p:nvPr/>
        </p:nvSpPr>
        <p:spPr>
          <a:xfrm>
            <a:off x="3796310" y="2307016"/>
            <a:ext cx="77724" cy="77724"/>
          </a:xfrm>
          <a:prstGeom prst="ellipse">
            <a:avLst/>
          </a:prstGeom>
          <a:solidFill>
            <a:srgbClr val="EDA100">
              <a:alpha val="88000"/>
            </a:srgbClr>
          </a:solidFill>
          <a:ln w="3175">
            <a:solidFill>
              <a:srgbClr val="FFFFFF"/>
            </a:solidFill>
            <a:prstDash val="solid"/>
          </a:ln>
        </p:spPr>
      </p:sp>
      <p:sp>
        <p:nvSpPr>
          <p:cNvPr id="58" name="SKU 251"/>
          <p:cNvSpPr/>
          <p:nvPr/>
        </p:nvSpPr>
        <p:spPr>
          <a:xfrm>
            <a:off x="733220" y="2449817"/>
            <a:ext cx="77724" cy="77724"/>
          </a:xfrm>
          <a:prstGeom prst="ellipse">
            <a:avLst/>
          </a:prstGeom>
          <a:solidFill>
            <a:srgbClr val="008300">
              <a:alpha val="88000"/>
            </a:srgbClr>
          </a:solidFill>
          <a:ln w="3175">
            <a:solidFill>
              <a:srgbClr val="FFFFFF"/>
            </a:solidFill>
            <a:prstDash val="solid"/>
          </a:ln>
        </p:spPr>
      </p:sp>
      <p:sp>
        <p:nvSpPr>
          <p:cNvPr id="59" name="SKU 252"/>
          <p:cNvSpPr/>
          <p:nvPr/>
        </p:nvSpPr>
        <p:spPr>
          <a:xfrm>
            <a:off x="1256421" y="2351599"/>
            <a:ext cx="77724" cy="77724"/>
          </a:xfrm>
          <a:prstGeom prst="ellipse">
            <a:avLst/>
          </a:prstGeom>
          <a:solidFill>
            <a:srgbClr val="008300">
              <a:alpha val="88000"/>
            </a:srgbClr>
          </a:solidFill>
          <a:ln w="3175">
            <a:solidFill>
              <a:srgbClr val="FFFFFF"/>
            </a:solidFill>
            <a:prstDash val="solid"/>
          </a:ln>
        </p:spPr>
      </p:sp>
      <p:sp>
        <p:nvSpPr>
          <p:cNvPr id="60" name="SKU 253"/>
          <p:cNvSpPr/>
          <p:nvPr/>
        </p:nvSpPr>
        <p:spPr>
          <a:xfrm>
            <a:off x="1369394" y="2204440"/>
            <a:ext cx="77724" cy="77724"/>
          </a:xfrm>
          <a:prstGeom prst="ellipse">
            <a:avLst/>
          </a:prstGeom>
          <a:solidFill>
            <a:srgbClr val="008300">
              <a:alpha val="88000"/>
            </a:srgbClr>
          </a:solidFill>
          <a:ln w="3175">
            <a:solidFill>
              <a:srgbClr val="FFFFFF"/>
            </a:solidFill>
            <a:prstDash val="solid"/>
          </a:ln>
        </p:spPr>
      </p:sp>
      <p:sp>
        <p:nvSpPr>
          <p:cNvPr id="61" name="SKU 254"/>
          <p:cNvSpPr/>
          <p:nvPr/>
        </p:nvSpPr>
        <p:spPr>
          <a:xfrm>
            <a:off x="1253216" y="2303999"/>
            <a:ext cx="77724" cy="77724"/>
          </a:xfrm>
          <a:prstGeom prst="ellipse">
            <a:avLst/>
          </a:prstGeom>
          <a:solidFill>
            <a:srgbClr val="008300">
              <a:alpha val="88000"/>
            </a:srgbClr>
          </a:solidFill>
          <a:ln w="3175">
            <a:solidFill>
              <a:srgbClr val="FFFFFF"/>
            </a:solidFill>
            <a:prstDash val="solid"/>
          </a:ln>
        </p:spPr>
      </p:sp>
      <p:sp>
        <p:nvSpPr>
          <p:cNvPr id="62" name="SKU 255"/>
          <p:cNvSpPr/>
          <p:nvPr/>
        </p:nvSpPr>
        <p:spPr>
          <a:xfrm>
            <a:off x="1032879" y="2323776"/>
            <a:ext cx="77724" cy="77724"/>
          </a:xfrm>
          <a:prstGeom prst="ellipse">
            <a:avLst/>
          </a:prstGeom>
          <a:solidFill>
            <a:srgbClr val="008300">
              <a:alpha val="88000"/>
            </a:srgbClr>
          </a:solidFill>
          <a:ln w="3175">
            <a:solidFill>
              <a:srgbClr val="FFFFFF"/>
            </a:solidFill>
            <a:prstDash val="solid"/>
          </a:ln>
        </p:spPr>
      </p:sp>
      <p:sp>
        <p:nvSpPr>
          <p:cNvPr id="63" name="SKU 256"/>
          <p:cNvSpPr/>
          <p:nvPr/>
        </p:nvSpPr>
        <p:spPr>
          <a:xfrm>
            <a:off x="2413393" y="2275170"/>
            <a:ext cx="77724" cy="77724"/>
          </a:xfrm>
          <a:prstGeom prst="ellipse">
            <a:avLst/>
          </a:prstGeom>
          <a:solidFill>
            <a:srgbClr val="008300">
              <a:alpha val="88000"/>
            </a:srgbClr>
          </a:solidFill>
          <a:ln w="3175">
            <a:solidFill>
              <a:srgbClr val="FFFFFF"/>
            </a:solidFill>
            <a:prstDash val="solid"/>
          </a:ln>
        </p:spPr>
      </p:sp>
      <p:sp>
        <p:nvSpPr>
          <p:cNvPr id="64" name="SKU 257"/>
          <p:cNvSpPr/>
          <p:nvPr/>
        </p:nvSpPr>
        <p:spPr>
          <a:xfrm>
            <a:off x="1648221" y="2615077"/>
            <a:ext cx="77724" cy="77724"/>
          </a:xfrm>
          <a:prstGeom prst="ellipse">
            <a:avLst/>
          </a:prstGeom>
          <a:solidFill>
            <a:srgbClr val="008300">
              <a:alpha val="88000"/>
            </a:srgbClr>
          </a:solidFill>
          <a:ln w="3175">
            <a:solidFill>
              <a:srgbClr val="FFFFFF"/>
            </a:solidFill>
            <a:prstDash val="solid"/>
          </a:ln>
        </p:spPr>
      </p:sp>
      <p:sp>
        <p:nvSpPr>
          <p:cNvPr id="65" name="SKU 258"/>
          <p:cNvSpPr/>
          <p:nvPr/>
        </p:nvSpPr>
        <p:spPr>
          <a:xfrm>
            <a:off x="1319718" y="1437136"/>
            <a:ext cx="77724" cy="77724"/>
          </a:xfrm>
          <a:prstGeom prst="ellipse">
            <a:avLst/>
          </a:prstGeom>
          <a:solidFill>
            <a:srgbClr val="2A78D6">
              <a:alpha val="88000"/>
            </a:srgbClr>
          </a:solidFill>
          <a:ln w="3175">
            <a:solidFill>
              <a:srgbClr val="FFFFFF"/>
            </a:solidFill>
            <a:prstDash val="solid"/>
          </a:ln>
        </p:spPr>
      </p:sp>
      <p:sp>
        <p:nvSpPr>
          <p:cNvPr id="66" name="SKU 259"/>
          <p:cNvSpPr/>
          <p:nvPr/>
        </p:nvSpPr>
        <p:spPr>
          <a:xfrm>
            <a:off x="1568900" y="2694187"/>
            <a:ext cx="77724" cy="77724"/>
          </a:xfrm>
          <a:prstGeom prst="ellipse">
            <a:avLst/>
          </a:prstGeom>
          <a:solidFill>
            <a:srgbClr val="008300">
              <a:alpha val="88000"/>
            </a:srgbClr>
          </a:solidFill>
          <a:ln w="3175">
            <a:solidFill>
              <a:srgbClr val="FFFFFF"/>
            </a:solidFill>
            <a:prstDash val="solid"/>
          </a:ln>
        </p:spPr>
      </p:sp>
      <p:sp>
        <p:nvSpPr>
          <p:cNvPr id="67" name="SKU 260"/>
          <p:cNvSpPr/>
          <p:nvPr/>
        </p:nvSpPr>
        <p:spPr>
          <a:xfrm>
            <a:off x="1987941" y="2135721"/>
            <a:ext cx="77724" cy="77724"/>
          </a:xfrm>
          <a:prstGeom prst="ellipse">
            <a:avLst/>
          </a:prstGeom>
          <a:solidFill>
            <a:srgbClr val="008300">
              <a:alpha val="88000"/>
            </a:srgbClr>
          </a:solidFill>
          <a:ln w="3175">
            <a:solidFill>
              <a:srgbClr val="FFFFFF"/>
            </a:solidFill>
            <a:prstDash val="solid"/>
          </a:ln>
        </p:spPr>
      </p:sp>
      <p:sp>
        <p:nvSpPr>
          <p:cNvPr id="68" name="SKU 261"/>
          <p:cNvSpPr/>
          <p:nvPr/>
        </p:nvSpPr>
        <p:spPr>
          <a:xfrm>
            <a:off x="2765131" y="2602004"/>
            <a:ext cx="77724" cy="77724"/>
          </a:xfrm>
          <a:prstGeom prst="ellipse">
            <a:avLst/>
          </a:prstGeom>
          <a:solidFill>
            <a:srgbClr val="EDA100">
              <a:alpha val="88000"/>
            </a:srgbClr>
          </a:solidFill>
          <a:ln w="3175">
            <a:solidFill>
              <a:srgbClr val="FFFFFF"/>
            </a:solidFill>
            <a:prstDash val="solid"/>
          </a:ln>
        </p:spPr>
      </p:sp>
      <p:sp>
        <p:nvSpPr>
          <p:cNvPr id="69" name="SKU 262"/>
          <p:cNvSpPr/>
          <p:nvPr/>
        </p:nvSpPr>
        <p:spPr>
          <a:xfrm>
            <a:off x="2421405" y="1879618"/>
            <a:ext cx="77724" cy="77724"/>
          </a:xfrm>
          <a:prstGeom prst="ellipse">
            <a:avLst/>
          </a:prstGeom>
          <a:solidFill>
            <a:srgbClr val="2A78D6">
              <a:alpha val="88000"/>
            </a:srgbClr>
          </a:solidFill>
          <a:ln w="3175">
            <a:solidFill>
              <a:srgbClr val="FFFFFF"/>
            </a:solidFill>
            <a:prstDash val="solid"/>
          </a:ln>
        </p:spPr>
      </p:sp>
      <p:sp>
        <p:nvSpPr>
          <p:cNvPr id="70" name="SKU 263"/>
          <p:cNvSpPr/>
          <p:nvPr/>
        </p:nvSpPr>
        <p:spPr>
          <a:xfrm>
            <a:off x="1057717" y="2768270"/>
            <a:ext cx="77724" cy="77724"/>
          </a:xfrm>
          <a:prstGeom prst="ellipse">
            <a:avLst/>
          </a:prstGeom>
          <a:solidFill>
            <a:srgbClr val="008300">
              <a:alpha val="88000"/>
            </a:srgbClr>
          </a:solidFill>
          <a:ln w="3175">
            <a:solidFill>
              <a:srgbClr val="FFFFFF"/>
            </a:solidFill>
            <a:prstDash val="solid"/>
          </a:ln>
        </p:spPr>
      </p:sp>
      <p:sp>
        <p:nvSpPr>
          <p:cNvPr id="71" name="SKU 264"/>
          <p:cNvSpPr/>
          <p:nvPr/>
        </p:nvSpPr>
        <p:spPr>
          <a:xfrm>
            <a:off x="1028072" y="2406239"/>
            <a:ext cx="77724" cy="77724"/>
          </a:xfrm>
          <a:prstGeom prst="ellipse">
            <a:avLst/>
          </a:prstGeom>
          <a:solidFill>
            <a:srgbClr val="008300">
              <a:alpha val="88000"/>
            </a:srgbClr>
          </a:solidFill>
          <a:ln w="3175">
            <a:solidFill>
              <a:srgbClr val="FFFFFF"/>
            </a:solidFill>
            <a:prstDash val="solid"/>
          </a:ln>
        </p:spPr>
      </p:sp>
      <p:sp>
        <p:nvSpPr>
          <p:cNvPr id="72" name="SKU 265"/>
          <p:cNvSpPr/>
          <p:nvPr/>
        </p:nvSpPr>
        <p:spPr>
          <a:xfrm>
            <a:off x="3577575" y="2274165"/>
            <a:ext cx="77724" cy="77724"/>
          </a:xfrm>
          <a:prstGeom prst="ellipse">
            <a:avLst/>
          </a:prstGeom>
          <a:solidFill>
            <a:srgbClr val="EDA100">
              <a:alpha val="88000"/>
            </a:srgbClr>
          </a:solidFill>
          <a:ln w="3175">
            <a:solidFill>
              <a:srgbClr val="FFFFFF"/>
            </a:solidFill>
            <a:prstDash val="solid"/>
          </a:ln>
        </p:spPr>
      </p:sp>
      <p:sp>
        <p:nvSpPr>
          <p:cNvPr id="73" name="SKU 266"/>
          <p:cNvSpPr/>
          <p:nvPr/>
        </p:nvSpPr>
        <p:spPr>
          <a:xfrm>
            <a:off x="1822888" y="2573846"/>
            <a:ext cx="77724" cy="77724"/>
          </a:xfrm>
          <a:prstGeom prst="ellipse">
            <a:avLst/>
          </a:prstGeom>
          <a:solidFill>
            <a:srgbClr val="008300">
              <a:alpha val="88000"/>
            </a:srgbClr>
          </a:solidFill>
          <a:ln w="3175">
            <a:solidFill>
              <a:srgbClr val="FFFFFF"/>
            </a:solidFill>
            <a:prstDash val="solid"/>
          </a:ln>
        </p:spPr>
      </p:sp>
      <p:sp>
        <p:nvSpPr>
          <p:cNvPr id="74" name="SKU 267"/>
          <p:cNvSpPr/>
          <p:nvPr/>
        </p:nvSpPr>
        <p:spPr>
          <a:xfrm>
            <a:off x="1087362" y="2282545"/>
            <a:ext cx="77724" cy="77724"/>
          </a:xfrm>
          <a:prstGeom prst="ellipse">
            <a:avLst/>
          </a:prstGeom>
          <a:solidFill>
            <a:srgbClr val="008300">
              <a:alpha val="88000"/>
            </a:srgbClr>
          </a:solidFill>
          <a:ln w="3175">
            <a:solidFill>
              <a:srgbClr val="FFFFFF"/>
            </a:solidFill>
            <a:prstDash val="solid"/>
          </a:ln>
        </p:spPr>
      </p:sp>
      <p:sp>
        <p:nvSpPr>
          <p:cNvPr id="75" name="SKU 268"/>
          <p:cNvSpPr/>
          <p:nvPr/>
        </p:nvSpPr>
        <p:spPr>
          <a:xfrm>
            <a:off x="1676264" y="2775979"/>
            <a:ext cx="77724" cy="77724"/>
          </a:xfrm>
          <a:prstGeom prst="ellipse">
            <a:avLst/>
          </a:prstGeom>
          <a:solidFill>
            <a:srgbClr val="008300">
              <a:alpha val="88000"/>
            </a:srgbClr>
          </a:solidFill>
          <a:ln w="3175">
            <a:solidFill>
              <a:srgbClr val="FFFFFF"/>
            </a:solidFill>
            <a:prstDash val="solid"/>
          </a:ln>
        </p:spPr>
      </p:sp>
      <p:sp>
        <p:nvSpPr>
          <p:cNvPr id="76" name="SKU 269"/>
          <p:cNvSpPr/>
          <p:nvPr/>
        </p:nvSpPr>
        <p:spPr>
          <a:xfrm>
            <a:off x="4862743" y="2146448"/>
            <a:ext cx="77724" cy="77724"/>
          </a:xfrm>
          <a:prstGeom prst="ellipse">
            <a:avLst/>
          </a:prstGeom>
          <a:solidFill>
            <a:srgbClr val="EDA100">
              <a:alpha val="88000"/>
            </a:srgbClr>
          </a:solidFill>
          <a:ln w="3175">
            <a:solidFill>
              <a:srgbClr val="FFFFFF"/>
            </a:solidFill>
            <a:prstDash val="solid"/>
          </a:ln>
        </p:spPr>
      </p:sp>
      <p:sp>
        <p:nvSpPr>
          <p:cNvPr id="77" name="SKU 270"/>
          <p:cNvSpPr/>
          <p:nvPr/>
        </p:nvSpPr>
        <p:spPr>
          <a:xfrm>
            <a:off x="1350966" y="2387802"/>
            <a:ext cx="77724" cy="77724"/>
          </a:xfrm>
          <a:prstGeom prst="ellipse">
            <a:avLst/>
          </a:prstGeom>
          <a:solidFill>
            <a:srgbClr val="2A78D6">
              <a:alpha val="88000"/>
            </a:srgbClr>
          </a:solidFill>
          <a:ln w="3175">
            <a:solidFill>
              <a:srgbClr val="FFFFFF"/>
            </a:solidFill>
            <a:prstDash val="solid"/>
          </a:ln>
        </p:spPr>
      </p:sp>
      <p:sp>
        <p:nvSpPr>
          <p:cNvPr id="78" name="SKU 271"/>
          <p:cNvSpPr/>
          <p:nvPr/>
        </p:nvSpPr>
        <p:spPr>
          <a:xfrm>
            <a:off x="2604886" y="2295618"/>
            <a:ext cx="77724" cy="77724"/>
          </a:xfrm>
          <a:prstGeom prst="ellipse">
            <a:avLst/>
          </a:prstGeom>
          <a:solidFill>
            <a:srgbClr val="008300">
              <a:alpha val="88000"/>
            </a:srgbClr>
          </a:solidFill>
          <a:ln w="3175">
            <a:solidFill>
              <a:srgbClr val="FFFFFF"/>
            </a:solidFill>
            <a:prstDash val="solid"/>
          </a:ln>
        </p:spPr>
      </p:sp>
      <p:sp>
        <p:nvSpPr>
          <p:cNvPr id="79" name="SKU 272"/>
          <p:cNvSpPr/>
          <p:nvPr/>
        </p:nvSpPr>
        <p:spPr>
          <a:xfrm>
            <a:off x="2189049" y="2206451"/>
            <a:ext cx="77724" cy="77724"/>
          </a:xfrm>
          <a:prstGeom prst="ellipse">
            <a:avLst/>
          </a:prstGeom>
          <a:solidFill>
            <a:srgbClr val="008300">
              <a:alpha val="88000"/>
            </a:srgbClr>
          </a:solidFill>
          <a:ln w="3175">
            <a:solidFill>
              <a:srgbClr val="FFFFFF"/>
            </a:solidFill>
            <a:prstDash val="solid"/>
          </a:ln>
        </p:spPr>
      </p:sp>
      <p:sp>
        <p:nvSpPr>
          <p:cNvPr id="80" name="SKU 273"/>
          <p:cNvSpPr/>
          <p:nvPr/>
        </p:nvSpPr>
        <p:spPr>
          <a:xfrm>
            <a:off x="944744" y="2331486"/>
            <a:ext cx="77724" cy="77724"/>
          </a:xfrm>
          <a:prstGeom prst="ellipse">
            <a:avLst/>
          </a:prstGeom>
          <a:solidFill>
            <a:srgbClr val="008300">
              <a:alpha val="88000"/>
            </a:srgbClr>
          </a:solidFill>
          <a:ln w="3175">
            <a:solidFill>
              <a:srgbClr val="FFFFFF"/>
            </a:solidFill>
            <a:prstDash val="solid"/>
          </a:ln>
        </p:spPr>
      </p:sp>
      <p:sp>
        <p:nvSpPr>
          <p:cNvPr id="81" name="SKU 274"/>
          <p:cNvSpPr/>
          <p:nvPr/>
        </p:nvSpPr>
        <p:spPr>
          <a:xfrm>
            <a:off x="1177100" y="2279528"/>
            <a:ext cx="77724" cy="77724"/>
          </a:xfrm>
          <a:prstGeom prst="ellipse">
            <a:avLst/>
          </a:prstGeom>
          <a:solidFill>
            <a:srgbClr val="008300">
              <a:alpha val="88000"/>
            </a:srgbClr>
          </a:solidFill>
          <a:ln w="3175">
            <a:solidFill>
              <a:srgbClr val="FFFFFF"/>
            </a:solidFill>
            <a:prstDash val="solid"/>
          </a:ln>
        </p:spPr>
      </p:sp>
      <p:sp>
        <p:nvSpPr>
          <p:cNvPr id="82" name="SKU 275"/>
          <p:cNvSpPr/>
          <p:nvPr/>
        </p:nvSpPr>
        <p:spPr>
          <a:xfrm>
            <a:off x="1271644" y="2017391"/>
            <a:ext cx="77724" cy="77724"/>
          </a:xfrm>
          <a:prstGeom prst="ellipse">
            <a:avLst/>
          </a:prstGeom>
          <a:solidFill>
            <a:srgbClr val="2A78D6">
              <a:alpha val="88000"/>
            </a:srgbClr>
          </a:solidFill>
          <a:ln w="3175">
            <a:solidFill>
              <a:srgbClr val="FFFFFF"/>
            </a:solidFill>
            <a:prstDash val="solid"/>
          </a:ln>
        </p:spPr>
      </p:sp>
      <p:sp>
        <p:nvSpPr>
          <p:cNvPr id="83" name="SKU 276"/>
          <p:cNvSpPr/>
          <p:nvPr/>
        </p:nvSpPr>
        <p:spPr>
          <a:xfrm>
            <a:off x="2705039" y="2421659"/>
            <a:ext cx="77724" cy="77724"/>
          </a:xfrm>
          <a:prstGeom prst="ellipse">
            <a:avLst/>
          </a:prstGeom>
          <a:solidFill>
            <a:srgbClr val="008300">
              <a:alpha val="88000"/>
            </a:srgbClr>
          </a:solidFill>
          <a:ln w="3175">
            <a:solidFill>
              <a:srgbClr val="FFFFFF"/>
            </a:solidFill>
            <a:prstDash val="solid"/>
          </a:ln>
        </p:spPr>
      </p:sp>
      <p:sp>
        <p:nvSpPr>
          <p:cNvPr id="84" name="SKU 277"/>
          <p:cNvSpPr/>
          <p:nvPr/>
        </p:nvSpPr>
        <p:spPr>
          <a:xfrm>
            <a:off x="1278054" y="2276511"/>
            <a:ext cx="77724" cy="77724"/>
          </a:xfrm>
          <a:prstGeom prst="ellipse">
            <a:avLst/>
          </a:prstGeom>
          <a:solidFill>
            <a:srgbClr val="008300">
              <a:alpha val="88000"/>
            </a:srgbClr>
          </a:solidFill>
          <a:ln w="3175">
            <a:solidFill>
              <a:srgbClr val="FFFFFF"/>
            </a:solidFill>
            <a:prstDash val="solid"/>
          </a:ln>
        </p:spPr>
      </p:sp>
      <p:sp>
        <p:nvSpPr>
          <p:cNvPr id="85" name="SKU 278"/>
          <p:cNvSpPr/>
          <p:nvPr/>
        </p:nvSpPr>
        <p:spPr>
          <a:xfrm>
            <a:off x="2950214" y="1864869"/>
            <a:ext cx="77724" cy="77724"/>
          </a:xfrm>
          <a:prstGeom prst="ellipse">
            <a:avLst/>
          </a:prstGeom>
          <a:solidFill>
            <a:srgbClr val="2A78D6">
              <a:alpha val="88000"/>
            </a:srgbClr>
          </a:solidFill>
          <a:ln w="3175">
            <a:solidFill>
              <a:srgbClr val="FFFFFF"/>
            </a:solidFill>
            <a:prstDash val="solid"/>
          </a:ln>
        </p:spPr>
      </p:sp>
      <p:sp>
        <p:nvSpPr>
          <p:cNvPr id="86" name="SKU 279"/>
          <p:cNvSpPr/>
          <p:nvPr/>
        </p:nvSpPr>
        <p:spPr>
          <a:xfrm>
            <a:off x="1710717" y="2853749"/>
            <a:ext cx="77724" cy="77724"/>
          </a:xfrm>
          <a:prstGeom prst="ellipse">
            <a:avLst/>
          </a:prstGeom>
          <a:solidFill>
            <a:srgbClr val="008300">
              <a:alpha val="88000"/>
            </a:srgbClr>
          </a:solidFill>
          <a:ln w="3175">
            <a:solidFill>
              <a:srgbClr val="FFFFFF"/>
            </a:solidFill>
            <a:prstDash val="solid"/>
          </a:ln>
        </p:spPr>
      </p:sp>
      <p:sp>
        <p:nvSpPr>
          <p:cNvPr id="87" name="SKU 280"/>
          <p:cNvSpPr/>
          <p:nvPr/>
        </p:nvSpPr>
        <p:spPr>
          <a:xfrm>
            <a:off x="879043" y="2552057"/>
            <a:ext cx="77724" cy="77724"/>
          </a:xfrm>
          <a:prstGeom prst="ellipse">
            <a:avLst/>
          </a:prstGeom>
          <a:solidFill>
            <a:srgbClr val="008300">
              <a:alpha val="88000"/>
            </a:srgbClr>
          </a:solidFill>
          <a:ln w="3175">
            <a:solidFill>
              <a:srgbClr val="FFFFFF"/>
            </a:solidFill>
            <a:prstDash val="solid"/>
          </a:ln>
        </p:spPr>
      </p:sp>
      <p:sp>
        <p:nvSpPr>
          <p:cNvPr id="88" name="SKU 281"/>
          <p:cNvSpPr/>
          <p:nvPr/>
        </p:nvSpPr>
        <p:spPr>
          <a:xfrm>
            <a:off x="1971917" y="2303663"/>
            <a:ext cx="77724" cy="77724"/>
          </a:xfrm>
          <a:prstGeom prst="ellipse">
            <a:avLst/>
          </a:prstGeom>
          <a:solidFill>
            <a:srgbClr val="2A78D6">
              <a:alpha val="88000"/>
            </a:srgbClr>
          </a:solidFill>
          <a:ln w="3175">
            <a:solidFill>
              <a:srgbClr val="FFFFFF"/>
            </a:solidFill>
            <a:prstDash val="solid"/>
          </a:ln>
        </p:spPr>
      </p:sp>
      <p:sp>
        <p:nvSpPr>
          <p:cNvPr id="89" name="SKU 282"/>
          <p:cNvSpPr/>
          <p:nvPr/>
        </p:nvSpPr>
        <p:spPr>
          <a:xfrm>
            <a:off x="1795647" y="2200418"/>
            <a:ext cx="77724" cy="77724"/>
          </a:xfrm>
          <a:prstGeom prst="ellipse">
            <a:avLst/>
          </a:prstGeom>
          <a:solidFill>
            <a:srgbClr val="008300">
              <a:alpha val="88000"/>
            </a:srgbClr>
          </a:solidFill>
          <a:ln w="3175">
            <a:solidFill>
              <a:srgbClr val="FFFFFF"/>
            </a:solidFill>
            <a:prstDash val="solid"/>
          </a:ln>
        </p:spPr>
      </p:sp>
      <p:sp>
        <p:nvSpPr>
          <p:cNvPr id="90" name="SKU 283"/>
          <p:cNvSpPr/>
          <p:nvPr/>
        </p:nvSpPr>
        <p:spPr>
          <a:xfrm>
            <a:off x="2657767" y="2057281"/>
            <a:ext cx="77724" cy="77724"/>
          </a:xfrm>
          <a:prstGeom prst="ellipse">
            <a:avLst/>
          </a:prstGeom>
          <a:solidFill>
            <a:srgbClr val="2A78D6">
              <a:alpha val="88000"/>
            </a:srgbClr>
          </a:solidFill>
          <a:ln w="3175">
            <a:solidFill>
              <a:srgbClr val="FFFFFF"/>
            </a:solidFill>
            <a:prstDash val="solid"/>
          </a:ln>
        </p:spPr>
      </p:sp>
      <p:sp>
        <p:nvSpPr>
          <p:cNvPr id="91" name="SKU 284"/>
          <p:cNvSpPr/>
          <p:nvPr/>
        </p:nvSpPr>
        <p:spPr>
          <a:xfrm>
            <a:off x="1382214" y="2505127"/>
            <a:ext cx="77724" cy="77724"/>
          </a:xfrm>
          <a:prstGeom prst="ellipse">
            <a:avLst/>
          </a:prstGeom>
          <a:solidFill>
            <a:srgbClr val="008300">
              <a:alpha val="88000"/>
            </a:srgbClr>
          </a:solidFill>
          <a:ln w="3175">
            <a:solidFill>
              <a:srgbClr val="FFFFFF"/>
            </a:solidFill>
            <a:prstDash val="solid"/>
          </a:ln>
        </p:spPr>
      </p:sp>
      <p:sp>
        <p:nvSpPr>
          <p:cNvPr id="92" name="SKU 285"/>
          <p:cNvSpPr/>
          <p:nvPr/>
        </p:nvSpPr>
        <p:spPr>
          <a:xfrm>
            <a:off x="2108125" y="2538313"/>
            <a:ext cx="77724" cy="77724"/>
          </a:xfrm>
          <a:prstGeom prst="ellipse">
            <a:avLst/>
          </a:prstGeom>
          <a:solidFill>
            <a:srgbClr val="008300">
              <a:alpha val="88000"/>
            </a:srgbClr>
          </a:solidFill>
          <a:ln w="3175">
            <a:solidFill>
              <a:srgbClr val="FFFFFF"/>
            </a:solidFill>
            <a:prstDash val="solid"/>
          </a:ln>
        </p:spPr>
      </p:sp>
      <p:sp>
        <p:nvSpPr>
          <p:cNvPr id="93" name="SKU 286"/>
          <p:cNvSpPr/>
          <p:nvPr/>
        </p:nvSpPr>
        <p:spPr>
          <a:xfrm>
            <a:off x="2971848" y="1412666"/>
            <a:ext cx="77724" cy="77724"/>
          </a:xfrm>
          <a:prstGeom prst="ellipse">
            <a:avLst/>
          </a:prstGeom>
          <a:solidFill>
            <a:srgbClr val="2A78D6">
              <a:alpha val="88000"/>
            </a:srgbClr>
          </a:solidFill>
          <a:ln w="3175">
            <a:solidFill>
              <a:srgbClr val="FFFFFF"/>
            </a:solidFill>
            <a:prstDash val="solid"/>
          </a:ln>
        </p:spPr>
      </p:sp>
      <p:sp>
        <p:nvSpPr>
          <p:cNvPr id="94" name="SKU 287"/>
          <p:cNvSpPr/>
          <p:nvPr/>
        </p:nvSpPr>
        <p:spPr>
          <a:xfrm>
            <a:off x="1910222" y="2482667"/>
            <a:ext cx="77724" cy="77724"/>
          </a:xfrm>
          <a:prstGeom prst="ellipse">
            <a:avLst/>
          </a:prstGeom>
          <a:solidFill>
            <a:srgbClr val="008300">
              <a:alpha val="88000"/>
            </a:srgbClr>
          </a:solidFill>
          <a:ln w="3175">
            <a:solidFill>
              <a:srgbClr val="FFFFFF"/>
            </a:solidFill>
            <a:prstDash val="solid"/>
          </a:ln>
        </p:spPr>
      </p:sp>
      <p:sp>
        <p:nvSpPr>
          <p:cNvPr id="95" name="SKU 288"/>
          <p:cNvSpPr/>
          <p:nvPr/>
        </p:nvSpPr>
        <p:spPr>
          <a:xfrm>
            <a:off x="1966308" y="2434732"/>
            <a:ext cx="77724" cy="77724"/>
          </a:xfrm>
          <a:prstGeom prst="ellipse">
            <a:avLst/>
          </a:prstGeom>
          <a:solidFill>
            <a:srgbClr val="008300">
              <a:alpha val="88000"/>
            </a:srgbClr>
          </a:solidFill>
          <a:ln w="3175">
            <a:solidFill>
              <a:srgbClr val="FFFFFF"/>
            </a:solidFill>
            <a:prstDash val="solid"/>
          </a:ln>
        </p:spPr>
      </p:sp>
      <p:sp>
        <p:nvSpPr>
          <p:cNvPr id="96" name="SKU 289"/>
          <p:cNvSpPr/>
          <p:nvPr/>
        </p:nvSpPr>
        <p:spPr>
          <a:xfrm>
            <a:off x="963973" y="2387802"/>
            <a:ext cx="77724" cy="77724"/>
          </a:xfrm>
          <a:prstGeom prst="ellipse">
            <a:avLst/>
          </a:prstGeom>
          <a:solidFill>
            <a:srgbClr val="008300">
              <a:alpha val="88000"/>
            </a:srgbClr>
          </a:solidFill>
          <a:ln w="3175">
            <a:solidFill>
              <a:srgbClr val="FFFFFF"/>
            </a:solidFill>
            <a:prstDash val="solid"/>
          </a:ln>
        </p:spPr>
      </p:sp>
      <p:sp>
        <p:nvSpPr>
          <p:cNvPr id="97" name="SKU 290"/>
          <p:cNvSpPr/>
          <p:nvPr/>
        </p:nvSpPr>
        <p:spPr>
          <a:xfrm>
            <a:off x="4164073" y="2308356"/>
            <a:ext cx="77724" cy="77724"/>
          </a:xfrm>
          <a:prstGeom prst="ellipse">
            <a:avLst/>
          </a:prstGeom>
          <a:solidFill>
            <a:srgbClr val="EDA100">
              <a:alpha val="88000"/>
            </a:srgbClr>
          </a:solidFill>
          <a:ln w="3175">
            <a:solidFill>
              <a:srgbClr val="FFFFFF"/>
            </a:solidFill>
            <a:prstDash val="solid"/>
          </a:ln>
        </p:spPr>
      </p:sp>
      <p:sp>
        <p:nvSpPr>
          <p:cNvPr id="98" name="SKU 291"/>
          <p:cNvSpPr/>
          <p:nvPr/>
        </p:nvSpPr>
        <p:spPr>
          <a:xfrm>
            <a:off x="979197" y="2412608"/>
            <a:ext cx="77724" cy="77724"/>
          </a:xfrm>
          <a:prstGeom prst="ellipse">
            <a:avLst/>
          </a:prstGeom>
          <a:solidFill>
            <a:srgbClr val="008300">
              <a:alpha val="88000"/>
            </a:srgbClr>
          </a:solidFill>
          <a:ln w="3175">
            <a:solidFill>
              <a:srgbClr val="FFFFFF"/>
            </a:solidFill>
            <a:prstDash val="solid"/>
          </a:ln>
        </p:spPr>
      </p:sp>
      <p:sp>
        <p:nvSpPr>
          <p:cNvPr id="99" name="SKU 292"/>
          <p:cNvSpPr/>
          <p:nvPr/>
        </p:nvSpPr>
        <p:spPr>
          <a:xfrm>
            <a:off x="1467945" y="2194049"/>
            <a:ext cx="77724" cy="77724"/>
          </a:xfrm>
          <a:prstGeom prst="ellipse">
            <a:avLst/>
          </a:prstGeom>
          <a:solidFill>
            <a:srgbClr val="008300">
              <a:alpha val="88000"/>
            </a:srgbClr>
          </a:solidFill>
          <a:ln w="3175">
            <a:solidFill>
              <a:srgbClr val="FFFFFF"/>
            </a:solidFill>
            <a:prstDash val="solid"/>
          </a:ln>
        </p:spPr>
      </p:sp>
      <p:sp>
        <p:nvSpPr>
          <p:cNvPr id="100" name="SKU 293"/>
          <p:cNvSpPr/>
          <p:nvPr/>
        </p:nvSpPr>
        <p:spPr>
          <a:xfrm>
            <a:off x="1086561" y="3166839"/>
            <a:ext cx="77724" cy="77724"/>
          </a:xfrm>
          <a:prstGeom prst="ellipse">
            <a:avLst/>
          </a:prstGeom>
          <a:solidFill>
            <a:srgbClr val="E87BA4">
              <a:alpha val="88000"/>
            </a:srgbClr>
          </a:solidFill>
          <a:ln w="3175">
            <a:solidFill>
              <a:srgbClr val="FFFFFF"/>
            </a:solidFill>
            <a:prstDash val="solid"/>
          </a:ln>
        </p:spPr>
      </p:sp>
      <p:sp>
        <p:nvSpPr>
          <p:cNvPr id="101" name="SKU 294"/>
          <p:cNvSpPr/>
          <p:nvPr/>
        </p:nvSpPr>
        <p:spPr>
          <a:xfrm>
            <a:off x="1733151" y="2764247"/>
            <a:ext cx="77724" cy="77724"/>
          </a:xfrm>
          <a:prstGeom prst="ellipse">
            <a:avLst/>
          </a:prstGeom>
          <a:solidFill>
            <a:srgbClr val="008300">
              <a:alpha val="88000"/>
            </a:srgbClr>
          </a:solidFill>
          <a:ln w="3175">
            <a:solidFill>
              <a:srgbClr val="FFFFFF"/>
            </a:solidFill>
            <a:prstDash val="solid"/>
          </a:ln>
        </p:spPr>
      </p:sp>
      <p:sp>
        <p:nvSpPr>
          <p:cNvPr id="102" name="SKU 295"/>
          <p:cNvSpPr/>
          <p:nvPr/>
        </p:nvSpPr>
        <p:spPr>
          <a:xfrm>
            <a:off x="1461535" y="3204382"/>
            <a:ext cx="77724" cy="77724"/>
          </a:xfrm>
          <a:prstGeom prst="ellipse">
            <a:avLst/>
          </a:prstGeom>
          <a:solidFill>
            <a:srgbClr val="E87BA4">
              <a:alpha val="88000"/>
            </a:srgbClr>
          </a:solidFill>
          <a:ln w="3175">
            <a:solidFill>
              <a:srgbClr val="FFFFFF"/>
            </a:solidFill>
            <a:prstDash val="solid"/>
          </a:ln>
        </p:spPr>
      </p:sp>
      <p:sp>
        <p:nvSpPr>
          <p:cNvPr id="103" name="SKU 296"/>
          <p:cNvSpPr/>
          <p:nvPr/>
        </p:nvSpPr>
        <p:spPr>
          <a:xfrm>
            <a:off x="4668846" y="2342548"/>
            <a:ext cx="77724" cy="77724"/>
          </a:xfrm>
          <a:prstGeom prst="ellipse">
            <a:avLst/>
          </a:prstGeom>
          <a:solidFill>
            <a:srgbClr val="EDA100">
              <a:alpha val="88000"/>
            </a:srgbClr>
          </a:solidFill>
          <a:ln w="3175">
            <a:solidFill>
              <a:srgbClr val="FFFFFF"/>
            </a:solidFill>
            <a:prstDash val="solid"/>
          </a:ln>
        </p:spPr>
      </p:sp>
      <p:sp>
        <p:nvSpPr>
          <p:cNvPr id="104" name="SKU 297"/>
          <p:cNvSpPr/>
          <p:nvPr/>
        </p:nvSpPr>
        <p:spPr>
          <a:xfrm>
            <a:off x="959166" y="1822632"/>
            <a:ext cx="77724" cy="77724"/>
          </a:xfrm>
          <a:prstGeom prst="ellipse">
            <a:avLst/>
          </a:prstGeom>
          <a:solidFill>
            <a:srgbClr val="2A78D6">
              <a:alpha val="88000"/>
            </a:srgbClr>
          </a:solidFill>
          <a:ln w="3175">
            <a:solidFill>
              <a:srgbClr val="FFFFFF"/>
            </a:solidFill>
            <a:prstDash val="solid"/>
          </a:ln>
        </p:spPr>
      </p:sp>
      <p:sp>
        <p:nvSpPr>
          <p:cNvPr id="105" name="SKU 298"/>
          <p:cNvSpPr/>
          <p:nvPr/>
        </p:nvSpPr>
        <p:spPr>
          <a:xfrm>
            <a:off x="1637004" y="2569488"/>
            <a:ext cx="77724" cy="77724"/>
          </a:xfrm>
          <a:prstGeom prst="ellipse">
            <a:avLst/>
          </a:prstGeom>
          <a:solidFill>
            <a:srgbClr val="008300">
              <a:alpha val="88000"/>
            </a:srgbClr>
          </a:solidFill>
          <a:ln w="3175">
            <a:solidFill>
              <a:srgbClr val="FFFFFF"/>
            </a:solidFill>
            <a:prstDash val="solid"/>
          </a:ln>
        </p:spPr>
      </p:sp>
      <p:sp>
        <p:nvSpPr>
          <p:cNvPr id="106" name="SKU 299"/>
          <p:cNvSpPr/>
          <p:nvPr/>
        </p:nvSpPr>
        <p:spPr>
          <a:xfrm>
            <a:off x="1380611" y="2473282"/>
            <a:ext cx="77724" cy="77724"/>
          </a:xfrm>
          <a:prstGeom prst="ellipse">
            <a:avLst/>
          </a:prstGeom>
          <a:solidFill>
            <a:srgbClr val="008300">
              <a:alpha val="88000"/>
            </a:srgbClr>
          </a:solidFill>
          <a:ln w="3175">
            <a:solidFill>
              <a:srgbClr val="FFFFFF"/>
            </a:solidFill>
            <a:prstDash val="solid"/>
          </a:ln>
        </p:spPr>
      </p:sp>
      <p:sp>
        <p:nvSpPr>
          <p:cNvPr id="107" name="SKU 300"/>
          <p:cNvSpPr/>
          <p:nvPr/>
        </p:nvSpPr>
        <p:spPr>
          <a:xfrm>
            <a:off x="2547197" y="2606697"/>
            <a:ext cx="77724" cy="77724"/>
          </a:xfrm>
          <a:prstGeom prst="ellipse">
            <a:avLst/>
          </a:prstGeom>
          <a:solidFill>
            <a:srgbClr val="008300">
              <a:alpha val="88000"/>
            </a:srgbClr>
          </a:solidFill>
          <a:ln w="3175">
            <a:solidFill>
              <a:srgbClr val="FFFFFF"/>
            </a:solidFill>
            <a:prstDash val="solid"/>
          </a:ln>
        </p:spPr>
      </p:sp>
      <p:sp>
        <p:nvSpPr>
          <p:cNvPr id="108" name="SKU 301"/>
          <p:cNvSpPr/>
          <p:nvPr/>
        </p:nvSpPr>
        <p:spPr>
          <a:xfrm>
            <a:off x="1450318" y="2469929"/>
            <a:ext cx="77724" cy="77724"/>
          </a:xfrm>
          <a:prstGeom prst="ellipse">
            <a:avLst/>
          </a:prstGeom>
          <a:solidFill>
            <a:srgbClr val="008300">
              <a:alpha val="88000"/>
            </a:srgbClr>
          </a:solidFill>
          <a:ln w="3175">
            <a:solidFill>
              <a:srgbClr val="FFFFFF"/>
            </a:solidFill>
            <a:prstDash val="solid"/>
          </a:ln>
        </p:spPr>
      </p:sp>
      <p:sp>
        <p:nvSpPr>
          <p:cNvPr id="109" name="SKU 302"/>
          <p:cNvSpPr/>
          <p:nvPr/>
        </p:nvSpPr>
        <p:spPr>
          <a:xfrm>
            <a:off x="2470280" y="2387132"/>
            <a:ext cx="77724" cy="77724"/>
          </a:xfrm>
          <a:prstGeom prst="ellipse">
            <a:avLst/>
          </a:prstGeom>
          <a:solidFill>
            <a:srgbClr val="008300">
              <a:alpha val="88000"/>
            </a:srgbClr>
          </a:solidFill>
          <a:ln w="3175">
            <a:solidFill>
              <a:srgbClr val="FFFFFF"/>
            </a:solidFill>
            <a:prstDash val="solid"/>
          </a:ln>
        </p:spPr>
      </p:sp>
      <p:sp>
        <p:nvSpPr>
          <p:cNvPr id="110" name="SKU 303"/>
          <p:cNvSpPr/>
          <p:nvPr/>
        </p:nvSpPr>
        <p:spPr>
          <a:xfrm>
            <a:off x="4507799" y="2052924"/>
            <a:ext cx="77724" cy="77724"/>
          </a:xfrm>
          <a:prstGeom prst="ellipse">
            <a:avLst/>
          </a:prstGeom>
          <a:solidFill>
            <a:srgbClr val="EDA100">
              <a:alpha val="88000"/>
            </a:srgbClr>
          </a:solidFill>
          <a:ln w="3175">
            <a:solidFill>
              <a:srgbClr val="FFFFFF"/>
            </a:solidFill>
            <a:prstDash val="solid"/>
          </a:ln>
        </p:spPr>
      </p:sp>
      <p:sp>
        <p:nvSpPr>
          <p:cNvPr id="111" name="SKU 304"/>
          <p:cNvSpPr/>
          <p:nvPr/>
        </p:nvSpPr>
        <p:spPr>
          <a:xfrm>
            <a:off x="2530372" y="1267183"/>
            <a:ext cx="77724" cy="77724"/>
          </a:xfrm>
          <a:prstGeom prst="ellipse">
            <a:avLst/>
          </a:prstGeom>
          <a:solidFill>
            <a:srgbClr val="2A78D6">
              <a:alpha val="88000"/>
            </a:srgbClr>
          </a:solidFill>
          <a:ln w="3175">
            <a:solidFill>
              <a:srgbClr val="FFFFFF"/>
            </a:solidFill>
            <a:prstDash val="solid"/>
          </a:ln>
        </p:spPr>
      </p:sp>
      <p:sp>
        <p:nvSpPr>
          <p:cNvPr id="112" name="SKU 305"/>
          <p:cNvSpPr/>
          <p:nvPr/>
        </p:nvSpPr>
        <p:spPr>
          <a:xfrm>
            <a:off x="4402839" y="2329810"/>
            <a:ext cx="77724" cy="77724"/>
          </a:xfrm>
          <a:prstGeom prst="ellipse">
            <a:avLst/>
          </a:prstGeom>
          <a:solidFill>
            <a:srgbClr val="EDA100">
              <a:alpha val="88000"/>
            </a:srgbClr>
          </a:solidFill>
          <a:ln w="3175">
            <a:solidFill>
              <a:srgbClr val="FFFFFF"/>
            </a:solidFill>
            <a:prstDash val="solid"/>
          </a:ln>
        </p:spPr>
      </p:sp>
      <p:sp>
        <p:nvSpPr>
          <p:cNvPr id="113" name="SKU 306"/>
          <p:cNvSpPr/>
          <p:nvPr/>
        </p:nvSpPr>
        <p:spPr>
          <a:xfrm>
            <a:off x="1153864" y="2921462"/>
            <a:ext cx="77724" cy="77724"/>
          </a:xfrm>
          <a:prstGeom prst="ellipse">
            <a:avLst/>
          </a:prstGeom>
          <a:solidFill>
            <a:srgbClr val="008300">
              <a:alpha val="88000"/>
            </a:srgbClr>
          </a:solidFill>
          <a:ln w="3175">
            <a:solidFill>
              <a:srgbClr val="FFFFFF"/>
            </a:solidFill>
            <a:prstDash val="solid"/>
          </a:ln>
        </p:spPr>
      </p:sp>
      <p:sp>
        <p:nvSpPr>
          <p:cNvPr id="114" name="SKU 307"/>
          <p:cNvSpPr/>
          <p:nvPr/>
        </p:nvSpPr>
        <p:spPr>
          <a:xfrm>
            <a:off x="2003164" y="2709607"/>
            <a:ext cx="77724" cy="77724"/>
          </a:xfrm>
          <a:prstGeom prst="ellipse">
            <a:avLst/>
          </a:prstGeom>
          <a:solidFill>
            <a:srgbClr val="008300">
              <a:alpha val="88000"/>
            </a:srgbClr>
          </a:solidFill>
          <a:ln w="3175">
            <a:solidFill>
              <a:srgbClr val="FFFFFF"/>
            </a:solidFill>
            <a:prstDash val="solid"/>
          </a:ln>
        </p:spPr>
      </p:sp>
      <p:sp>
        <p:nvSpPr>
          <p:cNvPr id="115" name="SKU 308"/>
          <p:cNvSpPr/>
          <p:nvPr/>
        </p:nvSpPr>
        <p:spPr>
          <a:xfrm>
            <a:off x="1186714" y="2433726"/>
            <a:ext cx="77724" cy="77724"/>
          </a:xfrm>
          <a:prstGeom prst="ellipse">
            <a:avLst/>
          </a:prstGeom>
          <a:solidFill>
            <a:srgbClr val="008300">
              <a:alpha val="88000"/>
            </a:srgbClr>
          </a:solidFill>
          <a:ln w="3175">
            <a:solidFill>
              <a:srgbClr val="FFFFFF"/>
            </a:solidFill>
            <a:prstDash val="solid"/>
          </a:ln>
        </p:spPr>
      </p:sp>
      <p:sp>
        <p:nvSpPr>
          <p:cNvPr id="116" name="SKU 309"/>
          <p:cNvSpPr/>
          <p:nvPr/>
        </p:nvSpPr>
        <p:spPr>
          <a:xfrm>
            <a:off x="1250813" y="2703573"/>
            <a:ext cx="77724" cy="77724"/>
          </a:xfrm>
          <a:prstGeom prst="ellipse">
            <a:avLst/>
          </a:prstGeom>
          <a:solidFill>
            <a:srgbClr val="008300">
              <a:alpha val="88000"/>
            </a:srgbClr>
          </a:solidFill>
          <a:ln w="3175">
            <a:solidFill>
              <a:srgbClr val="FFFFFF"/>
            </a:solidFill>
            <a:prstDash val="solid"/>
          </a:ln>
        </p:spPr>
      </p:sp>
      <p:sp>
        <p:nvSpPr>
          <p:cNvPr id="117" name="SKU 310"/>
          <p:cNvSpPr/>
          <p:nvPr/>
        </p:nvSpPr>
        <p:spPr>
          <a:xfrm>
            <a:off x="1150659" y="2329475"/>
            <a:ext cx="77724" cy="77724"/>
          </a:xfrm>
          <a:prstGeom prst="ellipse">
            <a:avLst/>
          </a:prstGeom>
          <a:solidFill>
            <a:srgbClr val="008300">
              <a:alpha val="88000"/>
            </a:srgbClr>
          </a:solidFill>
          <a:ln w="3175">
            <a:solidFill>
              <a:srgbClr val="FFFFFF"/>
            </a:solidFill>
            <a:prstDash val="solid"/>
          </a:ln>
        </p:spPr>
      </p:sp>
      <p:sp>
        <p:nvSpPr>
          <p:cNvPr id="118" name="SKU 311"/>
          <p:cNvSpPr/>
          <p:nvPr/>
        </p:nvSpPr>
        <p:spPr>
          <a:xfrm>
            <a:off x="2439833" y="2875538"/>
            <a:ext cx="77724" cy="77724"/>
          </a:xfrm>
          <a:prstGeom prst="ellipse">
            <a:avLst/>
          </a:prstGeom>
          <a:solidFill>
            <a:srgbClr val="E87BA4">
              <a:alpha val="88000"/>
            </a:srgbClr>
          </a:solidFill>
          <a:ln w="3175">
            <a:solidFill>
              <a:srgbClr val="FFFFFF"/>
            </a:solidFill>
            <a:prstDash val="solid"/>
          </a:ln>
        </p:spPr>
      </p:sp>
      <p:sp>
        <p:nvSpPr>
          <p:cNvPr id="119" name="SKU 312"/>
          <p:cNvSpPr/>
          <p:nvPr/>
        </p:nvSpPr>
        <p:spPr>
          <a:xfrm>
            <a:off x="2957425" y="2352605"/>
            <a:ext cx="77724" cy="77724"/>
          </a:xfrm>
          <a:prstGeom prst="ellipse">
            <a:avLst/>
          </a:prstGeom>
          <a:solidFill>
            <a:srgbClr val="EDA100">
              <a:alpha val="88000"/>
            </a:srgbClr>
          </a:solidFill>
          <a:ln w="3175">
            <a:solidFill>
              <a:srgbClr val="FFFFFF"/>
            </a:solidFill>
            <a:prstDash val="solid"/>
          </a:ln>
        </p:spPr>
      </p:sp>
      <p:sp>
        <p:nvSpPr>
          <p:cNvPr id="120" name="SKU 313"/>
          <p:cNvSpPr/>
          <p:nvPr/>
        </p:nvSpPr>
        <p:spPr>
          <a:xfrm>
            <a:off x="1108194" y="2817211"/>
            <a:ext cx="77724" cy="77724"/>
          </a:xfrm>
          <a:prstGeom prst="ellipse">
            <a:avLst/>
          </a:prstGeom>
          <a:solidFill>
            <a:srgbClr val="008300">
              <a:alpha val="88000"/>
            </a:srgbClr>
          </a:solidFill>
          <a:ln w="3175">
            <a:solidFill>
              <a:srgbClr val="FFFFFF"/>
            </a:solidFill>
            <a:prstDash val="solid"/>
          </a:ln>
        </p:spPr>
      </p:sp>
      <p:sp>
        <p:nvSpPr>
          <p:cNvPr id="121" name="SKU 314"/>
          <p:cNvSpPr/>
          <p:nvPr/>
        </p:nvSpPr>
        <p:spPr>
          <a:xfrm>
            <a:off x="1668252" y="2307016"/>
            <a:ext cx="77724" cy="77724"/>
          </a:xfrm>
          <a:prstGeom prst="ellipse">
            <a:avLst/>
          </a:prstGeom>
          <a:solidFill>
            <a:srgbClr val="2A78D6">
              <a:alpha val="88000"/>
            </a:srgbClr>
          </a:solidFill>
          <a:ln w="3175">
            <a:solidFill>
              <a:srgbClr val="FFFFFF"/>
            </a:solidFill>
            <a:prstDash val="solid"/>
          </a:ln>
        </p:spPr>
      </p:sp>
      <p:sp>
        <p:nvSpPr>
          <p:cNvPr id="122" name="SKU 315"/>
          <p:cNvSpPr/>
          <p:nvPr/>
        </p:nvSpPr>
        <p:spPr>
          <a:xfrm>
            <a:off x="1205944" y="2309362"/>
            <a:ext cx="77724" cy="77724"/>
          </a:xfrm>
          <a:prstGeom prst="ellipse">
            <a:avLst/>
          </a:prstGeom>
          <a:solidFill>
            <a:srgbClr val="008300">
              <a:alpha val="88000"/>
            </a:srgbClr>
          </a:solidFill>
          <a:ln w="3175">
            <a:solidFill>
              <a:srgbClr val="FFFFFF"/>
            </a:solidFill>
            <a:prstDash val="solid"/>
          </a:ln>
        </p:spPr>
      </p:sp>
      <p:sp>
        <p:nvSpPr>
          <p:cNvPr id="123" name="SKU 316"/>
          <p:cNvSpPr/>
          <p:nvPr/>
        </p:nvSpPr>
        <p:spPr>
          <a:xfrm>
            <a:off x="1542459" y="2950291"/>
            <a:ext cx="77724" cy="77724"/>
          </a:xfrm>
          <a:prstGeom prst="ellipse">
            <a:avLst/>
          </a:prstGeom>
          <a:solidFill>
            <a:srgbClr val="008300">
              <a:alpha val="88000"/>
            </a:srgbClr>
          </a:solidFill>
          <a:ln w="3175">
            <a:solidFill>
              <a:srgbClr val="FFFFFF"/>
            </a:solidFill>
            <a:prstDash val="solid"/>
          </a:ln>
        </p:spPr>
      </p:sp>
      <p:sp>
        <p:nvSpPr>
          <p:cNvPr id="124" name="SKU 317"/>
          <p:cNvSpPr/>
          <p:nvPr/>
        </p:nvSpPr>
        <p:spPr>
          <a:xfrm>
            <a:off x="1054512" y="2374729"/>
            <a:ext cx="77724" cy="77724"/>
          </a:xfrm>
          <a:prstGeom prst="ellipse">
            <a:avLst/>
          </a:prstGeom>
          <a:solidFill>
            <a:srgbClr val="008300">
              <a:alpha val="88000"/>
            </a:srgbClr>
          </a:solidFill>
          <a:ln w="3175">
            <a:solidFill>
              <a:srgbClr val="FFFFFF"/>
            </a:solidFill>
            <a:prstDash val="solid"/>
          </a:ln>
        </p:spPr>
      </p:sp>
      <p:sp>
        <p:nvSpPr>
          <p:cNvPr id="125" name="SKU 318"/>
          <p:cNvSpPr/>
          <p:nvPr/>
        </p:nvSpPr>
        <p:spPr>
          <a:xfrm>
            <a:off x="1213155" y="2370371"/>
            <a:ext cx="77724" cy="77724"/>
          </a:xfrm>
          <a:prstGeom prst="ellipse">
            <a:avLst/>
          </a:prstGeom>
          <a:solidFill>
            <a:srgbClr val="008300">
              <a:alpha val="88000"/>
            </a:srgbClr>
          </a:solidFill>
          <a:ln w="3175">
            <a:solidFill>
              <a:srgbClr val="FFFFFF"/>
            </a:solidFill>
            <a:prstDash val="solid"/>
          </a:ln>
        </p:spPr>
      </p:sp>
      <p:sp>
        <p:nvSpPr>
          <p:cNvPr id="126" name="SKU 319"/>
          <p:cNvSpPr/>
          <p:nvPr/>
        </p:nvSpPr>
        <p:spPr>
          <a:xfrm>
            <a:off x="3158533" y="2757543"/>
            <a:ext cx="77724" cy="77724"/>
          </a:xfrm>
          <a:prstGeom prst="ellipse">
            <a:avLst/>
          </a:prstGeom>
          <a:solidFill>
            <a:srgbClr val="EDA100">
              <a:alpha val="88000"/>
            </a:srgbClr>
          </a:solidFill>
          <a:ln w="3175">
            <a:solidFill>
              <a:srgbClr val="FFFFFF"/>
            </a:solidFill>
            <a:prstDash val="solid"/>
          </a:ln>
        </p:spPr>
      </p:sp>
      <p:sp>
        <p:nvSpPr>
          <p:cNvPr id="127" name="SKU 320"/>
          <p:cNvSpPr/>
          <p:nvPr/>
        </p:nvSpPr>
        <p:spPr>
          <a:xfrm>
            <a:off x="1989544" y="1939286"/>
            <a:ext cx="77724" cy="77724"/>
          </a:xfrm>
          <a:prstGeom prst="ellipse">
            <a:avLst/>
          </a:prstGeom>
          <a:solidFill>
            <a:srgbClr val="2A78D6">
              <a:alpha val="88000"/>
            </a:srgbClr>
          </a:solidFill>
          <a:ln w="3175">
            <a:solidFill>
              <a:srgbClr val="FFFFFF"/>
            </a:solidFill>
            <a:prstDash val="solid"/>
          </a:ln>
        </p:spPr>
      </p:sp>
      <p:sp>
        <p:nvSpPr>
          <p:cNvPr id="128" name="SKU 321"/>
          <p:cNvSpPr/>
          <p:nvPr/>
        </p:nvSpPr>
        <p:spPr>
          <a:xfrm>
            <a:off x="1329333" y="2315061"/>
            <a:ext cx="77724" cy="77724"/>
          </a:xfrm>
          <a:prstGeom prst="ellipse">
            <a:avLst/>
          </a:prstGeom>
          <a:solidFill>
            <a:srgbClr val="008300">
              <a:alpha val="88000"/>
            </a:srgbClr>
          </a:solidFill>
          <a:ln w="3175">
            <a:solidFill>
              <a:srgbClr val="FFFFFF"/>
            </a:solidFill>
            <a:prstDash val="solid"/>
          </a:ln>
        </p:spPr>
      </p:sp>
      <p:sp>
        <p:nvSpPr>
          <p:cNvPr id="129" name="SKU 322"/>
          <p:cNvSpPr/>
          <p:nvPr/>
        </p:nvSpPr>
        <p:spPr>
          <a:xfrm>
            <a:off x="3648884" y="1856824"/>
            <a:ext cx="77724" cy="77724"/>
          </a:xfrm>
          <a:prstGeom prst="ellipse">
            <a:avLst/>
          </a:prstGeom>
          <a:solidFill>
            <a:srgbClr val="EDA100">
              <a:alpha val="88000"/>
            </a:srgbClr>
          </a:solidFill>
          <a:ln w="3175">
            <a:solidFill>
              <a:srgbClr val="FFFFFF"/>
            </a:solidFill>
            <a:prstDash val="solid"/>
          </a:ln>
        </p:spPr>
      </p:sp>
      <p:sp>
        <p:nvSpPr>
          <p:cNvPr id="130" name="SKU 323"/>
          <p:cNvSpPr/>
          <p:nvPr/>
        </p:nvSpPr>
        <p:spPr>
          <a:xfrm>
            <a:off x="2588861" y="2328134"/>
            <a:ext cx="77724" cy="77724"/>
          </a:xfrm>
          <a:prstGeom prst="ellipse">
            <a:avLst/>
          </a:prstGeom>
          <a:solidFill>
            <a:srgbClr val="008300">
              <a:alpha val="88000"/>
            </a:srgbClr>
          </a:solidFill>
          <a:ln w="3175">
            <a:solidFill>
              <a:srgbClr val="FFFFFF"/>
            </a:solidFill>
            <a:prstDash val="solid"/>
          </a:ln>
        </p:spPr>
      </p:sp>
      <p:sp>
        <p:nvSpPr>
          <p:cNvPr id="131" name="SKU 324"/>
          <p:cNvSpPr/>
          <p:nvPr/>
        </p:nvSpPr>
        <p:spPr>
          <a:xfrm>
            <a:off x="4136831" y="2372717"/>
            <a:ext cx="77724" cy="77724"/>
          </a:xfrm>
          <a:prstGeom prst="ellipse">
            <a:avLst/>
          </a:prstGeom>
          <a:solidFill>
            <a:srgbClr val="EDA100">
              <a:alpha val="88000"/>
            </a:srgbClr>
          </a:solidFill>
          <a:ln w="3175">
            <a:solidFill>
              <a:srgbClr val="FFFFFF"/>
            </a:solidFill>
            <a:prstDash val="solid"/>
          </a:ln>
        </p:spPr>
      </p:sp>
      <p:sp>
        <p:nvSpPr>
          <p:cNvPr id="132" name="SKU 325"/>
          <p:cNvSpPr/>
          <p:nvPr/>
        </p:nvSpPr>
        <p:spPr>
          <a:xfrm>
            <a:off x="2685810" y="1944314"/>
            <a:ext cx="77724" cy="77724"/>
          </a:xfrm>
          <a:prstGeom prst="ellipse">
            <a:avLst/>
          </a:prstGeom>
          <a:solidFill>
            <a:srgbClr val="2A78D6">
              <a:alpha val="88000"/>
            </a:srgbClr>
          </a:solidFill>
          <a:ln w="3175">
            <a:solidFill>
              <a:srgbClr val="FFFFFF"/>
            </a:solidFill>
            <a:prstDash val="solid"/>
          </a:ln>
        </p:spPr>
      </p:sp>
      <p:sp>
        <p:nvSpPr>
          <p:cNvPr id="133" name="SKU 326"/>
          <p:cNvSpPr/>
          <p:nvPr/>
        </p:nvSpPr>
        <p:spPr>
          <a:xfrm>
            <a:off x="1685077" y="2297965"/>
            <a:ext cx="77724" cy="77724"/>
          </a:xfrm>
          <a:prstGeom prst="ellipse">
            <a:avLst/>
          </a:prstGeom>
          <a:solidFill>
            <a:srgbClr val="008300">
              <a:alpha val="88000"/>
            </a:srgbClr>
          </a:solidFill>
          <a:ln w="3175">
            <a:solidFill>
              <a:srgbClr val="FFFFFF"/>
            </a:solidFill>
            <a:prstDash val="solid"/>
          </a:ln>
        </p:spPr>
      </p:sp>
      <p:sp>
        <p:nvSpPr>
          <p:cNvPr id="134" name="SKU 327"/>
          <p:cNvSpPr/>
          <p:nvPr/>
        </p:nvSpPr>
        <p:spPr>
          <a:xfrm>
            <a:off x="2315643" y="1694580"/>
            <a:ext cx="77724" cy="77724"/>
          </a:xfrm>
          <a:prstGeom prst="ellipse">
            <a:avLst/>
          </a:prstGeom>
          <a:solidFill>
            <a:srgbClr val="2A78D6">
              <a:alpha val="88000"/>
            </a:srgbClr>
          </a:solidFill>
          <a:ln w="3175">
            <a:solidFill>
              <a:srgbClr val="FFFFFF"/>
            </a:solidFill>
            <a:prstDash val="solid"/>
          </a:ln>
        </p:spPr>
      </p:sp>
      <p:sp>
        <p:nvSpPr>
          <p:cNvPr id="135" name="SKU 328"/>
          <p:cNvSpPr/>
          <p:nvPr/>
        </p:nvSpPr>
        <p:spPr>
          <a:xfrm>
            <a:off x="2874098" y="2408585"/>
            <a:ext cx="77724" cy="77724"/>
          </a:xfrm>
          <a:prstGeom prst="ellipse">
            <a:avLst/>
          </a:prstGeom>
          <a:solidFill>
            <a:srgbClr val="EDA100">
              <a:alpha val="88000"/>
            </a:srgbClr>
          </a:solidFill>
          <a:ln w="3175">
            <a:solidFill>
              <a:srgbClr val="FFFFFF"/>
            </a:solidFill>
            <a:prstDash val="solid"/>
          </a:ln>
        </p:spPr>
      </p:sp>
      <p:sp>
        <p:nvSpPr>
          <p:cNvPr id="136" name="SKU 329"/>
          <p:cNvSpPr/>
          <p:nvPr/>
        </p:nvSpPr>
        <p:spPr>
          <a:xfrm>
            <a:off x="3221029" y="2284221"/>
            <a:ext cx="77724" cy="77724"/>
          </a:xfrm>
          <a:prstGeom prst="ellipse">
            <a:avLst/>
          </a:prstGeom>
          <a:solidFill>
            <a:srgbClr val="EDA100">
              <a:alpha val="88000"/>
            </a:srgbClr>
          </a:solidFill>
          <a:ln w="3175">
            <a:solidFill>
              <a:srgbClr val="FFFFFF"/>
            </a:solidFill>
            <a:prstDash val="solid"/>
          </a:ln>
        </p:spPr>
      </p:sp>
      <p:sp>
        <p:nvSpPr>
          <p:cNvPr id="137" name="SKU 330"/>
          <p:cNvSpPr/>
          <p:nvPr/>
        </p:nvSpPr>
        <p:spPr>
          <a:xfrm>
            <a:off x="1939066" y="2522558"/>
            <a:ext cx="77724" cy="77724"/>
          </a:xfrm>
          <a:prstGeom prst="ellipse">
            <a:avLst/>
          </a:prstGeom>
          <a:solidFill>
            <a:srgbClr val="008300">
              <a:alpha val="88000"/>
            </a:srgbClr>
          </a:solidFill>
          <a:ln w="3175">
            <a:solidFill>
              <a:srgbClr val="FFFFFF"/>
            </a:solidFill>
            <a:prstDash val="solid"/>
          </a:ln>
        </p:spPr>
      </p:sp>
      <p:sp>
        <p:nvSpPr>
          <p:cNvPr id="138" name="SKU 331"/>
          <p:cNvSpPr/>
          <p:nvPr/>
        </p:nvSpPr>
        <p:spPr>
          <a:xfrm>
            <a:off x="4055907" y="2174271"/>
            <a:ext cx="77724" cy="77724"/>
          </a:xfrm>
          <a:prstGeom prst="ellipse">
            <a:avLst/>
          </a:prstGeom>
          <a:solidFill>
            <a:srgbClr val="EDA100">
              <a:alpha val="88000"/>
            </a:srgbClr>
          </a:solidFill>
          <a:ln w="3175">
            <a:solidFill>
              <a:srgbClr val="FFFFFF"/>
            </a:solidFill>
            <a:prstDash val="solid"/>
          </a:ln>
        </p:spPr>
      </p:sp>
      <p:sp>
        <p:nvSpPr>
          <p:cNvPr id="139" name="SKU 332"/>
          <p:cNvSpPr/>
          <p:nvPr/>
        </p:nvSpPr>
        <p:spPr>
          <a:xfrm>
            <a:off x="4073534" y="2562784"/>
            <a:ext cx="77724" cy="77724"/>
          </a:xfrm>
          <a:prstGeom prst="ellipse">
            <a:avLst/>
          </a:prstGeom>
          <a:solidFill>
            <a:srgbClr val="EDA100">
              <a:alpha val="88000"/>
            </a:srgbClr>
          </a:solidFill>
          <a:ln w="3175">
            <a:solidFill>
              <a:srgbClr val="FFFFFF"/>
            </a:solidFill>
            <a:prstDash val="solid"/>
          </a:ln>
        </p:spPr>
      </p:sp>
      <p:sp>
        <p:nvSpPr>
          <p:cNvPr id="140" name="SKU 333"/>
          <p:cNvSpPr/>
          <p:nvPr/>
        </p:nvSpPr>
        <p:spPr>
          <a:xfrm>
            <a:off x="1003234" y="2651615"/>
            <a:ext cx="77724" cy="77724"/>
          </a:xfrm>
          <a:prstGeom prst="ellipse">
            <a:avLst/>
          </a:prstGeom>
          <a:solidFill>
            <a:srgbClr val="008300">
              <a:alpha val="88000"/>
            </a:srgbClr>
          </a:solidFill>
          <a:ln w="3175">
            <a:solidFill>
              <a:srgbClr val="FFFFFF"/>
            </a:solidFill>
            <a:prstDash val="solid"/>
          </a:ln>
        </p:spPr>
      </p:sp>
      <p:sp>
        <p:nvSpPr>
          <p:cNvPr id="141" name="SKU 334"/>
          <p:cNvSpPr/>
          <p:nvPr/>
        </p:nvSpPr>
        <p:spPr>
          <a:xfrm>
            <a:off x="4253009" y="2872521"/>
            <a:ext cx="77724" cy="77724"/>
          </a:xfrm>
          <a:prstGeom prst="ellipse">
            <a:avLst/>
          </a:prstGeom>
          <a:solidFill>
            <a:srgbClr val="EDA100">
              <a:alpha val="88000"/>
            </a:srgbClr>
          </a:solidFill>
          <a:ln w="3175">
            <a:solidFill>
              <a:srgbClr val="FFFFFF"/>
            </a:solidFill>
            <a:prstDash val="solid"/>
          </a:ln>
        </p:spPr>
      </p:sp>
      <p:sp>
        <p:nvSpPr>
          <p:cNvPr id="142" name="SKU 335"/>
          <p:cNvSpPr/>
          <p:nvPr/>
        </p:nvSpPr>
        <p:spPr>
          <a:xfrm>
            <a:off x="1942271" y="2664018"/>
            <a:ext cx="77724" cy="77724"/>
          </a:xfrm>
          <a:prstGeom prst="ellipse">
            <a:avLst/>
          </a:prstGeom>
          <a:solidFill>
            <a:srgbClr val="008300">
              <a:alpha val="88000"/>
            </a:srgbClr>
          </a:solidFill>
          <a:ln w="3175">
            <a:solidFill>
              <a:srgbClr val="FFFFFF"/>
            </a:solidFill>
            <a:prstDash val="solid"/>
          </a:ln>
        </p:spPr>
      </p:sp>
      <p:sp>
        <p:nvSpPr>
          <p:cNvPr id="143" name="SKU 336"/>
          <p:cNvSpPr/>
          <p:nvPr/>
        </p:nvSpPr>
        <p:spPr>
          <a:xfrm>
            <a:off x="1400642" y="1753243"/>
            <a:ext cx="77724" cy="77724"/>
          </a:xfrm>
          <a:prstGeom prst="ellipse">
            <a:avLst/>
          </a:prstGeom>
          <a:solidFill>
            <a:srgbClr val="2A78D6">
              <a:alpha val="88000"/>
            </a:srgbClr>
          </a:solidFill>
          <a:ln w="3175">
            <a:solidFill>
              <a:srgbClr val="FFFFFF"/>
            </a:solidFill>
            <a:prstDash val="solid"/>
          </a:ln>
        </p:spPr>
      </p:sp>
      <p:sp>
        <p:nvSpPr>
          <p:cNvPr id="144" name="SKU 337"/>
          <p:cNvSpPr/>
          <p:nvPr/>
        </p:nvSpPr>
        <p:spPr>
          <a:xfrm>
            <a:off x="986408" y="2534290"/>
            <a:ext cx="77724" cy="77724"/>
          </a:xfrm>
          <a:prstGeom prst="ellipse">
            <a:avLst/>
          </a:prstGeom>
          <a:solidFill>
            <a:srgbClr val="008300">
              <a:alpha val="88000"/>
            </a:srgbClr>
          </a:solidFill>
          <a:ln w="3175">
            <a:solidFill>
              <a:srgbClr val="FFFFFF"/>
            </a:solidFill>
            <a:prstDash val="solid"/>
          </a:ln>
        </p:spPr>
      </p:sp>
      <p:sp>
        <p:nvSpPr>
          <p:cNvPr id="145" name="SKU 338"/>
          <p:cNvSpPr/>
          <p:nvPr/>
        </p:nvSpPr>
        <p:spPr>
          <a:xfrm>
            <a:off x="1186714" y="2370371"/>
            <a:ext cx="77724" cy="77724"/>
          </a:xfrm>
          <a:prstGeom prst="ellipse">
            <a:avLst/>
          </a:prstGeom>
          <a:solidFill>
            <a:srgbClr val="008300">
              <a:alpha val="88000"/>
            </a:srgbClr>
          </a:solidFill>
          <a:ln w="3175">
            <a:solidFill>
              <a:srgbClr val="FFFFFF"/>
            </a:solidFill>
            <a:prstDash val="solid"/>
          </a:ln>
        </p:spPr>
      </p:sp>
      <p:sp>
        <p:nvSpPr>
          <p:cNvPr id="146" name="SKU 339"/>
          <p:cNvSpPr/>
          <p:nvPr/>
        </p:nvSpPr>
        <p:spPr>
          <a:xfrm>
            <a:off x="3059181" y="2071696"/>
            <a:ext cx="77724" cy="77724"/>
          </a:xfrm>
          <a:prstGeom prst="ellipse">
            <a:avLst/>
          </a:prstGeom>
          <a:solidFill>
            <a:srgbClr val="EDA100">
              <a:alpha val="88000"/>
            </a:srgbClr>
          </a:solidFill>
          <a:ln w="3175">
            <a:solidFill>
              <a:srgbClr val="FFFFFF"/>
            </a:solidFill>
            <a:prstDash val="solid"/>
          </a:ln>
        </p:spPr>
      </p:sp>
      <p:sp>
        <p:nvSpPr>
          <p:cNvPr id="147" name="SKU 340"/>
          <p:cNvSpPr/>
          <p:nvPr/>
        </p:nvSpPr>
        <p:spPr>
          <a:xfrm>
            <a:off x="2862080" y="2533285"/>
            <a:ext cx="77724" cy="77724"/>
          </a:xfrm>
          <a:prstGeom prst="ellipse">
            <a:avLst/>
          </a:prstGeom>
          <a:solidFill>
            <a:srgbClr val="EDA100">
              <a:alpha val="88000"/>
            </a:srgbClr>
          </a:solidFill>
          <a:ln w="3175">
            <a:solidFill>
              <a:srgbClr val="FFFFFF"/>
            </a:solidFill>
            <a:prstDash val="solid"/>
          </a:ln>
        </p:spPr>
      </p:sp>
      <p:sp>
        <p:nvSpPr>
          <p:cNvPr id="148" name="SKU 341"/>
          <p:cNvSpPr/>
          <p:nvPr/>
        </p:nvSpPr>
        <p:spPr>
          <a:xfrm>
            <a:off x="2056045" y="2514848"/>
            <a:ext cx="77724" cy="77724"/>
          </a:xfrm>
          <a:prstGeom prst="ellipse">
            <a:avLst/>
          </a:prstGeom>
          <a:solidFill>
            <a:srgbClr val="008300">
              <a:alpha val="88000"/>
            </a:srgbClr>
          </a:solidFill>
          <a:ln w="3175">
            <a:solidFill>
              <a:srgbClr val="FFFFFF"/>
            </a:solidFill>
            <a:prstDash val="solid"/>
          </a:ln>
        </p:spPr>
      </p:sp>
      <p:sp>
        <p:nvSpPr>
          <p:cNvPr id="149" name="SKU 342"/>
          <p:cNvSpPr/>
          <p:nvPr/>
        </p:nvSpPr>
        <p:spPr>
          <a:xfrm>
            <a:off x="1469547" y="2406239"/>
            <a:ext cx="77724" cy="77724"/>
          </a:xfrm>
          <a:prstGeom prst="ellipse">
            <a:avLst/>
          </a:prstGeom>
          <a:solidFill>
            <a:srgbClr val="008300">
              <a:alpha val="88000"/>
            </a:srgbClr>
          </a:solidFill>
          <a:ln w="3175">
            <a:solidFill>
              <a:srgbClr val="FFFFFF"/>
            </a:solidFill>
            <a:prstDash val="solid"/>
          </a:ln>
        </p:spPr>
      </p:sp>
      <p:sp>
        <p:nvSpPr>
          <p:cNvPr id="150" name="SKU 343"/>
          <p:cNvSpPr/>
          <p:nvPr/>
        </p:nvSpPr>
        <p:spPr>
          <a:xfrm>
            <a:off x="2516751" y="2395847"/>
            <a:ext cx="77724" cy="77724"/>
          </a:xfrm>
          <a:prstGeom prst="ellipse">
            <a:avLst/>
          </a:prstGeom>
          <a:solidFill>
            <a:srgbClr val="008300">
              <a:alpha val="88000"/>
            </a:srgbClr>
          </a:solidFill>
          <a:ln w="3175">
            <a:solidFill>
              <a:srgbClr val="FFFFFF"/>
            </a:solidFill>
            <a:prstDash val="solid"/>
          </a:ln>
        </p:spPr>
      </p:sp>
      <p:sp>
        <p:nvSpPr>
          <p:cNvPr id="151" name="SKU 344"/>
          <p:cNvSpPr/>
          <p:nvPr/>
        </p:nvSpPr>
        <p:spPr>
          <a:xfrm>
            <a:off x="1117008" y="1872579"/>
            <a:ext cx="77724" cy="77724"/>
          </a:xfrm>
          <a:prstGeom prst="ellipse">
            <a:avLst/>
          </a:prstGeom>
          <a:solidFill>
            <a:srgbClr val="2A78D6">
              <a:alpha val="88000"/>
            </a:srgbClr>
          </a:solidFill>
          <a:ln w="3175">
            <a:solidFill>
              <a:srgbClr val="FFFFFF"/>
            </a:solidFill>
            <a:prstDash val="solid"/>
          </a:ln>
        </p:spPr>
      </p:sp>
      <p:sp>
        <p:nvSpPr>
          <p:cNvPr id="152" name="SKU 345"/>
          <p:cNvSpPr/>
          <p:nvPr/>
        </p:nvSpPr>
        <p:spPr>
          <a:xfrm>
            <a:off x="2719461" y="1341265"/>
            <a:ext cx="77724" cy="77724"/>
          </a:xfrm>
          <a:prstGeom prst="ellipse">
            <a:avLst/>
          </a:prstGeom>
          <a:solidFill>
            <a:srgbClr val="2A78D6">
              <a:alpha val="88000"/>
            </a:srgbClr>
          </a:solidFill>
          <a:ln w="3175">
            <a:solidFill>
              <a:srgbClr val="FFFFFF"/>
            </a:solidFill>
            <a:prstDash val="solid"/>
          </a:ln>
        </p:spPr>
      </p:sp>
      <p:sp>
        <p:nvSpPr>
          <p:cNvPr id="153" name="SKU 346"/>
          <p:cNvSpPr/>
          <p:nvPr/>
        </p:nvSpPr>
        <p:spPr>
          <a:xfrm>
            <a:off x="862218" y="2544347"/>
            <a:ext cx="77724" cy="77724"/>
          </a:xfrm>
          <a:prstGeom prst="ellipse">
            <a:avLst/>
          </a:prstGeom>
          <a:solidFill>
            <a:srgbClr val="008300">
              <a:alpha val="88000"/>
            </a:srgbClr>
          </a:solidFill>
          <a:ln w="3175">
            <a:solidFill>
              <a:srgbClr val="FFFFFF"/>
            </a:solidFill>
            <a:prstDash val="solid"/>
          </a:ln>
        </p:spPr>
      </p:sp>
      <p:sp>
        <p:nvSpPr>
          <p:cNvPr id="154" name="SKU 347"/>
          <p:cNvSpPr/>
          <p:nvPr/>
        </p:nvSpPr>
        <p:spPr>
          <a:xfrm>
            <a:off x="4141639" y="2275170"/>
            <a:ext cx="77724" cy="77724"/>
          </a:xfrm>
          <a:prstGeom prst="ellipse">
            <a:avLst/>
          </a:prstGeom>
          <a:solidFill>
            <a:srgbClr val="EDA100">
              <a:alpha val="88000"/>
            </a:srgbClr>
          </a:solidFill>
          <a:ln w="3175">
            <a:solidFill>
              <a:srgbClr val="FFFFFF"/>
            </a:solidFill>
            <a:prstDash val="solid"/>
          </a:ln>
        </p:spPr>
      </p:sp>
      <p:sp>
        <p:nvSpPr>
          <p:cNvPr id="155" name="SKU 348"/>
          <p:cNvSpPr/>
          <p:nvPr/>
        </p:nvSpPr>
        <p:spPr>
          <a:xfrm>
            <a:off x="3516682" y="2552392"/>
            <a:ext cx="77724" cy="77724"/>
          </a:xfrm>
          <a:prstGeom prst="ellipse">
            <a:avLst/>
          </a:prstGeom>
          <a:solidFill>
            <a:srgbClr val="EDA100">
              <a:alpha val="88000"/>
            </a:srgbClr>
          </a:solidFill>
          <a:ln w="3175">
            <a:solidFill>
              <a:srgbClr val="FFFFFF"/>
            </a:solidFill>
            <a:prstDash val="solid"/>
          </a:ln>
        </p:spPr>
      </p:sp>
      <p:sp>
        <p:nvSpPr>
          <p:cNvPr id="156" name="SKU 349"/>
          <p:cNvSpPr/>
          <p:nvPr/>
        </p:nvSpPr>
        <p:spPr>
          <a:xfrm>
            <a:off x="1266036" y="2477304"/>
            <a:ext cx="77724" cy="77724"/>
          </a:xfrm>
          <a:prstGeom prst="ellipse">
            <a:avLst/>
          </a:prstGeom>
          <a:solidFill>
            <a:srgbClr val="008300">
              <a:alpha val="88000"/>
            </a:srgbClr>
          </a:solidFill>
          <a:ln w="3175">
            <a:solidFill>
              <a:srgbClr val="FFFFFF"/>
            </a:solidFill>
            <a:prstDash val="solid"/>
          </a:ln>
        </p:spPr>
      </p:sp>
      <p:sp>
        <p:nvSpPr>
          <p:cNvPr id="157" name="SKU 350"/>
          <p:cNvSpPr/>
          <p:nvPr/>
        </p:nvSpPr>
        <p:spPr>
          <a:xfrm>
            <a:off x="2811602" y="2064656"/>
            <a:ext cx="77724" cy="77724"/>
          </a:xfrm>
          <a:prstGeom prst="ellipse">
            <a:avLst/>
          </a:prstGeom>
          <a:solidFill>
            <a:srgbClr val="2A78D6">
              <a:alpha val="88000"/>
            </a:srgbClr>
          </a:solidFill>
          <a:ln w="3175">
            <a:solidFill>
              <a:srgbClr val="FFFFFF"/>
            </a:solidFill>
            <a:prstDash val="solid"/>
          </a:ln>
        </p:spPr>
      </p:sp>
      <p:sp>
        <p:nvSpPr>
          <p:cNvPr id="158" name="SKU 351"/>
          <p:cNvSpPr/>
          <p:nvPr/>
        </p:nvSpPr>
        <p:spPr>
          <a:xfrm>
            <a:off x="4457322" y="2497752"/>
            <a:ext cx="77724" cy="77724"/>
          </a:xfrm>
          <a:prstGeom prst="ellipse">
            <a:avLst/>
          </a:prstGeom>
          <a:solidFill>
            <a:srgbClr val="EDA100">
              <a:alpha val="88000"/>
            </a:srgbClr>
          </a:solidFill>
          <a:ln w="3175">
            <a:solidFill>
              <a:srgbClr val="FFFFFF"/>
            </a:solidFill>
            <a:prstDash val="solid"/>
          </a:ln>
        </p:spPr>
      </p:sp>
      <p:sp>
        <p:nvSpPr>
          <p:cNvPr id="159" name="SKU 352"/>
          <p:cNvSpPr/>
          <p:nvPr/>
        </p:nvSpPr>
        <p:spPr>
          <a:xfrm>
            <a:off x="1032879" y="2682790"/>
            <a:ext cx="77724" cy="77724"/>
          </a:xfrm>
          <a:prstGeom prst="ellipse">
            <a:avLst/>
          </a:prstGeom>
          <a:solidFill>
            <a:srgbClr val="008300">
              <a:alpha val="88000"/>
            </a:srgbClr>
          </a:solidFill>
          <a:ln w="3175">
            <a:solidFill>
              <a:srgbClr val="FFFFFF"/>
            </a:solidFill>
            <a:prstDash val="solid"/>
          </a:ln>
        </p:spPr>
      </p:sp>
      <p:sp>
        <p:nvSpPr>
          <p:cNvPr id="160" name="SKU 353"/>
          <p:cNvSpPr/>
          <p:nvPr/>
        </p:nvSpPr>
        <p:spPr>
          <a:xfrm>
            <a:off x="1349363" y="1949007"/>
            <a:ext cx="77724" cy="77724"/>
          </a:xfrm>
          <a:prstGeom prst="ellipse">
            <a:avLst/>
          </a:prstGeom>
          <a:solidFill>
            <a:srgbClr val="2A78D6">
              <a:alpha val="88000"/>
            </a:srgbClr>
          </a:solidFill>
          <a:ln w="3175">
            <a:solidFill>
              <a:srgbClr val="FFFFFF"/>
            </a:solidFill>
            <a:prstDash val="solid"/>
          </a:ln>
        </p:spPr>
      </p:sp>
      <p:sp>
        <p:nvSpPr>
          <p:cNvPr id="161" name="SKU 354"/>
          <p:cNvSpPr/>
          <p:nvPr/>
        </p:nvSpPr>
        <p:spPr>
          <a:xfrm>
            <a:off x="2582451" y="1299363"/>
            <a:ext cx="77724" cy="77724"/>
          </a:xfrm>
          <a:prstGeom prst="ellipse">
            <a:avLst/>
          </a:prstGeom>
          <a:solidFill>
            <a:srgbClr val="2A78D6">
              <a:alpha val="88000"/>
            </a:srgbClr>
          </a:solidFill>
          <a:ln w="3175">
            <a:solidFill>
              <a:srgbClr val="FFFFFF"/>
            </a:solidFill>
            <a:prstDash val="solid"/>
          </a:ln>
        </p:spPr>
      </p:sp>
      <p:sp>
        <p:nvSpPr>
          <p:cNvPr id="162" name="SKU 355"/>
          <p:cNvSpPr/>
          <p:nvPr/>
        </p:nvSpPr>
        <p:spPr>
          <a:xfrm>
            <a:off x="1360581" y="2282545"/>
            <a:ext cx="77724" cy="77724"/>
          </a:xfrm>
          <a:prstGeom prst="ellipse">
            <a:avLst/>
          </a:prstGeom>
          <a:solidFill>
            <a:srgbClr val="008300">
              <a:alpha val="88000"/>
            </a:srgbClr>
          </a:solidFill>
          <a:ln w="3175">
            <a:solidFill>
              <a:srgbClr val="FFFFFF"/>
            </a:solidFill>
            <a:prstDash val="solid"/>
          </a:ln>
        </p:spPr>
      </p:sp>
      <p:sp>
        <p:nvSpPr>
          <p:cNvPr id="163" name="SKU 356"/>
          <p:cNvSpPr/>
          <p:nvPr/>
        </p:nvSpPr>
        <p:spPr>
          <a:xfrm>
            <a:off x="2591265" y="2301317"/>
            <a:ext cx="77724" cy="77724"/>
          </a:xfrm>
          <a:prstGeom prst="ellipse">
            <a:avLst/>
          </a:prstGeom>
          <a:solidFill>
            <a:srgbClr val="008300">
              <a:alpha val="88000"/>
            </a:srgbClr>
          </a:solidFill>
          <a:ln w="3175">
            <a:solidFill>
              <a:srgbClr val="FFFFFF"/>
            </a:solidFill>
            <a:prstDash val="solid"/>
          </a:ln>
        </p:spPr>
      </p:sp>
      <p:sp>
        <p:nvSpPr>
          <p:cNvPr id="164" name="SKU 357"/>
          <p:cNvSpPr/>
          <p:nvPr/>
        </p:nvSpPr>
        <p:spPr>
          <a:xfrm>
            <a:off x="1635401" y="1911463"/>
            <a:ext cx="77724" cy="77724"/>
          </a:xfrm>
          <a:prstGeom prst="ellipse">
            <a:avLst/>
          </a:prstGeom>
          <a:solidFill>
            <a:srgbClr val="2A78D6">
              <a:alpha val="88000"/>
            </a:srgbClr>
          </a:solidFill>
          <a:ln w="3175">
            <a:solidFill>
              <a:srgbClr val="FFFFFF"/>
            </a:solidFill>
            <a:prstDash val="solid"/>
          </a:ln>
        </p:spPr>
      </p:sp>
      <p:sp>
        <p:nvSpPr>
          <p:cNvPr id="165" name="SKU 358"/>
          <p:cNvSpPr/>
          <p:nvPr/>
        </p:nvSpPr>
        <p:spPr>
          <a:xfrm>
            <a:off x="1511211" y="2578874"/>
            <a:ext cx="77724" cy="77724"/>
          </a:xfrm>
          <a:prstGeom prst="ellipse">
            <a:avLst/>
          </a:prstGeom>
          <a:solidFill>
            <a:srgbClr val="008300">
              <a:alpha val="88000"/>
            </a:srgbClr>
          </a:solidFill>
          <a:ln w="3175">
            <a:solidFill>
              <a:srgbClr val="FFFFFF"/>
            </a:solidFill>
            <a:prstDash val="solid"/>
          </a:ln>
        </p:spPr>
      </p:sp>
      <p:sp>
        <p:nvSpPr>
          <p:cNvPr id="166" name="SKU 359"/>
          <p:cNvSpPr/>
          <p:nvPr/>
        </p:nvSpPr>
        <p:spPr>
          <a:xfrm>
            <a:off x="2414995" y="2201758"/>
            <a:ext cx="77724" cy="77724"/>
          </a:xfrm>
          <a:prstGeom prst="ellipse">
            <a:avLst/>
          </a:prstGeom>
          <a:solidFill>
            <a:srgbClr val="008300">
              <a:alpha val="88000"/>
            </a:srgbClr>
          </a:solidFill>
          <a:ln w="3175">
            <a:solidFill>
              <a:srgbClr val="FFFFFF"/>
            </a:solidFill>
            <a:prstDash val="solid"/>
          </a:ln>
        </p:spPr>
      </p:sp>
      <p:sp>
        <p:nvSpPr>
          <p:cNvPr id="167" name="SKU 360"/>
          <p:cNvSpPr/>
          <p:nvPr/>
        </p:nvSpPr>
        <p:spPr>
          <a:xfrm>
            <a:off x="1388624" y="1859170"/>
            <a:ext cx="77724" cy="77724"/>
          </a:xfrm>
          <a:prstGeom prst="ellipse">
            <a:avLst/>
          </a:prstGeom>
          <a:solidFill>
            <a:srgbClr val="2A78D6">
              <a:alpha val="88000"/>
            </a:srgbClr>
          </a:solidFill>
          <a:ln w="3175">
            <a:solidFill>
              <a:srgbClr val="FFFFFF"/>
            </a:solidFill>
            <a:prstDash val="solid"/>
          </a:ln>
        </p:spPr>
      </p:sp>
      <p:sp>
        <p:nvSpPr>
          <p:cNvPr id="168" name="SKU 361"/>
          <p:cNvSpPr/>
          <p:nvPr/>
        </p:nvSpPr>
        <p:spPr>
          <a:xfrm>
            <a:off x="4310697" y="2643570"/>
            <a:ext cx="77724" cy="77724"/>
          </a:xfrm>
          <a:prstGeom prst="ellipse">
            <a:avLst/>
          </a:prstGeom>
          <a:solidFill>
            <a:srgbClr val="EDA100">
              <a:alpha val="88000"/>
            </a:srgbClr>
          </a:solidFill>
          <a:ln w="3175">
            <a:solidFill>
              <a:srgbClr val="FFFFFF"/>
            </a:solidFill>
            <a:prstDash val="solid"/>
          </a:ln>
        </p:spPr>
      </p:sp>
      <p:sp>
        <p:nvSpPr>
          <p:cNvPr id="169" name="SKU 362"/>
          <p:cNvSpPr/>
          <p:nvPr/>
        </p:nvSpPr>
        <p:spPr>
          <a:xfrm>
            <a:off x="3691349" y="2544012"/>
            <a:ext cx="77724" cy="77724"/>
          </a:xfrm>
          <a:prstGeom prst="ellipse">
            <a:avLst/>
          </a:prstGeom>
          <a:solidFill>
            <a:srgbClr val="EDA100">
              <a:alpha val="88000"/>
            </a:srgbClr>
          </a:solidFill>
          <a:ln w="3175">
            <a:solidFill>
              <a:srgbClr val="FFFFFF"/>
            </a:solidFill>
            <a:prstDash val="solid"/>
          </a:ln>
        </p:spPr>
      </p:sp>
      <p:sp>
        <p:nvSpPr>
          <p:cNvPr id="170" name="SKU 363"/>
          <p:cNvSpPr/>
          <p:nvPr/>
        </p:nvSpPr>
        <p:spPr>
          <a:xfrm>
            <a:off x="1475957" y="2374393"/>
            <a:ext cx="77724" cy="77724"/>
          </a:xfrm>
          <a:prstGeom prst="ellipse">
            <a:avLst/>
          </a:prstGeom>
          <a:solidFill>
            <a:srgbClr val="008300">
              <a:alpha val="88000"/>
            </a:srgbClr>
          </a:solidFill>
          <a:ln w="3175">
            <a:solidFill>
              <a:srgbClr val="FFFFFF"/>
            </a:solidFill>
            <a:prstDash val="solid"/>
          </a:ln>
        </p:spPr>
      </p:sp>
      <p:sp>
        <p:nvSpPr>
          <p:cNvPr id="171" name="SKU 364"/>
          <p:cNvSpPr/>
          <p:nvPr/>
        </p:nvSpPr>
        <p:spPr>
          <a:xfrm>
            <a:off x="2063256" y="2142090"/>
            <a:ext cx="77724" cy="77724"/>
          </a:xfrm>
          <a:prstGeom prst="ellipse">
            <a:avLst/>
          </a:prstGeom>
          <a:solidFill>
            <a:srgbClr val="008300">
              <a:alpha val="88000"/>
            </a:srgbClr>
          </a:solidFill>
          <a:ln w="3175">
            <a:solidFill>
              <a:srgbClr val="FFFFFF"/>
            </a:solidFill>
            <a:prstDash val="solid"/>
          </a:ln>
        </p:spPr>
      </p:sp>
      <p:sp>
        <p:nvSpPr>
          <p:cNvPr id="172" name="SKU 365"/>
          <p:cNvSpPr/>
          <p:nvPr/>
        </p:nvSpPr>
        <p:spPr>
          <a:xfrm>
            <a:off x="1232384" y="2589265"/>
            <a:ext cx="77724" cy="77724"/>
          </a:xfrm>
          <a:prstGeom prst="ellipse">
            <a:avLst/>
          </a:prstGeom>
          <a:solidFill>
            <a:srgbClr val="008300">
              <a:alpha val="88000"/>
            </a:srgbClr>
          </a:solidFill>
          <a:ln w="3175">
            <a:solidFill>
              <a:srgbClr val="FFFFFF"/>
            </a:solidFill>
            <a:prstDash val="solid"/>
          </a:ln>
        </p:spPr>
      </p:sp>
      <p:sp>
        <p:nvSpPr>
          <p:cNvPr id="173" name="SKU 366"/>
          <p:cNvSpPr/>
          <p:nvPr/>
        </p:nvSpPr>
        <p:spPr>
          <a:xfrm>
            <a:off x="1410257" y="2611725"/>
            <a:ext cx="77724" cy="77724"/>
          </a:xfrm>
          <a:prstGeom prst="ellipse">
            <a:avLst/>
          </a:prstGeom>
          <a:solidFill>
            <a:srgbClr val="008300">
              <a:alpha val="88000"/>
            </a:srgbClr>
          </a:solidFill>
          <a:ln w="3175">
            <a:solidFill>
              <a:srgbClr val="FFFFFF"/>
            </a:solidFill>
            <a:prstDash val="solid"/>
          </a:ln>
        </p:spPr>
      </p:sp>
      <p:sp>
        <p:nvSpPr>
          <p:cNvPr id="174" name="SKU 367"/>
          <p:cNvSpPr/>
          <p:nvPr/>
        </p:nvSpPr>
        <p:spPr>
          <a:xfrm>
            <a:off x="2335674" y="2506468"/>
            <a:ext cx="77724" cy="77724"/>
          </a:xfrm>
          <a:prstGeom prst="ellipse">
            <a:avLst/>
          </a:prstGeom>
          <a:solidFill>
            <a:srgbClr val="008300">
              <a:alpha val="88000"/>
            </a:srgbClr>
          </a:solidFill>
          <a:ln w="3175">
            <a:solidFill>
              <a:srgbClr val="FFFFFF"/>
            </a:solidFill>
            <a:prstDash val="solid"/>
          </a:ln>
        </p:spPr>
      </p:sp>
      <p:sp>
        <p:nvSpPr>
          <p:cNvPr id="175" name="SKU 368"/>
          <p:cNvSpPr/>
          <p:nvPr/>
        </p:nvSpPr>
        <p:spPr>
          <a:xfrm>
            <a:off x="1585725" y="2555744"/>
            <a:ext cx="77724" cy="77724"/>
          </a:xfrm>
          <a:prstGeom prst="ellipse">
            <a:avLst/>
          </a:prstGeom>
          <a:solidFill>
            <a:srgbClr val="008300">
              <a:alpha val="88000"/>
            </a:srgbClr>
          </a:solidFill>
          <a:ln w="3175">
            <a:solidFill>
              <a:srgbClr val="FFFFFF"/>
            </a:solidFill>
            <a:prstDash val="solid"/>
          </a:ln>
        </p:spPr>
      </p:sp>
      <p:sp>
        <p:nvSpPr>
          <p:cNvPr id="176" name="SKU 369"/>
          <p:cNvSpPr/>
          <p:nvPr/>
        </p:nvSpPr>
        <p:spPr>
          <a:xfrm>
            <a:off x="1330935" y="2538313"/>
            <a:ext cx="77724" cy="77724"/>
          </a:xfrm>
          <a:prstGeom prst="ellipse">
            <a:avLst/>
          </a:prstGeom>
          <a:solidFill>
            <a:srgbClr val="008300">
              <a:alpha val="88000"/>
            </a:srgbClr>
          </a:solidFill>
          <a:ln w="3175">
            <a:solidFill>
              <a:srgbClr val="FFFFFF"/>
            </a:solidFill>
            <a:prstDash val="solid"/>
          </a:ln>
        </p:spPr>
      </p:sp>
      <p:sp>
        <p:nvSpPr>
          <p:cNvPr id="177" name="SKU 370"/>
          <p:cNvSpPr/>
          <p:nvPr/>
        </p:nvSpPr>
        <p:spPr>
          <a:xfrm>
            <a:off x="1135436" y="2145443"/>
            <a:ext cx="77724" cy="77724"/>
          </a:xfrm>
          <a:prstGeom prst="ellipse">
            <a:avLst/>
          </a:prstGeom>
          <a:solidFill>
            <a:srgbClr val="008300">
              <a:alpha val="88000"/>
            </a:srgbClr>
          </a:solidFill>
          <a:ln w="3175">
            <a:solidFill>
              <a:srgbClr val="FFFFFF"/>
            </a:solidFill>
            <a:prstDash val="solid"/>
          </a:ln>
        </p:spPr>
      </p:sp>
      <p:sp>
        <p:nvSpPr>
          <p:cNvPr id="178" name="SKU 371"/>
          <p:cNvSpPr/>
          <p:nvPr/>
        </p:nvSpPr>
        <p:spPr>
          <a:xfrm>
            <a:off x="2057648" y="1713352"/>
            <a:ext cx="77724" cy="77724"/>
          </a:xfrm>
          <a:prstGeom prst="ellipse">
            <a:avLst/>
          </a:prstGeom>
          <a:solidFill>
            <a:srgbClr val="2A78D6">
              <a:alpha val="88000"/>
            </a:srgbClr>
          </a:solidFill>
          <a:ln w="3175">
            <a:solidFill>
              <a:srgbClr val="FFFFFF"/>
            </a:solidFill>
            <a:prstDash val="solid"/>
          </a:ln>
        </p:spPr>
      </p:sp>
      <p:sp>
        <p:nvSpPr>
          <p:cNvPr id="179" name="SKU 372"/>
          <p:cNvSpPr/>
          <p:nvPr/>
        </p:nvSpPr>
        <p:spPr>
          <a:xfrm>
            <a:off x="2286799" y="2277182"/>
            <a:ext cx="77724" cy="77724"/>
          </a:xfrm>
          <a:prstGeom prst="ellipse">
            <a:avLst/>
          </a:prstGeom>
          <a:solidFill>
            <a:srgbClr val="008300">
              <a:alpha val="88000"/>
            </a:srgbClr>
          </a:solidFill>
          <a:ln w="3175">
            <a:solidFill>
              <a:srgbClr val="FFFFFF"/>
            </a:solidFill>
            <a:prstDash val="solid"/>
          </a:ln>
        </p:spPr>
      </p:sp>
      <p:sp>
        <p:nvSpPr>
          <p:cNvPr id="180" name="SKU 373"/>
          <p:cNvSpPr/>
          <p:nvPr/>
        </p:nvSpPr>
        <p:spPr>
          <a:xfrm>
            <a:off x="4498184" y="2094155"/>
            <a:ext cx="77724" cy="77724"/>
          </a:xfrm>
          <a:prstGeom prst="ellipse">
            <a:avLst/>
          </a:prstGeom>
          <a:solidFill>
            <a:srgbClr val="EDA100">
              <a:alpha val="88000"/>
            </a:srgbClr>
          </a:solidFill>
          <a:ln w="3175">
            <a:solidFill>
              <a:srgbClr val="FFFFFF"/>
            </a:solidFill>
            <a:prstDash val="solid"/>
          </a:ln>
        </p:spPr>
      </p:sp>
      <p:sp>
        <p:nvSpPr>
          <p:cNvPr id="181" name="SKU 374"/>
          <p:cNvSpPr/>
          <p:nvPr/>
        </p:nvSpPr>
        <p:spPr>
          <a:xfrm>
            <a:off x="1741163" y="2548705"/>
            <a:ext cx="77724" cy="77724"/>
          </a:xfrm>
          <a:prstGeom prst="ellipse">
            <a:avLst/>
          </a:prstGeom>
          <a:solidFill>
            <a:srgbClr val="008300">
              <a:alpha val="88000"/>
            </a:srgbClr>
          </a:solidFill>
          <a:ln w="3175">
            <a:solidFill>
              <a:srgbClr val="FFFFFF"/>
            </a:solidFill>
            <a:prstDash val="solid"/>
          </a:ln>
        </p:spPr>
      </p:sp>
      <p:sp>
        <p:nvSpPr>
          <p:cNvPr id="182" name="SKU 375"/>
          <p:cNvSpPr/>
          <p:nvPr/>
        </p:nvSpPr>
        <p:spPr>
          <a:xfrm>
            <a:off x="2604886" y="2463560"/>
            <a:ext cx="77724" cy="77724"/>
          </a:xfrm>
          <a:prstGeom prst="ellipse">
            <a:avLst/>
          </a:prstGeom>
          <a:solidFill>
            <a:srgbClr val="008300">
              <a:alpha val="88000"/>
            </a:srgbClr>
          </a:solidFill>
          <a:ln w="3175">
            <a:solidFill>
              <a:srgbClr val="FFFFFF"/>
            </a:solidFill>
            <a:prstDash val="solid"/>
          </a:ln>
        </p:spPr>
      </p:sp>
      <p:sp>
        <p:nvSpPr>
          <p:cNvPr id="183" name="SKU 376"/>
          <p:cNvSpPr/>
          <p:nvPr/>
        </p:nvSpPr>
        <p:spPr>
          <a:xfrm>
            <a:off x="3815539" y="2561107"/>
            <a:ext cx="77724" cy="77724"/>
          </a:xfrm>
          <a:prstGeom prst="ellipse">
            <a:avLst/>
          </a:prstGeom>
          <a:solidFill>
            <a:srgbClr val="EDA100">
              <a:alpha val="88000"/>
            </a:srgbClr>
          </a:solidFill>
          <a:ln w="3175">
            <a:solidFill>
              <a:srgbClr val="FFFFFF"/>
            </a:solidFill>
            <a:prstDash val="solid"/>
          </a:ln>
        </p:spPr>
      </p:sp>
      <p:sp>
        <p:nvSpPr>
          <p:cNvPr id="184" name="SKU 377"/>
          <p:cNvSpPr/>
          <p:nvPr/>
        </p:nvSpPr>
        <p:spPr>
          <a:xfrm>
            <a:off x="2527968" y="1933923"/>
            <a:ext cx="77724" cy="77724"/>
          </a:xfrm>
          <a:prstGeom prst="ellipse">
            <a:avLst/>
          </a:prstGeom>
          <a:solidFill>
            <a:srgbClr val="2A78D6">
              <a:alpha val="88000"/>
            </a:srgbClr>
          </a:solidFill>
          <a:ln w="3175">
            <a:solidFill>
              <a:srgbClr val="FFFFFF"/>
            </a:solidFill>
            <a:prstDash val="solid"/>
          </a:ln>
        </p:spPr>
      </p:sp>
      <p:sp>
        <p:nvSpPr>
          <p:cNvPr id="185" name="SKU 378"/>
          <p:cNvSpPr/>
          <p:nvPr/>
        </p:nvSpPr>
        <p:spPr>
          <a:xfrm>
            <a:off x="2262762" y="3025378"/>
            <a:ext cx="77724" cy="77724"/>
          </a:xfrm>
          <a:prstGeom prst="ellipse">
            <a:avLst/>
          </a:prstGeom>
          <a:solidFill>
            <a:srgbClr val="E87BA4">
              <a:alpha val="88000"/>
            </a:srgbClr>
          </a:solidFill>
          <a:ln w="3175">
            <a:solidFill>
              <a:srgbClr val="FFFFFF"/>
            </a:solidFill>
            <a:prstDash val="solid"/>
          </a:ln>
        </p:spPr>
      </p:sp>
      <p:sp>
        <p:nvSpPr>
          <p:cNvPr id="186" name="SKU 379"/>
          <p:cNvSpPr/>
          <p:nvPr/>
        </p:nvSpPr>
        <p:spPr>
          <a:xfrm>
            <a:off x="3147316" y="2646252"/>
            <a:ext cx="77724" cy="77724"/>
          </a:xfrm>
          <a:prstGeom prst="ellipse">
            <a:avLst/>
          </a:prstGeom>
          <a:solidFill>
            <a:srgbClr val="EDA100">
              <a:alpha val="88000"/>
            </a:srgbClr>
          </a:solidFill>
          <a:ln w="3175">
            <a:solidFill>
              <a:srgbClr val="FFFFFF"/>
            </a:solidFill>
            <a:prstDash val="solid"/>
          </a:ln>
        </p:spPr>
      </p:sp>
      <p:sp>
        <p:nvSpPr>
          <p:cNvPr id="187" name="SKU 380"/>
          <p:cNvSpPr/>
          <p:nvPr/>
        </p:nvSpPr>
        <p:spPr>
          <a:xfrm>
            <a:off x="1724338" y="2857772"/>
            <a:ext cx="77724" cy="77724"/>
          </a:xfrm>
          <a:prstGeom prst="ellipse">
            <a:avLst/>
          </a:prstGeom>
          <a:solidFill>
            <a:srgbClr val="008300">
              <a:alpha val="88000"/>
            </a:srgbClr>
          </a:solidFill>
          <a:ln w="3175">
            <a:solidFill>
              <a:srgbClr val="FFFFFF"/>
            </a:solidFill>
            <a:prstDash val="solid"/>
          </a:ln>
        </p:spPr>
      </p:sp>
      <p:sp>
        <p:nvSpPr>
          <p:cNvPr id="188" name="SKU 381"/>
          <p:cNvSpPr/>
          <p:nvPr/>
        </p:nvSpPr>
        <p:spPr>
          <a:xfrm>
            <a:off x="1734754" y="2406909"/>
            <a:ext cx="77724" cy="77724"/>
          </a:xfrm>
          <a:prstGeom prst="ellipse">
            <a:avLst/>
          </a:prstGeom>
          <a:solidFill>
            <a:srgbClr val="008300">
              <a:alpha val="88000"/>
            </a:srgbClr>
          </a:solidFill>
          <a:ln w="3175">
            <a:solidFill>
              <a:srgbClr val="FFFFFF"/>
            </a:solidFill>
            <a:prstDash val="solid"/>
          </a:ln>
        </p:spPr>
      </p:sp>
      <p:sp>
        <p:nvSpPr>
          <p:cNvPr id="189" name="SKU 382"/>
          <p:cNvSpPr/>
          <p:nvPr/>
        </p:nvSpPr>
        <p:spPr>
          <a:xfrm>
            <a:off x="1335743" y="1690222"/>
            <a:ext cx="77724" cy="77724"/>
          </a:xfrm>
          <a:prstGeom prst="ellipse">
            <a:avLst/>
          </a:prstGeom>
          <a:solidFill>
            <a:srgbClr val="2A78D6">
              <a:alpha val="88000"/>
            </a:srgbClr>
          </a:solidFill>
          <a:ln w="3175">
            <a:solidFill>
              <a:srgbClr val="FFFFFF"/>
            </a:solidFill>
            <a:prstDash val="solid"/>
          </a:ln>
        </p:spPr>
      </p:sp>
      <p:sp>
        <p:nvSpPr>
          <p:cNvPr id="190" name="SKU 383"/>
          <p:cNvSpPr/>
          <p:nvPr/>
        </p:nvSpPr>
        <p:spPr>
          <a:xfrm>
            <a:off x="1082555" y="2862465"/>
            <a:ext cx="77724" cy="77724"/>
          </a:xfrm>
          <a:prstGeom prst="ellipse">
            <a:avLst/>
          </a:prstGeom>
          <a:solidFill>
            <a:srgbClr val="008300">
              <a:alpha val="88000"/>
            </a:srgbClr>
          </a:solidFill>
          <a:ln w="3175">
            <a:solidFill>
              <a:srgbClr val="FFFFFF"/>
            </a:solidFill>
            <a:prstDash val="solid"/>
          </a:ln>
        </p:spPr>
      </p:sp>
      <p:sp>
        <p:nvSpPr>
          <p:cNvPr id="191" name="SKU 384"/>
          <p:cNvSpPr/>
          <p:nvPr/>
        </p:nvSpPr>
        <p:spPr>
          <a:xfrm>
            <a:off x="1470349" y="2432050"/>
            <a:ext cx="77724" cy="77724"/>
          </a:xfrm>
          <a:prstGeom prst="ellipse">
            <a:avLst/>
          </a:prstGeom>
          <a:solidFill>
            <a:srgbClr val="008300">
              <a:alpha val="88000"/>
            </a:srgbClr>
          </a:solidFill>
          <a:ln w="3175">
            <a:solidFill>
              <a:srgbClr val="FFFFFF"/>
            </a:solidFill>
            <a:prstDash val="solid"/>
          </a:ln>
        </p:spPr>
      </p:sp>
      <p:sp>
        <p:nvSpPr>
          <p:cNvPr id="192" name="SKU 385"/>
          <p:cNvSpPr/>
          <p:nvPr/>
        </p:nvSpPr>
        <p:spPr>
          <a:xfrm>
            <a:off x="1626588" y="2720334"/>
            <a:ext cx="77724" cy="77724"/>
          </a:xfrm>
          <a:prstGeom prst="ellipse">
            <a:avLst/>
          </a:prstGeom>
          <a:solidFill>
            <a:srgbClr val="008300">
              <a:alpha val="88000"/>
            </a:srgbClr>
          </a:solidFill>
          <a:ln w="3175">
            <a:solidFill>
              <a:srgbClr val="FFFFFF"/>
            </a:solidFill>
            <a:prstDash val="solid"/>
          </a:ln>
        </p:spPr>
      </p:sp>
      <p:sp>
        <p:nvSpPr>
          <p:cNvPr id="193" name="SKU 386"/>
          <p:cNvSpPr/>
          <p:nvPr/>
        </p:nvSpPr>
        <p:spPr>
          <a:xfrm>
            <a:off x="1181907" y="2697204"/>
            <a:ext cx="77724" cy="77724"/>
          </a:xfrm>
          <a:prstGeom prst="ellipse">
            <a:avLst/>
          </a:prstGeom>
          <a:solidFill>
            <a:srgbClr val="008300">
              <a:alpha val="88000"/>
            </a:srgbClr>
          </a:solidFill>
          <a:ln w="3175">
            <a:solidFill>
              <a:srgbClr val="FFFFFF"/>
            </a:solidFill>
            <a:prstDash val="solid"/>
          </a:ln>
        </p:spPr>
      </p:sp>
      <p:sp>
        <p:nvSpPr>
          <p:cNvPr id="194" name="SKU 387"/>
          <p:cNvSpPr/>
          <p:nvPr/>
        </p:nvSpPr>
        <p:spPr>
          <a:xfrm>
            <a:off x="1577713" y="2481662"/>
            <a:ext cx="77724" cy="77724"/>
          </a:xfrm>
          <a:prstGeom prst="ellipse">
            <a:avLst/>
          </a:prstGeom>
          <a:solidFill>
            <a:srgbClr val="008300">
              <a:alpha val="88000"/>
            </a:srgbClr>
          </a:solidFill>
          <a:ln w="3175">
            <a:solidFill>
              <a:srgbClr val="FFFFFF"/>
            </a:solidFill>
            <a:prstDash val="solid"/>
          </a:ln>
        </p:spPr>
      </p:sp>
      <p:sp>
        <p:nvSpPr>
          <p:cNvPr id="195" name="SKU 388"/>
          <p:cNvSpPr/>
          <p:nvPr/>
        </p:nvSpPr>
        <p:spPr>
          <a:xfrm>
            <a:off x="3936525" y="2914758"/>
            <a:ext cx="77724" cy="77724"/>
          </a:xfrm>
          <a:prstGeom prst="ellipse">
            <a:avLst/>
          </a:prstGeom>
          <a:solidFill>
            <a:srgbClr val="EDA100">
              <a:alpha val="88000"/>
            </a:srgbClr>
          </a:solidFill>
          <a:ln w="3175">
            <a:solidFill>
              <a:srgbClr val="FFFFFF"/>
            </a:solidFill>
            <a:prstDash val="solid"/>
          </a:ln>
        </p:spPr>
      </p:sp>
      <p:sp>
        <p:nvSpPr>
          <p:cNvPr id="196" name="SKU 389"/>
          <p:cNvSpPr/>
          <p:nvPr/>
        </p:nvSpPr>
        <p:spPr>
          <a:xfrm>
            <a:off x="1577713" y="2366348"/>
            <a:ext cx="77724" cy="77724"/>
          </a:xfrm>
          <a:prstGeom prst="ellipse">
            <a:avLst/>
          </a:prstGeom>
          <a:solidFill>
            <a:srgbClr val="008300">
              <a:alpha val="88000"/>
            </a:srgbClr>
          </a:solidFill>
          <a:ln w="3175">
            <a:solidFill>
              <a:srgbClr val="FFFFFF"/>
            </a:solidFill>
            <a:prstDash val="solid"/>
          </a:ln>
        </p:spPr>
      </p:sp>
      <p:sp>
        <p:nvSpPr>
          <p:cNvPr id="197" name="SKU 390"/>
          <p:cNvSpPr/>
          <p:nvPr/>
        </p:nvSpPr>
        <p:spPr>
          <a:xfrm>
            <a:off x="698767" y="2003647"/>
            <a:ext cx="77724" cy="77724"/>
          </a:xfrm>
          <a:prstGeom prst="ellipse">
            <a:avLst/>
          </a:prstGeom>
          <a:solidFill>
            <a:srgbClr val="2A78D6">
              <a:alpha val="88000"/>
            </a:srgbClr>
          </a:solidFill>
          <a:ln w="3175">
            <a:solidFill>
              <a:srgbClr val="FFFFFF"/>
            </a:solidFill>
            <a:prstDash val="solid"/>
          </a:ln>
        </p:spPr>
      </p:sp>
      <p:sp>
        <p:nvSpPr>
          <p:cNvPr id="198" name="SKU 391"/>
          <p:cNvSpPr/>
          <p:nvPr/>
        </p:nvSpPr>
        <p:spPr>
          <a:xfrm>
            <a:off x="4656827" y="2575857"/>
            <a:ext cx="77724" cy="77724"/>
          </a:xfrm>
          <a:prstGeom prst="ellipse">
            <a:avLst/>
          </a:prstGeom>
          <a:solidFill>
            <a:srgbClr val="EDA100">
              <a:alpha val="88000"/>
            </a:srgbClr>
          </a:solidFill>
          <a:ln w="3175">
            <a:solidFill>
              <a:srgbClr val="FFFFFF"/>
            </a:solidFill>
            <a:prstDash val="solid"/>
          </a:ln>
        </p:spPr>
      </p:sp>
      <p:sp>
        <p:nvSpPr>
          <p:cNvPr id="199" name="SKU 392"/>
          <p:cNvSpPr/>
          <p:nvPr/>
        </p:nvSpPr>
        <p:spPr>
          <a:xfrm>
            <a:off x="3679331" y="2803467"/>
            <a:ext cx="77724" cy="77724"/>
          </a:xfrm>
          <a:prstGeom prst="ellipse">
            <a:avLst/>
          </a:prstGeom>
          <a:solidFill>
            <a:srgbClr val="EDA100">
              <a:alpha val="88000"/>
            </a:srgbClr>
          </a:solidFill>
          <a:ln w="3175">
            <a:solidFill>
              <a:srgbClr val="FFFFFF"/>
            </a:solidFill>
            <a:prstDash val="solid"/>
          </a:ln>
        </p:spPr>
      </p:sp>
      <p:sp>
        <p:nvSpPr>
          <p:cNvPr id="200" name="SKU 393"/>
          <p:cNvSpPr/>
          <p:nvPr/>
        </p:nvSpPr>
        <p:spPr>
          <a:xfrm>
            <a:off x="4352361" y="2235280"/>
            <a:ext cx="77724" cy="77724"/>
          </a:xfrm>
          <a:prstGeom prst="ellipse">
            <a:avLst/>
          </a:prstGeom>
          <a:solidFill>
            <a:srgbClr val="EDA100">
              <a:alpha val="88000"/>
            </a:srgbClr>
          </a:solidFill>
          <a:ln w="3175">
            <a:solidFill>
              <a:srgbClr val="FFFFFF"/>
            </a:solidFill>
            <a:prstDash val="solid"/>
          </a:ln>
        </p:spPr>
      </p:sp>
      <p:sp>
        <p:nvSpPr>
          <p:cNvPr id="201" name="SKU 394"/>
          <p:cNvSpPr/>
          <p:nvPr/>
        </p:nvSpPr>
        <p:spPr>
          <a:xfrm>
            <a:off x="1064928" y="2490377"/>
            <a:ext cx="77724" cy="77724"/>
          </a:xfrm>
          <a:prstGeom prst="ellipse">
            <a:avLst/>
          </a:prstGeom>
          <a:solidFill>
            <a:srgbClr val="008300">
              <a:alpha val="88000"/>
            </a:srgbClr>
          </a:solidFill>
          <a:ln w="3175">
            <a:solidFill>
              <a:srgbClr val="FFFFFF"/>
            </a:solidFill>
            <a:prstDash val="solid"/>
          </a:ln>
        </p:spPr>
      </p:sp>
      <p:sp>
        <p:nvSpPr>
          <p:cNvPr id="202" name="SKU 395"/>
          <p:cNvSpPr/>
          <p:nvPr/>
        </p:nvSpPr>
        <p:spPr>
          <a:xfrm>
            <a:off x="4016647" y="2788047"/>
            <a:ext cx="77724" cy="77724"/>
          </a:xfrm>
          <a:prstGeom prst="ellipse">
            <a:avLst/>
          </a:prstGeom>
          <a:solidFill>
            <a:srgbClr val="EDA100">
              <a:alpha val="88000"/>
            </a:srgbClr>
          </a:solidFill>
          <a:ln w="3175">
            <a:solidFill>
              <a:srgbClr val="FFFFFF"/>
            </a:solidFill>
            <a:prstDash val="solid"/>
          </a:ln>
        </p:spPr>
      </p:sp>
      <p:sp>
        <p:nvSpPr>
          <p:cNvPr id="203" name="SKU 396"/>
          <p:cNvSpPr/>
          <p:nvPr/>
        </p:nvSpPr>
        <p:spPr>
          <a:xfrm>
            <a:off x="3676927" y="2679773"/>
            <a:ext cx="77724" cy="77724"/>
          </a:xfrm>
          <a:prstGeom prst="ellipse">
            <a:avLst/>
          </a:prstGeom>
          <a:solidFill>
            <a:srgbClr val="EDA100">
              <a:alpha val="88000"/>
            </a:srgbClr>
          </a:solidFill>
          <a:ln w="3175">
            <a:solidFill>
              <a:srgbClr val="FFFFFF"/>
            </a:solidFill>
            <a:prstDash val="solid"/>
          </a:ln>
        </p:spPr>
      </p:sp>
      <p:sp>
        <p:nvSpPr>
          <p:cNvPr id="204" name="SKU 397"/>
          <p:cNvSpPr/>
          <p:nvPr/>
        </p:nvSpPr>
        <p:spPr>
          <a:xfrm>
            <a:off x="1536049" y="2191702"/>
            <a:ext cx="77724" cy="77724"/>
          </a:xfrm>
          <a:prstGeom prst="ellipse">
            <a:avLst/>
          </a:prstGeom>
          <a:solidFill>
            <a:srgbClr val="008300">
              <a:alpha val="88000"/>
            </a:srgbClr>
          </a:solidFill>
          <a:ln w="3175">
            <a:solidFill>
              <a:srgbClr val="FFFFFF"/>
            </a:solidFill>
            <a:prstDash val="solid"/>
          </a:ln>
        </p:spPr>
      </p:sp>
      <p:sp>
        <p:nvSpPr>
          <p:cNvPr id="205" name="SKU 398"/>
          <p:cNvSpPr/>
          <p:nvPr/>
        </p:nvSpPr>
        <p:spPr>
          <a:xfrm>
            <a:off x="1685077" y="2315731"/>
            <a:ext cx="77724" cy="77724"/>
          </a:xfrm>
          <a:prstGeom prst="ellipse">
            <a:avLst/>
          </a:prstGeom>
          <a:solidFill>
            <a:srgbClr val="008300">
              <a:alpha val="88000"/>
            </a:srgbClr>
          </a:solidFill>
          <a:ln w="3175">
            <a:solidFill>
              <a:srgbClr val="FFFFFF"/>
            </a:solidFill>
            <a:prstDash val="solid"/>
          </a:ln>
        </p:spPr>
      </p:sp>
      <p:sp>
        <p:nvSpPr>
          <p:cNvPr id="206" name="SKU 399"/>
          <p:cNvSpPr/>
          <p:nvPr/>
        </p:nvSpPr>
        <p:spPr>
          <a:xfrm>
            <a:off x="1184311" y="2413278"/>
            <a:ext cx="77724" cy="77724"/>
          </a:xfrm>
          <a:prstGeom prst="ellipse">
            <a:avLst/>
          </a:prstGeom>
          <a:solidFill>
            <a:srgbClr val="008300">
              <a:alpha val="88000"/>
            </a:srgbClr>
          </a:solidFill>
          <a:ln w="3175">
            <a:solidFill>
              <a:srgbClr val="FFFFFF"/>
            </a:solidFill>
            <a:prstDash val="solid"/>
          </a:ln>
        </p:spPr>
      </p:sp>
      <p:sp>
        <p:nvSpPr>
          <p:cNvPr id="207" name="SKU 400"/>
          <p:cNvSpPr/>
          <p:nvPr/>
        </p:nvSpPr>
        <p:spPr>
          <a:xfrm>
            <a:off x="771679" y="2393501"/>
            <a:ext cx="77724" cy="77724"/>
          </a:xfrm>
          <a:prstGeom prst="ellipse">
            <a:avLst/>
          </a:prstGeom>
          <a:solidFill>
            <a:srgbClr val="008300">
              <a:alpha val="88000"/>
            </a:srgbClr>
          </a:solidFill>
          <a:ln w="3175">
            <a:solidFill>
              <a:srgbClr val="FFFFFF"/>
            </a:solidFill>
            <a:prstDash val="solid"/>
          </a:ln>
        </p:spPr>
      </p:sp>
      <p:sp>
        <p:nvSpPr>
          <p:cNvPr id="208" name="SKU 401"/>
          <p:cNvSpPr/>
          <p:nvPr/>
        </p:nvSpPr>
        <p:spPr>
          <a:xfrm>
            <a:off x="811740" y="2707261"/>
            <a:ext cx="77724" cy="77724"/>
          </a:xfrm>
          <a:prstGeom prst="ellipse">
            <a:avLst/>
          </a:prstGeom>
          <a:solidFill>
            <a:srgbClr val="008300">
              <a:alpha val="88000"/>
            </a:srgbClr>
          </a:solidFill>
          <a:ln w="3175">
            <a:solidFill>
              <a:srgbClr val="FFFFFF"/>
            </a:solidFill>
            <a:prstDash val="solid"/>
          </a:ln>
        </p:spPr>
      </p:sp>
      <p:sp>
        <p:nvSpPr>
          <p:cNvPr id="209" name="SKU 402"/>
          <p:cNvSpPr/>
          <p:nvPr/>
        </p:nvSpPr>
        <p:spPr>
          <a:xfrm>
            <a:off x="1415064" y="2148459"/>
            <a:ext cx="77724" cy="77724"/>
          </a:xfrm>
          <a:prstGeom prst="ellipse">
            <a:avLst/>
          </a:prstGeom>
          <a:solidFill>
            <a:srgbClr val="008300">
              <a:alpha val="88000"/>
            </a:srgbClr>
          </a:solidFill>
          <a:ln w="3175">
            <a:solidFill>
              <a:srgbClr val="FFFFFF"/>
            </a:solidFill>
            <a:prstDash val="solid"/>
          </a:ln>
        </p:spPr>
      </p:sp>
      <p:sp>
        <p:nvSpPr>
          <p:cNvPr id="210" name="SKU 403"/>
          <p:cNvSpPr/>
          <p:nvPr/>
        </p:nvSpPr>
        <p:spPr>
          <a:xfrm>
            <a:off x="3379672" y="2311038"/>
            <a:ext cx="77724" cy="77724"/>
          </a:xfrm>
          <a:prstGeom prst="ellipse">
            <a:avLst/>
          </a:prstGeom>
          <a:solidFill>
            <a:srgbClr val="EDA100">
              <a:alpha val="88000"/>
            </a:srgbClr>
          </a:solidFill>
          <a:ln w="3175">
            <a:solidFill>
              <a:srgbClr val="FFFFFF"/>
            </a:solidFill>
            <a:prstDash val="solid"/>
          </a:ln>
        </p:spPr>
      </p:sp>
      <p:sp>
        <p:nvSpPr>
          <p:cNvPr id="211" name="SKU 404"/>
          <p:cNvSpPr/>
          <p:nvPr/>
        </p:nvSpPr>
        <p:spPr>
          <a:xfrm>
            <a:off x="1625787" y="2692511"/>
            <a:ext cx="77724" cy="77724"/>
          </a:xfrm>
          <a:prstGeom prst="ellipse">
            <a:avLst/>
          </a:prstGeom>
          <a:solidFill>
            <a:srgbClr val="008300">
              <a:alpha val="88000"/>
            </a:srgbClr>
          </a:solidFill>
          <a:ln w="3175">
            <a:solidFill>
              <a:srgbClr val="FFFFFF"/>
            </a:solidFill>
            <a:prstDash val="solid"/>
          </a:ln>
        </p:spPr>
      </p:sp>
      <p:sp>
        <p:nvSpPr>
          <p:cNvPr id="212" name="SKU 405"/>
          <p:cNvSpPr/>
          <p:nvPr/>
        </p:nvSpPr>
        <p:spPr>
          <a:xfrm>
            <a:off x="2355704" y="2286232"/>
            <a:ext cx="77724" cy="77724"/>
          </a:xfrm>
          <a:prstGeom prst="ellipse">
            <a:avLst/>
          </a:prstGeom>
          <a:solidFill>
            <a:srgbClr val="2A78D6">
              <a:alpha val="88000"/>
            </a:srgbClr>
          </a:solidFill>
          <a:ln w="3175">
            <a:solidFill>
              <a:srgbClr val="FFFFFF"/>
            </a:solidFill>
            <a:prstDash val="solid"/>
          </a:ln>
        </p:spPr>
      </p:sp>
      <p:sp>
        <p:nvSpPr>
          <p:cNvPr id="213" name="SKU 406"/>
          <p:cNvSpPr/>
          <p:nvPr/>
        </p:nvSpPr>
        <p:spPr>
          <a:xfrm>
            <a:off x="2472683" y="2639212"/>
            <a:ext cx="77724" cy="77724"/>
          </a:xfrm>
          <a:prstGeom prst="ellipse">
            <a:avLst/>
          </a:prstGeom>
          <a:solidFill>
            <a:srgbClr val="008300">
              <a:alpha val="88000"/>
            </a:srgbClr>
          </a:solidFill>
          <a:ln w="3175">
            <a:solidFill>
              <a:srgbClr val="FFFFFF"/>
            </a:solidFill>
            <a:prstDash val="solid"/>
          </a:ln>
        </p:spPr>
      </p:sp>
      <p:sp>
        <p:nvSpPr>
          <p:cNvPr id="214" name="SKU 407"/>
          <p:cNvSpPr/>
          <p:nvPr/>
        </p:nvSpPr>
        <p:spPr>
          <a:xfrm>
            <a:off x="1553676" y="2518200"/>
            <a:ext cx="77724" cy="77724"/>
          </a:xfrm>
          <a:prstGeom prst="ellipse">
            <a:avLst/>
          </a:prstGeom>
          <a:solidFill>
            <a:srgbClr val="008300">
              <a:alpha val="88000"/>
            </a:srgbClr>
          </a:solidFill>
          <a:ln w="3175">
            <a:solidFill>
              <a:srgbClr val="FFFFFF"/>
            </a:solidFill>
            <a:prstDash val="solid"/>
          </a:ln>
        </p:spPr>
      </p:sp>
      <p:sp>
        <p:nvSpPr>
          <p:cNvPr id="215" name="SKU 408"/>
          <p:cNvSpPr/>
          <p:nvPr/>
        </p:nvSpPr>
        <p:spPr>
          <a:xfrm>
            <a:off x="2859676" y="2315396"/>
            <a:ext cx="77724" cy="77724"/>
          </a:xfrm>
          <a:prstGeom prst="ellipse">
            <a:avLst/>
          </a:prstGeom>
          <a:solidFill>
            <a:srgbClr val="EDA100">
              <a:alpha val="88000"/>
            </a:srgbClr>
          </a:solidFill>
          <a:ln w="3175">
            <a:solidFill>
              <a:srgbClr val="FFFFFF"/>
            </a:solidFill>
            <a:prstDash val="solid"/>
          </a:ln>
        </p:spPr>
      </p:sp>
      <p:sp>
        <p:nvSpPr>
          <p:cNvPr id="216" name="SKU 409"/>
          <p:cNvSpPr/>
          <p:nvPr/>
        </p:nvSpPr>
        <p:spPr>
          <a:xfrm>
            <a:off x="1581719" y="3117227"/>
            <a:ext cx="77724" cy="77724"/>
          </a:xfrm>
          <a:prstGeom prst="ellipse">
            <a:avLst/>
          </a:prstGeom>
          <a:solidFill>
            <a:srgbClr val="E87BA4">
              <a:alpha val="88000"/>
            </a:srgbClr>
          </a:solidFill>
          <a:ln w="3175">
            <a:solidFill>
              <a:srgbClr val="FFFFFF"/>
            </a:solidFill>
            <a:prstDash val="solid"/>
          </a:ln>
        </p:spPr>
      </p:sp>
      <p:sp>
        <p:nvSpPr>
          <p:cNvPr id="217" name="SKU 410"/>
          <p:cNvSpPr/>
          <p:nvPr/>
        </p:nvSpPr>
        <p:spPr>
          <a:xfrm>
            <a:off x="2125752" y="1674132"/>
            <a:ext cx="77724" cy="77724"/>
          </a:xfrm>
          <a:prstGeom prst="ellipse">
            <a:avLst/>
          </a:prstGeom>
          <a:solidFill>
            <a:srgbClr val="2A78D6">
              <a:alpha val="88000"/>
            </a:srgbClr>
          </a:solidFill>
          <a:ln w="3175">
            <a:solidFill>
              <a:srgbClr val="FFFFFF"/>
            </a:solidFill>
            <a:prstDash val="solid"/>
          </a:ln>
        </p:spPr>
      </p:sp>
      <p:sp>
        <p:nvSpPr>
          <p:cNvPr id="218" name="SKU 411"/>
          <p:cNvSpPr/>
          <p:nvPr/>
        </p:nvSpPr>
        <p:spPr>
          <a:xfrm>
            <a:off x="2074474" y="2454174"/>
            <a:ext cx="77724" cy="77724"/>
          </a:xfrm>
          <a:prstGeom prst="ellipse">
            <a:avLst/>
          </a:prstGeom>
          <a:solidFill>
            <a:srgbClr val="008300">
              <a:alpha val="88000"/>
            </a:srgbClr>
          </a:solidFill>
          <a:ln w="3175">
            <a:solidFill>
              <a:srgbClr val="FFFFFF"/>
            </a:solidFill>
            <a:prstDash val="solid"/>
          </a:ln>
        </p:spPr>
      </p:sp>
      <p:sp>
        <p:nvSpPr>
          <p:cNvPr id="219" name="SKU 412"/>
          <p:cNvSpPr/>
          <p:nvPr/>
        </p:nvSpPr>
        <p:spPr>
          <a:xfrm>
            <a:off x="896670" y="2500434"/>
            <a:ext cx="77724" cy="77724"/>
          </a:xfrm>
          <a:prstGeom prst="ellipse">
            <a:avLst/>
          </a:prstGeom>
          <a:solidFill>
            <a:srgbClr val="008300">
              <a:alpha val="88000"/>
            </a:srgbClr>
          </a:solidFill>
          <a:ln w="3175">
            <a:solidFill>
              <a:srgbClr val="FFFFFF"/>
            </a:solidFill>
            <a:prstDash val="solid"/>
          </a:ln>
        </p:spPr>
      </p:sp>
      <p:sp>
        <p:nvSpPr>
          <p:cNvPr id="220" name="SKU 413"/>
          <p:cNvSpPr/>
          <p:nvPr/>
        </p:nvSpPr>
        <p:spPr>
          <a:xfrm>
            <a:off x="3461397" y="1942638"/>
            <a:ext cx="77724" cy="77724"/>
          </a:xfrm>
          <a:prstGeom prst="ellipse">
            <a:avLst/>
          </a:prstGeom>
          <a:solidFill>
            <a:srgbClr val="EDA100">
              <a:alpha val="88000"/>
            </a:srgbClr>
          </a:solidFill>
          <a:ln w="3175">
            <a:solidFill>
              <a:srgbClr val="FFFFFF"/>
            </a:solidFill>
            <a:prstDash val="solid"/>
          </a:ln>
        </p:spPr>
      </p:sp>
      <p:sp>
        <p:nvSpPr>
          <p:cNvPr id="221" name="SKU 414"/>
          <p:cNvSpPr/>
          <p:nvPr/>
        </p:nvSpPr>
        <p:spPr>
          <a:xfrm>
            <a:off x="2729076" y="1962751"/>
            <a:ext cx="77724" cy="77724"/>
          </a:xfrm>
          <a:prstGeom prst="ellipse">
            <a:avLst/>
          </a:prstGeom>
          <a:solidFill>
            <a:srgbClr val="2A78D6">
              <a:alpha val="88000"/>
            </a:srgbClr>
          </a:solidFill>
          <a:ln w="3175">
            <a:solidFill>
              <a:srgbClr val="FFFFFF"/>
            </a:solidFill>
            <a:prstDash val="solid"/>
          </a:ln>
        </p:spPr>
      </p:sp>
      <p:sp>
        <p:nvSpPr>
          <p:cNvPr id="222" name="SKU 415"/>
          <p:cNvSpPr/>
          <p:nvPr/>
        </p:nvSpPr>
        <p:spPr>
          <a:xfrm>
            <a:off x="794113" y="2514513"/>
            <a:ext cx="77724" cy="77724"/>
          </a:xfrm>
          <a:prstGeom prst="ellipse">
            <a:avLst/>
          </a:prstGeom>
          <a:solidFill>
            <a:srgbClr val="008300">
              <a:alpha val="88000"/>
            </a:srgbClr>
          </a:solidFill>
          <a:ln w="3175">
            <a:solidFill>
              <a:srgbClr val="FFFFFF"/>
            </a:solidFill>
            <a:prstDash val="solid"/>
          </a:ln>
        </p:spPr>
      </p:sp>
      <p:sp>
        <p:nvSpPr>
          <p:cNvPr id="223" name="SKU 416"/>
          <p:cNvSpPr/>
          <p:nvPr/>
        </p:nvSpPr>
        <p:spPr>
          <a:xfrm>
            <a:off x="2765131" y="2072031"/>
            <a:ext cx="77724" cy="77724"/>
          </a:xfrm>
          <a:prstGeom prst="ellipse">
            <a:avLst/>
          </a:prstGeom>
          <a:solidFill>
            <a:srgbClr val="2A78D6">
              <a:alpha val="88000"/>
            </a:srgbClr>
          </a:solidFill>
          <a:ln w="3175">
            <a:solidFill>
              <a:srgbClr val="FFFFFF"/>
            </a:solidFill>
            <a:prstDash val="solid"/>
          </a:ln>
        </p:spPr>
      </p:sp>
      <p:sp>
        <p:nvSpPr>
          <p:cNvPr id="224" name="SKU 417"/>
          <p:cNvSpPr/>
          <p:nvPr/>
        </p:nvSpPr>
        <p:spPr>
          <a:xfrm>
            <a:off x="1455125" y="2700892"/>
            <a:ext cx="77724" cy="77724"/>
          </a:xfrm>
          <a:prstGeom prst="ellipse">
            <a:avLst/>
          </a:prstGeom>
          <a:solidFill>
            <a:srgbClr val="008300">
              <a:alpha val="88000"/>
            </a:srgbClr>
          </a:solidFill>
          <a:ln w="3175">
            <a:solidFill>
              <a:srgbClr val="FFFFFF"/>
            </a:solidFill>
            <a:prstDash val="solid"/>
          </a:ln>
        </p:spPr>
      </p:sp>
      <p:sp>
        <p:nvSpPr>
          <p:cNvPr id="225" name="SKU 418"/>
          <p:cNvSpPr/>
          <p:nvPr/>
        </p:nvSpPr>
        <p:spPr>
          <a:xfrm>
            <a:off x="1532844" y="1812911"/>
            <a:ext cx="77724" cy="77724"/>
          </a:xfrm>
          <a:prstGeom prst="ellipse">
            <a:avLst/>
          </a:prstGeom>
          <a:solidFill>
            <a:srgbClr val="2A78D6">
              <a:alpha val="88000"/>
            </a:srgbClr>
          </a:solidFill>
          <a:ln w="3175">
            <a:solidFill>
              <a:srgbClr val="FFFFFF"/>
            </a:solidFill>
            <a:prstDash val="solid"/>
          </a:ln>
        </p:spPr>
      </p:sp>
      <p:sp>
        <p:nvSpPr>
          <p:cNvPr id="226" name="SKU 419"/>
          <p:cNvSpPr/>
          <p:nvPr/>
        </p:nvSpPr>
        <p:spPr>
          <a:xfrm>
            <a:off x="1358177" y="2495406"/>
            <a:ext cx="77724" cy="77724"/>
          </a:xfrm>
          <a:prstGeom prst="ellipse">
            <a:avLst/>
          </a:prstGeom>
          <a:solidFill>
            <a:srgbClr val="008300">
              <a:alpha val="88000"/>
            </a:srgbClr>
          </a:solidFill>
          <a:ln w="3175">
            <a:solidFill>
              <a:srgbClr val="FFFFFF"/>
            </a:solidFill>
            <a:prstDash val="solid"/>
          </a:ln>
        </p:spPr>
      </p:sp>
      <p:sp>
        <p:nvSpPr>
          <p:cNvPr id="227" name="SKU 420"/>
          <p:cNvSpPr/>
          <p:nvPr/>
        </p:nvSpPr>
        <p:spPr>
          <a:xfrm>
            <a:off x="1287669" y="2501104"/>
            <a:ext cx="77724" cy="77724"/>
          </a:xfrm>
          <a:prstGeom prst="ellipse">
            <a:avLst/>
          </a:prstGeom>
          <a:solidFill>
            <a:srgbClr val="008300">
              <a:alpha val="88000"/>
            </a:srgbClr>
          </a:solidFill>
          <a:ln w="3175">
            <a:solidFill>
              <a:srgbClr val="FFFFFF"/>
            </a:solidFill>
            <a:prstDash val="solid"/>
          </a:ln>
        </p:spPr>
      </p:sp>
      <p:sp>
        <p:nvSpPr>
          <p:cNvPr id="228" name="SKU 421"/>
          <p:cNvSpPr/>
          <p:nvPr/>
        </p:nvSpPr>
        <p:spPr>
          <a:xfrm>
            <a:off x="1298085" y="2029459"/>
            <a:ext cx="77724" cy="77724"/>
          </a:xfrm>
          <a:prstGeom prst="ellipse">
            <a:avLst/>
          </a:prstGeom>
          <a:solidFill>
            <a:srgbClr val="2A78D6">
              <a:alpha val="88000"/>
            </a:srgbClr>
          </a:solidFill>
          <a:ln w="3175">
            <a:solidFill>
              <a:srgbClr val="FFFFFF"/>
            </a:solidFill>
            <a:prstDash val="solid"/>
          </a:ln>
        </p:spPr>
      </p:sp>
      <p:sp>
        <p:nvSpPr>
          <p:cNvPr id="229" name="SKU 422"/>
          <p:cNvSpPr/>
          <p:nvPr/>
        </p:nvSpPr>
        <p:spPr>
          <a:xfrm>
            <a:off x="1117008" y="2106893"/>
            <a:ext cx="77724" cy="77724"/>
          </a:xfrm>
          <a:prstGeom prst="ellipse">
            <a:avLst/>
          </a:prstGeom>
          <a:solidFill>
            <a:srgbClr val="2A78D6">
              <a:alpha val="88000"/>
            </a:srgbClr>
          </a:solidFill>
          <a:ln w="3175">
            <a:solidFill>
              <a:srgbClr val="FFFFFF"/>
            </a:solidFill>
            <a:prstDash val="solid"/>
          </a:ln>
        </p:spPr>
      </p:sp>
      <p:sp>
        <p:nvSpPr>
          <p:cNvPr id="230" name="SKU 423"/>
          <p:cNvSpPr/>
          <p:nvPr/>
        </p:nvSpPr>
        <p:spPr>
          <a:xfrm>
            <a:off x="1324525" y="2642900"/>
            <a:ext cx="77724" cy="77724"/>
          </a:xfrm>
          <a:prstGeom prst="ellipse">
            <a:avLst/>
          </a:prstGeom>
          <a:solidFill>
            <a:srgbClr val="008300">
              <a:alpha val="88000"/>
            </a:srgbClr>
          </a:solidFill>
          <a:ln w="3175">
            <a:solidFill>
              <a:srgbClr val="FFFFFF"/>
            </a:solidFill>
            <a:prstDash val="solid"/>
          </a:ln>
        </p:spPr>
      </p:sp>
      <p:sp>
        <p:nvSpPr>
          <p:cNvPr id="231" name="SKU 424"/>
          <p:cNvSpPr/>
          <p:nvPr/>
        </p:nvSpPr>
        <p:spPr>
          <a:xfrm>
            <a:off x="3866017" y="2316737"/>
            <a:ext cx="77724" cy="77724"/>
          </a:xfrm>
          <a:prstGeom prst="ellipse">
            <a:avLst/>
          </a:prstGeom>
          <a:solidFill>
            <a:srgbClr val="EDA100">
              <a:alpha val="88000"/>
            </a:srgbClr>
          </a:solidFill>
          <a:ln w="3175">
            <a:solidFill>
              <a:srgbClr val="FFFFFF"/>
            </a:solidFill>
            <a:prstDash val="solid"/>
          </a:ln>
        </p:spPr>
      </p:sp>
      <p:sp>
        <p:nvSpPr>
          <p:cNvPr id="232" name="SKU 425"/>
          <p:cNvSpPr/>
          <p:nvPr/>
        </p:nvSpPr>
        <p:spPr>
          <a:xfrm>
            <a:off x="3105652" y="2997220"/>
            <a:ext cx="77724" cy="77724"/>
          </a:xfrm>
          <a:prstGeom prst="ellipse">
            <a:avLst/>
          </a:prstGeom>
          <a:solidFill>
            <a:srgbClr val="E87BA4">
              <a:alpha val="88000"/>
            </a:srgbClr>
          </a:solidFill>
          <a:ln w="3175">
            <a:solidFill>
              <a:srgbClr val="FFFFFF"/>
            </a:solidFill>
            <a:prstDash val="solid"/>
          </a:ln>
        </p:spPr>
      </p:sp>
      <p:sp>
        <p:nvSpPr>
          <p:cNvPr id="233" name="SKU 426"/>
          <p:cNvSpPr/>
          <p:nvPr/>
        </p:nvSpPr>
        <p:spPr>
          <a:xfrm>
            <a:off x="3889252" y="2642900"/>
            <a:ext cx="77724" cy="77724"/>
          </a:xfrm>
          <a:prstGeom prst="ellipse">
            <a:avLst/>
          </a:prstGeom>
          <a:solidFill>
            <a:srgbClr val="EDA100">
              <a:alpha val="88000"/>
            </a:srgbClr>
          </a:solidFill>
          <a:ln w="3175">
            <a:solidFill>
              <a:srgbClr val="FFFFFF"/>
            </a:solidFill>
            <a:prstDash val="solid"/>
          </a:ln>
        </p:spPr>
      </p:sp>
      <p:sp>
        <p:nvSpPr>
          <p:cNvPr id="234" name="SKU 427"/>
          <p:cNvSpPr/>
          <p:nvPr/>
        </p:nvSpPr>
        <p:spPr>
          <a:xfrm>
            <a:off x="1638606" y="2550381"/>
            <a:ext cx="77724" cy="77724"/>
          </a:xfrm>
          <a:prstGeom prst="ellipse">
            <a:avLst/>
          </a:prstGeom>
          <a:solidFill>
            <a:srgbClr val="008300">
              <a:alpha val="88000"/>
            </a:srgbClr>
          </a:solidFill>
          <a:ln w="3175">
            <a:solidFill>
              <a:srgbClr val="FFFFFF"/>
            </a:solidFill>
            <a:prstDash val="solid"/>
          </a:ln>
        </p:spPr>
      </p:sp>
      <p:sp>
        <p:nvSpPr>
          <p:cNvPr id="235" name="SKU 428"/>
          <p:cNvSpPr/>
          <p:nvPr/>
        </p:nvSpPr>
        <p:spPr>
          <a:xfrm>
            <a:off x="2406182" y="2984147"/>
            <a:ext cx="77724" cy="77724"/>
          </a:xfrm>
          <a:prstGeom prst="ellipse">
            <a:avLst/>
          </a:prstGeom>
          <a:solidFill>
            <a:srgbClr val="E87BA4">
              <a:alpha val="88000"/>
            </a:srgbClr>
          </a:solidFill>
          <a:ln w="3175">
            <a:solidFill>
              <a:srgbClr val="FFFFFF"/>
            </a:solidFill>
            <a:prstDash val="solid"/>
          </a:ln>
        </p:spPr>
      </p:sp>
      <p:sp>
        <p:nvSpPr>
          <p:cNvPr id="236" name="SKU 429"/>
          <p:cNvSpPr/>
          <p:nvPr/>
        </p:nvSpPr>
        <p:spPr>
          <a:xfrm>
            <a:off x="2300420" y="2322100"/>
            <a:ext cx="77724" cy="77724"/>
          </a:xfrm>
          <a:prstGeom prst="ellipse">
            <a:avLst/>
          </a:prstGeom>
          <a:solidFill>
            <a:srgbClr val="008300">
              <a:alpha val="88000"/>
            </a:srgbClr>
          </a:solidFill>
          <a:ln w="3175">
            <a:solidFill>
              <a:srgbClr val="FFFFFF"/>
            </a:solidFill>
            <a:prstDash val="solid"/>
          </a:ln>
        </p:spPr>
      </p:sp>
      <p:sp>
        <p:nvSpPr>
          <p:cNvPr id="237" name="SKU 430"/>
          <p:cNvSpPr/>
          <p:nvPr/>
        </p:nvSpPr>
        <p:spPr>
          <a:xfrm>
            <a:off x="2219496" y="2932524"/>
            <a:ext cx="77724" cy="77724"/>
          </a:xfrm>
          <a:prstGeom prst="ellipse">
            <a:avLst/>
          </a:prstGeom>
          <a:solidFill>
            <a:srgbClr val="E87BA4">
              <a:alpha val="88000"/>
            </a:srgbClr>
          </a:solidFill>
          <a:ln w="3175">
            <a:solidFill>
              <a:srgbClr val="FFFFFF"/>
            </a:solidFill>
            <a:prstDash val="solid"/>
          </a:ln>
        </p:spPr>
      </p:sp>
      <p:sp>
        <p:nvSpPr>
          <p:cNvPr id="238" name="SKU 431"/>
          <p:cNvSpPr/>
          <p:nvPr/>
        </p:nvSpPr>
        <p:spPr>
          <a:xfrm>
            <a:off x="1687481" y="2460879"/>
            <a:ext cx="77724" cy="77724"/>
          </a:xfrm>
          <a:prstGeom prst="ellipse">
            <a:avLst/>
          </a:prstGeom>
          <a:solidFill>
            <a:srgbClr val="008300">
              <a:alpha val="88000"/>
            </a:srgbClr>
          </a:solidFill>
          <a:ln w="3175">
            <a:solidFill>
              <a:srgbClr val="FFFFFF"/>
            </a:solidFill>
            <a:prstDash val="solid"/>
          </a:ln>
        </p:spPr>
      </p:sp>
      <p:sp>
        <p:nvSpPr>
          <p:cNvPr id="239" name="SKU 432"/>
          <p:cNvSpPr/>
          <p:nvPr/>
        </p:nvSpPr>
        <p:spPr>
          <a:xfrm>
            <a:off x="3750640" y="2696199"/>
            <a:ext cx="77724" cy="77724"/>
          </a:xfrm>
          <a:prstGeom prst="ellipse">
            <a:avLst/>
          </a:prstGeom>
          <a:solidFill>
            <a:srgbClr val="EDA100">
              <a:alpha val="88000"/>
            </a:srgbClr>
          </a:solidFill>
          <a:ln w="3175">
            <a:solidFill>
              <a:srgbClr val="FFFFFF"/>
            </a:solidFill>
            <a:prstDash val="solid"/>
          </a:ln>
        </p:spPr>
      </p:sp>
      <p:sp>
        <p:nvSpPr>
          <p:cNvPr id="240" name="SKU 433"/>
          <p:cNvSpPr/>
          <p:nvPr/>
        </p:nvSpPr>
        <p:spPr>
          <a:xfrm>
            <a:off x="1298886" y="2402887"/>
            <a:ext cx="77724" cy="77724"/>
          </a:xfrm>
          <a:prstGeom prst="ellipse">
            <a:avLst/>
          </a:prstGeom>
          <a:solidFill>
            <a:srgbClr val="008300">
              <a:alpha val="88000"/>
            </a:srgbClr>
          </a:solidFill>
          <a:ln w="3175">
            <a:solidFill>
              <a:srgbClr val="FFFFFF"/>
            </a:solidFill>
            <a:prstDash val="solid"/>
          </a:ln>
        </p:spPr>
      </p:sp>
      <p:sp>
        <p:nvSpPr>
          <p:cNvPr id="241" name="SKU 434"/>
          <p:cNvSpPr/>
          <p:nvPr/>
        </p:nvSpPr>
        <p:spPr>
          <a:xfrm>
            <a:off x="1575309" y="2178293"/>
            <a:ext cx="77724" cy="77724"/>
          </a:xfrm>
          <a:prstGeom prst="ellipse">
            <a:avLst/>
          </a:prstGeom>
          <a:solidFill>
            <a:srgbClr val="2A78D6">
              <a:alpha val="88000"/>
            </a:srgbClr>
          </a:solidFill>
          <a:ln w="3175">
            <a:solidFill>
              <a:srgbClr val="FFFFFF"/>
            </a:solidFill>
            <a:prstDash val="solid"/>
          </a:ln>
        </p:spPr>
      </p:sp>
      <p:sp>
        <p:nvSpPr>
          <p:cNvPr id="242" name="SKU 435"/>
          <p:cNvSpPr/>
          <p:nvPr/>
        </p:nvSpPr>
        <p:spPr>
          <a:xfrm>
            <a:off x="1539254" y="1930906"/>
            <a:ext cx="77724" cy="77724"/>
          </a:xfrm>
          <a:prstGeom prst="ellipse">
            <a:avLst/>
          </a:prstGeom>
          <a:solidFill>
            <a:srgbClr val="2A78D6">
              <a:alpha val="88000"/>
            </a:srgbClr>
          </a:solidFill>
          <a:ln w="3175">
            <a:solidFill>
              <a:srgbClr val="FFFFFF"/>
            </a:solidFill>
            <a:prstDash val="solid"/>
          </a:ln>
        </p:spPr>
      </p:sp>
      <p:sp>
        <p:nvSpPr>
          <p:cNvPr id="243" name="SKU 436"/>
          <p:cNvSpPr/>
          <p:nvPr/>
        </p:nvSpPr>
        <p:spPr>
          <a:xfrm>
            <a:off x="846193" y="1953365"/>
            <a:ext cx="77724" cy="77724"/>
          </a:xfrm>
          <a:prstGeom prst="ellipse">
            <a:avLst/>
          </a:prstGeom>
          <a:solidFill>
            <a:srgbClr val="2A78D6">
              <a:alpha val="88000"/>
            </a:srgbClr>
          </a:solidFill>
          <a:ln w="3175">
            <a:solidFill>
              <a:srgbClr val="FFFFFF"/>
            </a:solidFill>
            <a:prstDash val="solid"/>
          </a:ln>
        </p:spPr>
      </p:sp>
      <p:sp>
        <p:nvSpPr>
          <p:cNvPr id="244" name="SKU 437"/>
          <p:cNvSpPr/>
          <p:nvPr/>
        </p:nvSpPr>
        <p:spPr>
          <a:xfrm>
            <a:off x="3242662" y="2470935"/>
            <a:ext cx="77724" cy="77724"/>
          </a:xfrm>
          <a:prstGeom prst="ellipse">
            <a:avLst/>
          </a:prstGeom>
          <a:solidFill>
            <a:srgbClr val="EDA100">
              <a:alpha val="88000"/>
            </a:srgbClr>
          </a:solidFill>
          <a:ln w="3175">
            <a:solidFill>
              <a:srgbClr val="FFFFFF"/>
            </a:solidFill>
            <a:prstDash val="solid"/>
          </a:ln>
        </p:spPr>
      </p:sp>
      <p:sp>
        <p:nvSpPr>
          <p:cNvPr id="245" name="SKU 438"/>
          <p:cNvSpPr/>
          <p:nvPr/>
        </p:nvSpPr>
        <p:spPr>
          <a:xfrm>
            <a:off x="2793975" y="2464566"/>
            <a:ext cx="77724" cy="77724"/>
          </a:xfrm>
          <a:prstGeom prst="ellipse">
            <a:avLst/>
          </a:prstGeom>
          <a:solidFill>
            <a:srgbClr val="EDA100">
              <a:alpha val="88000"/>
            </a:srgbClr>
          </a:solidFill>
          <a:ln w="3175">
            <a:solidFill>
              <a:srgbClr val="FFFFFF"/>
            </a:solidFill>
            <a:prstDash val="solid"/>
          </a:ln>
        </p:spPr>
      </p:sp>
      <p:sp>
        <p:nvSpPr>
          <p:cNvPr id="246" name="SKU 439"/>
          <p:cNvSpPr/>
          <p:nvPr/>
        </p:nvSpPr>
        <p:spPr>
          <a:xfrm>
            <a:off x="1123418" y="3044821"/>
            <a:ext cx="77724" cy="77724"/>
          </a:xfrm>
          <a:prstGeom prst="ellipse">
            <a:avLst/>
          </a:prstGeom>
          <a:solidFill>
            <a:srgbClr val="E87BA4">
              <a:alpha val="88000"/>
            </a:srgbClr>
          </a:solidFill>
          <a:ln w="3175">
            <a:solidFill>
              <a:srgbClr val="FFFFFF"/>
            </a:solidFill>
            <a:prstDash val="solid"/>
          </a:ln>
        </p:spPr>
      </p:sp>
      <p:sp>
        <p:nvSpPr>
          <p:cNvPr id="247" name="SKU 440"/>
          <p:cNvSpPr/>
          <p:nvPr/>
        </p:nvSpPr>
        <p:spPr>
          <a:xfrm>
            <a:off x="4897195" y="2153488"/>
            <a:ext cx="77724" cy="77724"/>
          </a:xfrm>
          <a:prstGeom prst="ellipse">
            <a:avLst/>
          </a:prstGeom>
          <a:solidFill>
            <a:srgbClr val="EDA100">
              <a:alpha val="88000"/>
            </a:srgbClr>
          </a:solidFill>
          <a:ln w="3175">
            <a:solidFill>
              <a:srgbClr val="FFFFFF"/>
            </a:solidFill>
            <a:prstDash val="solid"/>
          </a:ln>
        </p:spPr>
      </p:sp>
      <p:sp>
        <p:nvSpPr>
          <p:cNvPr id="248" name="SKU 441"/>
          <p:cNvSpPr/>
          <p:nvPr/>
        </p:nvSpPr>
        <p:spPr>
          <a:xfrm>
            <a:off x="1499994" y="2501775"/>
            <a:ext cx="77724" cy="77724"/>
          </a:xfrm>
          <a:prstGeom prst="ellipse">
            <a:avLst/>
          </a:prstGeom>
          <a:solidFill>
            <a:srgbClr val="008300">
              <a:alpha val="88000"/>
            </a:srgbClr>
          </a:solidFill>
          <a:ln w="3175">
            <a:solidFill>
              <a:srgbClr val="FFFFFF"/>
            </a:solidFill>
            <a:prstDash val="solid"/>
          </a:ln>
        </p:spPr>
      </p:sp>
      <p:sp>
        <p:nvSpPr>
          <p:cNvPr id="249" name="SKU 442"/>
          <p:cNvSpPr/>
          <p:nvPr/>
        </p:nvSpPr>
        <p:spPr>
          <a:xfrm>
            <a:off x="1169889" y="2531944"/>
            <a:ext cx="77724" cy="77724"/>
          </a:xfrm>
          <a:prstGeom prst="ellipse">
            <a:avLst/>
          </a:prstGeom>
          <a:solidFill>
            <a:srgbClr val="008300">
              <a:alpha val="88000"/>
            </a:srgbClr>
          </a:solidFill>
          <a:ln w="3175">
            <a:solidFill>
              <a:srgbClr val="FFFFFF"/>
            </a:solidFill>
            <a:prstDash val="solid"/>
          </a:ln>
        </p:spPr>
      </p:sp>
      <p:sp>
        <p:nvSpPr>
          <p:cNvPr id="250" name="SKU 443"/>
          <p:cNvSpPr/>
          <p:nvPr/>
        </p:nvSpPr>
        <p:spPr>
          <a:xfrm>
            <a:off x="1190721" y="2124659"/>
            <a:ext cx="77724" cy="77724"/>
          </a:xfrm>
          <a:prstGeom prst="ellipse">
            <a:avLst/>
          </a:prstGeom>
          <a:solidFill>
            <a:srgbClr val="2A78D6">
              <a:alpha val="88000"/>
            </a:srgbClr>
          </a:solidFill>
          <a:ln w="3175">
            <a:solidFill>
              <a:srgbClr val="FFFFFF"/>
            </a:solidFill>
            <a:prstDash val="solid"/>
          </a:ln>
        </p:spPr>
      </p:sp>
      <p:sp>
        <p:nvSpPr>
          <p:cNvPr id="251" name="SKU 444"/>
          <p:cNvSpPr/>
          <p:nvPr/>
        </p:nvSpPr>
        <p:spPr>
          <a:xfrm>
            <a:off x="1793243" y="2145443"/>
            <a:ext cx="77724" cy="77724"/>
          </a:xfrm>
          <a:prstGeom prst="ellipse">
            <a:avLst/>
          </a:prstGeom>
          <a:solidFill>
            <a:srgbClr val="2A78D6">
              <a:alpha val="88000"/>
            </a:srgbClr>
          </a:solidFill>
          <a:ln w="3175">
            <a:solidFill>
              <a:srgbClr val="FFFFFF"/>
            </a:solidFill>
            <a:prstDash val="solid"/>
          </a:ln>
        </p:spPr>
      </p:sp>
      <p:sp>
        <p:nvSpPr>
          <p:cNvPr id="252" name="SKU 445"/>
          <p:cNvSpPr/>
          <p:nvPr/>
        </p:nvSpPr>
        <p:spPr>
          <a:xfrm>
            <a:off x="2092101" y="2316402"/>
            <a:ext cx="77724" cy="77724"/>
          </a:xfrm>
          <a:prstGeom prst="ellipse">
            <a:avLst/>
          </a:prstGeom>
          <a:solidFill>
            <a:srgbClr val="008300">
              <a:alpha val="88000"/>
            </a:srgbClr>
          </a:solidFill>
          <a:ln w="3175">
            <a:solidFill>
              <a:srgbClr val="FFFFFF"/>
            </a:solidFill>
            <a:prstDash val="solid"/>
          </a:ln>
        </p:spPr>
      </p:sp>
      <p:sp>
        <p:nvSpPr>
          <p:cNvPr id="253" name="SKU 446"/>
          <p:cNvSpPr/>
          <p:nvPr/>
        </p:nvSpPr>
        <p:spPr>
          <a:xfrm>
            <a:off x="4789831" y="2383779"/>
            <a:ext cx="77724" cy="77724"/>
          </a:xfrm>
          <a:prstGeom prst="ellipse">
            <a:avLst/>
          </a:prstGeom>
          <a:solidFill>
            <a:srgbClr val="EDA100">
              <a:alpha val="88000"/>
            </a:srgbClr>
          </a:solidFill>
          <a:ln w="3175">
            <a:solidFill>
              <a:srgbClr val="FFFFFF"/>
            </a:solidFill>
            <a:prstDash val="solid"/>
          </a:ln>
        </p:spPr>
      </p:sp>
      <p:sp>
        <p:nvSpPr>
          <p:cNvPr id="254" name="SKU 447"/>
          <p:cNvSpPr/>
          <p:nvPr/>
        </p:nvSpPr>
        <p:spPr>
          <a:xfrm>
            <a:off x="2676996" y="1932917"/>
            <a:ext cx="77724" cy="77724"/>
          </a:xfrm>
          <a:prstGeom prst="ellipse">
            <a:avLst/>
          </a:prstGeom>
          <a:solidFill>
            <a:srgbClr val="2A78D6">
              <a:alpha val="88000"/>
            </a:srgbClr>
          </a:solidFill>
          <a:ln w="3175">
            <a:solidFill>
              <a:srgbClr val="FFFFFF"/>
            </a:solidFill>
            <a:prstDash val="solid"/>
          </a:ln>
        </p:spPr>
      </p:sp>
      <p:sp>
        <p:nvSpPr>
          <p:cNvPr id="255" name="SKU 448"/>
          <p:cNvSpPr/>
          <p:nvPr/>
        </p:nvSpPr>
        <p:spPr>
          <a:xfrm>
            <a:off x="1786032" y="2502780"/>
            <a:ext cx="77724" cy="77724"/>
          </a:xfrm>
          <a:prstGeom prst="ellipse">
            <a:avLst/>
          </a:prstGeom>
          <a:solidFill>
            <a:srgbClr val="008300">
              <a:alpha val="88000"/>
            </a:srgbClr>
          </a:solidFill>
          <a:ln w="3175">
            <a:solidFill>
              <a:srgbClr val="FFFFFF"/>
            </a:solidFill>
            <a:prstDash val="solid"/>
          </a:ln>
        </p:spPr>
      </p:sp>
      <p:sp>
        <p:nvSpPr>
          <p:cNvPr id="256" name="SKU 449"/>
          <p:cNvSpPr/>
          <p:nvPr/>
        </p:nvSpPr>
        <p:spPr>
          <a:xfrm>
            <a:off x="2998288" y="1998954"/>
            <a:ext cx="77724" cy="77724"/>
          </a:xfrm>
          <a:prstGeom prst="ellipse">
            <a:avLst/>
          </a:prstGeom>
          <a:solidFill>
            <a:srgbClr val="2A78D6">
              <a:alpha val="88000"/>
            </a:srgbClr>
          </a:solidFill>
          <a:ln w="3175">
            <a:solidFill>
              <a:srgbClr val="FFFFFF"/>
            </a:solidFill>
            <a:prstDash val="solid"/>
          </a:ln>
        </p:spPr>
      </p:sp>
      <p:sp>
        <p:nvSpPr>
          <p:cNvPr id="257" name="SKU 450"/>
          <p:cNvSpPr/>
          <p:nvPr/>
        </p:nvSpPr>
        <p:spPr>
          <a:xfrm>
            <a:off x="2481497" y="2299306"/>
            <a:ext cx="77724" cy="77724"/>
          </a:xfrm>
          <a:prstGeom prst="ellipse">
            <a:avLst/>
          </a:prstGeom>
          <a:solidFill>
            <a:srgbClr val="008300">
              <a:alpha val="88000"/>
            </a:srgbClr>
          </a:solidFill>
          <a:ln w="3175">
            <a:solidFill>
              <a:srgbClr val="FFFFFF"/>
            </a:solidFill>
            <a:prstDash val="solid"/>
          </a:ln>
        </p:spPr>
      </p:sp>
      <p:sp>
        <p:nvSpPr>
          <p:cNvPr id="258" name="SKU 451"/>
          <p:cNvSpPr/>
          <p:nvPr/>
        </p:nvSpPr>
        <p:spPr>
          <a:xfrm>
            <a:off x="943943" y="2500769"/>
            <a:ext cx="77724" cy="77724"/>
          </a:xfrm>
          <a:prstGeom prst="ellipse">
            <a:avLst/>
          </a:prstGeom>
          <a:solidFill>
            <a:srgbClr val="008300">
              <a:alpha val="88000"/>
            </a:srgbClr>
          </a:solidFill>
          <a:ln w="3175">
            <a:solidFill>
              <a:srgbClr val="FFFFFF"/>
            </a:solidFill>
            <a:prstDash val="solid"/>
          </a:ln>
        </p:spPr>
      </p:sp>
      <p:sp>
        <p:nvSpPr>
          <p:cNvPr id="259" name="SKU 452"/>
          <p:cNvSpPr/>
          <p:nvPr/>
        </p:nvSpPr>
        <p:spPr>
          <a:xfrm>
            <a:off x="1256421" y="2099183"/>
            <a:ext cx="77724" cy="77724"/>
          </a:xfrm>
          <a:prstGeom prst="ellipse">
            <a:avLst/>
          </a:prstGeom>
          <a:solidFill>
            <a:srgbClr val="2A78D6">
              <a:alpha val="88000"/>
            </a:srgbClr>
          </a:solidFill>
          <a:ln w="3175">
            <a:solidFill>
              <a:srgbClr val="FFFFFF"/>
            </a:solidFill>
            <a:prstDash val="solid"/>
          </a:ln>
        </p:spPr>
      </p:sp>
      <p:sp>
        <p:nvSpPr>
          <p:cNvPr id="260" name="SKU 453"/>
          <p:cNvSpPr/>
          <p:nvPr/>
        </p:nvSpPr>
        <p:spPr>
          <a:xfrm>
            <a:off x="1556881" y="2760560"/>
            <a:ext cx="77724" cy="77724"/>
          </a:xfrm>
          <a:prstGeom prst="ellipse">
            <a:avLst/>
          </a:prstGeom>
          <a:solidFill>
            <a:srgbClr val="008300">
              <a:alpha val="88000"/>
            </a:srgbClr>
          </a:solidFill>
          <a:ln w="3175">
            <a:solidFill>
              <a:srgbClr val="FFFFFF"/>
            </a:solidFill>
            <a:prstDash val="solid"/>
          </a:ln>
        </p:spPr>
      </p:sp>
      <p:sp>
        <p:nvSpPr>
          <p:cNvPr id="261" name="SKU 454"/>
          <p:cNvSpPr/>
          <p:nvPr/>
        </p:nvSpPr>
        <p:spPr>
          <a:xfrm>
            <a:off x="2523962" y="2451493"/>
            <a:ext cx="77724" cy="77724"/>
          </a:xfrm>
          <a:prstGeom prst="ellipse">
            <a:avLst/>
          </a:prstGeom>
          <a:solidFill>
            <a:srgbClr val="008300">
              <a:alpha val="88000"/>
            </a:srgbClr>
          </a:solidFill>
          <a:ln w="3175">
            <a:solidFill>
              <a:srgbClr val="FFFFFF"/>
            </a:solidFill>
            <a:prstDash val="solid"/>
          </a:ln>
        </p:spPr>
      </p:sp>
      <p:sp>
        <p:nvSpPr>
          <p:cNvPr id="262" name="SKU 455"/>
          <p:cNvSpPr/>
          <p:nvPr/>
        </p:nvSpPr>
        <p:spPr>
          <a:xfrm>
            <a:off x="1205944" y="2731731"/>
            <a:ext cx="77724" cy="77724"/>
          </a:xfrm>
          <a:prstGeom prst="ellipse">
            <a:avLst/>
          </a:prstGeom>
          <a:solidFill>
            <a:srgbClr val="008300">
              <a:alpha val="88000"/>
            </a:srgbClr>
          </a:solidFill>
          <a:ln w="3175">
            <a:solidFill>
              <a:srgbClr val="FFFFFF"/>
            </a:solidFill>
            <a:prstDash val="solid"/>
          </a:ln>
        </p:spPr>
      </p:sp>
      <p:sp>
        <p:nvSpPr>
          <p:cNvPr id="263" name="SKU 456"/>
          <p:cNvSpPr/>
          <p:nvPr/>
        </p:nvSpPr>
        <p:spPr>
          <a:xfrm>
            <a:off x="2354903" y="2426352"/>
            <a:ext cx="77724" cy="77724"/>
          </a:xfrm>
          <a:prstGeom prst="ellipse">
            <a:avLst/>
          </a:prstGeom>
          <a:solidFill>
            <a:srgbClr val="008300">
              <a:alpha val="88000"/>
            </a:srgbClr>
          </a:solidFill>
          <a:ln w="3175">
            <a:solidFill>
              <a:srgbClr val="FFFFFF"/>
            </a:solidFill>
            <a:prstDash val="solid"/>
          </a:ln>
        </p:spPr>
      </p:sp>
      <p:sp>
        <p:nvSpPr>
          <p:cNvPr id="264" name="SKU 457"/>
          <p:cNvSpPr/>
          <p:nvPr/>
        </p:nvSpPr>
        <p:spPr>
          <a:xfrm>
            <a:off x="2529570" y="2376405"/>
            <a:ext cx="77724" cy="77724"/>
          </a:xfrm>
          <a:prstGeom prst="ellipse">
            <a:avLst/>
          </a:prstGeom>
          <a:solidFill>
            <a:srgbClr val="008300">
              <a:alpha val="88000"/>
            </a:srgbClr>
          </a:solidFill>
          <a:ln w="3175">
            <a:solidFill>
              <a:srgbClr val="FFFFFF"/>
            </a:solidFill>
            <a:prstDash val="solid"/>
          </a:ln>
        </p:spPr>
      </p:sp>
      <p:sp>
        <p:nvSpPr>
          <p:cNvPr id="265" name="SKU 458"/>
          <p:cNvSpPr/>
          <p:nvPr/>
        </p:nvSpPr>
        <p:spPr>
          <a:xfrm>
            <a:off x="3076007" y="2272153"/>
            <a:ext cx="77724" cy="77724"/>
          </a:xfrm>
          <a:prstGeom prst="ellipse">
            <a:avLst/>
          </a:prstGeom>
          <a:solidFill>
            <a:srgbClr val="EDA100">
              <a:alpha val="88000"/>
            </a:srgbClr>
          </a:solidFill>
          <a:ln w="3175">
            <a:solidFill>
              <a:srgbClr val="FFFFFF"/>
            </a:solidFill>
            <a:prstDash val="solid"/>
          </a:ln>
        </p:spPr>
      </p:sp>
      <p:sp>
        <p:nvSpPr>
          <p:cNvPr id="266" name="SKU 459"/>
          <p:cNvSpPr/>
          <p:nvPr/>
        </p:nvSpPr>
        <p:spPr>
          <a:xfrm>
            <a:off x="923111" y="2268801"/>
            <a:ext cx="77724" cy="77724"/>
          </a:xfrm>
          <a:prstGeom prst="ellipse">
            <a:avLst/>
          </a:prstGeom>
          <a:solidFill>
            <a:srgbClr val="008300">
              <a:alpha val="88000"/>
            </a:srgbClr>
          </a:solidFill>
          <a:ln w="3175">
            <a:solidFill>
              <a:srgbClr val="FFFFFF"/>
            </a:solidFill>
            <a:prstDash val="solid"/>
          </a:ln>
        </p:spPr>
      </p:sp>
      <p:sp>
        <p:nvSpPr>
          <p:cNvPr id="267" name="SKU 460"/>
          <p:cNvSpPr/>
          <p:nvPr/>
        </p:nvSpPr>
        <p:spPr>
          <a:xfrm>
            <a:off x="1052910" y="2945598"/>
            <a:ext cx="77724" cy="77724"/>
          </a:xfrm>
          <a:prstGeom prst="ellipse">
            <a:avLst/>
          </a:prstGeom>
          <a:solidFill>
            <a:srgbClr val="008300">
              <a:alpha val="88000"/>
            </a:srgbClr>
          </a:solidFill>
          <a:ln w="3175">
            <a:solidFill>
              <a:srgbClr val="FFFFFF"/>
            </a:solidFill>
            <a:prstDash val="solid"/>
          </a:ln>
        </p:spPr>
      </p:sp>
      <p:sp>
        <p:nvSpPr>
          <p:cNvPr id="268" name="SKU 461"/>
          <p:cNvSpPr/>
          <p:nvPr/>
        </p:nvSpPr>
        <p:spPr>
          <a:xfrm>
            <a:off x="2495118" y="2811512"/>
            <a:ext cx="77724" cy="77724"/>
          </a:xfrm>
          <a:prstGeom prst="ellipse">
            <a:avLst/>
          </a:prstGeom>
          <a:solidFill>
            <a:srgbClr val="E87BA4">
              <a:alpha val="88000"/>
            </a:srgbClr>
          </a:solidFill>
          <a:ln w="3175">
            <a:solidFill>
              <a:srgbClr val="FFFFFF"/>
            </a:solidFill>
            <a:prstDash val="solid"/>
          </a:ln>
        </p:spPr>
      </p:sp>
      <p:sp>
        <p:nvSpPr>
          <p:cNvPr id="269" name="SKU 462"/>
          <p:cNvSpPr/>
          <p:nvPr/>
        </p:nvSpPr>
        <p:spPr>
          <a:xfrm>
            <a:off x="1628992" y="2266790"/>
            <a:ext cx="77724" cy="77724"/>
          </a:xfrm>
          <a:prstGeom prst="ellipse">
            <a:avLst/>
          </a:prstGeom>
          <a:solidFill>
            <a:srgbClr val="008300">
              <a:alpha val="88000"/>
            </a:srgbClr>
          </a:solidFill>
          <a:ln w="3175">
            <a:solidFill>
              <a:srgbClr val="FFFFFF"/>
            </a:solidFill>
            <a:prstDash val="solid"/>
          </a:ln>
        </p:spPr>
      </p:sp>
      <p:sp>
        <p:nvSpPr>
          <p:cNvPr id="270" name="SKU 463"/>
          <p:cNvSpPr/>
          <p:nvPr/>
        </p:nvSpPr>
        <p:spPr>
          <a:xfrm>
            <a:off x="2405380" y="2253046"/>
            <a:ext cx="77724" cy="77724"/>
          </a:xfrm>
          <a:prstGeom prst="ellipse">
            <a:avLst/>
          </a:prstGeom>
          <a:solidFill>
            <a:srgbClr val="008300">
              <a:alpha val="88000"/>
            </a:srgbClr>
          </a:solidFill>
          <a:ln w="3175">
            <a:solidFill>
              <a:srgbClr val="FFFFFF"/>
            </a:solidFill>
            <a:prstDash val="solid"/>
          </a:ln>
        </p:spPr>
      </p:sp>
      <p:sp>
        <p:nvSpPr>
          <p:cNvPr id="271" name="SKU 464"/>
          <p:cNvSpPr/>
          <p:nvPr/>
        </p:nvSpPr>
        <p:spPr>
          <a:xfrm>
            <a:off x="3333201" y="2529597"/>
            <a:ext cx="77724" cy="77724"/>
          </a:xfrm>
          <a:prstGeom prst="ellipse">
            <a:avLst/>
          </a:prstGeom>
          <a:solidFill>
            <a:srgbClr val="EDA100">
              <a:alpha val="88000"/>
            </a:srgbClr>
          </a:solidFill>
          <a:ln w="3175">
            <a:solidFill>
              <a:srgbClr val="FFFFFF"/>
            </a:solidFill>
            <a:prstDash val="solid"/>
          </a:ln>
        </p:spPr>
      </p:sp>
      <p:sp>
        <p:nvSpPr>
          <p:cNvPr id="272" name="SKU 465"/>
          <p:cNvSpPr/>
          <p:nvPr/>
        </p:nvSpPr>
        <p:spPr>
          <a:xfrm>
            <a:off x="1637004" y="2346571"/>
            <a:ext cx="77724" cy="77724"/>
          </a:xfrm>
          <a:prstGeom prst="ellipse">
            <a:avLst/>
          </a:prstGeom>
          <a:solidFill>
            <a:srgbClr val="008300">
              <a:alpha val="88000"/>
            </a:srgbClr>
          </a:solidFill>
          <a:ln w="3175">
            <a:solidFill>
              <a:srgbClr val="FFFFFF"/>
            </a:solidFill>
            <a:prstDash val="solid"/>
          </a:ln>
        </p:spPr>
      </p:sp>
      <p:sp>
        <p:nvSpPr>
          <p:cNvPr id="273" name="SKU 466"/>
          <p:cNvSpPr/>
          <p:nvPr/>
        </p:nvSpPr>
        <p:spPr>
          <a:xfrm>
            <a:off x="2250744" y="2439425"/>
            <a:ext cx="77724" cy="77724"/>
          </a:xfrm>
          <a:prstGeom prst="ellipse">
            <a:avLst/>
          </a:prstGeom>
          <a:solidFill>
            <a:srgbClr val="008300">
              <a:alpha val="88000"/>
            </a:srgbClr>
          </a:solidFill>
          <a:ln w="3175">
            <a:solidFill>
              <a:srgbClr val="FFFFFF"/>
            </a:solidFill>
            <a:prstDash val="solid"/>
          </a:ln>
        </p:spPr>
      </p:sp>
      <p:sp>
        <p:nvSpPr>
          <p:cNvPr id="274" name="SKU 467"/>
          <p:cNvSpPr/>
          <p:nvPr/>
        </p:nvSpPr>
        <p:spPr>
          <a:xfrm>
            <a:off x="2820416" y="2453169"/>
            <a:ext cx="77724" cy="77724"/>
          </a:xfrm>
          <a:prstGeom prst="ellipse">
            <a:avLst/>
          </a:prstGeom>
          <a:solidFill>
            <a:srgbClr val="EDA100">
              <a:alpha val="88000"/>
            </a:srgbClr>
          </a:solidFill>
          <a:ln w="3175">
            <a:solidFill>
              <a:srgbClr val="FFFFFF"/>
            </a:solidFill>
            <a:prstDash val="solid"/>
          </a:ln>
        </p:spPr>
      </p:sp>
      <p:sp>
        <p:nvSpPr>
          <p:cNvPr id="275" name="SKU 468"/>
          <p:cNvSpPr/>
          <p:nvPr/>
        </p:nvSpPr>
        <p:spPr>
          <a:xfrm>
            <a:off x="1094573" y="2251705"/>
            <a:ext cx="77724" cy="77724"/>
          </a:xfrm>
          <a:prstGeom prst="ellipse">
            <a:avLst/>
          </a:prstGeom>
          <a:solidFill>
            <a:srgbClr val="008300">
              <a:alpha val="88000"/>
            </a:srgbClr>
          </a:solidFill>
          <a:ln w="3175">
            <a:solidFill>
              <a:srgbClr val="FFFFFF"/>
            </a:solidFill>
            <a:prstDash val="solid"/>
          </a:ln>
        </p:spPr>
      </p:sp>
      <p:sp>
        <p:nvSpPr>
          <p:cNvPr id="276" name="SKU 469"/>
          <p:cNvSpPr/>
          <p:nvPr/>
        </p:nvSpPr>
        <p:spPr>
          <a:xfrm>
            <a:off x="1485572" y="2031805"/>
            <a:ext cx="77724" cy="77724"/>
          </a:xfrm>
          <a:prstGeom prst="ellipse">
            <a:avLst/>
          </a:prstGeom>
          <a:solidFill>
            <a:srgbClr val="2A78D6">
              <a:alpha val="88000"/>
            </a:srgbClr>
          </a:solidFill>
          <a:ln w="3175">
            <a:solidFill>
              <a:srgbClr val="FFFFFF"/>
            </a:solidFill>
            <a:prstDash val="solid"/>
          </a:ln>
        </p:spPr>
      </p:sp>
      <p:sp>
        <p:nvSpPr>
          <p:cNvPr id="277" name="SKU 470"/>
          <p:cNvSpPr/>
          <p:nvPr/>
        </p:nvSpPr>
        <p:spPr>
          <a:xfrm>
            <a:off x="1931054" y="2242990"/>
            <a:ext cx="77724" cy="77724"/>
          </a:xfrm>
          <a:prstGeom prst="ellipse">
            <a:avLst/>
          </a:prstGeom>
          <a:solidFill>
            <a:srgbClr val="008300">
              <a:alpha val="88000"/>
            </a:srgbClr>
          </a:solidFill>
          <a:ln w="3175">
            <a:solidFill>
              <a:srgbClr val="FFFFFF"/>
            </a:solidFill>
            <a:prstDash val="solid"/>
          </a:ln>
        </p:spPr>
      </p:sp>
      <p:sp>
        <p:nvSpPr>
          <p:cNvPr id="278" name="SKU 471"/>
          <p:cNvSpPr/>
          <p:nvPr/>
        </p:nvSpPr>
        <p:spPr>
          <a:xfrm>
            <a:off x="2767535" y="2935206"/>
            <a:ext cx="77724" cy="77724"/>
          </a:xfrm>
          <a:prstGeom prst="ellipse">
            <a:avLst/>
          </a:prstGeom>
          <a:solidFill>
            <a:srgbClr val="E87BA4">
              <a:alpha val="88000"/>
            </a:srgbClr>
          </a:solidFill>
          <a:ln w="3175">
            <a:solidFill>
              <a:srgbClr val="FFFFFF"/>
            </a:solidFill>
            <a:prstDash val="solid"/>
          </a:ln>
        </p:spPr>
      </p:sp>
      <p:sp>
        <p:nvSpPr>
          <p:cNvPr id="279" name="SKU 472"/>
          <p:cNvSpPr/>
          <p:nvPr/>
        </p:nvSpPr>
        <p:spPr>
          <a:xfrm>
            <a:off x="1002432" y="2518871"/>
            <a:ext cx="77724" cy="77724"/>
          </a:xfrm>
          <a:prstGeom prst="ellipse">
            <a:avLst/>
          </a:prstGeom>
          <a:solidFill>
            <a:srgbClr val="008300">
              <a:alpha val="88000"/>
            </a:srgbClr>
          </a:solidFill>
          <a:ln w="3175">
            <a:solidFill>
              <a:srgbClr val="FFFFFF"/>
            </a:solidFill>
            <a:prstDash val="solid"/>
          </a:ln>
        </p:spPr>
      </p:sp>
      <p:sp>
        <p:nvSpPr>
          <p:cNvPr id="280" name="SKU 473"/>
          <p:cNvSpPr/>
          <p:nvPr/>
        </p:nvSpPr>
        <p:spPr>
          <a:xfrm>
            <a:off x="1422275" y="2242319"/>
            <a:ext cx="77724" cy="77724"/>
          </a:xfrm>
          <a:prstGeom prst="ellipse">
            <a:avLst/>
          </a:prstGeom>
          <a:solidFill>
            <a:srgbClr val="2A78D6">
              <a:alpha val="88000"/>
            </a:srgbClr>
          </a:solidFill>
          <a:ln w="3175">
            <a:solidFill>
              <a:srgbClr val="FFFFFF"/>
            </a:solidFill>
            <a:prstDash val="solid"/>
          </a:ln>
        </p:spPr>
      </p:sp>
      <p:sp>
        <p:nvSpPr>
          <p:cNvPr id="281" name="SKU 474"/>
          <p:cNvSpPr/>
          <p:nvPr/>
        </p:nvSpPr>
        <p:spPr>
          <a:xfrm>
            <a:off x="1017656" y="2406574"/>
            <a:ext cx="77724" cy="77724"/>
          </a:xfrm>
          <a:prstGeom prst="ellipse">
            <a:avLst/>
          </a:prstGeom>
          <a:solidFill>
            <a:srgbClr val="008300">
              <a:alpha val="88000"/>
            </a:srgbClr>
          </a:solidFill>
          <a:ln w="3175">
            <a:solidFill>
              <a:srgbClr val="FFFFFF"/>
            </a:solidFill>
            <a:prstDash val="solid"/>
          </a:ln>
        </p:spPr>
      </p:sp>
      <p:sp>
        <p:nvSpPr>
          <p:cNvPr id="282" name="SKU 475"/>
          <p:cNvSpPr/>
          <p:nvPr/>
        </p:nvSpPr>
        <p:spPr>
          <a:xfrm>
            <a:off x="2374132" y="2009681"/>
            <a:ext cx="77724" cy="77724"/>
          </a:xfrm>
          <a:prstGeom prst="ellipse">
            <a:avLst/>
          </a:prstGeom>
          <a:solidFill>
            <a:srgbClr val="2A78D6">
              <a:alpha val="88000"/>
            </a:srgbClr>
          </a:solidFill>
          <a:ln w="3175">
            <a:solidFill>
              <a:srgbClr val="FFFFFF"/>
            </a:solidFill>
            <a:prstDash val="solid"/>
          </a:ln>
        </p:spPr>
      </p:sp>
      <p:sp>
        <p:nvSpPr>
          <p:cNvPr id="283" name="SKU 476"/>
          <p:cNvSpPr/>
          <p:nvPr/>
        </p:nvSpPr>
        <p:spPr>
          <a:xfrm>
            <a:off x="963172" y="2017391"/>
            <a:ext cx="77724" cy="77724"/>
          </a:xfrm>
          <a:prstGeom prst="ellipse">
            <a:avLst/>
          </a:prstGeom>
          <a:solidFill>
            <a:srgbClr val="2A78D6">
              <a:alpha val="88000"/>
            </a:srgbClr>
          </a:solidFill>
          <a:ln w="3175">
            <a:solidFill>
              <a:srgbClr val="FFFFFF"/>
            </a:solidFill>
            <a:prstDash val="solid"/>
          </a:ln>
        </p:spPr>
      </p:sp>
      <p:sp>
        <p:nvSpPr>
          <p:cNvPr id="284" name="SKU 477"/>
          <p:cNvSpPr/>
          <p:nvPr/>
        </p:nvSpPr>
        <p:spPr>
          <a:xfrm>
            <a:off x="2036816" y="2494735"/>
            <a:ext cx="77724" cy="77724"/>
          </a:xfrm>
          <a:prstGeom prst="ellipse">
            <a:avLst/>
          </a:prstGeom>
          <a:solidFill>
            <a:srgbClr val="008300">
              <a:alpha val="88000"/>
            </a:srgbClr>
          </a:solidFill>
          <a:ln w="3175">
            <a:solidFill>
              <a:srgbClr val="FFFFFF"/>
            </a:solidFill>
            <a:prstDash val="solid"/>
          </a:ln>
        </p:spPr>
      </p:sp>
      <p:sp>
        <p:nvSpPr>
          <p:cNvPr id="285" name="SKU 478"/>
          <p:cNvSpPr/>
          <p:nvPr/>
        </p:nvSpPr>
        <p:spPr>
          <a:xfrm>
            <a:off x="2389356" y="2148124"/>
            <a:ext cx="77724" cy="77724"/>
          </a:xfrm>
          <a:prstGeom prst="ellipse">
            <a:avLst/>
          </a:prstGeom>
          <a:solidFill>
            <a:srgbClr val="2A78D6">
              <a:alpha val="88000"/>
            </a:srgbClr>
          </a:solidFill>
          <a:ln w="3175">
            <a:solidFill>
              <a:srgbClr val="FFFFFF"/>
            </a:solidFill>
            <a:prstDash val="solid"/>
          </a:ln>
        </p:spPr>
      </p:sp>
      <p:sp>
        <p:nvSpPr>
          <p:cNvPr id="286" name="SKU 479"/>
          <p:cNvSpPr/>
          <p:nvPr/>
        </p:nvSpPr>
        <p:spPr>
          <a:xfrm>
            <a:off x="5258549" y="2257069"/>
            <a:ext cx="77724" cy="77724"/>
          </a:xfrm>
          <a:prstGeom prst="ellipse">
            <a:avLst/>
          </a:prstGeom>
          <a:solidFill>
            <a:srgbClr val="EDA100">
              <a:alpha val="88000"/>
            </a:srgbClr>
          </a:solidFill>
          <a:ln w="3175">
            <a:solidFill>
              <a:srgbClr val="FFFFFF"/>
            </a:solidFill>
            <a:prstDash val="solid"/>
          </a:ln>
        </p:spPr>
      </p:sp>
      <p:sp>
        <p:nvSpPr>
          <p:cNvPr id="287" name="SKU 480"/>
          <p:cNvSpPr/>
          <p:nvPr/>
        </p:nvSpPr>
        <p:spPr>
          <a:xfrm>
            <a:off x="3097640" y="1759947"/>
            <a:ext cx="77724" cy="77724"/>
          </a:xfrm>
          <a:prstGeom prst="ellipse">
            <a:avLst/>
          </a:prstGeom>
          <a:solidFill>
            <a:srgbClr val="2A78D6">
              <a:alpha val="88000"/>
            </a:srgbClr>
          </a:solidFill>
          <a:ln w="3175">
            <a:solidFill>
              <a:srgbClr val="FFFFFF"/>
            </a:solidFill>
            <a:prstDash val="solid"/>
          </a:ln>
        </p:spPr>
      </p:sp>
      <p:sp>
        <p:nvSpPr>
          <p:cNvPr id="288" name="SKU 481"/>
          <p:cNvSpPr/>
          <p:nvPr/>
        </p:nvSpPr>
        <p:spPr>
          <a:xfrm>
            <a:off x="1621781" y="2382774"/>
            <a:ext cx="77724" cy="77724"/>
          </a:xfrm>
          <a:prstGeom prst="ellipse">
            <a:avLst/>
          </a:prstGeom>
          <a:solidFill>
            <a:srgbClr val="008300">
              <a:alpha val="88000"/>
            </a:srgbClr>
          </a:solidFill>
          <a:ln w="3175">
            <a:solidFill>
              <a:srgbClr val="FFFFFF"/>
            </a:solidFill>
            <a:prstDash val="solid"/>
          </a:ln>
        </p:spPr>
      </p:sp>
      <p:sp>
        <p:nvSpPr>
          <p:cNvPr id="289" name="SKU 482"/>
          <p:cNvSpPr/>
          <p:nvPr/>
        </p:nvSpPr>
        <p:spPr>
          <a:xfrm>
            <a:off x="3180167" y="2217513"/>
            <a:ext cx="77724" cy="77724"/>
          </a:xfrm>
          <a:prstGeom prst="ellipse">
            <a:avLst/>
          </a:prstGeom>
          <a:solidFill>
            <a:srgbClr val="EDA100">
              <a:alpha val="88000"/>
            </a:srgbClr>
          </a:solidFill>
          <a:ln w="3175">
            <a:solidFill>
              <a:srgbClr val="FFFFFF"/>
            </a:solidFill>
            <a:prstDash val="solid"/>
          </a:ln>
        </p:spPr>
      </p:sp>
      <p:sp>
        <p:nvSpPr>
          <p:cNvPr id="290" name="SKU 483"/>
          <p:cNvSpPr/>
          <p:nvPr/>
        </p:nvSpPr>
        <p:spPr>
          <a:xfrm>
            <a:off x="1353370" y="2760224"/>
            <a:ext cx="77724" cy="77724"/>
          </a:xfrm>
          <a:prstGeom prst="ellipse">
            <a:avLst/>
          </a:prstGeom>
          <a:solidFill>
            <a:srgbClr val="008300">
              <a:alpha val="88000"/>
            </a:srgbClr>
          </a:solidFill>
          <a:ln w="3175">
            <a:solidFill>
              <a:srgbClr val="FFFFFF"/>
            </a:solidFill>
            <a:prstDash val="solid"/>
          </a:ln>
        </p:spPr>
      </p:sp>
      <p:sp>
        <p:nvSpPr>
          <p:cNvPr id="291" name="SKU 484"/>
          <p:cNvSpPr/>
          <p:nvPr/>
        </p:nvSpPr>
        <p:spPr>
          <a:xfrm>
            <a:off x="3330797" y="2576863"/>
            <a:ext cx="77724" cy="77724"/>
          </a:xfrm>
          <a:prstGeom prst="ellipse">
            <a:avLst/>
          </a:prstGeom>
          <a:solidFill>
            <a:srgbClr val="EDA100">
              <a:alpha val="88000"/>
            </a:srgbClr>
          </a:solidFill>
          <a:ln w="3175">
            <a:solidFill>
              <a:srgbClr val="FFFFFF"/>
            </a:solidFill>
            <a:prstDash val="solid"/>
          </a:ln>
        </p:spPr>
      </p:sp>
      <p:sp>
        <p:nvSpPr>
          <p:cNvPr id="292" name="SKU 485"/>
          <p:cNvSpPr/>
          <p:nvPr/>
        </p:nvSpPr>
        <p:spPr>
          <a:xfrm>
            <a:off x="1289271" y="2643570"/>
            <a:ext cx="77724" cy="77724"/>
          </a:xfrm>
          <a:prstGeom prst="ellipse">
            <a:avLst/>
          </a:prstGeom>
          <a:solidFill>
            <a:srgbClr val="008300">
              <a:alpha val="88000"/>
            </a:srgbClr>
          </a:solidFill>
          <a:ln w="3175">
            <a:solidFill>
              <a:srgbClr val="FFFFFF"/>
            </a:solidFill>
            <a:prstDash val="solid"/>
          </a:ln>
        </p:spPr>
      </p:sp>
      <p:sp>
        <p:nvSpPr>
          <p:cNvPr id="293" name="SKU 486"/>
          <p:cNvSpPr/>
          <p:nvPr/>
        </p:nvSpPr>
        <p:spPr>
          <a:xfrm>
            <a:off x="1847726" y="2815535"/>
            <a:ext cx="77724" cy="77724"/>
          </a:xfrm>
          <a:prstGeom prst="ellipse">
            <a:avLst/>
          </a:prstGeom>
          <a:solidFill>
            <a:srgbClr val="008300">
              <a:alpha val="88000"/>
            </a:srgbClr>
          </a:solidFill>
          <a:ln w="3175">
            <a:solidFill>
              <a:srgbClr val="FFFFFF"/>
            </a:solidFill>
            <a:prstDash val="solid"/>
          </a:ln>
        </p:spPr>
      </p:sp>
      <p:sp>
        <p:nvSpPr>
          <p:cNvPr id="294" name="SKU 487"/>
          <p:cNvSpPr/>
          <p:nvPr/>
        </p:nvSpPr>
        <p:spPr>
          <a:xfrm>
            <a:off x="1356574" y="2058287"/>
            <a:ext cx="77724" cy="77724"/>
          </a:xfrm>
          <a:prstGeom prst="ellipse">
            <a:avLst/>
          </a:prstGeom>
          <a:solidFill>
            <a:srgbClr val="2A78D6">
              <a:alpha val="88000"/>
            </a:srgbClr>
          </a:solidFill>
          <a:ln w="3175">
            <a:solidFill>
              <a:srgbClr val="FFFFFF"/>
            </a:solidFill>
            <a:prstDash val="solid"/>
          </a:ln>
        </p:spPr>
      </p:sp>
      <p:sp>
        <p:nvSpPr>
          <p:cNvPr id="295" name="SKU 488"/>
          <p:cNvSpPr/>
          <p:nvPr/>
        </p:nvSpPr>
        <p:spPr>
          <a:xfrm>
            <a:off x="5168010" y="2875873"/>
            <a:ext cx="77724" cy="77724"/>
          </a:xfrm>
          <a:prstGeom prst="ellipse">
            <a:avLst/>
          </a:prstGeom>
          <a:solidFill>
            <a:srgbClr val="EDA100">
              <a:alpha val="88000"/>
            </a:srgbClr>
          </a:solidFill>
          <a:ln w="3175">
            <a:solidFill>
              <a:srgbClr val="FFFFFF"/>
            </a:solidFill>
            <a:prstDash val="solid"/>
          </a:ln>
        </p:spPr>
      </p:sp>
      <p:sp>
        <p:nvSpPr>
          <p:cNvPr id="296" name="SKU 489"/>
          <p:cNvSpPr/>
          <p:nvPr/>
        </p:nvSpPr>
        <p:spPr>
          <a:xfrm>
            <a:off x="2060052" y="2743464"/>
            <a:ext cx="77724" cy="77724"/>
          </a:xfrm>
          <a:prstGeom prst="ellipse">
            <a:avLst/>
          </a:prstGeom>
          <a:solidFill>
            <a:srgbClr val="008300">
              <a:alpha val="88000"/>
            </a:srgbClr>
          </a:solidFill>
          <a:ln w="3175">
            <a:solidFill>
              <a:srgbClr val="FFFFFF"/>
            </a:solidFill>
            <a:prstDash val="solid"/>
          </a:ln>
        </p:spPr>
      </p:sp>
      <p:sp>
        <p:nvSpPr>
          <p:cNvPr id="297" name="SKU 490"/>
          <p:cNvSpPr/>
          <p:nvPr/>
        </p:nvSpPr>
        <p:spPr>
          <a:xfrm>
            <a:off x="2483099" y="2050577"/>
            <a:ext cx="77724" cy="77724"/>
          </a:xfrm>
          <a:prstGeom prst="ellipse">
            <a:avLst/>
          </a:prstGeom>
          <a:solidFill>
            <a:srgbClr val="2A78D6">
              <a:alpha val="88000"/>
            </a:srgbClr>
          </a:solidFill>
          <a:ln w="3175">
            <a:solidFill>
              <a:srgbClr val="FFFFFF"/>
            </a:solidFill>
            <a:prstDash val="solid"/>
          </a:ln>
        </p:spPr>
      </p:sp>
      <p:sp>
        <p:nvSpPr>
          <p:cNvPr id="298" name="SKU 491"/>
          <p:cNvSpPr/>
          <p:nvPr/>
        </p:nvSpPr>
        <p:spPr>
          <a:xfrm>
            <a:off x="2881309" y="2130023"/>
            <a:ext cx="77724" cy="77724"/>
          </a:xfrm>
          <a:prstGeom prst="ellipse">
            <a:avLst/>
          </a:prstGeom>
          <a:solidFill>
            <a:srgbClr val="EDA100">
              <a:alpha val="88000"/>
            </a:srgbClr>
          </a:solidFill>
          <a:ln w="3175">
            <a:solidFill>
              <a:srgbClr val="FFFFFF"/>
            </a:solidFill>
            <a:prstDash val="solid"/>
          </a:ln>
        </p:spPr>
      </p:sp>
      <p:sp>
        <p:nvSpPr>
          <p:cNvPr id="299" name="SKU 492"/>
          <p:cNvSpPr/>
          <p:nvPr/>
        </p:nvSpPr>
        <p:spPr>
          <a:xfrm>
            <a:off x="1206745" y="1952359"/>
            <a:ext cx="77724" cy="77724"/>
          </a:xfrm>
          <a:prstGeom prst="ellipse">
            <a:avLst/>
          </a:prstGeom>
          <a:solidFill>
            <a:srgbClr val="2A78D6">
              <a:alpha val="88000"/>
            </a:srgbClr>
          </a:solidFill>
          <a:ln w="3175">
            <a:solidFill>
              <a:srgbClr val="FFFFFF"/>
            </a:solidFill>
            <a:prstDash val="solid"/>
          </a:ln>
        </p:spPr>
      </p:sp>
      <p:sp>
        <p:nvSpPr>
          <p:cNvPr id="300" name="SKU 493"/>
          <p:cNvSpPr/>
          <p:nvPr/>
        </p:nvSpPr>
        <p:spPr>
          <a:xfrm>
            <a:off x="4285859" y="2119966"/>
            <a:ext cx="77724" cy="77724"/>
          </a:xfrm>
          <a:prstGeom prst="ellipse">
            <a:avLst/>
          </a:prstGeom>
          <a:solidFill>
            <a:srgbClr val="EDA100">
              <a:alpha val="88000"/>
            </a:srgbClr>
          </a:solidFill>
          <a:ln w="3175">
            <a:solidFill>
              <a:srgbClr val="FFFFFF"/>
            </a:solidFill>
            <a:prstDash val="solid"/>
          </a:ln>
        </p:spPr>
      </p:sp>
      <p:sp>
        <p:nvSpPr>
          <p:cNvPr id="301" name="SKU 494"/>
          <p:cNvSpPr/>
          <p:nvPr/>
        </p:nvSpPr>
        <p:spPr>
          <a:xfrm>
            <a:off x="1594539" y="3182258"/>
            <a:ext cx="77724" cy="77724"/>
          </a:xfrm>
          <a:prstGeom prst="ellipse">
            <a:avLst/>
          </a:prstGeom>
          <a:solidFill>
            <a:srgbClr val="E87BA4">
              <a:alpha val="88000"/>
            </a:srgbClr>
          </a:solidFill>
          <a:ln w="3175">
            <a:solidFill>
              <a:srgbClr val="FFFFFF"/>
            </a:solidFill>
            <a:prstDash val="solid"/>
          </a:ln>
        </p:spPr>
      </p:sp>
      <p:sp>
        <p:nvSpPr>
          <p:cNvPr id="302" name="SKU 495"/>
          <p:cNvSpPr/>
          <p:nvPr/>
        </p:nvSpPr>
        <p:spPr>
          <a:xfrm>
            <a:off x="1179503" y="2555074"/>
            <a:ext cx="77724" cy="77724"/>
          </a:xfrm>
          <a:prstGeom prst="ellipse">
            <a:avLst/>
          </a:prstGeom>
          <a:solidFill>
            <a:srgbClr val="008300">
              <a:alpha val="88000"/>
            </a:srgbClr>
          </a:solidFill>
          <a:ln w="3175">
            <a:solidFill>
              <a:srgbClr val="FFFFFF"/>
            </a:solidFill>
            <a:prstDash val="solid"/>
          </a:ln>
        </p:spPr>
      </p:sp>
      <p:sp>
        <p:nvSpPr>
          <p:cNvPr id="303" name="SKU 496"/>
          <p:cNvSpPr/>
          <p:nvPr/>
        </p:nvSpPr>
        <p:spPr>
          <a:xfrm>
            <a:off x="1423076" y="2196060"/>
            <a:ext cx="77724" cy="77724"/>
          </a:xfrm>
          <a:prstGeom prst="ellipse">
            <a:avLst/>
          </a:prstGeom>
          <a:solidFill>
            <a:srgbClr val="2A78D6">
              <a:alpha val="88000"/>
            </a:srgbClr>
          </a:solidFill>
          <a:ln w="3175">
            <a:solidFill>
              <a:srgbClr val="FFFFFF"/>
            </a:solidFill>
            <a:prstDash val="solid"/>
          </a:ln>
        </p:spPr>
      </p:sp>
      <p:sp>
        <p:nvSpPr>
          <p:cNvPr id="304" name="SKU 497"/>
          <p:cNvSpPr/>
          <p:nvPr/>
        </p:nvSpPr>
        <p:spPr>
          <a:xfrm>
            <a:off x="2072871" y="2954313"/>
            <a:ext cx="77724" cy="77724"/>
          </a:xfrm>
          <a:prstGeom prst="ellipse">
            <a:avLst/>
          </a:prstGeom>
          <a:solidFill>
            <a:srgbClr val="E87BA4">
              <a:alpha val="88000"/>
            </a:srgbClr>
          </a:solidFill>
          <a:ln w="3175">
            <a:solidFill>
              <a:srgbClr val="FFFFFF"/>
            </a:solidFill>
            <a:prstDash val="solid"/>
          </a:ln>
        </p:spPr>
      </p:sp>
      <p:sp>
        <p:nvSpPr>
          <p:cNvPr id="305" name="SKU 498"/>
          <p:cNvSpPr/>
          <p:nvPr/>
        </p:nvSpPr>
        <p:spPr>
          <a:xfrm>
            <a:off x="2685810" y="2742793"/>
            <a:ext cx="77724" cy="77724"/>
          </a:xfrm>
          <a:prstGeom prst="ellipse">
            <a:avLst/>
          </a:prstGeom>
          <a:solidFill>
            <a:srgbClr val="E87BA4">
              <a:alpha val="88000"/>
            </a:srgbClr>
          </a:solidFill>
          <a:ln w="3175">
            <a:solidFill>
              <a:srgbClr val="FFFFFF"/>
            </a:solidFill>
            <a:prstDash val="solid"/>
          </a:ln>
        </p:spPr>
      </p:sp>
      <p:sp>
        <p:nvSpPr>
          <p:cNvPr id="306" name="SKU 499"/>
          <p:cNvSpPr/>
          <p:nvPr/>
        </p:nvSpPr>
        <p:spPr>
          <a:xfrm>
            <a:off x="2798783" y="2331151"/>
            <a:ext cx="77724" cy="77724"/>
          </a:xfrm>
          <a:prstGeom prst="ellipse">
            <a:avLst/>
          </a:prstGeom>
          <a:solidFill>
            <a:srgbClr val="EDA100">
              <a:alpha val="88000"/>
            </a:srgbClr>
          </a:solidFill>
          <a:ln w="3175">
            <a:solidFill>
              <a:srgbClr val="FFFFFF"/>
            </a:solidFill>
            <a:prstDash val="solid"/>
          </a:ln>
        </p:spPr>
      </p:sp>
      <p:sp>
        <p:nvSpPr>
          <p:cNvPr id="307" name="SKU 500"/>
          <p:cNvSpPr/>
          <p:nvPr/>
        </p:nvSpPr>
        <p:spPr>
          <a:xfrm>
            <a:off x="3285928" y="3083706"/>
            <a:ext cx="77724" cy="77724"/>
          </a:xfrm>
          <a:prstGeom prst="ellipse">
            <a:avLst/>
          </a:prstGeom>
          <a:solidFill>
            <a:srgbClr val="E87BA4">
              <a:alpha val="88000"/>
            </a:srgbClr>
          </a:solidFill>
          <a:ln w="3175">
            <a:solidFill>
              <a:srgbClr val="FFFFFF"/>
            </a:solidFill>
            <a:prstDash val="solid"/>
          </a:ln>
        </p:spPr>
      </p:sp>
      <p:sp>
        <p:nvSpPr>
          <p:cNvPr id="308" name="SKU 501"/>
          <p:cNvSpPr/>
          <p:nvPr/>
        </p:nvSpPr>
        <p:spPr>
          <a:xfrm>
            <a:off x="879845" y="2807154"/>
            <a:ext cx="77724" cy="77724"/>
          </a:xfrm>
          <a:prstGeom prst="ellipse">
            <a:avLst/>
          </a:prstGeom>
          <a:solidFill>
            <a:srgbClr val="008300">
              <a:alpha val="88000"/>
            </a:srgbClr>
          </a:solidFill>
          <a:ln w="3175">
            <a:solidFill>
              <a:srgbClr val="FFFFFF"/>
            </a:solidFill>
            <a:prstDash val="solid"/>
          </a:ln>
        </p:spPr>
      </p:sp>
      <p:sp>
        <p:nvSpPr>
          <p:cNvPr id="309" name="SKU 502"/>
          <p:cNvSpPr/>
          <p:nvPr/>
        </p:nvSpPr>
        <p:spPr>
          <a:xfrm>
            <a:off x="1334941" y="1968785"/>
            <a:ext cx="77724" cy="77724"/>
          </a:xfrm>
          <a:prstGeom prst="ellipse">
            <a:avLst/>
          </a:prstGeom>
          <a:solidFill>
            <a:srgbClr val="2A78D6">
              <a:alpha val="88000"/>
            </a:srgbClr>
          </a:solidFill>
          <a:ln w="3175">
            <a:solidFill>
              <a:srgbClr val="FFFFFF"/>
            </a:solidFill>
            <a:prstDash val="solid"/>
          </a:ln>
        </p:spPr>
      </p:sp>
      <p:sp>
        <p:nvSpPr>
          <p:cNvPr id="310" name="SKU 503"/>
          <p:cNvSpPr/>
          <p:nvPr/>
        </p:nvSpPr>
        <p:spPr>
          <a:xfrm>
            <a:off x="3112062" y="2562784"/>
            <a:ext cx="77724" cy="77724"/>
          </a:xfrm>
          <a:prstGeom prst="ellipse">
            <a:avLst/>
          </a:prstGeom>
          <a:solidFill>
            <a:srgbClr val="EDA100">
              <a:alpha val="88000"/>
            </a:srgbClr>
          </a:solidFill>
          <a:ln w="3175">
            <a:solidFill>
              <a:srgbClr val="FFFFFF"/>
            </a:solidFill>
            <a:prstDash val="solid"/>
          </a:ln>
        </p:spPr>
      </p:sp>
      <p:sp>
        <p:nvSpPr>
          <p:cNvPr id="311" name="SKU 504"/>
          <p:cNvSpPr/>
          <p:nvPr/>
        </p:nvSpPr>
        <p:spPr>
          <a:xfrm>
            <a:off x="4988535" y="3009959"/>
            <a:ext cx="77724" cy="77724"/>
          </a:xfrm>
          <a:prstGeom prst="ellipse">
            <a:avLst/>
          </a:prstGeom>
          <a:solidFill>
            <a:srgbClr val="EDA100">
              <a:alpha val="88000"/>
            </a:srgbClr>
          </a:solidFill>
          <a:ln w="3175">
            <a:solidFill>
              <a:srgbClr val="FFFFFF"/>
            </a:solidFill>
            <a:prstDash val="solid"/>
          </a:ln>
        </p:spPr>
      </p:sp>
      <p:sp>
        <p:nvSpPr>
          <p:cNvPr id="312" name="SKU 505"/>
          <p:cNvSpPr/>
          <p:nvPr/>
        </p:nvSpPr>
        <p:spPr>
          <a:xfrm>
            <a:off x="4795440" y="2892634"/>
            <a:ext cx="77724" cy="77724"/>
          </a:xfrm>
          <a:prstGeom prst="ellipse">
            <a:avLst/>
          </a:prstGeom>
          <a:solidFill>
            <a:srgbClr val="EDA100">
              <a:alpha val="88000"/>
            </a:srgbClr>
          </a:solidFill>
          <a:ln w="3175">
            <a:solidFill>
              <a:srgbClr val="FFFFFF"/>
            </a:solidFill>
            <a:prstDash val="solid"/>
          </a:ln>
        </p:spPr>
      </p:sp>
      <p:sp>
        <p:nvSpPr>
          <p:cNvPr id="313" name="SKU 506"/>
          <p:cNvSpPr/>
          <p:nvPr/>
        </p:nvSpPr>
        <p:spPr>
          <a:xfrm>
            <a:off x="4521420" y="2199747"/>
            <a:ext cx="77724" cy="77724"/>
          </a:xfrm>
          <a:prstGeom prst="ellipse">
            <a:avLst/>
          </a:prstGeom>
          <a:solidFill>
            <a:srgbClr val="EDA100">
              <a:alpha val="88000"/>
            </a:srgbClr>
          </a:solidFill>
          <a:ln w="3175">
            <a:solidFill>
              <a:srgbClr val="FFFFFF"/>
            </a:solidFill>
            <a:prstDash val="solid"/>
          </a:ln>
        </p:spPr>
      </p:sp>
      <p:sp>
        <p:nvSpPr>
          <p:cNvPr id="314" name="SKU 507"/>
          <p:cNvSpPr/>
          <p:nvPr/>
        </p:nvSpPr>
        <p:spPr>
          <a:xfrm>
            <a:off x="1495187" y="2664018"/>
            <a:ext cx="77724" cy="77724"/>
          </a:xfrm>
          <a:prstGeom prst="ellipse">
            <a:avLst/>
          </a:prstGeom>
          <a:solidFill>
            <a:srgbClr val="008300">
              <a:alpha val="88000"/>
            </a:srgbClr>
          </a:solidFill>
          <a:ln w="3175">
            <a:solidFill>
              <a:srgbClr val="FFFFFF"/>
            </a:solidFill>
            <a:prstDash val="solid"/>
          </a:ln>
        </p:spPr>
      </p:sp>
      <p:sp>
        <p:nvSpPr>
          <p:cNvPr id="315" name="SKU 508"/>
          <p:cNvSpPr/>
          <p:nvPr/>
        </p:nvSpPr>
        <p:spPr>
          <a:xfrm>
            <a:off x="2922973" y="2911406"/>
            <a:ext cx="77724" cy="77724"/>
          </a:xfrm>
          <a:prstGeom prst="ellipse">
            <a:avLst/>
          </a:prstGeom>
          <a:solidFill>
            <a:srgbClr val="E87BA4">
              <a:alpha val="88000"/>
            </a:srgbClr>
          </a:solidFill>
          <a:ln w="3175">
            <a:solidFill>
              <a:srgbClr val="FFFFFF"/>
            </a:solidFill>
            <a:prstDash val="solid"/>
          </a:ln>
        </p:spPr>
      </p:sp>
      <p:sp>
        <p:nvSpPr>
          <p:cNvPr id="316" name="SKU 509"/>
          <p:cNvSpPr/>
          <p:nvPr/>
        </p:nvSpPr>
        <p:spPr>
          <a:xfrm>
            <a:off x="1137038" y="2330480"/>
            <a:ext cx="77724" cy="77724"/>
          </a:xfrm>
          <a:prstGeom prst="ellipse">
            <a:avLst/>
          </a:prstGeom>
          <a:solidFill>
            <a:srgbClr val="008300">
              <a:alpha val="88000"/>
            </a:srgbClr>
          </a:solidFill>
          <a:ln w="3175">
            <a:solidFill>
              <a:srgbClr val="FFFFFF"/>
            </a:solidFill>
            <a:prstDash val="solid"/>
          </a:ln>
        </p:spPr>
      </p:sp>
      <p:sp>
        <p:nvSpPr>
          <p:cNvPr id="317" name="SKU 510"/>
          <p:cNvSpPr/>
          <p:nvPr/>
        </p:nvSpPr>
        <p:spPr>
          <a:xfrm>
            <a:off x="724407" y="1880959"/>
            <a:ext cx="77724" cy="77724"/>
          </a:xfrm>
          <a:prstGeom prst="ellipse">
            <a:avLst/>
          </a:prstGeom>
          <a:solidFill>
            <a:srgbClr val="2A78D6">
              <a:alpha val="88000"/>
            </a:srgbClr>
          </a:solidFill>
          <a:ln w="3175">
            <a:solidFill>
              <a:srgbClr val="FFFFFF"/>
            </a:solidFill>
            <a:prstDash val="solid"/>
          </a:ln>
        </p:spPr>
      </p:sp>
      <p:sp>
        <p:nvSpPr>
          <p:cNvPr id="318" name="SKU 511"/>
          <p:cNvSpPr/>
          <p:nvPr/>
        </p:nvSpPr>
        <p:spPr>
          <a:xfrm>
            <a:off x="3493446" y="2648933"/>
            <a:ext cx="77724" cy="77724"/>
          </a:xfrm>
          <a:prstGeom prst="ellipse">
            <a:avLst/>
          </a:prstGeom>
          <a:solidFill>
            <a:srgbClr val="EDA100">
              <a:alpha val="88000"/>
            </a:srgbClr>
          </a:solidFill>
          <a:ln w="3175">
            <a:solidFill>
              <a:srgbClr val="FFFFFF"/>
            </a:solidFill>
            <a:prstDash val="solid"/>
          </a:ln>
        </p:spPr>
      </p:sp>
      <p:sp>
        <p:nvSpPr>
          <p:cNvPr id="319" name="SKU 512"/>
          <p:cNvSpPr/>
          <p:nvPr/>
        </p:nvSpPr>
        <p:spPr>
          <a:xfrm>
            <a:off x="1822087" y="2149800"/>
            <a:ext cx="77724" cy="77724"/>
          </a:xfrm>
          <a:prstGeom prst="ellipse">
            <a:avLst/>
          </a:prstGeom>
          <a:solidFill>
            <a:srgbClr val="2A78D6">
              <a:alpha val="88000"/>
            </a:srgbClr>
          </a:solidFill>
          <a:ln w="3175">
            <a:solidFill>
              <a:srgbClr val="FFFFFF"/>
            </a:solidFill>
            <a:prstDash val="solid"/>
          </a:ln>
        </p:spPr>
      </p:sp>
      <p:sp>
        <p:nvSpPr>
          <p:cNvPr id="320" name="SKU 513"/>
          <p:cNvSpPr/>
          <p:nvPr/>
        </p:nvSpPr>
        <p:spPr>
          <a:xfrm>
            <a:off x="820554" y="2353610"/>
            <a:ext cx="77724" cy="77724"/>
          </a:xfrm>
          <a:prstGeom prst="ellipse">
            <a:avLst/>
          </a:prstGeom>
          <a:solidFill>
            <a:srgbClr val="008300">
              <a:alpha val="88000"/>
            </a:srgbClr>
          </a:solidFill>
          <a:ln w="3175">
            <a:solidFill>
              <a:srgbClr val="FFFFFF"/>
            </a:solidFill>
            <a:prstDash val="solid"/>
          </a:ln>
        </p:spPr>
      </p:sp>
      <p:sp>
        <p:nvSpPr>
          <p:cNvPr id="321" name="SKU 514"/>
          <p:cNvSpPr/>
          <p:nvPr/>
        </p:nvSpPr>
        <p:spPr>
          <a:xfrm>
            <a:off x="3314773" y="2350258"/>
            <a:ext cx="77724" cy="77724"/>
          </a:xfrm>
          <a:prstGeom prst="ellipse">
            <a:avLst/>
          </a:prstGeom>
          <a:solidFill>
            <a:srgbClr val="EDA100">
              <a:alpha val="88000"/>
            </a:srgbClr>
          </a:solidFill>
          <a:ln w="3175">
            <a:solidFill>
              <a:srgbClr val="FFFFFF"/>
            </a:solidFill>
            <a:prstDash val="solid"/>
          </a:ln>
        </p:spPr>
      </p:sp>
      <p:sp>
        <p:nvSpPr>
          <p:cNvPr id="322" name="SKU 515"/>
          <p:cNvSpPr/>
          <p:nvPr/>
        </p:nvSpPr>
        <p:spPr>
          <a:xfrm>
            <a:off x="1850130" y="3513449"/>
            <a:ext cx="77724" cy="77724"/>
          </a:xfrm>
          <a:prstGeom prst="ellipse">
            <a:avLst/>
          </a:prstGeom>
          <a:solidFill>
            <a:srgbClr val="E87BA4">
              <a:alpha val="88000"/>
            </a:srgbClr>
          </a:solidFill>
          <a:ln w="3175">
            <a:solidFill>
              <a:srgbClr val="FFFFFF"/>
            </a:solidFill>
            <a:prstDash val="solid"/>
          </a:ln>
        </p:spPr>
      </p:sp>
      <p:sp>
        <p:nvSpPr>
          <p:cNvPr id="323" name="SKU 516"/>
          <p:cNvSpPr/>
          <p:nvPr/>
        </p:nvSpPr>
        <p:spPr>
          <a:xfrm>
            <a:off x="1330134" y="2590271"/>
            <a:ext cx="77724" cy="77724"/>
          </a:xfrm>
          <a:prstGeom prst="ellipse">
            <a:avLst/>
          </a:prstGeom>
          <a:solidFill>
            <a:srgbClr val="008300">
              <a:alpha val="88000"/>
            </a:srgbClr>
          </a:solidFill>
          <a:ln w="3175">
            <a:solidFill>
              <a:srgbClr val="FFFFFF"/>
            </a:solidFill>
            <a:prstDash val="solid"/>
          </a:ln>
        </p:spPr>
      </p:sp>
      <p:sp>
        <p:nvSpPr>
          <p:cNvPr id="324" name="SKU 517"/>
          <p:cNvSpPr/>
          <p:nvPr/>
        </p:nvSpPr>
        <p:spPr>
          <a:xfrm>
            <a:off x="973588" y="2702903"/>
            <a:ext cx="77724" cy="77724"/>
          </a:xfrm>
          <a:prstGeom prst="ellipse">
            <a:avLst/>
          </a:prstGeom>
          <a:solidFill>
            <a:srgbClr val="008300">
              <a:alpha val="88000"/>
            </a:srgbClr>
          </a:solidFill>
          <a:ln w="3175">
            <a:solidFill>
              <a:srgbClr val="FFFFFF"/>
            </a:solidFill>
            <a:prstDash val="solid"/>
          </a:ln>
        </p:spPr>
      </p:sp>
      <p:sp>
        <p:nvSpPr>
          <p:cNvPr id="325" name="SKU 518"/>
          <p:cNvSpPr/>
          <p:nvPr/>
        </p:nvSpPr>
        <p:spPr>
          <a:xfrm>
            <a:off x="1431890" y="2449481"/>
            <a:ext cx="77724" cy="77724"/>
          </a:xfrm>
          <a:prstGeom prst="ellipse">
            <a:avLst/>
          </a:prstGeom>
          <a:solidFill>
            <a:srgbClr val="008300">
              <a:alpha val="88000"/>
            </a:srgbClr>
          </a:solidFill>
          <a:ln w="3175">
            <a:solidFill>
              <a:srgbClr val="FFFFFF"/>
            </a:solidFill>
            <a:prstDash val="solid"/>
          </a:ln>
        </p:spPr>
      </p:sp>
      <p:sp>
        <p:nvSpPr>
          <p:cNvPr id="326" name="SKU 519"/>
          <p:cNvSpPr/>
          <p:nvPr/>
        </p:nvSpPr>
        <p:spPr>
          <a:xfrm>
            <a:off x="967980" y="2829949"/>
            <a:ext cx="77724" cy="77724"/>
          </a:xfrm>
          <a:prstGeom prst="ellipse">
            <a:avLst/>
          </a:prstGeom>
          <a:solidFill>
            <a:srgbClr val="008300">
              <a:alpha val="88000"/>
            </a:srgbClr>
          </a:solidFill>
          <a:ln w="3175">
            <a:solidFill>
              <a:srgbClr val="FFFFFF"/>
            </a:solidFill>
            <a:prstDash val="solid"/>
          </a:ln>
        </p:spPr>
      </p:sp>
      <p:sp>
        <p:nvSpPr>
          <p:cNvPr id="327" name="SKU 520"/>
          <p:cNvSpPr/>
          <p:nvPr/>
        </p:nvSpPr>
        <p:spPr>
          <a:xfrm>
            <a:off x="1566496" y="2498087"/>
            <a:ext cx="77724" cy="77724"/>
          </a:xfrm>
          <a:prstGeom prst="ellipse">
            <a:avLst/>
          </a:prstGeom>
          <a:solidFill>
            <a:srgbClr val="008300">
              <a:alpha val="88000"/>
            </a:srgbClr>
          </a:solidFill>
          <a:ln w="3175">
            <a:solidFill>
              <a:srgbClr val="FFFFFF"/>
            </a:solidFill>
            <a:prstDash val="solid"/>
          </a:ln>
        </p:spPr>
      </p:sp>
      <p:sp>
        <p:nvSpPr>
          <p:cNvPr id="328" name="SKU 521"/>
          <p:cNvSpPr/>
          <p:nvPr/>
        </p:nvSpPr>
        <p:spPr>
          <a:xfrm>
            <a:off x="1419070" y="2370706"/>
            <a:ext cx="77724" cy="77724"/>
          </a:xfrm>
          <a:prstGeom prst="ellipse">
            <a:avLst/>
          </a:prstGeom>
          <a:solidFill>
            <a:srgbClr val="008300">
              <a:alpha val="88000"/>
            </a:srgbClr>
          </a:solidFill>
          <a:ln w="3175">
            <a:solidFill>
              <a:srgbClr val="FFFFFF"/>
            </a:solidFill>
            <a:prstDash val="solid"/>
          </a:ln>
        </p:spPr>
      </p:sp>
      <p:sp>
        <p:nvSpPr>
          <p:cNvPr id="329" name="SKU 522"/>
          <p:cNvSpPr/>
          <p:nvPr/>
        </p:nvSpPr>
        <p:spPr>
          <a:xfrm>
            <a:off x="1790839" y="2079405"/>
            <a:ext cx="77724" cy="77724"/>
          </a:xfrm>
          <a:prstGeom prst="ellipse">
            <a:avLst/>
          </a:prstGeom>
          <a:solidFill>
            <a:srgbClr val="2A78D6">
              <a:alpha val="88000"/>
            </a:srgbClr>
          </a:solidFill>
          <a:ln w="3175">
            <a:solidFill>
              <a:srgbClr val="FFFFFF"/>
            </a:solidFill>
            <a:prstDash val="solid"/>
          </a:ln>
        </p:spPr>
      </p:sp>
      <p:sp>
        <p:nvSpPr>
          <p:cNvPr id="330" name="SKU 523"/>
          <p:cNvSpPr/>
          <p:nvPr/>
        </p:nvSpPr>
        <p:spPr>
          <a:xfrm>
            <a:off x="2205074" y="2583232"/>
            <a:ext cx="77724" cy="77724"/>
          </a:xfrm>
          <a:prstGeom prst="ellipse">
            <a:avLst/>
          </a:prstGeom>
          <a:solidFill>
            <a:srgbClr val="008300">
              <a:alpha val="88000"/>
            </a:srgbClr>
          </a:solidFill>
          <a:ln w="3175">
            <a:solidFill>
              <a:srgbClr val="FFFFFF"/>
            </a:solidFill>
            <a:prstDash val="solid"/>
          </a:ln>
        </p:spPr>
      </p:sp>
      <p:sp>
        <p:nvSpPr>
          <p:cNvPr id="331" name="SKU 524"/>
          <p:cNvSpPr/>
          <p:nvPr/>
        </p:nvSpPr>
        <p:spPr>
          <a:xfrm>
            <a:off x="4978119" y="2872856"/>
            <a:ext cx="77724" cy="77724"/>
          </a:xfrm>
          <a:prstGeom prst="ellipse">
            <a:avLst/>
          </a:prstGeom>
          <a:solidFill>
            <a:srgbClr val="EDA100">
              <a:alpha val="88000"/>
            </a:srgbClr>
          </a:solidFill>
          <a:ln w="3175">
            <a:solidFill>
              <a:srgbClr val="FFFFFF"/>
            </a:solidFill>
            <a:prstDash val="solid"/>
          </a:ln>
        </p:spPr>
      </p:sp>
      <p:sp>
        <p:nvSpPr>
          <p:cNvPr id="332" name="SKU 525"/>
          <p:cNvSpPr/>
          <p:nvPr/>
        </p:nvSpPr>
        <p:spPr>
          <a:xfrm>
            <a:off x="3879637" y="2376740"/>
            <a:ext cx="77724" cy="77724"/>
          </a:xfrm>
          <a:prstGeom prst="ellipse">
            <a:avLst/>
          </a:prstGeom>
          <a:solidFill>
            <a:srgbClr val="EDA100">
              <a:alpha val="88000"/>
            </a:srgbClr>
          </a:solidFill>
          <a:ln w="3175">
            <a:solidFill>
              <a:srgbClr val="FFFFFF"/>
            </a:solidFill>
            <a:prstDash val="solid"/>
          </a:ln>
        </p:spPr>
      </p:sp>
      <p:sp>
        <p:nvSpPr>
          <p:cNvPr id="333" name="SKU 526"/>
          <p:cNvSpPr/>
          <p:nvPr/>
        </p:nvSpPr>
        <p:spPr>
          <a:xfrm>
            <a:off x="3418932" y="2501104"/>
            <a:ext cx="77724" cy="77724"/>
          </a:xfrm>
          <a:prstGeom prst="ellipse">
            <a:avLst/>
          </a:prstGeom>
          <a:solidFill>
            <a:srgbClr val="EDA100">
              <a:alpha val="88000"/>
            </a:srgbClr>
          </a:solidFill>
          <a:ln w="3175">
            <a:solidFill>
              <a:srgbClr val="FFFFFF"/>
            </a:solidFill>
            <a:prstDash val="solid"/>
          </a:ln>
        </p:spPr>
      </p:sp>
      <p:sp>
        <p:nvSpPr>
          <p:cNvPr id="334" name="SKU 527"/>
          <p:cNvSpPr/>
          <p:nvPr/>
        </p:nvSpPr>
        <p:spPr>
          <a:xfrm>
            <a:off x="3255482" y="2923138"/>
            <a:ext cx="77724" cy="77724"/>
          </a:xfrm>
          <a:prstGeom prst="ellipse">
            <a:avLst/>
          </a:prstGeom>
          <a:solidFill>
            <a:srgbClr val="E87BA4">
              <a:alpha val="88000"/>
            </a:srgbClr>
          </a:solidFill>
          <a:ln w="3175">
            <a:solidFill>
              <a:srgbClr val="FFFFFF"/>
            </a:solidFill>
            <a:prstDash val="solid"/>
          </a:ln>
        </p:spPr>
      </p:sp>
      <p:sp>
        <p:nvSpPr>
          <p:cNvPr id="335" name="SKU 528"/>
          <p:cNvSpPr/>
          <p:nvPr/>
        </p:nvSpPr>
        <p:spPr>
          <a:xfrm>
            <a:off x="1613768" y="1686200"/>
            <a:ext cx="77724" cy="77724"/>
          </a:xfrm>
          <a:prstGeom prst="ellipse">
            <a:avLst/>
          </a:prstGeom>
          <a:solidFill>
            <a:srgbClr val="2A78D6">
              <a:alpha val="88000"/>
            </a:srgbClr>
          </a:solidFill>
          <a:ln w="3175">
            <a:solidFill>
              <a:srgbClr val="FFFFFF"/>
            </a:solidFill>
            <a:prstDash val="solid"/>
          </a:ln>
        </p:spPr>
      </p:sp>
      <p:sp>
        <p:nvSpPr>
          <p:cNvPr id="336" name="SKU 529"/>
          <p:cNvSpPr/>
          <p:nvPr/>
        </p:nvSpPr>
        <p:spPr>
          <a:xfrm>
            <a:off x="3563954" y="2118961"/>
            <a:ext cx="77724" cy="77724"/>
          </a:xfrm>
          <a:prstGeom prst="ellipse">
            <a:avLst/>
          </a:prstGeom>
          <a:solidFill>
            <a:srgbClr val="EDA100">
              <a:alpha val="88000"/>
            </a:srgbClr>
          </a:solidFill>
          <a:ln w="3175">
            <a:solidFill>
              <a:srgbClr val="FFFFFF"/>
            </a:solidFill>
            <a:prstDash val="solid"/>
          </a:ln>
        </p:spPr>
      </p:sp>
      <p:sp>
        <p:nvSpPr>
          <p:cNvPr id="337" name="SKU 530"/>
          <p:cNvSpPr/>
          <p:nvPr/>
        </p:nvSpPr>
        <p:spPr>
          <a:xfrm>
            <a:off x="1148256" y="2270812"/>
            <a:ext cx="77724" cy="77724"/>
          </a:xfrm>
          <a:prstGeom prst="ellipse">
            <a:avLst/>
          </a:prstGeom>
          <a:solidFill>
            <a:srgbClr val="008300">
              <a:alpha val="88000"/>
            </a:srgbClr>
          </a:solidFill>
          <a:ln w="3175">
            <a:solidFill>
              <a:srgbClr val="FFFFFF"/>
            </a:solidFill>
            <a:prstDash val="solid"/>
          </a:ln>
        </p:spPr>
      </p:sp>
      <p:sp>
        <p:nvSpPr>
          <p:cNvPr id="338" name="SKU 531"/>
          <p:cNvSpPr/>
          <p:nvPr/>
        </p:nvSpPr>
        <p:spPr>
          <a:xfrm>
            <a:off x="1992749" y="1648321"/>
            <a:ext cx="77724" cy="77724"/>
          </a:xfrm>
          <a:prstGeom prst="ellipse">
            <a:avLst/>
          </a:prstGeom>
          <a:solidFill>
            <a:srgbClr val="2A78D6">
              <a:alpha val="88000"/>
            </a:srgbClr>
          </a:solidFill>
          <a:ln w="3175">
            <a:solidFill>
              <a:srgbClr val="FFFFFF"/>
            </a:solidFill>
            <a:prstDash val="solid"/>
          </a:ln>
        </p:spPr>
      </p:sp>
      <p:sp>
        <p:nvSpPr>
          <p:cNvPr id="339" name="SKU 532"/>
          <p:cNvSpPr/>
          <p:nvPr/>
        </p:nvSpPr>
        <p:spPr>
          <a:xfrm>
            <a:off x="1242800" y="2067673"/>
            <a:ext cx="77724" cy="77724"/>
          </a:xfrm>
          <a:prstGeom prst="ellipse">
            <a:avLst/>
          </a:prstGeom>
          <a:solidFill>
            <a:srgbClr val="2A78D6">
              <a:alpha val="88000"/>
            </a:srgbClr>
          </a:solidFill>
          <a:ln w="3175">
            <a:solidFill>
              <a:srgbClr val="FFFFFF"/>
            </a:solidFill>
            <a:prstDash val="solid"/>
          </a:ln>
        </p:spPr>
      </p:sp>
      <p:sp>
        <p:nvSpPr>
          <p:cNvPr id="340" name="SKU 533"/>
          <p:cNvSpPr/>
          <p:nvPr/>
        </p:nvSpPr>
        <p:spPr>
          <a:xfrm>
            <a:off x="3434155" y="2433056"/>
            <a:ext cx="77724" cy="77724"/>
          </a:xfrm>
          <a:prstGeom prst="ellipse">
            <a:avLst/>
          </a:prstGeom>
          <a:solidFill>
            <a:srgbClr val="EDA100">
              <a:alpha val="88000"/>
            </a:srgbClr>
          </a:solidFill>
          <a:ln w="3175">
            <a:solidFill>
              <a:srgbClr val="FFFFFF"/>
            </a:solidFill>
            <a:prstDash val="solid"/>
          </a:ln>
        </p:spPr>
      </p:sp>
      <p:sp>
        <p:nvSpPr>
          <p:cNvPr id="341" name="SKU 534"/>
          <p:cNvSpPr/>
          <p:nvPr/>
        </p:nvSpPr>
        <p:spPr>
          <a:xfrm>
            <a:off x="1435896" y="1814251"/>
            <a:ext cx="77724" cy="77724"/>
          </a:xfrm>
          <a:prstGeom prst="ellipse">
            <a:avLst/>
          </a:prstGeom>
          <a:solidFill>
            <a:srgbClr val="2A78D6">
              <a:alpha val="88000"/>
            </a:srgbClr>
          </a:solidFill>
          <a:ln w="3175">
            <a:solidFill>
              <a:srgbClr val="FFFFFF"/>
            </a:solidFill>
            <a:prstDash val="solid"/>
          </a:ln>
        </p:spPr>
      </p:sp>
      <p:sp>
        <p:nvSpPr>
          <p:cNvPr id="342" name="SKU 535"/>
          <p:cNvSpPr/>
          <p:nvPr/>
        </p:nvSpPr>
        <p:spPr>
          <a:xfrm>
            <a:off x="1662643" y="2490042"/>
            <a:ext cx="77724" cy="77724"/>
          </a:xfrm>
          <a:prstGeom prst="ellipse">
            <a:avLst/>
          </a:prstGeom>
          <a:solidFill>
            <a:srgbClr val="008300">
              <a:alpha val="88000"/>
            </a:srgbClr>
          </a:solidFill>
          <a:ln w="3175">
            <a:solidFill>
              <a:srgbClr val="FFFFFF"/>
            </a:solidFill>
            <a:prstDash val="solid"/>
          </a:ln>
        </p:spPr>
      </p:sp>
      <p:sp>
        <p:nvSpPr>
          <p:cNvPr id="343" name="SKU 536"/>
          <p:cNvSpPr/>
          <p:nvPr/>
        </p:nvSpPr>
        <p:spPr>
          <a:xfrm>
            <a:off x="3568761" y="1986551"/>
            <a:ext cx="77724" cy="77724"/>
          </a:xfrm>
          <a:prstGeom prst="ellipse">
            <a:avLst/>
          </a:prstGeom>
          <a:solidFill>
            <a:srgbClr val="EDA100">
              <a:alpha val="88000"/>
            </a:srgbClr>
          </a:solidFill>
          <a:ln w="3175">
            <a:solidFill>
              <a:srgbClr val="FFFFFF"/>
            </a:solidFill>
            <a:prstDash val="solid"/>
          </a:ln>
        </p:spPr>
      </p:sp>
      <p:sp>
        <p:nvSpPr>
          <p:cNvPr id="344" name="SKU 537"/>
          <p:cNvSpPr/>
          <p:nvPr/>
        </p:nvSpPr>
        <p:spPr>
          <a:xfrm>
            <a:off x="1753983" y="2359644"/>
            <a:ext cx="77724" cy="77724"/>
          </a:xfrm>
          <a:prstGeom prst="ellipse">
            <a:avLst/>
          </a:prstGeom>
          <a:solidFill>
            <a:srgbClr val="008300">
              <a:alpha val="88000"/>
            </a:srgbClr>
          </a:solidFill>
          <a:ln w="3175">
            <a:solidFill>
              <a:srgbClr val="FFFFFF"/>
            </a:solidFill>
            <a:prstDash val="solid"/>
          </a:ln>
        </p:spPr>
      </p:sp>
      <p:sp>
        <p:nvSpPr>
          <p:cNvPr id="345" name="SKU 538"/>
          <p:cNvSpPr/>
          <p:nvPr/>
        </p:nvSpPr>
        <p:spPr>
          <a:xfrm>
            <a:off x="879845" y="2156505"/>
            <a:ext cx="77724" cy="77724"/>
          </a:xfrm>
          <a:prstGeom prst="ellipse">
            <a:avLst/>
          </a:prstGeom>
          <a:solidFill>
            <a:srgbClr val="008300">
              <a:alpha val="88000"/>
            </a:srgbClr>
          </a:solidFill>
          <a:ln w="3175">
            <a:solidFill>
              <a:srgbClr val="FFFFFF"/>
            </a:solidFill>
            <a:prstDash val="solid"/>
          </a:ln>
        </p:spPr>
      </p:sp>
      <p:sp>
        <p:nvSpPr>
          <p:cNvPr id="346" name="SKU 539"/>
          <p:cNvSpPr/>
          <p:nvPr/>
        </p:nvSpPr>
        <p:spPr>
          <a:xfrm>
            <a:off x="3152925" y="2622787"/>
            <a:ext cx="77724" cy="77724"/>
          </a:xfrm>
          <a:prstGeom prst="ellipse">
            <a:avLst/>
          </a:prstGeom>
          <a:solidFill>
            <a:srgbClr val="EDA100">
              <a:alpha val="88000"/>
            </a:srgbClr>
          </a:solidFill>
          <a:ln w="3175">
            <a:solidFill>
              <a:srgbClr val="FFFFFF"/>
            </a:solidFill>
            <a:prstDash val="solid"/>
          </a:ln>
        </p:spPr>
      </p:sp>
      <p:sp>
        <p:nvSpPr>
          <p:cNvPr id="347" name="SKU 540"/>
          <p:cNvSpPr/>
          <p:nvPr/>
        </p:nvSpPr>
        <p:spPr>
          <a:xfrm>
            <a:off x="4415658" y="2474287"/>
            <a:ext cx="77724" cy="77724"/>
          </a:xfrm>
          <a:prstGeom prst="ellipse">
            <a:avLst/>
          </a:prstGeom>
          <a:solidFill>
            <a:srgbClr val="EDA100">
              <a:alpha val="88000"/>
            </a:srgbClr>
          </a:solidFill>
          <a:ln w="3175">
            <a:solidFill>
              <a:srgbClr val="FFFFFF"/>
            </a:solidFill>
            <a:prstDash val="solid"/>
          </a:ln>
        </p:spPr>
      </p:sp>
      <p:sp>
        <p:nvSpPr>
          <p:cNvPr id="348" name="SKU 541"/>
          <p:cNvSpPr/>
          <p:nvPr/>
        </p:nvSpPr>
        <p:spPr>
          <a:xfrm>
            <a:off x="3112062" y="3157453"/>
            <a:ext cx="77724" cy="77724"/>
          </a:xfrm>
          <a:prstGeom prst="ellipse">
            <a:avLst/>
          </a:prstGeom>
          <a:solidFill>
            <a:srgbClr val="E87BA4">
              <a:alpha val="88000"/>
            </a:srgbClr>
          </a:solidFill>
          <a:ln w="3175">
            <a:solidFill>
              <a:srgbClr val="FFFFFF"/>
            </a:solidFill>
            <a:prstDash val="solid"/>
          </a:ln>
        </p:spPr>
      </p:sp>
      <p:sp>
        <p:nvSpPr>
          <p:cNvPr id="349" name="SKU 542"/>
          <p:cNvSpPr/>
          <p:nvPr/>
        </p:nvSpPr>
        <p:spPr>
          <a:xfrm>
            <a:off x="1266837" y="2422664"/>
            <a:ext cx="77724" cy="77724"/>
          </a:xfrm>
          <a:prstGeom prst="ellipse">
            <a:avLst/>
          </a:prstGeom>
          <a:solidFill>
            <a:srgbClr val="008300">
              <a:alpha val="88000"/>
            </a:srgbClr>
          </a:solidFill>
          <a:ln w="3175">
            <a:solidFill>
              <a:srgbClr val="FFFFFF"/>
            </a:solidFill>
            <a:prstDash val="solid"/>
          </a:ln>
        </p:spPr>
      </p:sp>
      <p:sp>
        <p:nvSpPr>
          <p:cNvPr id="350" name="SKU 543"/>
          <p:cNvSpPr/>
          <p:nvPr/>
        </p:nvSpPr>
        <p:spPr>
          <a:xfrm>
            <a:off x="2397368" y="2612395"/>
            <a:ext cx="77724" cy="77724"/>
          </a:xfrm>
          <a:prstGeom prst="ellipse">
            <a:avLst/>
          </a:prstGeom>
          <a:solidFill>
            <a:srgbClr val="008300">
              <a:alpha val="88000"/>
            </a:srgbClr>
          </a:solidFill>
          <a:ln w="3175">
            <a:solidFill>
              <a:srgbClr val="FFFFFF"/>
            </a:solidFill>
            <a:prstDash val="solid"/>
          </a:ln>
        </p:spPr>
      </p:sp>
      <p:sp>
        <p:nvSpPr>
          <p:cNvPr id="351" name="SKU 544"/>
          <p:cNvSpPr/>
          <p:nvPr/>
        </p:nvSpPr>
        <p:spPr>
          <a:xfrm>
            <a:off x="2904545" y="1442835"/>
            <a:ext cx="77724" cy="77724"/>
          </a:xfrm>
          <a:prstGeom prst="ellipse">
            <a:avLst/>
          </a:prstGeom>
          <a:solidFill>
            <a:srgbClr val="2A78D6">
              <a:alpha val="88000"/>
            </a:srgbClr>
          </a:solidFill>
          <a:ln w="3175">
            <a:solidFill>
              <a:srgbClr val="FFFFFF"/>
            </a:solidFill>
            <a:prstDash val="solid"/>
          </a:ln>
        </p:spPr>
      </p:sp>
      <p:sp>
        <p:nvSpPr>
          <p:cNvPr id="352" name="SKU 545"/>
          <p:cNvSpPr/>
          <p:nvPr/>
        </p:nvSpPr>
        <p:spPr>
          <a:xfrm>
            <a:off x="1664246" y="2553398"/>
            <a:ext cx="77724" cy="77724"/>
          </a:xfrm>
          <a:prstGeom prst="ellipse">
            <a:avLst/>
          </a:prstGeom>
          <a:solidFill>
            <a:srgbClr val="008300">
              <a:alpha val="88000"/>
            </a:srgbClr>
          </a:solidFill>
          <a:ln w="3175">
            <a:solidFill>
              <a:srgbClr val="FFFFFF"/>
            </a:solidFill>
            <a:prstDash val="solid"/>
          </a:ln>
        </p:spPr>
      </p:sp>
      <p:sp>
        <p:nvSpPr>
          <p:cNvPr id="353" name="SKU 546"/>
          <p:cNvSpPr/>
          <p:nvPr/>
        </p:nvSpPr>
        <p:spPr>
          <a:xfrm>
            <a:off x="770878" y="2599322"/>
            <a:ext cx="77724" cy="77724"/>
          </a:xfrm>
          <a:prstGeom prst="ellipse">
            <a:avLst/>
          </a:prstGeom>
          <a:solidFill>
            <a:srgbClr val="008300">
              <a:alpha val="88000"/>
            </a:srgbClr>
          </a:solidFill>
          <a:ln w="3175">
            <a:solidFill>
              <a:srgbClr val="FFFFFF"/>
            </a:solidFill>
            <a:prstDash val="solid"/>
          </a:ln>
        </p:spPr>
      </p:sp>
      <p:sp>
        <p:nvSpPr>
          <p:cNvPr id="354" name="SKU 547"/>
          <p:cNvSpPr/>
          <p:nvPr/>
        </p:nvSpPr>
        <p:spPr>
          <a:xfrm>
            <a:off x="3487838" y="2838664"/>
            <a:ext cx="77724" cy="77724"/>
          </a:xfrm>
          <a:prstGeom prst="ellipse">
            <a:avLst/>
          </a:prstGeom>
          <a:solidFill>
            <a:srgbClr val="EDA100">
              <a:alpha val="88000"/>
            </a:srgbClr>
          </a:solidFill>
          <a:ln w="3175">
            <a:solidFill>
              <a:srgbClr val="FFFFFF"/>
            </a:solidFill>
            <a:prstDash val="solid"/>
          </a:ln>
        </p:spPr>
      </p:sp>
      <p:sp>
        <p:nvSpPr>
          <p:cNvPr id="355" name="SKU 548"/>
          <p:cNvSpPr/>
          <p:nvPr/>
        </p:nvSpPr>
        <p:spPr>
          <a:xfrm>
            <a:off x="2249141" y="2561778"/>
            <a:ext cx="77724" cy="77724"/>
          </a:xfrm>
          <a:prstGeom prst="ellipse">
            <a:avLst/>
          </a:prstGeom>
          <a:solidFill>
            <a:srgbClr val="008300">
              <a:alpha val="88000"/>
            </a:srgbClr>
          </a:solidFill>
          <a:ln w="3175">
            <a:solidFill>
              <a:srgbClr val="FFFFFF"/>
            </a:solidFill>
            <a:prstDash val="solid"/>
          </a:ln>
        </p:spPr>
      </p:sp>
      <p:sp>
        <p:nvSpPr>
          <p:cNvPr id="356" name="SKU 549"/>
          <p:cNvSpPr/>
          <p:nvPr/>
        </p:nvSpPr>
        <p:spPr>
          <a:xfrm>
            <a:off x="1340550" y="2611390"/>
            <a:ext cx="77724" cy="77724"/>
          </a:xfrm>
          <a:prstGeom prst="ellipse">
            <a:avLst/>
          </a:prstGeom>
          <a:solidFill>
            <a:srgbClr val="008300">
              <a:alpha val="88000"/>
            </a:srgbClr>
          </a:solidFill>
          <a:ln w="3175">
            <a:solidFill>
              <a:srgbClr val="FFFFFF"/>
            </a:solidFill>
            <a:prstDash val="solid"/>
          </a:ln>
        </p:spPr>
      </p:sp>
      <p:sp>
        <p:nvSpPr>
          <p:cNvPr id="357" name="SKU 550"/>
          <p:cNvSpPr/>
          <p:nvPr/>
        </p:nvSpPr>
        <p:spPr>
          <a:xfrm>
            <a:off x="2947811" y="1731454"/>
            <a:ext cx="77724" cy="77724"/>
          </a:xfrm>
          <a:prstGeom prst="ellipse">
            <a:avLst/>
          </a:prstGeom>
          <a:solidFill>
            <a:srgbClr val="2A78D6">
              <a:alpha val="88000"/>
            </a:srgbClr>
          </a:solidFill>
          <a:ln w="3175">
            <a:solidFill>
              <a:srgbClr val="FFFFFF"/>
            </a:solidFill>
            <a:prstDash val="solid"/>
          </a:ln>
        </p:spPr>
      </p:sp>
      <p:sp>
        <p:nvSpPr>
          <p:cNvPr id="358" name="SKU 551"/>
          <p:cNvSpPr/>
          <p:nvPr/>
        </p:nvSpPr>
        <p:spPr>
          <a:xfrm>
            <a:off x="2106523" y="2430374"/>
            <a:ext cx="77724" cy="77724"/>
          </a:xfrm>
          <a:prstGeom prst="ellipse">
            <a:avLst/>
          </a:prstGeom>
          <a:solidFill>
            <a:srgbClr val="008300">
              <a:alpha val="88000"/>
            </a:srgbClr>
          </a:solidFill>
          <a:ln w="3175">
            <a:solidFill>
              <a:srgbClr val="FFFFFF"/>
            </a:solidFill>
            <a:prstDash val="solid"/>
          </a:ln>
        </p:spPr>
      </p:sp>
      <p:sp>
        <p:nvSpPr>
          <p:cNvPr id="359" name="SKU 552"/>
          <p:cNvSpPr/>
          <p:nvPr/>
        </p:nvSpPr>
        <p:spPr>
          <a:xfrm>
            <a:off x="2421405" y="2425681"/>
            <a:ext cx="77724" cy="77724"/>
          </a:xfrm>
          <a:prstGeom prst="ellipse">
            <a:avLst/>
          </a:prstGeom>
          <a:solidFill>
            <a:srgbClr val="008300">
              <a:alpha val="88000"/>
            </a:srgbClr>
          </a:solidFill>
          <a:ln w="3175">
            <a:solidFill>
              <a:srgbClr val="FFFFFF"/>
            </a:solidFill>
            <a:prstDash val="solid"/>
          </a:ln>
        </p:spPr>
      </p:sp>
      <p:sp>
        <p:nvSpPr>
          <p:cNvPr id="360" name="SKU 553"/>
          <p:cNvSpPr/>
          <p:nvPr/>
        </p:nvSpPr>
        <p:spPr>
          <a:xfrm>
            <a:off x="1677065" y="2530268"/>
            <a:ext cx="77724" cy="77724"/>
          </a:xfrm>
          <a:prstGeom prst="ellipse">
            <a:avLst/>
          </a:prstGeom>
          <a:solidFill>
            <a:srgbClr val="008300">
              <a:alpha val="88000"/>
            </a:srgbClr>
          </a:solidFill>
          <a:ln w="3175">
            <a:solidFill>
              <a:srgbClr val="FFFFFF"/>
            </a:solidFill>
            <a:prstDash val="solid"/>
          </a:ln>
        </p:spPr>
      </p:sp>
      <p:sp>
        <p:nvSpPr>
          <p:cNvPr id="361" name="SKU 554"/>
          <p:cNvSpPr/>
          <p:nvPr/>
        </p:nvSpPr>
        <p:spPr>
          <a:xfrm>
            <a:off x="1532844" y="2572840"/>
            <a:ext cx="77724" cy="77724"/>
          </a:xfrm>
          <a:prstGeom prst="ellipse">
            <a:avLst/>
          </a:prstGeom>
          <a:solidFill>
            <a:srgbClr val="008300">
              <a:alpha val="88000"/>
            </a:srgbClr>
          </a:solidFill>
          <a:ln w="3175">
            <a:solidFill>
              <a:srgbClr val="FFFFFF"/>
            </a:solidFill>
            <a:prstDash val="solid"/>
          </a:ln>
        </p:spPr>
      </p:sp>
      <p:sp>
        <p:nvSpPr>
          <p:cNvPr id="362" name="SKU 555"/>
          <p:cNvSpPr/>
          <p:nvPr/>
        </p:nvSpPr>
        <p:spPr>
          <a:xfrm>
            <a:off x="1627389" y="2651950"/>
            <a:ext cx="77724" cy="77724"/>
          </a:xfrm>
          <a:prstGeom prst="ellipse">
            <a:avLst/>
          </a:prstGeom>
          <a:solidFill>
            <a:srgbClr val="008300">
              <a:alpha val="88000"/>
            </a:srgbClr>
          </a:solidFill>
          <a:ln w="3175">
            <a:solidFill>
              <a:srgbClr val="FFFFFF"/>
            </a:solidFill>
            <a:prstDash val="solid"/>
          </a:ln>
        </p:spPr>
      </p:sp>
      <p:sp>
        <p:nvSpPr>
          <p:cNvPr id="363" name="SKU 556"/>
          <p:cNvSpPr/>
          <p:nvPr/>
        </p:nvSpPr>
        <p:spPr>
          <a:xfrm>
            <a:off x="1095375" y="2693852"/>
            <a:ext cx="77724" cy="77724"/>
          </a:xfrm>
          <a:prstGeom prst="ellipse">
            <a:avLst/>
          </a:prstGeom>
          <a:solidFill>
            <a:srgbClr val="008300">
              <a:alpha val="88000"/>
            </a:srgbClr>
          </a:solidFill>
          <a:ln w="3175">
            <a:solidFill>
              <a:srgbClr val="FFFFFF"/>
            </a:solidFill>
            <a:prstDash val="solid"/>
          </a:ln>
        </p:spPr>
      </p:sp>
      <p:sp>
        <p:nvSpPr>
          <p:cNvPr id="364" name="SKU 557"/>
          <p:cNvSpPr/>
          <p:nvPr/>
        </p:nvSpPr>
        <p:spPr>
          <a:xfrm>
            <a:off x="1276452" y="2264443"/>
            <a:ext cx="77724" cy="77724"/>
          </a:xfrm>
          <a:prstGeom prst="ellipse">
            <a:avLst/>
          </a:prstGeom>
          <a:solidFill>
            <a:srgbClr val="008300">
              <a:alpha val="88000"/>
            </a:srgbClr>
          </a:solidFill>
          <a:ln w="3175">
            <a:solidFill>
              <a:srgbClr val="FFFFFF"/>
            </a:solidFill>
            <a:prstDash val="solid"/>
          </a:ln>
        </p:spPr>
      </p:sp>
      <p:sp>
        <p:nvSpPr>
          <p:cNvPr id="365" name="SKU 558"/>
          <p:cNvSpPr/>
          <p:nvPr/>
        </p:nvSpPr>
        <p:spPr>
          <a:xfrm>
            <a:off x="2951016" y="1781736"/>
            <a:ext cx="77724" cy="77724"/>
          </a:xfrm>
          <a:prstGeom prst="ellipse">
            <a:avLst/>
          </a:prstGeom>
          <a:solidFill>
            <a:srgbClr val="2A78D6">
              <a:alpha val="88000"/>
            </a:srgbClr>
          </a:solidFill>
          <a:ln w="3175">
            <a:solidFill>
              <a:srgbClr val="FFFFFF"/>
            </a:solidFill>
            <a:prstDash val="solid"/>
          </a:ln>
        </p:spPr>
      </p:sp>
      <p:sp>
        <p:nvSpPr>
          <p:cNvPr id="366" name="SKU 559"/>
          <p:cNvSpPr/>
          <p:nvPr/>
        </p:nvSpPr>
        <p:spPr>
          <a:xfrm>
            <a:off x="2238725" y="2431045"/>
            <a:ext cx="77724" cy="77724"/>
          </a:xfrm>
          <a:prstGeom prst="ellipse">
            <a:avLst/>
          </a:prstGeom>
          <a:solidFill>
            <a:srgbClr val="008300">
              <a:alpha val="88000"/>
            </a:srgbClr>
          </a:solidFill>
          <a:ln w="3175">
            <a:solidFill>
              <a:srgbClr val="FFFFFF"/>
            </a:solidFill>
            <a:prstDash val="solid"/>
          </a:ln>
        </p:spPr>
      </p:sp>
      <p:sp>
        <p:nvSpPr>
          <p:cNvPr id="367" name="SKU 560"/>
          <p:cNvSpPr/>
          <p:nvPr/>
        </p:nvSpPr>
        <p:spPr>
          <a:xfrm>
            <a:off x="2539986" y="2477304"/>
            <a:ext cx="77724" cy="77724"/>
          </a:xfrm>
          <a:prstGeom prst="ellipse">
            <a:avLst/>
          </a:prstGeom>
          <a:solidFill>
            <a:srgbClr val="008300">
              <a:alpha val="88000"/>
            </a:srgbClr>
          </a:solidFill>
          <a:ln w="3175">
            <a:solidFill>
              <a:srgbClr val="FFFFFF"/>
            </a:solidFill>
            <a:prstDash val="solid"/>
          </a:ln>
        </p:spPr>
      </p:sp>
      <p:sp>
        <p:nvSpPr>
          <p:cNvPr id="368" name="SKU 561"/>
          <p:cNvSpPr/>
          <p:nvPr/>
        </p:nvSpPr>
        <p:spPr>
          <a:xfrm>
            <a:off x="1632998" y="2728379"/>
            <a:ext cx="77724" cy="77724"/>
          </a:xfrm>
          <a:prstGeom prst="ellipse">
            <a:avLst/>
          </a:prstGeom>
          <a:solidFill>
            <a:srgbClr val="008300">
              <a:alpha val="88000"/>
            </a:srgbClr>
          </a:solidFill>
          <a:ln w="3175">
            <a:solidFill>
              <a:srgbClr val="FFFFFF"/>
            </a:solidFill>
            <a:prstDash val="solid"/>
          </a:ln>
        </p:spPr>
      </p:sp>
      <p:sp>
        <p:nvSpPr>
          <p:cNvPr id="369" name="SKU 562"/>
          <p:cNvSpPr/>
          <p:nvPr/>
        </p:nvSpPr>
        <p:spPr>
          <a:xfrm>
            <a:off x="1144249" y="3209075"/>
            <a:ext cx="77724" cy="77724"/>
          </a:xfrm>
          <a:prstGeom prst="ellipse">
            <a:avLst/>
          </a:prstGeom>
          <a:solidFill>
            <a:srgbClr val="E87BA4">
              <a:alpha val="88000"/>
            </a:srgbClr>
          </a:solidFill>
          <a:ln w="3175">
            <a:solidFill>
              <a:srgbClr val="FFFFFF"/>
            </a:solidFill>
            <a:prstDash val="solid"/>
          </a:ln>
        </p:spPr>
      </p:sp>
      <p:sp>
        <p:nvSpPr>
          <p:cNvPr id="370" name="SKU 563"/>
          <p:cNvSpPr/>
          <p:nvPr/>
        </p:nvSpPr>
        <p:spPr>
          <a:xfrm>
            <a:off x="1165883" y="2708937"/>
            <a:ext cx="77724" cy="77724"/>
          </a:xfrm>
          <a:prstGeom prst="ellipse">
            <a:avLst/>
          </a:prstGeom>
          <a:solidFill>
            <a:srgbClr val="008300">
              <a:alpha val="88000"/>
            </a:srgbClr>
          </a:solidFill>
          <a:ln w="3175">
            <a:solidFill>
              <a:srgbClr val="FFFFFF"/>
            </a:solidFill>
            <a:prstDash val="solid"/>
          </a:ln>
        </p:spPr>
      </p:sp>
      <p:sp>
        <p:nvSpPr>
          <p:cNvPr id="371" name="SKU 564"/>
          <p:cNvSpPr/>
          <p:nvPr/>
        </p:nvSpPr>
        <p:spPr>
          <a:xfrm>
            <a:off x="1302892" y="2392160"/>
            <a:ext cx="77724" cy="77724"/>
          </a:xfrm>
          <a:prstGeom prst="ellipse">
            <a:avLst/>
          </a:prstGeom>
          <a:solidFill>
            <a:srgbClr val="008300">
              <a:alpha val="88000"/>
            </a:srgbClr>
          </a:solidFill>
          <a:ln w="3175">
            <a:solidFill>
              <a:srgbClr val="FFFFFF"/>
            </a:solidFill>
            <a:prstDash val="solid"/>
          </a:ln>
        </p:spPr>
      </p:sp>
      <p:sp>
        <p:nvSpPr>
          <p:cNvPr id="372" name="SKU 565"/>
          <p:cNvSpPr/>
          <p:nvPr/>
        </p:nvSpPr>
        <p:spPr>
          <a:xfrm>
            <a:off x="1889390" y="3769553"/>
            <a:ext cx="77724" cy="77724"/>
          </a:xfrm>
          <a:prstGeom prst="ellipse">
            <a:avLst/>
          </a:prstGeom>
          <a:solidFill>
            <a:srgbClr val="E87BA4">
              <a:alpha val="88000"/>
            </a:srgbClr>
          </a:solidFill>
          <a:ln w="3175">
            <a:solidFill>
              <a:srgbClr val="FFFFFF"/>
            </a:solidFill>
            <a:prstDash val="solid"/>
          </a:ln>
        </p:spPr>
      </p:sp>
      <p:sp>
        <p:nvSpPr>
          <p:cNvPr id="373" name="SKU 566"/>
          <p:cNvSpPr/>
          <p:nvPr/>
        </p:nvSpPr>
        <p:spPr>
          <a:xfrm>
            <a:off x="2678599" y="3017668"/>
            <a:ext cx="77724" cy="77724"/>
          </a:xfrm>
          <a:prstGeom prst="ellipse">
            <a:avLst/>
          </a:prstGeom>
          <a:solidFill>
            <a:srgbClr val="E87BA4">
              <a:alpha val="88000"/>
            </a:srgbClr>
          </a:solidFill>
          <a:ln w="3175">
            <a:solidFill>
              <a:srgbClr val="FFFFFF"/>
            </a:solidFill>
            <a:prstDash val="solid"/>
          </a:ln>
        </p:spPr>
      </p:sp>
      <p:sp>
        <p:nvSpPr>
          <p:cNvPr id="374" name="SKU 567"/>
          <p:cNvSpPr/>
          <p:nvPr/>
        </p:nvSpPr>
        <p:spPr>
          <a:xfrm>
            <a:off x="2735486" y="1734806"/>
            <a:ext cx="77724" cy="77724"/>
          </a:xfrm>
          <a:prstGeom prst="ellipse">
            <a:avLst/>
          </a:prstGeom>
          <a:solidFill>
            <a:srgbClr val="2A78D6">
              <a:alpha val="88000"/>
            </a:srgbClr>
          </a:solidFill>
          <a:ln w="3175">
            <a:solidFill>
              <a:srgbClr val="FFFFFF"/>
            </a:solidFill>
            <a:prstDash val="solid"/>
          </a:ln>
        </p:spPr>
      </p:sp>
      <p:sp>
        <p:nvSpPr>
          <p:cNvPr id="375" name="SKU 568"/>
          <p:cNvSpPr/>
          <p:nvPr/>
        </p:nvSpPr>
        <p:spPr>
          <a:xfrm>
            <a:off x="2387753" y="2422664"/>
            <a:ext cx="77724" cy="77724"/>
          </a:xfrm>
          <a:prstGeom prst="ellipse">
            <a:avLst/>
          </a:prstGeom>
          <a:solidFill>
            <a:srgbClr val="008300">
              <a:alpha val="88000"/>
            </a:srgbClr>
          </a:solidFill>
          <a:ln w="3175">
            <a:solidFill>
              <a:srgbClr val="FFFFFF"/>
            </a:solidFill>
            <a:prstDash val="solid"/>
          </a:ln>
        </p:spPr>
      </p:sp>
      <p:sp>
        <p:nvSpPr>
          <p:cNvPr id="376" name="SKU 569"/>
          <p:cNvSpPr/>
          <p:nvPr/>
        </p:nvSpPr>
        <p:spPr>
          <a:xfrm>
            <a:off x="2670586" y="2747151"/>
            <a:ext cx="77724" cy="77724"/>
          </a:xfrm>
          <a:prstGeom prst="ellipse">
            <a:avLst/>
          </a:prstGeom>
          <a:solidFill>
            <a:srgbClr val="008300">
              <a:alpha val="88000"/>
            </a:srgbClr>
          </a:solidFill>
          <a:ln w="3175">
            <a:solidFill>
              <a:srgbClr val="FFFFFF"/>
            </a:solidFill>
            <a:prstDash val="solid"/>
          </a:ln>
        </p:spPr>
      </p:sp>
      <p:sp>
        <p:nvSpPr>
          <p:cNvPr id="377" name="SKU 570"/>
          <p:cNvSpPr/>
          <p:nvPr/>
        </p:nvSpPr>
        <p:spPr>
          <a:xfrm>
            <a:off x="2592867" y="1468646"/>
            <a:ext cx="77724" cy="77724"/>
          </a:xfrm>
          <a:prstGeom prst="ellipse">
            <a:avLst/>
          </a:prstGeom>
          <a:solidFill>
            <a:srgbClr val="2A78D6">
              <a:alpha val="88000"/>
            </a:srgbClr>
          </a:solidFill>
          <a:ln w="3175">
            <a:solidFill>
              <a:srgbClr val="FFFFFF"/>
            </a:solidFill>
            <a:prstDash val="solid"/>
          </a:ln>
        </p:spPr>
      </p:sp>
      <p:sp>
        <p:nvSpPr>
          <p:cNvPr id="378" name="SKU 571"/>
          <p:cNvSpPr/>
          <p:nvPr/>
        </p:nvSpPr>
        <p:spPr>
          <a:xfrm>
            <a:off x="1059319" y="2356962"/>
            <a:ext cx="77724" cy="77724"/>
          </a:xfrm>
          <a:prstGeom prst="ellipse">
            <a:avLst/>
          </a:prstGeom>
          <a:solidFill>
            <a:srgbClr val="008300">
              <a:alpha val="88000"/>
            </a:srgbClr>
          </a:solidFill>
          <a:ln w="3175">
            <a:solidFill>
              <a:srgbClr val="FFFFFF"/>
            </a:solidFill>
            <a:prstDash val="solid"/>
          </a:ln>
        </p:spPr>
      </p:sp>
      <p:sp>
        <p:nvSpPr>
          <p:cNvPr id="379" name="SKU 572"/>
          <p:cNvSpPr/>
          <p:nvPr/>
        </p:nvSpPr>
        <p:spPr>
          <a:xfrm>
            <a:off x="3808328" y="2070355"/>
            <a:ext cx="77724" cy="77724"/>
          </a:xfrm>
          <a:prstGeom prst="ellipse">
            <a:avLst/>
          </a:prstGeom>
          <a:solidFill>
            <a:srgbClr val="EDA100">
              <a:alpha val="88000"/>
            </a:srgbClr>
          </a:solidFill>
          <a:ln w="3175">
            <a:solidFill>
              <a:srgbClr val="FFFFFF"/>
            </a:solidFill>
            <a:prstDash val="solid"/>
          </a:ln>
        </p:spPr>
      </p:sp>
      <p:sp>
        <p:nvSpPr>
          <p:cNvPr id="380" name="SKU 573"/>
          <p:cNvSpPr/>
          <p:nvPr/>
        </p:nvSpPr>
        <p:spPr>
          <a:xfrm>
            <a:off x="3872426" y="2337185"/>
            <a:ext cx="77724" cy="77724"/>
          </a:xfrm>
          <a:prstGeom prst="ellipse">
            <a:avLst/>
          </a:prstGeom>
          <a:solidFill>
            <a:srgbClr val="EDA100">
              <a:alpha val="88000"/>
            </a:srgbClr>
          </a:solidFill>
          <a:ln w="3175">
            <a:solidFill>
              <a:srgbClr val="FFFFFF"/>
            </a:solidFill>
            <a:prstDash val="solid"/>
          </a:ln>
        </p:spPr>
      </p:sp>
      <p:sp>
        <p:nvSpPr>
          <p:cNvPr id="381" name="SKU 574"/>
          <p:cNvSpPr/>
          <p:nvPr/>
        </p:nvSpPr>
        <p:spPr>
          <a:xfrm>
            <a:off x="3194589" y="2477975"/>
            <a:ext cx="77724" cy="77724"/>
          </a:xfrm>
          <a:prstGeom prst="ellipse">
            <a:avLst/>
          </a:prstGeom>
          <a:solidFill>
            <a:srgbClr val="EDA100">
              <a:alpha val="88000"/>
            </a:srgbClr>
          </a:solidFill>
          <a:ln w="3175">
            <a:solidFill>
              <a:srgbClr val="FFFFFF"/>
            </a:solidFill>
            <a:prstDash val="solid"/>
          </a:ln>
        </p:spPr>
      </p:sp>
      <p:sp>
        <p:nvSpPr>
          <p:cNvPr id="382" name="SKU 575"/>
          <p:cNvSpPr/>
          <p:nvPr/>
        </p:nvSpPr>
        <p:spPr>
          <a:xfrm>
            <a:off x="4510203" y="2185333"/>
            <a:ext cx="77724" cy="77724"/>
          </a:xfrm>
          <a:prstGeom prst="ellipse">
            <a:avLst/>
          </a:prstGeom>
          <a:solidFill>
            <a:srgbClr val="EDA100">
              <a:alpha val="88000"/>
            </a:srgbClr>
          </a:solidFill>
          <a:ln w="3175">
            <a:solidFill>
              <a:srgbClr val="FFFFFF"/>
            </a:solidFill>
            <a:prstDash val="solid"/>
          </a:ln>
        </p:spPr>
      </p:sp>
      <p:sp>
        <p:nvSpPr>
          <p:cNvPr id="383" name="SKU 576"/>
          <p:cNvSpPr/>
          <p:nvPr/>
        </p:nvSpPr>
        <p:spPr>
          <a:xfrm>
            <a:off x="1007240" y="2439425"/>
            <a:ext cx="77724" cy="77724"/>
          </a:xfrm>
          <a:prstGeom prst="ellipse">
            <a:avLst/>
          </a:prstGeom>
          <a:solidFill>
            <a:srgbClr val="008300">
              <a:alpha val="88000"/>
            </a:srgbClr>
          </a:solidFill>
          <a:ln w="3175">
            <a:solidFill>
              <a:srgbClr val="FFFFFF"/>
            </a:solidFill>
            <a:prstDash val="solid"/>
          </a:ln>
        </p:spPr>
      </p:sp>
      <p:sp>
        <p:nvSpPr>
          <p:cNvPr id="384" name="SKU 577"/>
          <p:cNvSpPr/>
          <p:nvPr/>
        </p:nvSpPr>
        <p:spPr>
          <a:xfrm>
            <a:off x="1874968" y="2405233"/>
            <a:ext cx="77724" cy="77724"/>
          </a:xfrm>
          <a:prstGeom prst="ellipse">
            <a:avLst/>
          </a:prstGeom>
          <a:solidFill>
            <a:srgbClr val="008300">
              <a:alpha val="88000"/>
            </a:srgbClr>
          </a:solidFill>
          <a:ln w="3175">
            <a:solidFill>
              <a:srgbClr val="FFFFFF"/>
            </a:solidFill>
            <a:prstDash val="solid"/>
          </a:ln>
        </p:spPr>
      </p:sp>
      <p:sp>
        <p:nvSpPr>
          <p:cNvPr id="385" name="SKU 578"/>
          <p:cNvSpPr/>
          <p:nvPr/>
        </p:nvSpPr>
        <p:spPr>
          <a:xfrm>
            <a:off x="1276452" y="2474958"/>
            <a:ext cx="77724" cy="77724"/>
          </a:xfrm>
          <a:prstGeom prst="ellipse">
            <a:avLst/>
          </a:prstGeom>
          <a:solidFill>
            <a:srgbClr val="008300">
              <a:alpha val="88000"/>
            </a:srgbClr>
          </a:solidFill>
          <a:ln w="3175">
            <a:solidFill>
              <a:srgbClr val="FFFFFF"/>
            </a:solidFill>
            <a:prstDash val="solid"/>
          </a:ln>
        </p:spPr>
      </p:sp>
      <p:sp>
        <p:nvSpPr>
          <p:cNvPr id="386" name="SKU 579"/>
          <p:cNvSpPr/>
          <p:nvPr/>
        </p:nvSpPr>
        <p:spPr>
          <a:xfrm>
            <a:off x="1428685" y="2585243"/>
            <a:ext cx="77724" cy="77724"/>
          </a:xfrm>
          <a:prstGeom prst="ellipse">
            <a:avLst/>
          </a:prstGeom>
          <a:solidFill>
            <a:srgbClr val="008300">
              <a:alpha val="88000"/>
            </a:srgbClr>
          </a:solidFill>
          <a:ln w="3175">
            <a:solidFill>
              <a:srgbClr val="FFFFFF"/>
            </a:solidFill>
            <a:prstDash val="solid"/>
          </a:ln>
        </p:spPr>
      </p:sp>
      <p:sp>
        <p:nvSpPr>
          <p:cNvPr id="387" name="SKU 580"/>
          <p:cNvSpPr/>
          <p:nvPr/>
        </p:nvSpPr>
        <p:spPr>
          <a:xfrm>
            <a:off x="4533438" y="2522223"/>
            <a:ext cx="77724" cy="77724"/>
          </a:xfrm>
          <a:prstGeom prst="ellipse">
            <a:avLst/>
          </a:prstGeom>
          <a:solidFill>
            <a:srgbClr val="EDA100">
              <a:alpha val="88000"/>
            </a:srgbClr>
          </a:solidFill>
          <a:ln w="3175">
            <a:solidFill>
              <a:srgbClr val="FFFFFF"/>
            </a:solidFill>
            <a:prstDash val="solid"/>
          </a:ln>
        </p:spPr>
      </p:sp>
      <p:sp>
        <p:nvSpPr>
          <p:cNvPr id="388" name="Centre 581"/>
          <p:cNvSpPr/>
          <p:nvPr/>
        </p:nvSpPr>
        <p:spPr>
          <a:xfrm>
            <a:off x="2137362" y="3000641"/>
            <a:ext cx="310896" cy="310896"/>
          </a:xfrm>
          <a:prstGeom prst="ellipse">
            <a:avLst/>
          </a:prstGeom>
          <a:solidFill>
            <a:srgbClr val="FFFFFF"/>
          </a:solidFill>
          <a:ln w="25400">
            <a:solidFill>
              <a:srgbClr val="16212B"/>
            </a:solidFill>
          </a:ln>
        </p:spPr>
        <p:txBody>
          <a:bodyPr wrap="square" lIns="0" tIns="0" rIns="0" bIns="0" rtlCol="0" anchor="ctr"/>
          <a:lstStyle/>
          <a:p>
            <a:pPr algn="ctr" indent="0" marL="0">
              <a:buNone/>
            </a:pPr>
            <a:r>
              <a:rPr lang="en-US" sz="1200" b="1" dirty="0">
                <a:solidFill>
                  <a:srgbClr val="16212B"/>
                </a:solidFill>
              </a:rPr>
              <a:t>C</a:t>
            </a:r>
            <a:endParaRPr lang="en-US" sz="1200" dirty="0"/>
          </a:p>
        </p:txBody>
      </p:sp>
      <p:sp>
        <p:nvSpPr>
          <p:cNvPr id="389" name="Centre 582"/>
          <p:cNvSpPr/>
          <p:nvPr/>
        </p:nvSpPr>
        <p:spPr>
          <a:xfrm>
            <a:off x="1445904" y="2363735"/>
            <a:ext cx="310896" cy="310896"/>
          </a:xfrm>
          <a:prstGeom prst="ellipse">
            <a:avLst/>
          </a:prstGeom>
          <a:solidFill>
            <a:srgbClr val="FFFFFF"/>
          </a:solidFill>
          <a:ln w="25400">
            <a:solidFill>
              <a:srgbClr val="16212B"/>
            </a:solidFill>
          </a:ln>
        </p:spPr>
        <p:txBody>
          <a:bodyPr wrap="square" lIns="0" tIns="0" rIns="0" bIns="0" rtlCol="0" anchor="ctr"/>
          <a:lstStyle/>
          <a:p>
            <a:pPr algn="ctr" indent="0" marL="0">
              <a:buNone/>
            </a:pPr>
            <a:r>
              <a:rPr lang="en-US" sz="1200" b="1" dirty="0">
                <a:solidFill>
                  <a:srgbClr val="16212B"/>
                </a:solidFill>
              </a:rPr>
              <a:t>D</a:t>
            </a:r>
            <a:endParaRPr lang="en-US" sz="1200" dirty="0"/>
          </a:p>
        </p:txBody>
      </p:sp>
      <p:sp>
        <p:nvSpPr>
          <p:cNvPr id="390" name="Centre 583"/>
          <p:cNvSpPr/>
          <p:nvPr/>
        </p:nvSpPr>
        <p:spPr>
          <a:xfrm>
            <a:off x="3717382" y="2303397"/>
            <a:ext cx="310896" cy="310896"/>
          </a:xfrm>
          <a:prstGeom prst="ellipse">
            <a:avLst/>
          </a:prstGeom>
          <a:solidFill>
            <a:srgbClr val="FFFFFF"/>
          </a:solidFill>
          <a:ln w="25400">
            <a:solidFill>
              <a:srgbClr val="16212B"/>
            </a:solidFill>
          </a:ln>
        </p:spPr>
        <p:txBody>
          <a:bodyPr wrap="square" lIns="0" tIns="0" rIns="0" bIns="0" rtlCol="0" anchor="ctr"/>
          <a:lstStyle/>
          <a:p>
            <a:pPr algn="ctr" indent="0" marL="0">
              <a:buNone/>
            </a:pPr>
            <a:r>
              <a:rPr lang="en-US" sz="1200" b="1" dirty="0">
                <a:solidFill>
                  <a:srgbClr val="16212B"/>
                </a:solidFill>
              </a:rPr>
              <a:t>B</a:t>
            </a:r>
            <a:endParaRPr lang="en-US" sz="1200" dirty="0"/>
          </a:p>
        </p:txBody>
      </p:sp>
      <p:sp>
        <p:nvSpPr>
          <p:cNvPr id="391" name="Centre 584"/>
          <p:cNvSpPr/>
          <p:nvPr/>
        </p:nvSpPr>
        <p:spPr>
          <a:xfrm>
            <a:off x="1771202" y="1775100"/>
            <a:ext cx="310896" cy="310896"/>
          </a:xfrm>
          <a:prstGeom prst="ellipse">
            <a:avLst/>
          </a:prstGeom>
          <a:solidFill>
            <a:srgbClr val="FFFFFF"/>
          </a:solidFill>
          <a:ln w="25400">
            <a:solidFill>
              <a:srgbClr val="16212B"/>
            </a:solidFill>
          </a:ln>
        </p:spPr>
        <p:txBody>
          <a:bodyPr wrap="square" lIns="0" tIns="0" rIns="0" bIns="0" rtlCol="0" anchor="ctr"/>
          <a:lstStyle/>
          <a:p>
            <a:pPr algn="ctr" indent="0" marL="0">
              <a:buNone/>
            </a:pPr>
            <a:r>
              <a:rPr lang="en-US" sz="1200" b="1" dirty="0">
                <a:solidFill>
                  <a:srgbClr val="16212B"/>
                </a:solidFill>
              </a:rPr>
              <a:t>A</a:t>
            </a:r>
            <a:endParaRPr lang="en-US" sz="1200" dirty="0"/>
          </a:p>
        </p:txBody>
      </p:sp>
      <p:sp>
        <p:nvSpPr>
          <p:cNvPr id="392" name="Key 585"/>
          <p:cNvSpPr/>
          <p:nvPr/>
        </p:nvSpPr>
        <p:spPr>
          <a:xfrm>
            <a:off x="457200" y="4261104"/>
            <a:ext cx="164592" cy="164592"/>
          </a:xfrm>
          <a:prstGeom prst="ellipse">
            <a:avLst/>
          </a:prstGeom>
          <a:solidFill>
            <a:srgbClr val="2A78D6"/>
          </a:solidFill>
          <a:ln w="12700">
            <a:solidFill>
              <a:srgbClr val="2A78D6"/>
            </a:solidFill>
            <a:prstDash val="solid"/>
          </a:ln>
        </p:spPr>
      </p:sp>
      <p:sp>
        <p:nvSpPr>
          <p:cNvPr id="393" name="Text 586"/>
          <p:cNvSpPr txBox="1"/>
          <p:nvPr/>
        </p:nvSpPr>
        <p:spPr>
          <a:xfrm>
            <a:off x="694944" y="4206240"/>
            <a:ext cx="1783080" cy="274320"/>
          </a:xfrm>
          <a:prstGeom prst="rect">
            <a:avLst/>
          </a:prstGeom>
          <a:noFill/>
          <a:ln/>
        </p:spPr>
        <p:txBody>
          <a:bodyPr wrap="square" lIns="0" tIns="0" rIns="0" bIns="0" rtlCol="0" anchor="ctr"/>
          <a:lstStyle/>
          <a:p>
            <a:pPr algn="l" indent="0" marL="0">
              <a:buNone/>
            </a:pPr>
            <a:r>
              <a:rPr lang="en-US" sz="1200" dirty="0">
                <a:solidFill>
                  <a:schemeClr val="tx1"/>
                </a:solidFill>
              </a:rPr>
              <a:t>A  Fast movers</a:t>
            </a:r>
            <a:endParaRPr lang="en-US" sz="1200" dirty="0"/>
          </a:p>
        </p:txBody>
      </p:sp>
      <p:sp>
        <p:nvSpPr>
          <p:cNvPr id="394" name="Key 587"/>
          <p:cNvSpPr/>
          <p:nvPr/>
        </p:nvSpPr>
        <p:spPr>
          <a:xfrm>
            <a:off x="2514600" y="4261104"/>
            <a:ext cx="164592" cy="164592"/>
          </a:xfrm>
          <a:prstGeom prst="ellipse">
            <a:avLst/>
          </a:prstGeom>
          <a:solidFill>
            <a:srgbClr val="EDA100"/>
          </a:solidFill>
          <a:ln w="12700">
            <a:solidFill>
              <a:srgbClr val="EDA100"/>
            </a:solidFill>
            <a:prstDash val="solid"/>
          </a:ln>
        </p:spPr>
      </p:sp>
      <p:sp>
        <p:nvSpPr>
          <p:cNvPr id="395" name="Text 588"/>
          <p:cNvSpPr txBox="1"/>
          <p:nvPr/>
        </p:nvSpPr>
        <p:spPr>
          <a:xfrm>
            <a:off x="2752344" y="4206240"/>
            <a:ext cx="1783080" cy="274320"/>
          </a:xfrm>
          <a:prstGeom prst="rect">
            <a:avLst/>
          </a:prstGeom>
          <a:noFill/>
          <a:ln/>
        </p:spPr>
        <p:txBody>
          <a:bodyPr wrap="square" lIns="0" tIns="0" rIns="0" bIns="0" rtlCol="0" anchor="ctr"/>
          <a:lstStyle/>
          <a:p>
            <a:pPr algn="l" indent="0" marL="0">
              <a:buNone/>
            </a:pPr>
            <a:r>
              <a:rPr lang="en-US" sz="1200" dirty="0">
                <a:solidFill>
                  <a:schemeClr val="tx1"/>
                </a:solidFill>
              </a:rPr>
              <a:t>B  Bulky / heavy</a:t>
            </a:r>
            <a:endParaRPr lang="en-US" sz="1200" dirty="0"/>
          </a:p>
        </p:txBody>
      </p:sp>
      <p:sp>
        <p:nvSpPr>
          <p:cNvPr id="396" name="Key 589"/>
          <p:cNvSpPr/>
          <p:nvPr/>
        </p:nvSpPr>
        <p:spPr>
          <a:xfrm>
            <a:off x="4572000" y="4261104"/>
            <a:ext cx="164592" cy="164592"/>
          </a:xfrm>
          <a:prstGeom prst="ellipse">
            <a:avLst/>
          </a:prstGeom>
          <a:solidFill>
            <a:srgbClr val="E87BA4"/>
          </a:solidFill>
          <a:ln w="12700">
            <a:solidFill>
              <a:srgbClr val="E87BA4"/>
            </a:solidFill>
            <a:prstDash val="solid"/>
          </a:ln>
        </p:spPr>
      </p:sp>
      <p:sp>
        <p:nvSpPr>
          <p:cNvPr id="397" name="Text 590"/>
          <p:cNvSpPr txBox="1"/>
          <p:nvPr/>
        </p:nvSpPr>
        <p:spPr>
          <a:xfrm>
            <a:off x="4809744" y="4206240"/>
            <a:ext cx="1783080" cy="274320"/>
          </a:xfrm>
          <a:prstGeom prst="rect">
            <a:avLst/>
          </a:prstGeom>
          <a:noFill/>
          <a:ln/>
        </p:spPr>
        <p:txBody>
          <a:bodyPr wrap="square" lIns="0" tIns="0" rIns="0" bIns="0" rtlCol="0" anchor="ctr"/>
          <a:lstStyle/>
          <a:p>
            <a:pPr algn="l" indent="0" marL="0">
              <a:buNone/>
            </a:pPr>
            <a:r>
              <a:rPr lang="en-US" sz="1200" dirty="0">
                <a:solidFill>
                  <a:schemeClr val="tx1"/>
                </a:solidFill>
              </a:rPr>
              <a:t>C  Seasonal</a:t>
            </a:r>
            <a:endParaRPr lang="en-US" sz="1200" dirty="0"/>
          </a:p>
        </p:txBody>
      </p:sp>
      <p:sp>
        <p:nvSpPr>
          <p:cNvPr id="398" name="Key 591"/>
          <p:cNvSpPr/>
          <p:nvPr/>
        </p:nvSpPr>
        <p:spPr>
          <a:xfrm>
            <a:off x="6629400" y="4261104"/>
            <a:ext cx="164592" cy="164592"/>
          </a:xfrm>
          <a:prstGeom prst="ellipse">
            <a:avLst/>
          </a:prstGeom>
          <a:solidFill>
            <a:srgbClr val="008300"/>
          </a:solidFill>
          <a:ln w="12700">
            <a:solidFill>
              <a:srgbClr val="008300"/>
            </a:solidFill>
            <a:prstDash val="solid"/>
          </a:ln>
        </p:spPr>
      </p:sp>
      <p:sp>
        <p:nvSpPr>
          <p:cNvPr id="399" name="Text 592"/>
          <p:cNvSpPr txBox="1"/>
          <p:nvPr/>
        </p:nvSpPr>
        <p:spPr>
          <a:xfrm>
            <a:off x="6867144" y="4206240"/>
            <a:ext cx="1783080" cy="274320"/>
          </a:xfrm>
          <a:prstGeom prst="rect">
            <a:avLst/>
          </a:prstGeom>
          <a:noFill/>
          <a:ln/>
        </p:spPr>
        <p:txBody>
          <a:bodyPr wrap="square" lIns="0" tIns="0" rIns="0" bIns="0" rtlCol="0" anchor="ctr"/>
          <a:lstStyle/>
          <a:p>
            <a:pPr algn="l" indent="0" marL="0">
              <a:buNone/>
            </a:pPr>
            <a:r>
              <a:rPr lang="en-US" sz="1200" dirty="0">
                <a:solidFill>
                  <a:schemeClr val="tx1"/>
                </a:solidFill>
              </a:rPr>
              <a:t>D  Regular small items</a:t>
            </a:r>
            <a:endParaRPr lang="en-US" sz="1200" dirty="0"/>
          </a:p>
        </p:txBody>
      </p:sp>
      <p:sp>
        <p:nvSpPr>
          <p:cNvPr id="400" name="Badge 593"/>
          <p:cNvSpPr/>
          <p:nvPr/>
        </p:nvSpPr>
        <p:spPr>
          <a:xfrm>
            <a:off x="5852160" y="1188720"/>
            <a:ext cx="365760" cy="3657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401" name="Text 594"/>
          <p:cNvSpPr txBox="1"/>
          <p:nvPr/>
        </p:nvSpPr>
        <p:spPr>
          <a:xfrm>
            <a:off x="6327648" y="1188720"/>
            <a:ext cx="2359152" cy="310896"/>
          </a:xfrm>
          <a:prstGeom prst="rect">
            <a:avLst/>
          </a:prstGeom>
          <a:noFill/>
          <a:ln/>
        </p:spPr>
        <p:txBody>
          <a:bodyPr wrap="square" lIns="0" tIns="0" rIns="0" bIns="0" rtlCol="0" anchor="ctr"/>
          <a:lstStyle/>
          <a:p>
            <a:pPr algn="l" indent="0" marL="0">
              <a:buNone/>
            </a:pPr>
            <a:r>
              <a:rPr lang="en-US" sz="1500" b="1" dirty="0">
                <a:solidFill>
                  <a:schemeClr val="tx2"/>
                </a:solidFill>
              </a:rPr>
              <a:t>Each dot is one SKU</a:t>
            </a:r>
            <a:endParaRPr lang="en-US" sz="1500" dirty="0"/>
          </a:p>
        </p:txBody>
      </p:sp>
      <p:sp>
        <p:nvSpPr>
          <p:cNvPr id="402" name="Text 595"/>
          <p:cNvSpPr txBox="1"/>
          <p:nvPr/>
        </p:nvSpPr>
        <p:spPr>
          <a:xfrm>
            <a:off x="6327648" y="1517904"/>
            <a:ext cx="2359152" cy="603504"/>
          </a:xfrm>
          <a:prstGeom prst="rect">
            <a:avLst/>
          </a:prstGeom>
          <a:noFill/>
          <a:ln/>
        </p:spPr>
        <p:txBody>
          <a:bodyPr wrap="square" lIns="0" tIns="0" rIns="0" bIns="0" rtlCol="0" anchor="t"/>
          <a:lstStyle/>
          <a:p>
            <a:pPr algn="l" indent="0" marL="0">
              <a:buNone/>
            </a:pPr>
            <a:r>
              <a:rPr lang="en-US" sz="1400" dirty="0">
                <a:solidFill>
                  <a:schemeClr val="tx1"/>
                </a:solidFill>
              </a:rPr>
              <a:t>383 real products, coloured by their cluster.</a:t>
            </a:r>
            <a:endParaRPr lang="en-US" sz="1400" dirty="0"/>
          </a:p>
        </p:txBody>
      </p:sp>
      <p:sp>
        <p:nvSpPr>
          <p:cNvPr id="403" name="Badge 596"/>
          <p:cNvSpPr/>
          <p:nvPr/>
        </p:nvSpPr>
        <p:spPr>
          <a:xfrm>
            <a:off x="5852160" y="2212848"/>
            <a:ext cx="365760" cy="3657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404" name="Text 597"/>
          <p:cNvSpPr txBox="1"/>
          <p:nvPr/>
        </p:nvSpPr>
        <p:spPr>
          <a:xfrm>
            <a:off x="6327648" y="2212848"/>
            <a:ext cx="2359152" cy="310896"/>
          </a:xfrm>
          <a:prstGeom prst="rect">
            <a:avLst/>
          </a:prstGeom>
          <a:noFill/>
          <a:ln/>
        </p:spPr>
        <p:txBody>
          <a:bodyPr wrap="square" lIns="0" tIns="0" rIns="0" bIns="0" rtlCol="0" anchor="ctr"/>
          <a:lstStyle/>
          <a:p>
            <a:pPr algn="l" indent="0" marL="0">
              <a:buNone/>
            </a:pPr>
            <a:r>
              <a:rPr lang="en-US" sz="1500" b="1" dirty="0">
                <a:solidFill>
                  <a:schemeClr val="tx2"/>
                </a:solidFill>
              </a:rPr>
              <a:t>Drawn with PCA</a:t>
            </a:r>
            <a:endParaRPr lang="en-US" sz="1500" dirty="0"/>
          </a:p>
        </p:txBody>
      </p:sp>
      <p:sp>
        <p:nvSpPr>
          <p:cNvPr id="405" name="Text 598"/>
          <p:cNvSpPr txBox="1"/>
          <p:nvPr/>
        </p:nvSpPr>
        <p:spPr>
          <a:xfrm>
            <a:off x="6327648" y="2542032"/>
            <a:ext cx="2359152" cy="603504"/>
          </a:xfrm>
          <a:prstGeom prst="rect">
            <a:avLst/>
          </a:prstGeom>
          <a:noFill/>
          <a:ln/>
        </p:spPr>
        <p:txBody>
          <a:bodyPr wrap="square" lIns="0" tIns="0" rIns="0" bIns="0" rtlCol="0" anchor="t"/>
          <a:lstStyle/>
          <a:p>
            <a:pPr algn="l" indent="0" marL="0">
              <a:buNone/>
            </a:pPr>
            <a:r>
              <a:rPr lang="en-US" sz="1400" dirty="0">
                <a:solidFill>
                  <a:schemeClr val="tx1"/>
                </a:solidFill>
              </a:rPr>
              <a:t>Four numbers squeezed into two. It keeps 76% of the variation.</a:t>
            </a:r>
            <a:endParaRPr lang="en-US" sz="1400" dirty="0"/>
          </a:p>
        </p:txBody>
      </p:sp>
      <p:sp>
        <p:nvSpPr>
          <p:cNvPr id="406" name="Badge 599"/>
          <p:cNvSpPr/>
          <p:nvPr/>
        </p:nvSpPr>
        <p:spPr>
          <a:xfrm>
            <a:off x="5852160" y="3236976"/>
            <a:ext cx="365760" cy="3657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407" name="Text 600"/>
          <p:cNvSpPr txBox="1"/>
          <p:nvPr/>
        </p:nvSpPr>
        <p:spPr>
          <a:xfrm>
            <a:off x="6327648" y="3236976"/>
            <a:ext cx="2359152" cy="310896"/>
          </a:xfrm>
          <a:prstGeom prst="rect">
            <a:avLst/>
          </a:prstGeom>
          <a:noFill/>
          <a:ln/>
        </p:spPr>
        <p:txBody>
          <a:bodyPr wrap="square" lIns="0" tIns="0" rIns="0" bIns="0" rtlCol="0" anchor="ctr"/>
          <a:lstStyle/>
          <a:p>
            <a:pPr algn="l" indent="0" marL="0">
              <a:buNone/>
            </a:pPr>
            <a:r>
              <a:rPr lang="en-US" sz="1500" b="1" dirty="0">
                <a:solidFill>
                  <a:schemeClr val="tx2"/>
                </a:solidFill>
              </a:rPr>
              <a:t>Same colour, same place</a:t>
            </a:r>
            <a:endParaRPr lang="en-US" sz="1500" dirty="0"/>
          </a:p>
        </p:txBody>
      </p:sp>
      <p:sp>
        <p:nvSpPr>
          <p:cNvPr id="408" name="Text 601"/>
          <p:cNvSpPr txBox="1"/>
          <p:nvPr/>
        </p:nvSpPr>
        <p:spPr>
          <a:xfrm>
            <a:off x="6327648" y="3566160"/>
            <a:ext cx="2359152" cy="603504"/>
          </a:xfrm>
          <a:prstGeom prst="rect">
            <a:avLst/>
          </a:prstGeom>
          <a:noFill/>
          <a:ln/>
        </p:spPr>
        <p:txBody>
          <a:bodyPr wrap="square" lIns="0" tIns="0" rIns="0" bIns="0" rtlCol="0" anchor="t"/>
          <a:lstStyle/>
          <a:p>
            <a:pPr algn="l" indent="0" marL="0">
              <a:buNone/>
            </a:pPr>
            <a:r>
              <a:rPr lang="en-US" sz="1400" dirty="0">
                <a:solidFill>
                  <a:schemeClr val="tx1"/>
                </a:solidFill>
              </a:rPr>
              <a:t>Similar products landed in the same cluster.</a:t>
            </a:r>
            <a:endParaRPr lang="en-US" sz="1400" dirty="0"/>
          </a:p>
        </p:txBody>
      </p:sp>
      <p:sp>
        <p:nvSpPr>
          <p:cNvPr id="25" name="Slide Number Placeholder 0"/>
          <p:cNvSpPr>
            <a:spLocks noGrp="1"/>
          </p:cNvSpPr>
          <p:nvPr>
            <p:ph type="sldNum" sz="quarter" idx="4294967295"/>
          </p:nvPr>
        </p:nvSpPr>
        <p:spPr>
          <a:xfrm>
            <a:off x="8229600" y="47274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315200" cy="685800"/>
          </a:xfrm>
          <a:prstGeom prst="rect">
            <a:avLst/>
          </a:prstGeom>
          <a:noFill/>
          <a:ln/>
        </p:spPr>
        <p:txBody>
          <a:bodyPr wrap="square" lIns="0" tIns="0" rIns="0" bIns="0" rtlCol="0" anchor="ctr"/>
          <a:lstStyle/>
          <a:p>
            <a:pPr algn="l" indent="0" marL="0">
              <a:buNone/>
            </a:pPr>
            <a:r>
              <a:rPr lang="en-US" sz="3600" b="1" dirty="0">
                <a:solidFill>
                  <a:schemeClr val="tx2"/>
                </a:solidFill>
              </a:rPr>
              <a:t>What each cluster looks like</a:t>
            </a:r>
            <a:endParaRPr lang="en-US" sz="3600" dirty="0"/>
          </a:p>
        </p:txBody>
      </p:sp>
      <p:graphicFrame>
        <p:nvGraphicFramePr>
          <p:cNvPr id="4" name="Average orders" descr=""/>
          <p:cNvGraphicFramePr/>
          <p:nvPr/>
        </p:nvGraphicFramePr>
        <p:xfrm>
          <a:off x="457200" y="1188720"/>
          <a:ext cx="2011680" cy="25146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Season index" descr=""/>
          <p:cNvGraphicFramePr/>
          <p:nvPr/>
        </p:nvGraphicFramePr>
        <p:xfrm>
          <a:off x="2532888" y="1188720"/>
          <a:ext cx="2011680" cy="2514600"/>
        </p:xfrm>
        <a:graphic xmlns:a="http://schemas.openxmlformats.org/drawingml/2006/main">
          <a:graphicData uri="http://schemas.openxmlformats.org/drawingml/2006/chart">
            <c:chart xmlns:c="http://schemas.openxmlformats.org/drawingml/2006/chart" r:id="rId2"/>
          </a:graphicData>
        </a:graphic>
      </p:graphicFrame>
      <p:graphicFrame>
        <p:nvGraphicFramePr>
          <p:cNvPr id="6" name="Average volume (L)" descr=""/>
          <p:cNvGraphicFramePr/>
          <p:nvPr/>
        </p:nvGraphicFramePr>
        <p:xfrm>
          <a:off x="4608576" y="1188720"/>
          <a:ext cx="2011680" cy="2514600"/>
        </p:xfrm>
        <a:graphic xmlns:a="http://schemas.openxmlformats.org/drawingml/2006/main">
          <a:graphicData uri="http://schemas.openxmlformats.org/drawingml/2006/chart">
            <c:chart xmlns:c="http://schemas.openxmlformats.org/drawingml/2006/chart" r:id="rId3"/>
          </a:graphicData>
        </a:graphic>
      </p:graphicFrame>
      <p:graphicFrame>
        <p:nvGraphicFramePr>
          <p:cNvPr id="7" name="Average weight (kg)" descr=""/>
          <p:cNvGraphicFramePr/>
          <p:nvPr/>
        </p:nvGraphicFramePr>
        <p:xfrm>
          <a:off x="6684264" y="1188720"/>
          <a:ext cx="2011680" cy="2514600"/>
        </p:xfrm>
        <a:graphic xmlns:a="http://schemas.openxmlformats.org/drawingml/2006/main">
          <a:graphicData uri="http://schemas.openxmlformats.org/drawingml/2006/chart">
            <c:chart xmlns:c="http://schemas.openxmlformats.org/drawingml/2006/chart" r:id="rId4"/>
          </a:graphicData>
        </a:graphic>
      </p:graphicFrame>
      <p:sp>
        <p:nvSpPr>
          <p:cNvPr id="8" name="Key 602"/>
          <p:cNvSpPr/>
          <p:nvPr/>
        </p:nvSpPr>
        <p:spPr>
          <a:xfrm>
            <a:off x="457200" y="3822192"/>
            <a:ext cx="164592" cy="164592"/>
          </a:xfrm>
          <a:prstGeom prst="ellipse">
            <a:avLst/>
          </a:prstGeom>
          <a:solidFill>
            <a:srgbClr val="2A78D6"/>
          </a:solidFill>
          <a:ln w="12700">
            <a:solidFill>
              <a:srgbClr val="2A78D6"/>
            </a:solidFill>
            <a:prstDash val="solid"/>
          </a:ln>
        </p:spPr>
      </p:sp>
      <p:sp>
        <p:nvSpPr>
          <p:cNvPr id="9" name="Text 603"/>
          <p:cNvSpPr txBox="1"/>
          <p:nvPr/>
        </p:nvSpPr>
        <p:spPr>
          <a:xfrm>
            <a:off x="694944" y="3767328"/>
            <a:ext cx="1783080" cy="274320"/>
          </a:xfrm>
          <a:prstGeom prst="rect">
            <a:avLst/>
          </a:prstGeom>
          <a:noFill/>
          <a:ln/>
        </p:spPr>
        <p:txBody>
          <a:bodyPr wrap="square" lIns="0" tIns="0" rIns="0" bIns="0" rtlCol="0" anchor="ctr"/>
          <a:lstStyle/>
          <a:p>
            <a:pPr algn="l" indent="0" marL="0">
              <a:buNone/>
            </a:pPr>
            <a:r>
              <a:rPr lang="en-US" sz="1200" dirty="0">
                <a:solidFill>
                  <a:schemeClr val="tx1"/>
                </a:solidFill>
              </a:rPr>
              <a:t>A  Fast movers</a:t>
            </a:r>
            <a:endParaRPr lang="en-US" sz="1200" dirty="0"/>
          </a:p>
        </p:txBody>
      </p:sp>
      <p:sp>
        <p:nvSpPr>
          <p:cNvPr id="10" name="Key 604"/>
          <p:cNvSpPr/>
          <p:nvPr/>
        </p:nvSpPr>
        <p:spPr>
          <a:xfrm>
            <a:off x="2514600" y="3822192"/>
            <a:ext cx="164592" cy="164592"/>
          </a:xfrm>
          <a:prstGeom prst="ellipse">
            <a:avLst/>
          </a:prstGeom>
          <a:solidFill>
            <a:srgbClr val="EDA100"/>
          </a:solidFill>
          <a:ln w="12700">
            <a:solidFill>
              <a:srgbClr val="EDA100"/>
            </a:solidFill>
            <a:prstDash val="solid"/>
          </a:ln>
        </p:spPr>
      </p:sp>
      <p:sp>
        <p:nvSpPr>
          <p:cNvPr id="11" name="Text 605"/>
          <p:cNvSpPr txBox="1"/>
          <p:nvPr/>
        </p:nvSpPr>
        <p:spPr>
          <a:xfrm>
            <a:off x="2752344" y="3767328"/>
            <a:ext cx="1783080" cy="274320"/>
          </a:xfrm>
          <a:prstGeom prst="rect">
            <a:avLst/>
          </a:prstGeom>
          <a:noFill/>
          <a:ln/>
        </p:spPr>
        <p:txBody>
          <a:bodyPr wrap="square" lIns="0" tIns="0" rIns="0" bIns="0" rtlCol="0" anchor="ctr"/>
          <a:lstStyle/>
          <a:p>
            <a:pPr algn="l" indent="0" marL="0">
              <a:buNone/>
            </a:pPr>
            <a:r>
              <a:rPr lang="en-US" sz="1200" dirty="0">
                <a:solidFill>
                  <a:schemeClr val="tx1"/>
                </a:solidFill>
              </a:rPr>
              <a:t>B  Bulky / heavy</a:t>
            </a:r>
            <a:endParaRPr lang="en-US" sz="1200" dirty="0"/>
          </a:p>
        </p:txBody>
      </p:sp>
      <p:sp>
        <p:nvSpPr>
          <p:cNvPr id="12" name="Key 606"/>
          <p:cNvSpPr/>
          <p:nvPr/>
        </p:nvSpPr>
        <p:spPr>
          <a:xfrm>
            <a:off x="4572000" y="3822192"/>
            <a:ext cx="164592" cy="164592"/>
          </a:xfrm>
          <a:prstGeom prst="ellipse">
            <a:avLst/>
          </a:prstGeom>
          <a:solidFill>
            <a:srgbClr val="E87BA4"/>
          </a:solidFill>
          <a:ln w="12700">
            <a:solidFill>
              <a:srgbClr val="E87BA4"/>
            </a:solidFill>
            <a:prstDash val="solid"/>
          </a:ln>
        </p:spPr>
      </p:sp>
      <p:sp>
        <p:nvSpPr>
          <p:cNvPr id="13" name="Text 607"/>
          <p:cNvSpPr txBox="1"/>
          <p:nvPr/>
        </p:nvSpPr>
        <p:spPr>
          <a:xfrm>
            <a:off x="4809744" y="3767328"/>
            <a:ext cx="1783080" cy="274320"/>
          </a:xfrm>
          <a:prstGeom prst="rect">
            <a:avLst/>
          </a:prstGeom>
          <a:noFill/>
          <a:ln/>
        </p:spPr>
        <p:txBody>
          <a:bodyPr wrap="square" lIns="0" tIns="0" rIns="0" bIns="0" rtlCol="0" anchor="ctr"/>
          <a:lstStyle/>
          <a:p>
            <a:pPr algn="l" indent="0" marL="0">
              <a:buNone/>
            </a:pPr>
            <a:r>
              <a:rPr lang="en-US" sz="1200" dirty="0">
                <a:solidFill>
                  <a:schemeClr val="tx1"/>
                </a:solidFill>
              </a:rPr>
              <a:t>C  Seasonal</a:t>
            </a:r>
            <a:endParaRPr lang="en-US" sz="1200" dirty="0"/>
          </a:p>
        </p:txBody>
      </p:sp>
      <p:sp>
        <p:nvSpPr>
          <p:cNvPr id="14" name="Key 608"/>
          <p:cNvSpPr/>
          <p:nvPr/>
        </p:nvSpPr>
        <p:spPr>
          <a:xfrm>
            <a:off x="6629400" y="3822192"/>
            <a:ext cx="164592" cy="164592"/>
          </a:xfrm>
          <a:prstGeom prst="ellipse">
            <a:avLst/>
          </a:prstGeom>
          <a:solidFill>
            <a:srgbClr val="008300"/>
          </a:solidFill>
          <a:ln w="12700">
            <a:solidFill>
              <a:srgbClr val="008300"/>
            </a:solidFill>
            <a:prstDash val="solid"/>
          </a:ln>
        </p:spPr>
      </p:sp>
      <p:sp>
        <p:nvSpPr>
          <p:cNvPr id="15" name="Text 609"/>
          <p:cNvSpPr txBox="1"/>
          <p:nvPr/>
        </p:nvSpPr>
        <p:spPr>
          <a:xfrm>
            <a:off x="6867144" y="3767328"/>
            <a:ext cx="1783080" cy="274320"/>
          </a:xfrm>
          <a:prstGeom prst="rect">
            <a:avLst/>
          </a:prstGeom>
          <a:noFill/>
          <a:ln/>
        </p:spPr>
        <p:txBody>
          <a:bodyPr wrap="square" lIns="0" tIns="0" rIns="0" bIns="0" rtlCol="0" anchor="ctr"/>
          <a:lstStyle/>
          <a:p>
            <a:pPr algn="l" indent="0" marL="0">
              <a:buNone/>
            </a:pPr>
            <a:r>
              <a:rPr lang="en-US" sz="1200" dirty="0">
                <a:solidFill>
                  <a:schemeClr val="tx1"/>
                </a:solidFill>
              </a:rPr>
              <a:t>D  Regular small items</a:t>
            </a:r>
            <a:endParaRPr lang="en-US" sz="1200" dirty="0"/>
          </a:p>
        </p:txBody>
      </p:sp>
      <p:sp>
        <p:nvSpPr>
          <p:cNvPr id="16" name="Card 610"/>
          <p:cNvSpPr/>
          <p:nvPr/>
        </p:nvSpPr>
        <p:spPr>
          <a:xfrm>
            <a:off x="457200" y="4114800"/>
            <a:ext cx="8229600" cy="411480"/>
          </a:xfrm>
          <a:prstGeom prst="roundRect">
            <a:avLst>
              <a:gd name="adj" fmla="val 17778"/>
            </a:avLst>
          </a:prstGeom>
          <a:solidFill>
            <a:schemeClr val="bg2"/>
          </a:solidFill>
          <a:ln w="12700">
            <a:solidFill>
              <a:schemeClr val="bg2"/>
            </a:solidFill>
            <a:prstDash val="solid"/>
          </a:ln>
        </p:spPr>
      </p:sp>
      <p:sp>
        <p:nvSpPr>
          <p:cNvPr id="17" name="Text 611"/>
          <p:cNvSpPr txBox="1"/>
          <p:nvPr/>
        </p:nvSpPr>
        <p:spPr>
          <a:xfrm>
            <a:off x="640080" y="4114800"/>
            <a:ext cx="7863840" cy="411480"/>
          </a:xfrm>
          <a:prstGeom prst="rect">
            <a:avLst/>
          </a:prstGeom>
          <a:noFill/>
          <a:ln/>
        </p:spPr>
        <p:txBody>
          <a:bodyPr wrap="square" lIns="0" tIns="0" rIns="0" bIns="0" rtlCol="0" anchor="ctr"/>
          <a:lstStyle/>
          <a:p>
            <a:pPr algn="l" indent="0" marL="0">
              <a:buNone/>
            </a:pPr>
            <a:r>
              <a:rPr lang="en-US" sz="1400" dirty="0">
                <a:solidFill>
                  <a:schemeClr val="tx1"/>
                </a:solidFill>
              </a:rPr>
              <a:t>A is picked the most. B is the biggest and heaviest. C sells in one season. D is small and steady.</a:t>
            </a:r>
            <a:endParaRPr lang="en-US" sz="1400" dirty="0"/>
          </a:p>
        </p:txBody>
      </p:sp>
      <p:sp>
        <p:nvSpPr>
          <p:cNvPr id="25" name="Slide Number Placeholder 0"/>
          <p:cNvSpPr>
            <a:spLocks noGrp="1"/>
          </p:cNvSpPr>
          <p:nvPr>
            <p:ph type="sldNum" sz="quarter" idx="4294967295"/>
          </p:nvPr>
        </p:nvSpPr>
        <p:spPr>
          <a:xfrm>
            <a:off x="8229600" y="47274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315200" cy="685800"/>
          </a:xfrm>
          <a:prstGeom prst="rect">
            <a:avLst/>
          </a:prstGeom>
          <a:noFill/>
          <a:ln/>
        </p:spPr>
        <p:txBody>
          <a:bodyPr wrap="square" lIns="0" tIns="0" rIns="0" bIns="0" rtlCol="0" anchor="ctr"/>
          <a:lstStyle/>
          <a:p>
            <a:pPr algn="l" indent="0" marL="0">
              <a:buNone/>
            </a:pPr>
            <a:r>
              <a:rPr lang="en-US" sz="3600" b="1" dirty="0">
                <a:solidFill>
                  <a:schemeClr val="tx2"/>
                </a:solidFill>
              </a:rPr>
              <a:t>Seasonal against fast mover</a:t>
            </a:r>
            <a:endParaRPr lang="en-US" sz="3600" dirty="0"/>
          </a:p>
        </p:txBody>
      </p:sp>
      <p:graphicFrame>
        <p:nvGraphicFramePr>
          <p:cNvPr id="4" name="Seasonal against fast mover" descr=""/>
          <p:cNvGraphicFramePr/>
          <p:nvPr/>
        </p:nvGraphicFramePr>
        <p:xfrm>
          <a:off x="457200" y="1188720"/>
          <a:ext cx="5486400" cy="3246120"/>
        </p:xfrm>
        <a:graphic xmlns:a="http://schemas.openxmlformats.org/drawingml/2006/main">
          <a:graphicData uri="http://schemas.openxmlformats.org/drawingml/2006/chart">
            <c:chart xmlns:c="http://schemas.openxmlformats.org/drawingml/2006/chart" r:id="rId1"/>
          </a:graphicData>
        </a:graphic>
      </p:graphicFrame>
      <p:sp>
        <p:nvSpPr>
          <p:cNvPr id="5" name="Badge 612"/>
          <p:cNvSpPr/>
          <p:nvPr/>
        </p:nvSpPr>
        <p:spPr>
          <a:xfrm>
            <a:off x="6217920" y="1188720"/>
            <a:ext cx="365760" cy="365760"/>
          </a:xfrm>
          <a:prstGeom prst="ellipse">
            <a:avLst/>
          </a:prstGeom>
          <a:solidFill>
            <a:schemeClr val="accent6"/>
          </a:solidFill>
          <a:ln>
            <a:solidFill>
              <a:schemeClr val="accent6"/>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613"/>
          <p:cNvSpPr txBox="1"/>
          <p:nvPr/>
        </p:nvSpPr>
        <p:spPr>
          <a:xfrm>
            <a:off x="6693408" y="1188720"/>
            <a:ext cx="1993392" cy="310896"/>
          </a:xfrm>
          <a:prstGeom prst="rect">
            <a:avLst/>
          </a:prstGeom>
          <a:noFill/>
          <a:ln/>
        </p:spPr>
        <p:txBody>
          <a:bodyPr wrap="square" lIns="0" tIns="0" rIns="0" bIns="0" rtlCol="0" anchor="ctr"/>
          <a:lstStyle/>
          <a:p>
            <a:pPr algn="l" indent="0" marL="0">
              <a:buNone/>
            </a:pPr>
            <a:r>
              <a:rPr lang="en-US" sz="1500" b="1" dirty="0">
                <a:solidFill>
                  <a:schemeClr val="tx2"/>
                </a:solidFill>
              </a:rPr>
              <a:t>Seasonal SKU</a:t>
            </a:r>
            <a:endParaRPr lang="en-US" sz="1500" dirty="0"/>
          </a:p>
        </p:txBody>
      </p:sp>
      <p:sp>
        <p:nvSpPr>
          <p:cNvPr id="7" name="Text 614"/>
          <p:cNvSpPr txBox="1"/>
          <p:nvPr/>
        </p:nvSpPr>
        <p:spPr>
          <a:xfrm>
            <a:off x="6693408" y="1517904"/>
            <a:ext cx="1993392" cy="713232"/>
          </a:xfrm>
          <a:prstGeom prst="rect">
            <a:avLst/>
          </a:prstGeom>
          <a:noFill/>
          <a:ln/>
        </p:spPr>
        <p:txBody>
          <a:bodyPr wrap="square" lIns="0" tIns="0" rIns="0" bIns="0" rtlCol="0" anchor="t"/>
          <a:lstStyle/>
          <a:p>
            <a:pPr algn="l" indent="0" marL="0">
              <a:buNone/>
            </a:pPr>
            <a:r>
              <a:rPr lang="en-US" sz="1400" dirty="0">
                <a:solidFill>
                  <a:schemeClr val="tx1"/>
                </a:solidFill>
              </a:rPr>
              <a:t>76 of its 114 orders came in a single month, January 2018.</a:t>
            </a:r>
            <a:endParaRPr lang="en-US" sz="1400" dirty="0"/>
          </a:p>
        </p:txBody>
      </p:sp>
      <p:sp>
        <p:nvSpPr>
          <p:cNvPr id="8" name="Badge 615"/>
          <p:cNvSpPr/>
          <p:nvPr/>
        </p:nvSpPr>
        <p:spPr>
          <a:xfrm>
            <a:off x="6217920" y="2258568"/>
            <a:ext cx="365760" cy="3657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616"/>
          <p:cNvSpPr txBox="1"/>
          <p:nvPr/>
        </p:nvSpPr>
        <p:spPr>
          <a:xfrm>
            <a:off x="6693408" y="2258568"/>
            <a:ext cx="1993392" cy="310896"/>
          </a:xfrm>
          <a:prstGeom prst="rect">
            <a:avLst/>
          </a:prstGeom>
          <a:noFill/>
          <a:ln/>
        </p:spPr>
        <p:txBody>
          <a:bodyPr wrap="square" lIns="0" tIns="0" rIns="0" bIns="0" rtlCol="0" anchor="ctr"/>
          <a:lstStyle/>
          <a:p>
            <a:pPr algn="l" indent="0" marL="0">
              <a:buNone/>
            </a:pPr>
            <a:r>
              <a:rPr lang="en-US" sz="1500" b="1" dirty="0">
                <a:solidFill>
                  <a:schemeClr val="tx2"/>
                </a:solidFill>
              </a:rPr>
              <a:t>Fast mover</a:t>
            </a:r>
            <a:endParaRPr lang="en-US" sz="1500" dirty="0"/>
          </a:p>
        </p:txBody>
      </p:sp>
      <p:sp>
        <p:nvSpPr>
          <p:cNvPr id="10" name="Text 617"/>
          <p:cNvSpPr txBox="1"/>
          <p:nvPr/>
        </p:nvSpPr>
        <p:spPr>
          <a:xfrm>
            <a:off x="6693408" y="2587752"/>
            <a:ext cx="1993392" cy="713232"/>
          </a:xfrm>
          <a:prstGeom prst="rect">
            <a:avLst/>
          </a:prstGeom>
          <a:noFill/>
          <a:ln/>
        </p:spPr>
        <p:txBody>
          <a:bodyPr wrap="square" lIns="0" tIns="0" rIns="0" bIns="0" rtlCol="0" anchor="t"/>
          <a:lstStyle/>
          <a:p>
            <a:pPr algn="l" indent="0" marL="0">
              <a:buNone/>
            </a:pPr>
            <a:r>
              <a:rPr lang="en-US" sz="1400" dirty="0">
                <a:solidFill>
                  <a:schemeClr val="tx1"/>
                </a:solidFill>
              </a:rPr>
              <a:t>527 orders, with 40 or more in seven different months.</a:t>
            </a:r>
            <a:endParaRPr lang="en-US" sz="1400" dirty="0"/>
          </a:p>
        </p:txBody>
      </p:sp>
      <p:sp>
        <p:nvSpPr>
          <p:cNvPr id="11" name="Badge 618"/>
          <p:cNvSpPr/>
          <p:nvPr/>
        </p:nvSpPr>
        <p:spPr>
          <a:xfrm>
            <a:off x="6217920" y="3328416"/>
            <a:ext cx="365760" cy="3657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Text 619"/>
          <p:cNvSpPr txBox="1"/>
          <p:nvPr/>
        </p:nvSpPr>
        <p:spPr>
          <a:xfrm>
            <a:off x="6693408" y="3328416"/>
            <a:ext cx="1993392" cy="310896"/>
          </a:xfrm>
          <a:prstGeom prst="rect">
            <a:avLst/>
          </a:prstGeom>
          <a:noFill/>
          <a:ln/>
        </p:spPr>
        <p:txBody>
          <a:bodyPr wrap="square" lIns="0" tIns="0" rIns="0" bIns="0" rtlCol="0" anchor="ctr"/>
          <a:lstStyle/>
          <a:p>
            <a:pPr algn="l" indent="0" marL="0">
              <a:buNone/>
            </a:pPr>
            <a:r>
              <a:rPr lang="en-US" sz="1500" b="1" dirty="0">
                <a:solidFill>
                  <a:schemeClr val="tx2"/>
                </a:solidFill>
              </a:rPr>
              <a:t>Why it matters</a:t>
            </a:r>
            <a:endParaRPr lang="en-US" sz="1500" dirty="0"/>
          </a:p>
        </p:txBody>
      </p:sp>
      <p:sp>
        <p:nvSpPr>
          <p:cNvPr id="13" name="Text 620"/>
          <p:cNvSpPr txBox="1"/>
          <p:nvPr/>
        </p:nvSpPr>
        <p:spPr>
          <a:xfrm>
            <a:off x="6693408" y="3657600"/>
            <a:ext cx="1993392" cy="713232"/>
          </a:xfrm>
          <a:prstGeom prst="rect">
            <a:avLst/>
          </a:prstGeom>
          <a:noFill/>
          <a:ln/>
        </p:spPr>
        <p:txBody>
          <a:bodyPr wrap="square" lIns="0" tIns="0" rIns="0" bIns="0" rtlCol="0" anchor="t"/>
          <a:lstStyle/>
          <a:p>
            <a:pPr algn="l" indent="0" marL="0">
              <a:buNone/>
            </a:pPr>
            <a:r>
              <a:rPr lang="en-US" sz="1400" dirty="0">
                <a:solidFill>
                  <a:schemeClr val="tx1"/>
                </a:solidFill>
              </a:rPr>
              <a:t>A seasonal product needs a front place only in its season.</a:t>
            </a:r>
            <a:endParaRPr lang="en-US" sz="1400" dirty="0"/>
          </a:p>
        </p:txBody>
      </p:sp>
      <p:sp>
        <p:nvSpPr>
          <p:cNvPr id="25" name="Slide Number Placeholder 0"/>
          <p:cNvSpPr>
            <a:spLocks noGrp="1"/>
          </p:cNvSpPr>
          <p:nvPr>
            <p:ph type="sldNum" sz="quarter" idx="4294967295"/>
          </p:nvPr>
        </p:nvSpPr>
        <p:spPr>
          <a:xfrm>
            <a:off x="8229600" y="47274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315200" cy="685800"/>
          </a:xfrm>
          <a:prstGeom prst="rect">
            <a:avLst/>
          </a:prstGeom>
          <a:noFill/>
          <a:ln/>
        </p:spPr>
        <p:txBody>
          <a:bodyPr wrap="square" lIns="0" tIns="0" rIns="0" bIns="0" rtlCol="0" anchor="ctr"/>
          <a:lstStyle/>
          <a:p>
            <a:pPr algn="l" indent="0" marL="0">
              <a:buNone/>
            </a:pPr>
            <a:r>
              <a:rPr lang="en-US" sz="3600" b="1" dirty="0">
                <a:solidFill>
                  <a:schemeClr val="tx2"/>
                </a:solidFill>
              </a:rPr>
              <a:t>How this solves our problem</a:t>
            </a:r>
            <a:endParaRPr lang="en-US" sz="3600" dirty="0"/>
          </a:p>
        </p:txBody>
      </p:sp>
      <p:sp>
        <p:nvSpPr>
          <p:cNvPr id="4" name="Card 621"/>
          <p:cNvSpPr/>
          <p:nvPr/>
        </p:nvSpPr>
        <p:spPr>
          <a:xfrm>
            <a:off x="457200" y="1188720"/>
            <a:ext cx="2624328" cy="2194560"/>
          </a:xfrm>
          <a:prstGeom prst="roundRect">
            <a:avLst>
              <a:gd name="adj" fmla="val 3333"/>
            </a:avLst>
          </a:prstGeom>
          <a:solidFill>
            <a:schemeClr val="bg2"/>
          </a:solidFill>
          <a:ln w="12700">
            <a:solidFill>
              <a:schemeClr val="bg2"/>
            </a:solidFill>
            <a:prstDash val="solid"/>
          </a:ln>
        </p:spPr>
      </p:sp>
      <p:sp>
        <p:nvSpPr>
          <p:cNvPr id="5" name="Badge 622"/>
          <p:cNvSpPr/>
          <p:nvPr/>
        </p:nvSpPr>
        <p:spPr>
          <a:xfrm>
            <a:off x="640080" y="1353312"/>
            <a:ext cx="502920" cy="50292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623"/>
          <p:cNvSpPr txBox="1"/>
          <p:nvPr/>
        </p:nvSpPr>
        <p:spPr>
          <a:xfrm>
            <a:off x="640080" y="1965960"/>
            <a:ext cx="2286000" cy="347472"/>
          </a:xfrm>
          <a:prstGeom prst="rect">
            <a:avLst/>
          </a:prstGeom>
          <a:noFill/>
          <a:ln/>
        </p:spPr>
        <p:txBody>
          <a:bodyPr wrap="square" lIns="0" tIns="0" rIns="0" bIns="0" rtlCol="0" anchor="ctr"/>
          <a:lstStyle/>
          <a:p>
            <a:pPr algn="l" indent="0" marL="0">
              <a:buNone/>
            </a:pPr>
            <a:r>
              <a:rPr lang="en-US" sz="1800" b="1" dirty="0">
                <a:solidFill>
                  <a:schemeClr val="tx2"/>
                </a:solidFill>
              </a:rPr>
              <a:t>Less walking</a:t>
            </a:r>
            <a:endParaRPr lang="en-US" sz="1800" dirty="0"/>
          </a:p>
        </p:txBody>
      </p:sp>
      <p:sp>
        <p:nvSpPr>
          <p:cNvPr id="7" name="Text 624"/>
          <p:cNvSpPr txBox="1"/>
          <p:nvPr/>
        </p:nvSpPr>
        <p:spPr>
          <a:xfrm>
            <a:off x="640080" y="2340864"/>
            <a:ext cx="2286000" cy="960120"/>
          </a:xfrm>
          <a:prstGeom prst="rect">
            <a:avLst/>
          </a:prstGeom>
          <a:noFill/>
          <a:ln/>
        </p:spPr>
        <p:txBody>
          <a:bodyPr wrap="square" lIns="0" tIns="0" rIns="0" bIns="0" rtlCol="0" anchor="t"/>
          <a:lstStyle/>
          <a:p>
            <a:pPr algn="l" indent="0" marL="0">
              <a:buNone/>
            </a:pPr>
            <a:r>
              <a:rPr lang="en-US" sz="1400" dirty="0">
                <a:solidFill>
                  <a:schemeClr val="tx1"/>
                </a:solidFill>
              </a:rPr>
              <a:t>Fast movers sit closest to packing. In our simple model, walk per pick falls by 27%.</a:t>
            </a:r>
            <a:endParaRPr lang="en-US" sz="1400" dirty="0"/>
          </a:p>
        </p:txBody>
      </p:sp>
      <p:sp>
        <p:nvSpPr>
          <p:cNvPr id="8" name="Card 625"/>
          <p:cNvSpPr/>
          <p:nvPr/>
        </p:nvSpPr>
        <p:spPr>
          <a:xfrm>
            <a:off x="3264408" y="1188720"/>
            <a:ext cx="2624328" cy="2194560"/>
          </a:xfrm>
          <a:prstGeom prst="roundRect">
            <a:avLst>
              <a:gd name="adj" fmla="val 3333"/>
            </a:avLst>
          </a:prstGeom>
          <a:solidFill>
            <a:schemeClr val="bg2"/>
          </a:solidFill>
          <a:ln w="12700">
            <a:solidFill>
              <a:schemeClr val="bg2"/>
            </a:solidFill>
            <a:prstDash val="solid"/>
          </a:ln>
        </p:spPr>
      </p:sp>
      <p:sp>
        <p:nvSpPr>
          <p:cNvPr id="9" name="Badge 626"/>
          <p:cNvSpPr/>
          <p:nvPr/>
        </p:nvSpPr>
        <p:spPr>
          <a:xfrm>
            <a:off x="3447288" y="1353312"/>
            <a:ext cx="502920" cy="50292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627"/>
          <p:cNvSpPr txBox="1"/>
          <p:nvPr/>
        </p:nvSpPr>
        <p:spPr>
          <a:xfrm>
            <a:off x="3447288" y="1965960"/>
            <a:ext cx="2286000" cy="347472"/>
          </a:xfrm>
          <a:prstGeom prst="rect">
            <a:avLst/>
          </a:prstGeom>
          <a:noFill/>
          <a:ln/>
        </p:spPr>
        <p:txBody>
          <a:bodyPr wrap="square" lIns="0" tIns="0" rIns="0" bIns="0" rtlCol="0" anchor="ctr"/>
          <a:lstStyle/>
          <a:p>
            <a:pPr algn="l" indent="0" marL="0">
              <a:buNone/>
            </a:pPr>
            <a:r>
              <a:rPr lang="en-US" sz="1800" b="1" dirty="0">
                <a:solidFill>
                  <a:schemeClr val="tx2"/>
                </a:solidFill>
              </a:rPr>
              <a:t>Better placement</a:t>
            </a:r>
            <a:endParaRPr lang="en-US" sz="1800" dirty="0"/>
          </a:p>
        </p:txBody>
      </p:sp>
      <p:sp>
        <p:nvSpPr>
          <p:cNvPr id="11" name="Text 628"/>
          <p:cNvSpPr txBox="1"/>
          <p:nvPr/>
        </p:nvSpPr>
        <p:spPr>
          <a:xfrm>
            <a:off x="3447288" y="2340864"/>
            <a:ext cx="2286000" cy="960120"/>
          </a:xfrm>
          <a:prstGeom prst="rect">
            <a:avLst/>
          </a:prstGeom>
          <a:noFill/>
          <a:ln/>
        </p:spPr>
        <p:txBody>
          <a:bodyPr wrap="square" lIns="0" tIns="0" rIns="0" bIns="0" rtlCol="0" anchor="t"/>
          <a:lstStyle/>
          <a:p>
            <a:pPr algn="l" indent="0" marL="0">
              <a:buNone/>
            </a:pPr>
            <a:r>
              <a:rPr lang="en-US" sz="1400" dirty="0">
                <a:solidFill>
                  <a:schemeClr val="tx1"/>
                </a:solidFill>
              </a:rPr>
              <a:t>Bulky and heavy products get their own ground-level zone.</a:t>
            </a:r>
            <a:endParaRPr lang="en-US" sz="1400" dirty="0"/>
          </a:p>
        </p:txBody>
      </p:sp>
      <p:sp>
        <p:nvSpPr>
          <p:cNvPr id="12" name="Card 629"/>
          <p:cNvSpPr/>
          <p:nvPr/>
        </p:nvSpPr>
        <p:spPr>
          <a:xfrm>
            <a:off x="6071616" y="1188720"/>
            <a:ext cx="2624328" cy="2194560"/>
          </a:xfrm>
          <a:prstGeom prst="roundRect">
            <a:avLst>
              <a:gd name="adj" fmla="val 3333"/>
            </a:avLst>
          </a:prstGeom>
          <a:solidFill>
            <a:schemeClr val="bg2"/>
          </a:solidFill>
          <a:ln w="12700">
            <a:solidFill>
              <a:schemeClr val="bg2"/>
            </a:solidFill>
            <a:prstDash val="solid"/>
          </a:ln>
        </p:spPr>
      </p:sp>
      <p:sp>
        <p:nvSpPr>
          <p:cNvPr id="13" name="Badge 630"/>
          <p:cNvSpPr/>
          <p:nvPr/>
        </p:nvSpPr>
        <p:spPr>
          <a:xfrm>
            <a:off x="6254496" y="1353312"/>
            <a:ext cx="502920" cy="502920"/>
          </a:xfrm>
          <a:prstGeom prst="ellipse">
            <a:avLst/>
          </a:prstGeom>
          <a:solidFill>
            <a:schemeClr val="accent6"/>
          </a:solidFill>
          <a:ln>
            <a:solidFill>
              <a:schemeClr val="accent6"/>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Text 631"/>
          <p:cNvSpPr txBox="1"/>
          <p:nvPr/>
        </p:nvSpPr>
        <p:spPr>
          <a:xfrm>
            <a:off x="6254496" y="1965960"/>
            <a:ext cx="2286000" cy="347472"/>
          </a:xfrm>
          <a:prstGeom prst="rect">
            <a:avLst/>
          </a:prstGeom>
          <a:noFill/>
          <a:ln/>
        </p:spPr>
        <p:txBody>
          <a:bodyPr wrap="square" lIns="0" tIns="0" rIns="0" bIns="0" rtlCol="0" anchor="ctr"/>
          <a:lstStyle/>
          <a:p>
            <a:pPr algn="l" indent="0" marL="0">
              <a:buNone/>
            </a:pPr>
            <a:r>
              <a:rPr lang="en-US" sz="1800" b="1" dirty="0">
                <a:solidFill>
                  <a:schemeClr val="tx2"/>
                </a:solidFill>
              </a:rPr>
              <a:t>Season ready</a:t>
            </a:r>
            <a:endParaRPr lang="en-US" sz="1800" dirty="0"/>
          </a:p>
        </p:txBody>
      </p:sp>
      <p:sp>
        <p:nvSpPr>
          <p:cNvPr id="15" name="Text 632"/>
          <p:cNvSpPr txBox="1"/>
          <p:nvPr/>
        </p:nvSpPr>
        <p:spPr>
          <a:xfrm>
            <a:off x="6254496" y="2340864"/>
            <a:ext cx="2286000" cy="960120"/>
          </a:xfrm>
          <a:prstGeom prst="rect">
            <a:avLst/>
          </a:prstGeom>
          <a:noFill/>
          <a:ln/>
        </p:spPr>
        <p:txBody>
          <a:bodyPr wrap="square" lIns="0" tIns="0" rIns="0" bIns="0" rtlCol="0" anchor="t"/>
          <a:lstStyle/>
          <a:p>
            <a:pPr algn="l" indent="0" marL="0">
              <a:buNone/>
            </a:pPr>
            <a:r>
              <a:rPr lang="en-US" sz="1400" dirty="0">
                <a:solidFill>
                  <a:schemeClr val="tx1"/>
                </a:solidFill>
              </a:rPr>
              <a:t>Seasonal products are one group, easy to move forward in season.</a:t>
            </a:r>
            <a:endParaRPr lang="en-US" sz="1400" dirty="0"/>
          </a:p>
        </p:txBody>
      </p:sp>
      <p:sp>
        <p:nvSpPr>
          <p:cNvPr id="16" name="Card 633"/>
          <p:cNvSpPr/>
          <p:nvPr/>
        </p:nvSpPr>
        <p:spPr>
          <a:xfrm>
            <a:off x="457200" y="3584448"/>
            <a:ext cx="8229600" cy="822960"/>
          </a:xfrm>
          <a:prstGeom prst="roundRect">
            <a:avLst>
              <a:gd name="adj" fmla="val 8889"/>
            </a:avLst>
          </a:prstGeom>
          <a:solidFill>
            <a:schemeClr val="bg2"/>
          </a:solidFill>
          <a:ln w="12700">
            <a:solidFill>
              <a:schemeClr val="bg2"/>
            </a:solidFill>
            <a:prstDash val="solid"/>
          </a:ln>
        </p:spPr>
      </p:sp>
      <p:sp>
        <p:nvSpPr>
          <p:cNvPr id="17" name="Text 634"/>
          <p:cNvSpPr txBox="1"/>
          <p:nvPr/>
        </p:nvSpPr>
        <p:spPr>
          <a:xfrm>
            <a:off x="640080" y="3584448"/>
            <a:ext cx="7863840" cy="822960"/>
          </a:xfrm>
          <a:prstGeom prst="rect">
            <a:avLst/>
          </a:prstGeom>
          <a:noFill/>
          <a:ln/>
        </p:spPr>
        <p:txBody>
          <a:bodyPr wrap="square" lIns="0" tIns="0" rIns="0" bIns="0" rtlCol="0" anchor="ctr"/>
          <a:lstStyle/>
          <a:p>
            <a:pPr algn="l" indent="0" marL="0">
              <a:buNone/>
            </a:pPr>
            <a:r>
              <a:rPr lang="en-US" sz="1400" b="1" dirty="0">
                <a:solidFill>
                  <a:schemeClr val="tx2"/>
                </a:solidFill>
              </a:rPr>
              <a:t>How we check the clusters: </a:t>
            </a:r>
            <a:pPr algn="l" indent="0" marL="0">
              <a:buNone/>
            </a:pPr>
            <a:r>
              <a:rPr lang="en-US" sz="1400" dirty="0">
                <a:solidFill>
                  <a:schemeClr val="tx1"/>
                </a:solidFill>
              </a:rPr>
              <a:t>each centroid should read like a typical product. Fast movers: about 160 orders, 9 litres, 1 kg. The walking figure is a model, not a measurement.</a:t>
            </a:r>
            <a:endParaRPr lang="en-US" sz="1400" dirty="0"/>
          </a:p>
        </p:txBody>
      </p:sp>
      <p:sp>
        <p:nvSpPr>
          <p:cNvPr id="25" name="Slide Number Placeholder 0"/>
          <p:cNvSpPr>
            <a:spLocks noGrp="1"/>
          </p:cNvSpPr>
          <p:nvPr>
            <p:ph type="sldNum" sz="quarter" idx="4294967295"/>
          </p:nvPr>
        </p:nvSpPr>
        <p:spPr>
          <a:xfrm>
            <a:off x="8229600" y="47274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315200" cy="685800"/>
          </a:xfrm>
          <a:prstGeom prst="rect">
            <a:avLst/>
          </a:prstGeom>
          <a:noFill/>
          <a:ln/>
        </p:spPr>
        <p:txBody>
          <a:bodyPr wrap="square" lIns="0" tIns="0" rIns="0" bIns="0" rtlCol="0" anchor="ctr"/>
          <a:lstStyle/>
          <a:p>
            <a:pPr algn="l" indent="0" marL="0">
              <a:buNone/>
            </a:pPr>
            <a:r>
              <a:rPr lang="en-US" sz="3600" b="1" dirty="0">
                <a:solidFill>
                  <a:schemeClr val="tx2"/>
                </a:solidFill>
              </a:rPr>
              <a:t>The aisle and the walk per pick</a:t>
            </a:r>
            <a:endParaRPr lang="en-US" sz="3600" dirty="0"/>
          </a:p>
        </p:txBody>
      </p:sp>
      <p:sp>
        <p:nvSpPr>
          <p:cNvPr id="4" name="Text 635"/>
          <p:cNvSpPr txBox="1"/>
          <p:nvPr/>
        </p:nvSpPr>
        <p:spPr>
          <a:xfrm>
            <a:off x="457200" y="1143000"/>
            <a:ext cx="8229600" cy="274320"/>
          </a:xfrm>
          <a:prstGeom prst="rect">
            <a:avLst/>
          </a:prstGeom>
          <a:noFill/>
          <a:ln/>
        </p:spPr>
        <p:txBody>
          <a:bodyPr wrap="square" lIns="0" tIns="0" rIns="0" bIns="0" rtlCol="0" anchor="ctr"/>
          <a:lstStyle/>
          <a:p>
            <a:pPr algn="l" indent="0" marL="0">
              <a:buNone/>
            </a:pPr>
            <a:r>
              <a:rPr lang="en-US" sz="1400" b="1" dirty="0">
                <a:solidFill>
                  <a:schemeClr val="tx2"/>
                </a:solidFill>
              </a:rPr>
              <a:t>One aisle of 128 m, from the packing desk</a:t>
            </a:r>
            <a:endParaRPr lang="en-US" sz="1400" dirty="0"/>
          </a:p>
        </p:txBody>
      </p:sp>
      <p:sp>
        <p:nvSpPr>
          <p:cNvPr id="5" name="Zone 636"/>
          <p:cNvSpPr/>
          <p:nvPr/>
        </p:nvSpPr>
        <p:spPr>
          <a:xfrm>
            <a:off x="457200" y="1481328"/>
            <a:ext cx="1603021" cy="731520"/>
          </a:xfrm>
          <a:prstGeom prst="rect">
            <a:avLst/>
          </a:prstGeom>
          <a:solidFill>
            <a:srgbClr val="2A78D6"/>
          </a:solidFill>
          <a:ln w="12700">
            <a:solidFill>
              <a:srgbClr val="FFFFFF"/>
            </a:solidFill>
          </a:ln>
        </p:spPr>
        <p:txBody>
          <a:bodyPr wrap="square" lIns="0" tIns="0" rIns="0" bIns="0" rtlCol="0" anchor="ctr"/>
          <a:lstStyle/>
          <a:p>
            <a:pPr algn="ctr" indent="0" marL="0">
              <a:buNone/>
            </a:pPr>
            <a:r>
              <a:rPr lang="en-US" sz="1600" b="1" dirty="0">
                <a:solidFill>
                  <a:srgbClr val="FFFFFF"/>
                </a:solidFill>
              </a:rPr>
              <a:t>A</a:t>
            </a:r>
            <a:endParaRPr lang="en-US" sz="1600" dirty="0"/>
          </a:p>
          <a:p>
            <a:pPr algn="ctr" indent="0" marL="0">
              <a:buNone/>
            </a:pPr>
            <a:r>
              <a:rPr lang="en-US" sz="1100" dirty="0">
                <a:solidFill>
                  <a:srgbClr val="FFFFFF"/>
                </a:solidFill>
              </a:rPr>
              <a:t>76 SKUs</a:t>
            </a:r>
            <a:endParaRPr lang="en-US" sz="1600" dirty="0"/>
          </a:p>
        </p:txBody>
      </p:sp>
      <p:sp>
        <p:nvSpPr>
          <p:cNvPr id="6" name="Zone 637"/>
          <p:cNvSpPr/>
          <p:nvPr/>
        </p:nvSpPr>
        <p:spPr>
          <a:xfrm>
            <a:off x="2087653" y="1481328"/>
            <a:ext cx="1777022" cy="731520"/>
          </a:xfrm>
          <a:prstGeom prst="rect">
            <a:avLst/>
          </a:prstGeom>
          <a:solidFill>
            <a:srgbClr val="EDA100"/>
          </a:solidFill>
          <a:ln w="12700">
            <a:solidFill>
              <a:srgbClr val="FFFFFF"/>
            </a:solidFill>
          </a:ln>
        </p:spPr>
        <p:txBody>
          <a:bodyPr wrap="square" lIns="0" tIns="0" rIns="0" bIns="0" rtlCol="0" anchor="ctr"/>
          <a:lstStyle/>
          <a:p>
            <a:pPr algn="ctr" indent="0" marL="0">
              <a:buNone/>
            </a:pPr>
            <a:r>
              <a:rPr lang="en-US" sz="1600" b="1" dirty="0">
                <a:solidFill>
                  <a:srgbClr val="16212B"/>
                </a:solidFill>
              </a:rPr>
              <a:t>B</a:t>
            </a:r>
            <a:endParaRPr lang="en-US" sz="1600" dirty="0"/>
          </a:p>
          <a:p>
            <a:pPr algn="ctr" indent="0" marL="0">
              <a:buNone/>
            </a:pPr>
            <a:r>
              <a:rPr lang="en-US" sz="1100" dirty="0">
                <a:solidFill>
                  <a:srgbClr val="16212B"/>
                </a:solidFill>
              </a:rPr>
              <a:t>84 SKUs</a:t>
            </a:r>
            <a:endParaRPr lang="en-US" sz="1600" dirty="0"/>
          </a:p>
        </p:txBody>
      </p:sp>
      <p:sp>
        <p:nvSpPr>
          <p:cNvPr id="7" name="Zone 638"/>
          <p:cNvSpPr/>
          <p:nvPr/>
        </p:nvSpPr>
        <p:spPr>
          <a:xfrm>
            <a:off x="3892107" y="1481328"/>
            <a:ext cx="513904" cy="731520"/>
          </a:xfrm>
          <a:prstGeom prst="rect">
            <a:avLst/>
          </a:prstGeom>
          <a:solidFill>
            <a:srgbClr val="E87BA4"/>
          </a:solidFill>
          <a:ln w="12700">
            <a:solidFill>
              <a:srgbClr val="FFFFFF"/>
            </a:solidFill>
          </a:ln>
        </p:spPr>
        <p:txBody>
          <a:bodyPr wrap="square" lIns="0" tIns="0" rIns="0" bIns="0" rtlCol="0" anchor="ctr"/>
          <a:lstStyle/>
          <a:p>
            <a:pPr algn="ctr" indent="0" marL="0">
              <a:buNone/>
            </a:pPr>
            <a:r>
              <a:rPr lang="en-US" sz="1600" b="1" dirty="0">
                <a:solidFill>
                  <a:srgbClr val="16212B"/>
                </a:solidFill>
              </a:rPr>
              <a:t>C</a:t>
            </a:r>
            <a:endParaRPr lang="en-US" sz="1600" dirty="0"/>
          </a:p>
          <a:p>
            <a:pPr algn="ctr" indent="0" marL="0">
              <a:buNone/>
            </a:pPr>
            <a:r>
              <a:rPr lang="en-US" sz="1100" dirty="0">
                <a:solidFill>
                  <a:srgbClr val="16212B"/>
                </a:solidFill>
              </a:rPr>
              <a:t>25</a:t>
            </a:r>
            <a:endParaRPr lang="en-US" sz="1600" dirty="0"/>
          </a:p>
        </p:txBody>
      </p:sp>
      <p:sp>
        <p:nvSpPr>
          <p:cNvPr id="8" name="Zone 639"/>
          <p:cNvSpPr/>
          <p:nvPr/>
        </p:nvSpPr>
        <p:spPr>
          <a:xfrm>
            <a:off x="4433444" y="1481328"/>
            <a:ext cx="4225924" cy="731520"/>
          </a:xfrm>
          <a:prstGeom prst="rect">
            <a:avLst/>
          </a:prstGeom>
          <a:solidFill>
            <a:srgbClr val="008300"/>
          </a:solidFill>
          <a:ln w="12700">
            <a:solidFill>
              <a:srgbClr val="FFFFFF"/>
            </a:solidFill>
          </a:ln>
        </p:spPr>
        <p:txBody>
          <a:bodyPr wrap="square" lIns="0" tIns="0" rIns="0" bIns="0" rtlCol="0" anchor="ctr"/>
          <a:lstStyle/>
          <a:p>
            <a:pPr algn="ctr" indent="0" marL="0">
              <a:buNone/>
            </a:pPr>
            <a:r>
              <a:rPr lang="en-US" sz="1600" b="1" dirty="0">
                <a:solidFill>
                  <a:srgbClr val="FFFFFF"/>
                </a:solidFill>
              </a:rPr>
              <a:t>D</a:t>
            </a:r>
            <a:endParaRPr lang="en-US" sz="1600" dirty="0"/>
          </a:p>
          <a:p>
            <a:pPr algn="ctr" indent="0" marL="0">
              <a:buNone/>
            </a:pPr>
            <a:r>
              <a:rPr lang="en-US" sz="1100" dirty="0">
                <a:solidFill>
                  <a:srgbClr val="FFFFFF"/>
                </a:solidFill>
              </a:rPr>
              <a:t>198 SKUs</a:t>
            </a:r>
            <a:endParaRPr lang="en-US" sz="1600" dirty="0"/>
          </a:p>
        </p:txBody>
      </p:sp>
      <p:sp>
        <p:nvSpPr>
          <p:cNvPr id="9" name="Key 640"/>
          <p:cNvSpPr/>
          <p:nvPr/>
        </p:nvSpPr>
        <p:spPr>
          <a:xfrm>
            <a:off x="457200" y="2340864"/>
            <a:ext cx="164592" cy="164592"/>
          </a:xfrm>
          <a:prstGeom prst="ellipse">
            <a:avLst/>
          </a:prstGeom>
          <a:solidFill>
            <a:srgbClr val="2A78D6"/>
          </a:solidFill>
          <a:ln w="12700">
            <a:solidFill>
              <a:srgbClr val="2A78D6"/>
            </a:solidFill>
            <a:prstDash val="solid"/>
          </a:ln>
        </p:spPr>
      </p:sp>
      <p:sp>
        <p:nvSpPr>
          <p:cNvPr id="10" name="Text 641"/>
          <p:cNvSpPr txBox="1"/>
          <p:nvPr/>
        </p:nvSpPr>
        <p:spPr>
          <a:xfrm>
            <a:off x="694944" y="2286000"/>
            <a:ext cx="1783080" cy="274320"/>
          </a:xfrm>
          <a:prstGeom prst="rect">
            <a:avLst/>
          </a:prstGeom>
          <a:noFill/>
          <a:ln/>
        </p:spPr>
        <p:txBody>
          <a:bodyPr wrap="square" lIns="0" tIns="0" rIns="0" bIns="0" rtlCol="0" anchor="ctr"/>
          <a:lstStyle/>
          <a:p>
            <a:pPr algn="l" indent="0" marL="0">
              <a:buNone/>
            </a:pPr>
            <a:r>
              <a:rPr lang="en-US" sz="1200" dirty="0">
                <a:solidFill>
                  <a:schemeClr val="tx1"/>
                </a:solidFill>
              </a:rPr>
              <a:t>A  Fast movers</a:t>
            </a:r>
            <a:endParaRPr lang="en-US" sz="1200" dirty="0"/>
          </a:p>
        </p:txBody>
      </p:sp>
      <p:sp>
        <p:nvSpPr>
          <p:cNvPr id="11" name="Key 642"/>
          <p:cNvSpPr/>
          <p:nvPr/>
        </p:nvSpPr>
        <p:spPr>
          <a:xfrm>
            <a:off x="2514600" y="2340864"/>
            <a:ext cx="164592" cy="164592"/>
          </a:xfrm>
          <a:prstGeom prst="ellipse">
            <a:avLst/>
          </a:prstGeom>
          <a:solidFill>
            <a:srgbClr val="EDA100"/>
          </a:solidFill>
          <a:ln w="12700">
            <a:solidFill>
              <a:srgbClr val="EDA100"/>
            </a:solidFill>
            <a:prstDash val="solid"/>
          </a:ln>
        </p:spPr>
      </p:sp>
      <p:sp>
        <p:nvSpPr>
          <p:cNvPr id="12" name="Text 643"/>
          <p:cNvSpPr txBox="1"/>
          <p:nvPr/>
        </p:nvSpPr>
        <p:spPr>
          <a:xfrm>
            <a:off x="2752344" y="2286000"/>
            <a:ext cx="1783080" cy="274320"/>
          </a:xfrm>
          <a:prstGeom prst="rect">
            <a:avLst/>
          </a:prstGeom>
          <a:noFill/>
          <a:ln/>
        </p:spPr>
        <p:txBody>
          <a:bodyPr wrap="square" lIns="0" tIns="0" rIns="0" bIns="0" rtlCol="0" anchor="ctr"/>
          <a:lstStyle/>
          <a:p>
            <a:pPr algn="l" indent="0" marL="0">
              <a:buNone/>
            </a:pPr>
            <a:r>
              <a:rPr lang="en-US" sz="1200" dirty="0">
                <a:solidFill>
                  <a:schemeClr val="tx1"/>
                </a:solidFill>
              </a:rPr>
              <a:t>B  Bulky / heavy</a:t>
            </a:r>
            <a:endParaRPr lang="en-US" sz="1200" dirty="0"/>
          </a:p>
        </p:txBody>
      </p:sp>
      <p:sp>
        <p:nvSpPr>
          <p:cNvPr id="13" name="Key 644"/>
          <p:cNvSpPr/>
          <p:nvPr/>
        </p:nvSpPr>
        <p:spPr>
          <a:xfrm>
            <a:off x="4572000" y="2340864"/>
            <a:ext cx="164592" cy="164592"/>
          </a:xfrm>
          <a:prstGeom prst="ellipse">
            <a:avLst/>
          </a:prstGeom>
          <a:solidFill>
            <a:srgbClr val="E87BA4"/>
          </a:solidFill>
          <a:ln w="12700">
            <a:solidFill>
              <a:srgbClr val="E87BA4"/>
            </a:solidFill>
            <a:prstDash val="solid"/>
          </a:ln>
        </p:spPr>
      </p:sp>
      <p:sp>
        <p:nvSpPr>
          <p:cNvPr id="14" name="Text 645"/>
          <p:cNvSpPr txBox="1"/>
          <p:nvPr/>
        </p:nvSpPr>
        <p:spPr>
          <a:xfrm>
            <a:off x="4809744" y="2286000"/>
            <a:ext cx="1783080" cy="274320"/>
          </a:xfrm>
          <a:prstGeom prst="rect">
            <a:avLst/>
          </a:prstGeom>
          <a:noFill/>
          <a:ln/>
        </p:spPr>
        <p:txBody>
          <a:bodyPr wrap="square" lIns="0" tIns="0" rIns="0" bIns="0" rtlCol="0" anchor="ctr"/>
          <a:lstStyle/>
          <a:p>
            <a:pPr algn="l" indent="0" marL="0">
              <a:buNone/>
            </a:pPr>
            <a:r>
              <a:rPr lang="en-US" sz="1200" dirty="0">
                <a:solidFill>
                  <a:schemeClr val="tx1"/>
                </a:solidFill>
              </a:rPr>
              <a:t>C  Seasonal</a:t>
            </a:r>
            <a:endParaRPr lang="en-US" sz="1200" dirty="0"/>
          </a:p>
        </p:txBody>
      </p:sp>
      <p:sp>
        <p:nvSpPr>
          <p:cNvPr id="15" name="Key 646"/>
          <p:cNvSpPr/>
          <p:nvPr/>
        </p:nvSpPr>
        <p:spPr>
          <a:xfrm>
            <a:off x="6629400" y="2340864"/>
            <a:ext cx="164592" cy="164592"/>
          </a:xfrm>
          <a:prstGeom prst="ellipse">
            <a:avLst/>
          </a:prstGeom>
          <a:solidFill>
            <a:srgbClr val="008300"/>
          </a:solidFill>
          <a:ln w="12700">
            <a:solidFill>
              <a:srgbClr val="008300"/>
            </a:solidFill>
            <a:prstDash val="solid"/>
          </a:ln>
        </p:spPr>
      </p:sp>
      <p:sp>
        <p:nvSpPr>
          <p:cNvPr id="16" name="Text 647"/>
          <p:cNvSpPr txBox="1"/>
          <p:nvPr/>
        </p:nvSpPr>
        <p:spPr>
          <a:xfrm>
            <a:off x="6867144" y="2286000"/>
            <a:ext cx="1783080" cy="274320"/>
          </a:xfrm>
          <a:prstGeom prst="rect">
            <a:avLst/>
          </a:prstGeom>
          <a:noFill/>
          <a:ln/>
        </p:spPr>
        <p:txBody>
          <a:bodyPr wrap="square" lIns="0" tIns="0" rIns="0" bIns="0" rtlCol="0" anchor="ctr"/>
          <a:lstStyle/>
          <a:p>
            <a:pPr algn="l" indent="0" marL="0">
              <a:buNone/>
            </a:pPr>
            <a:r>
              <a:rPr lang="en-US" sz="1200" dirty="0">
                <a:solidFill>
                  <a:schemeClr val="tx1"/>
                </a:solidFill>
              </a:rPr>
              <a:t>D  Regular small items</a:t>
            </a:r>
            <a:endParaRPr lang="en-US" sz="1200" dirty="0"/>
          </a:p>
        </p:txBody>
      </p:sp>
      <p:graphicFrame>
        <p:nvGraphicFramePr>
          <p:cNvPr id="17" name="Walk per pick" descr=""/>
          <p:cNvGraphicFramePr/>
          <p:nvPr/>
        </p:nvGraphicFramePr>
        <p:xfrm>
          <a:off x="457200" y="2697480"/>
          <a:ext cx="5394960" cy="1783080"/>
        </p:xfrm>
        <a:graphic xmlns:a="http://schemas.openxmlformats.org/drawingml/2006/main">
          <a:graphicData uri="http://schemas.openxmlformats.org/drawingml/2006/chart">
            <c:chart xmlns:c="http://schemas.openxmlformats.org/drawingml/2006/chart" r:id="rId1"/>
          </a:graphicData>
        </a:graphic>
      </p:graphicFrame>
      <p:sp>
        <p:nvSpPr>
          <p:cNvPr id="18" name="Card 648"/>
          <p:cNvSpPr/>
          <p:nvPr/>
        </p:nvSpPr>
        <p:spPr>
          <a:xfrm>
            <a:off x="6126480" y="2697480"/>
            <a:ext cx="2560320" cy="1783080"/>
          </a:xfrm>
          <a:prstGeom prst="roundRect">
            <a:avLst>
              <a:gd name="adj" fmla="val 4103"/>
            </a:avLst>
          </a:prstGeom>
          <a:solidFill>
            <a:schemeClr val="accent1"/>
          </a:solidFill>
          <a:ln w="12700">
            <a:solidFill>
              <a:schemeClr val="accent1"/>
            </a:solidFill>
            <a:prstDash val="solid"/>
          </a:ln>
        </p:spPr>
      </p:sp>
      <p:sp>
        <p:nvSpPr>
          <p:cNvPr id="19" name="Text 649"/>
          <p:cNvSpPr txBox="1"/>
          <p:nvPr/>
        </p:nvSpPr>
        <p:spPr>
          <a:xfrm>
            <a:off x="6126480" y="2788920"/>
            <a:ext cx="2560320" cy="777240"/>
          </a:xfrm>
          <a:prstGeom prst="rect">
            <a:avLst/>
          </a:prstGeom>
          <a:noFill/>
          <a:ln/>
        </p:spPr>
        <p:txBody>
          <a:bodyPr wrap="square" lIns="0" tIns="0" rIns="0" bIns="0" rtlCol="0" anchor="ctr"/>
          <a:lstStyle/>
          <a:p>
            <a:pPr algn="ctr" indent="0" marL="0">
              <a:buNone/>
            </a:pPr>
            <a:r>
              <a:rPr lang="en-US" sz="4400" b="1" dirty="0">
                <a:solidFill>
                  <a:schemeClr val="bg1"/>
                </a:solidFill>
              </a:rPr>
              <a:t>27%</a:t>
            </a:r>
            <a:endParaRPr lang="en-US" sz="4400" dirty="0"/>
          </a:p>
        </p:txBody>
      </p:sp>
      <p:sp>
        <p:nvSpPr>
          <p:cNvPr id="20" name="Text 650"/>
          <p:cNvSpPr txBox="1"/>
          <p:nvPr/>
        </p:nvSpPr>
        <p:spPr>
          <a:xfrm>
            <a:off x="6126480" y="3547872"/>
            <a:ext cx="2560320" cy="320040"/>
          </a:xfrm>
          <a:prstGeom prst="rect">
            <a:avLst/>
          </a:prstGeom>
          <a:noFill/>
          <a:ln/>
        </p:spPr>
        <p:txBody>
          <a:bodyPr wrap="square" lIns="0" tIns="0" rIns="0" bIns="0" rtlCol="0" anchor="ctr"/>
          <a:lstStyle/>
          <a:p>
            <a:pPr algn="ctr" indent="0" marL="0">
              <a:buNone/>
            </a:pPr>
            <a:r>
              <a:rPr lang="en-US" sz="1400" dirty="0">
                <a:solidFill>
                  <a:schemeClr val="bg1"/>
                </a:solidFill>
              </a:rPr>
              <a:t>less walking per pick</a:t>
            </a:r>
            <a:endParaRPr lang="en-US" sz="1400" dirty="0"/>
          </a:p>
        </p:txBody>
      </p:sp>
      <p:sp>
        <p:nvSpPr>
          <p:cNvPr id="21" name="Text 651"/>
          <p:cNvSpPr txBox="1"/>
          <p:nvPr/>
        </p:nvSpPr>
        <p:spPr>
          <a:xfrm>
            <a:off x="6126480" y="3931920"/>
            <a:ext cx="2560320" cy="320040"/>
          </a:xfrm>
          <a:prstGeom prst="rect">
            <a:avLst/>
          </a:prstGeom>
          <a:noFill/>
          <a:ln/>
        </p:spPr>
        <p:txBody>
          <a:bodyPr wrap="square" lIns="0" tIns="0" rIns="0" bIns="0" rtlCol="0" anchor="ctr"/>
          <a:lstStyle/>
          <a:p>
            <a:pPr algn="ctr" indent="0" marL="0">
              <a:buNone/>
            </a:pPr>
            <a:r>
              <a:rPr lang="en-US" sz="1100" dirty="0">
                <a:solidFill>
                  <a:schemeClr val="bg2"/>
                </a:solidFill>
              </a:rPr>
              <a:t>A simple model, not a measurement</a:t>
            </a:r>
            <a:endParaRPr lang="en-US" sz="1100" dirty="0"/>
          </a:p>
        </p:txBody>
      </p:sp>
      <p:sp>
        <p:nvSpPr>
          <p:cNvPr id="25" name="Slide Number Placeholder 0"/>
          <p:cNvSpPr>
            <a:spLocks noGrp="1"/>
          </p:cNvSpPr>
          <p:nvPr>
            <p:ph type="sldNum" sz="quarter" idx="4294967295"/>
          </p:nvPr>
        </p:nvSpPr>
        <p:spPr>
          <a:xfrm>
            <a:off x="8229600" y="47274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5120640" cy="731520"/>
          </a:xfrm>
          <a:prstGeom prst="rect">
            <a:avLst/>
          </a:prstGeom>
          <a:noFill/>
          <a:ln/>
        </p:spPr>
        <p:txBody>
          <a:bodyPr wrap="square" lIns="0" tIns="0" rIns="0" bIns="0" rtlCol="0" anchor="ctr"/>
          <a:lstStyle/>
          <a:p>
            <a:pPr algn="l" indent="0" marL="0">
              <a:buNone/>
            </a:pPr>
            <a:r>
              <a:rPr lang="en-US" sz="3600" b="1" dirty="0">
                <a:solidFill>
                  <a:schemeClr val="bg1"/>
                </a:solidFill>
              </a:rPr>
              <a:t>Conclusion</a:t>
            </a:r>
            <a:endParaRPr lang="en-US" sz="3600" dirty="0"/>
          </a:p>
        </p:txBody>
      </p:sp>
      <p:sp>
        <p:nvSpPr>
          <p:cNvPr id="3" name="Badge 652"/>
          <p:cNvSpPr/>
          <p:nvPr/>
        </p:nvSpPr>
        <p:spPr>
          <a:xfrm>
            <a:off x="548640" y="1463040"/>
            <a:ext cx="384048" cy="384048"/>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4" name="Text 653"/>
          <p:cNvSpPr txBox="1"/>
          <p:nvPr/>
        </p:nvSpPr>
        <p:spPr>
          <a:xfrm>
            <a:off x="1097280" y="1371600"/>
            <a:ext cx="4480560" cy="566928"/>
          </a:xfrm>
          <a:prstGeom prst="rect">
            <a:avLst/>
          </a:prstGeom>
          <a:noFill/>
          <a:ln/>
        </p:spPr>
        <p:txBody>
          <a:bodyPr wrap="square" lIns="0" tIns="0" rIns="0" bIns="0" rtlCol="0" anchor="ctr"/>
          <a:lstStyle/>
          <a:p>
            <a:pPr algn="l" indent="0" marL="0">
              <a:buNone/>
            </a:pPr>
            <a:r>
              <a:rPr lang="en-US" sz="1600" dirty="0">
                <a:solidFill>
                  <a:schemeClr val="bg1"/>
                </a:solidFill>
              </a:rPr>
              <a:t>Problem: group warehouse SKUs so that pickers travel less.</a:t>
            </a:r>
            <a:endParaRPr lang="en-US" sz="1600" dirty="0"/>
          </a:p>
        </p:txBody>
      </p:sp>
      <p:sp>
        <p:nvSpPr>
          <p:cNvPr id="5" name="Badge 654"/>
          <p:cNvSpPr/>
          <p:nvPr/>
        </p:nvSpPr>
        <p:spPr>
          <a:xfrm>
            <a:off x="548640" y="2286000"/>
            <a:ext cx="384048" cy="384048"/>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6" name="Text 655"/>
          <p:cNvSpPr txBox="1"/>
          <p:nvPr/>
        </p:nvSpPr>
        <p:spPr>
          <a:xfrm>
            <a:off x="1097280" y="2194560"/>
            <a:ext cx="4480560" cy="566928"/>
          </a:xfrm>
          <a:prstGeom prst="rect">
            <a:avLst/>
          </a:prstGeom>
          <a:noFill/>
          <a:ln/>
        </p:spPr>
        <p:txBody>
          <a:bodyPr wrap="square" lIns="0" tIns="0" rIns="0" bIns="0" rtlCol="0" anchor="ctr"/>
          <a:lstStyle/>
          <a:p>
            <a:pPr algn="l" indent="0" marL="0">
              <a:buNone/>
            </a:pPr>
            <a:r>
              <a:rPr lang="en-US" sz="1600" dirty="0">
                <a:solidFill>
                  <a:schemeClr val="bg1"/>
                </a:solidFill>
              </a:rPr>
              <a:t>Chosen from Unit 3: K-Means clustering, a simple partitioning method.</a:t>
            </a:r>
            <a:endParaRPr lang="en-US" sz="1600" dirty="0"/>
          </a:p>
        </p:txBody>
      </p:sp>
      <p:sp>
        <p:nvSpPr>
          <p:cNvPr id="7" name="Badge 656"/>
          <p:cNvSpPr/>
          <p:nvPr/>
        </p:nvSpPr>
        <p:spPr>
          <a:xfrm>
            <a:off x="548640" y="3108960"/>
            <a:ext cx="384048" cy="384048"/>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8" name="Text 657"/>
          <p:cNvSpPr txBox="1"/>
          <p:nvPr/>
        </p:nvSpPr>
        <p:spPr>
          <a:xfrm>
            <a:off x="1097280" y="3017520"/>
            <a:ext cx="4480560" cy="566928"/>
          </a:xfrm>
          <a:prstGeom prst="rect">
            <a:avLst/>
          </a:prstGeom>
          <a:noFill/>
          <a:ln/>
        </p:spPr>
        <p:txBody>
          <a:bodyPr wrap="square" lIns="0" tIns="0" rIns="0" bIns="0" rtlCol="0" anchor="ctr"/>
          <a:lstStyle/>
          <a:p>
            <a:pPr algn="l" indent="0" marL="0">
              <a:buNone/>
            </a:pPr>
            <a:r>
              <a:rPr lang="en-US" sz="1600" dirty="0">
                <a:solidFill>
                  <a:schemeClr val="bg1"/>
                </a:solidFill>
              </a:rPr>
              <a:t>Tested on real data: 383 SKUs gave 4 clear clusters that map to zones.</a:t>
            </a:r>
            <a:endParaRPr lang="en-US" sz="1600" dirty="0"/>
          </a:p>
        </p:txBody>
      </p:sp>
      <p:sp>
        <p:nvSpPr>
          <p:cNvPr id="9" name="Text 658"/>
          <p:cNvSpPr txBox="1"/>
          <p:nvPr/>
        </p:nvSpPr>
        <p:spPr>
          <a:xfrm>
            <a:off x="548640" y="3840480"/>
            <a:ext cx="5029200" cy="548640"/>
          </a:xfrm>
          <a:prstGeom prst="rect">
            <a:avLst/>
          </a:prstGeom>
          <a:noFill/>
          <a:ln/>
        </p:spPr>
        <p:txBody>
          <a:bodyPr wrap="square" lIns="0" tIns="0" rIns="0" bIns="0" rtlCol="0" anchor="ctr"/>
          <a:lstStyle/>
          <a:p>
            <a:pPr algn="l" indent="0" marL="0">
              <a:buNone/>
            </a:pPr>
            <a:r>
              <a:rPr lang="en-US" sz="1400" dirty="0">
                <a:solidFill>
                  <a:schemeClr val="bg2"/>
                </a:solidFill>
              </a:rPr>
              <a:t>Live demo and Colab code:</a:t>
            </a:r>
            <a:endParaRPr lang="en-US" sz="1400" dirty="0"/>
          </a:p>
          <a:p>
            <a:pPr algn="l" indent="0" marL="0">
              <a:buNone/>
            </a:pPr>
            <a:r>
              <a:rPr lang="en-US" sz="1400" b="1" dirty="0">
                <a:solidFill>
                  <a:schemeClr val="bg2"/>
                </a:solidFill>
              </a:rPr>
              <a:t>zanyanbu.github.io/warehouse-sku-kmeans</a:t>
            </a:r>
            <a:endParaRPr lang="en-US" sz="1400" dirty="0"/>
          </a:p>
        </p:txBody>
      </p:sp>
      <p:sp>
        <p:nvSpPr>
          <p:cNvPr id="10" name="Card 659"/>
          <p:cNvSpPr/>
          <p:nvPr/>
        </p:nvSpPr>
        <p:spPr>
          <a:xfrm>
            <a:off x="5943600" y="1371600"/>
            <a:ext cx="2743200" cy="2103120"/>
          </a:xfrm>
          <a:prstGeom prst="roundRect">
            <a:avLst>
              <a:gd name="adj" fmla="val 3478"/>
            </a:avLst>
          </a:prstGeom>
          <a:solidFill>
            <a:schemeClr val="bg1">
              <a:alpha val="12000"/>
            </a:schemeClr>
          </a:solidFill>
          <a:ln w="12700">
            <a:solidFill>
              <a:schemeClr val="bg1">
                <a:alpha val="0"/>
              </a:schemeClr>
            </a:solidFill>
            <a:prstDash val="solid"/>
          </a:ln>
        </p:spPr>
      </p:sp>
      <p:sp>
        <p:nvSpPr>
          <p:cNvPr id="11" name="Text 660"/>
          <p:cNvSpPr txBox="1"/>
          <p:nvPr/>
        </p:nvSpPr>
        <p:spPr>
          <a:xfrm>
            <a:off x="5943600" y="1874520"/>
            <a:ext cx="2743200" cy="548640"/>
          </a:xfrm>
          <a:prstGeom prst="rect">
            <a:avLst/>
          </a:prstGeom>
          <a:noFill/>
          <a:ln/>
        </p:spPr>
        <p:txBody>
          <a:bodyPr wrap="square" lIns="0" tIns="0" rIns="0" bIns="0" rtlCol="0" anchor="ctr"/>
          <a:lstStyle/>
          <a:p>
            <a:pPr algn="ctr" indent="0" marL="0">
              <a:buNone/>
            </a:pPr>
            <a:r>
              <a:rPr lang="en-US" sz="3200" b="1" dirty="0">
                <a:solidFill>
                  <a:schemeClr val="bg1"/>
                </a:solidFill>
              </a:rPr>
              <a:t>Thank you</a:t>
            </a:r>
            <a:endParaRPr lang="en-US" sz="3200" dirty="0"/>
          </a:p>
        </p:txBody>
      </p:sp>
      <p:sp>
        <p:nvSpPr>
          <p:cNvPr id="12" name="Text 661"/>
          <p:cNvSpPr txBox="1"/>
          <p:nvPr/>
        </p:nvSpPr>
        <p:spPr>
          <a:xfrm>
            <a:off x="5943600" y="2514600"/>
            <a:ext cx="2743200" cy="365760"/>
          </a:xfrm>
          <a:prstGeom prst="rect">
            <a:avLst/>
          </a:prstGeom>
          <a:noFill/>
          <a:ln/>
        </p:spPr>
        <p:txBody>
          <a:bodyPr wrap="square" lIns="0" tIns="0" rIns="0" bIns="0" rtlCol="0" anchor="ctr"/>
          <a:lstStyle/>
          <a:p>
            <a:pPr algn="ctr" indent="0" marL="0">
              <a:buNone/>
            </a:pPr>
            <a:r>
              <a:rPr lang="en-US" sz="1400" dirty="0">
                <a:solidFill>
                  <a:schemeClr val="bg2"/>
                </a:solidFill>
              </a:rPr>
              <a:t>Questions are welcome</a:t>
            </a:r>
            <a:endParaRPr lang="en-US" sz="1400" dirty="0"/>
          </a:p>
        </p:txBody>
      </p:sp>
      <p:sp>
        <p:nvSpPr>
          <p:cNvPr id="13" name="Dot 662"/>
          <p:cNvSpPr/>
          <p:nvPr/>
        </p:nvSpPr>
        <p:spPr>
          <a:xfrm>
            <a:off x="6194694" y="3896258"/>
            <a:ext cx="118872" cy="118872"/>
          </a:xfrm>
          <a:prstGeom prst="ellipse">
            <a:avLst/>
          </a:prstGeom>
          <a:solidFill>
            <a:schemeClr val="accent2"/>
          </a:solidFill>
          <a:ln w="12700">
            <a:solidFill>
              <a:schemeClr val="accent2"/>
            </a:solidFill>
            <a:prstDash val="solid"/>
          </a:ln>
        </p:spPr>
      </p:sp>
      <p:sp>
        <p:nvSpPr>
          <p:cNvPr id="14" name="Dot 663"/>
          <p:cNvSpPr/>
          <p:nvPr/>
        </p:nvSpPr>
        <p:spPr>
          <a:xfrm>
            <a:off x="6364773" y="3754526"/>
            <a:ext cx="118872" cy="118872"/>
          </a:xfrm>
          <a:prstGeom prst="ellipse">
            <a:avLst/>
          </a:prstGeom>
          <a:solidFill>
            <a:schemeClr val="accent2"/>
          </a:solidFill>
          <a:ln w="12700">
            <a:solidFill>
              <a:schemeClr val="accent2"/>
            </a:solidFill>
            <a:prstDash val="solid"/>
          </a:ln>
        </p:spPr>
      </p:sp>
      <p:sp>
        <p:nvSpPr>
          <p:cNvPr id="15" name="Dot 664"/>
          <p:cNvSpPr/>
          <p:nvPr/>
        </p:nvSpPr>
        <p:spPr>
          <a:xfrm>
            <a:off x="6602882" y="3822558"/>
            <a:ext cx="118872" cy="118872"/>
          </a:xfrm>
          <a:prstGeom prst="ellipse">
            <a:avLst/>
          </a:prstGeom>
          <a:solidFill>
            <a:schemeClr val="accent2"/>
          </a:solidFill>
          <a:ln w="12700">
            <a:solidFill>
              <a:schemeClr val="accent2"/>
            </a:solidFill>
            <a:prstDash val="solid"/>
          </a:ln>
        </p:spPr>
      </p:sp>
      <p:sp>
        <p:nvSpPr>
          <p:cNvPr id="16" name="Dot 665"/>
          <p:cNvSpPr/>
          <p:nvPr/>
        </p:nvSpPr>
        <p:spPr>
          <a:xfrm>
            <a:off x="6693591" y="4037990"/>
            <a:ext cx="118872" cy="118872"/>
          </a:xfrm>
          <a:prstGeom prst="ellipse">
            <a:avLst/>
          </a:prstGeom>
          <a:solidFill>
            <a:schemeClr val="accent2"/>
          </a:solidFill>
          <a:ln w="12700">
            <a:solidFill>
              <a:schemeClr val="accent2"/>
            </a:solidFill>
            <a:prstDash val="solid"/>
          </a:ln>
        </p:spPr>
      </p:sp>
      <p:sp>
        <p:nvSpPr>
          <p:cNvPr id="17" name="Dot 666"/>
          <p:cNvSpPr/>
          <p:nvPr/>
        </p:nvSpPr>
        <p:spPr>
          <a:xfrm>
            <a:off x="6534851" y="4225077"/>
            <a:ext cx="118872" cy="118872"/>
          </a:xfrm>
          <a:prstGeom prst="ellipse">
            <a:avLst/>
          </a:prstGeom>
          <a:solidFill>
            <a:schemeClr val="accent2"/>
          </a:solidFill>
          <a:ln w="12700">
            <a:solidFill>
              <a:schemeClr val="accent2"/>
            </a:solidFill>
            <a:prstDash val="solid"/>
          </a:ln>
        </p:spPr>
      </p:sp>
      <p:sp>
        <p:nvSpPr>
          <p:cNvPr id="18" name="Dot 667"/>
          <p:cNvSpPr/>
          <p:nvPr/>
        </p:nvSpPr>
        <p:spPr>
          <a:xfrm>
            <a:off x="6291072" y="4179722"/>
            <a:ext cx="118872" cy="118872"/>
          </a:xfrm>
          <a:prstGeom prst="ellipse">
            <a:avLst/>
          </a:prstGeom>
          <a:solidFill>
            <a:schemeClr val="accent2"/>
          </a:solidFill>
          <a:ln w="12700">
            <a:solidFill>
              <a:schemeClr val="accent2"/>
            </a:solidFill>
            <a:prstDash val="solid"/>
          </a:ln>
        </p:spPr>
      </p:sp>
      <p:sp>
        <p:nvSpPr>
          <p:cNvPr id="19" name="Dot 668"/>
          <p:cNvSpPr/>
          <p:nvPr/>
        </p:nvSpPr>
        <p:spPr>
          <a:xfrm>
            <a:off x="6149340" y="4077675"/>
            <a:ext cx="118872" cy="118872"/>
          </a:xfrm>
          <a:prstGeom prst="ellipse">
            <a:avLst/>
          </a:prstGeom>
          <a:solidFill>
            <a:schemeClr val="accent2"/>
          </a:solidFill>
          <a:ln w="12700">
            <a:solidFill>
              <a:schemeClr val="accent2"/>
            </a:solidFill>
            <a:prstDash val="solid"/>
          </a:ln>
        </p:spPr>
      </p:sp>
      <p:sp>
        <p:nvSpPr>
          <p:cNvPr id="20" name="Centroid 669"/>
          <p:cNvSpPr/>
          <p:nvPr/>
        </p:nvSpPr>
        <p:spPr>
          <a:xfrm>
            <a:off x="6409030" y="3985870"/>
            <a:ext cx="166421" cy="166421"/>
          </a:xfrm>
          <a:prstGeom prst="ellipse">
            <a:avLst/>
          </a:prstGeom>
          <a:solidFill>
            <a:schemeClr val="tx2"/>
          </a:solidFill>
          <a:ln w="22225">
            <a:solidFill>
              <a:schemeClr val="accent2"/>
            </a:solidFill>
            <a:prstDash val="solid"/>
          </a:ln>
        </p:spPr>
      </p:sp>
      <p:sp>
        <p:nvSpPr>
          <p:cNvPr id="21" name="Dot 670"/>
          <p:cNvSpPr/>
          <p:nvPr/>
        </p:nvSpPr>
        <p:spPr>
          <a:xfrm>
            <a:off x="7017654" y="3896258"/>
            <a:ext cx="118872" cy="118872"/>
          </a:xfrm>
          <a:prstGeom prst="ellipse">
            <a:avLst/>
          </a:prstGeom>
          <a:solidFill>
            <a:schemeClr val="accent4"/>
          </a:solidFill>
          <a:ln w="12700">
            <a:solidFill>
              <a:schemeClr val="accent4"/>
            </a:solidFill>
            <a:prstDash val="solid"/>
          </a:ln>
        </p:spPr>
      </p:sp>
      <p:sp>
        <p:nvSpPr>
          <p:cNvPr id="22" name="Dot 671"/>
          <p:cNvSpPr/>
          <p:nvPr/>
        </p:nvSpPr>
        <p:spPr>
          <a:xfrm>
            <a:off x="7187733" y="3754526"/>
            <a:ext cx="118872" cy="118872"/>
          </a:xfrm>
          <a:prstGeom prst="ellipse">
            <a:avLst/>
          </a:prstGeom>
          <a:solidFill>
            <a:schemeClr val="accent4"/>
          </a:solidFill>
          <a:ln w="12700">
            <a:solidFill>
              <a:schemeClr val="accent4"/>
            </a:solidFill>
            <a:prstDash val="solid"/>
          </a:ln>
        </p:spPr>
      </p:sp>
      <p:sp>
        <p:nvSpPr>
          <p:cNvPr id="23" name="Dot 672"/>
          <p:cNvSpPr/>
          <p:nvPr/>
        </p:nvSpPr>
        <p:spPr>
          <a:xfrm>
            <a:off x="7425842" y="3822558"/>
            <a:ext cx="118872" cy="118872"/>
          </a:xfrm>
          <a:prstGeom prst="ellipse">
            <a:avLst/>
          </a:prstGeom>
          <a:solidFill>
            <a:schemeClr val="accent4"/>
          </a:solidFill>
          <a:ln w="12700">
            <a:solidFill>
              <a:schemeClr val="accent4"/>
            </a:solidFill>
            <a:prstDash val="solid"/>
          </a:ln>
        </p:spPr>
      </p:sp>
      <p:sp>
        <p:nvSpPr>
          <p:cNvPr id="24" name="Dot 673"/>
          <p:cNvSpPr/>
          <p:nvPr/>
        </p:nvSpPr>
        <p:spPr>
          <a:xfrm>
            <a:off x="7516551" y="4037990"/>
            <a:ext cx="118872" cy="118872"/>
          </a:xfrm>
          <a:prstGeom prst="ellipse">
            <a:avLst/>
          </a:prstGeom>
          <a:solidFill>
            <a:schemeClr val="accent4"/>
          </a:solidFill>
          <a:ln w="12700">
            <a:solidFill>
              <a:schemeClr val="accent4"/>
            </a:solidFill>
            <a:prstDash val="solid"/>
          </a:ln>
        </p:spPr>
      </p:sp>
      <p:sp>
        <p:nvSpPr>
          <p:cNvPr id="25" name="Dot 674"/>
          <p:cNvSpPr/>
          <p:nvPr/>
        </p:nvSpPr>
        <p:spPr>
          <a:xfrm>
            <a:off x="7357811" y="4225077"/>
            <a:ext cx="118872" cy="118872"/>
          </a:xfrm>
          <a:prstGeom prst="ellipse">
            <a:avLst/>
          </a:prstGeom>
          <a:solidFill>
            <a:schemeClr val="accent4"/>
          </a:solidFill>
          <a:ln w="12700">
            <a:solidFill>
              <a:schemeClr val="accent4"/>
            </a:solidFill>
            <a:prstDash val="solid"/>
          </a:ln>
        </p:spPr>
      </p:sp>
      <p:sp>
        <p:nvSpPr>
          <p:cNvPr id="26" name="Dot 675"/>
          <p:cNvSpPr/>
          <p:nvPr/>
        </p:nvSpPr>
        <p:spPr>
          <a:xfrm>
            <a:off x="7114032" y="4179722"/>
            <a:ext cx="118872" cy="118872"/>
          </a:xfrm>
          <a:prstGeom prst="ellipse">
            <a:avLst/>
          </a:prstGeom>
          <a:solidFill>
            <a:schemeClr val="accent4"/>
          </a:solidFill>
          <a:ln w="12700">
            <a:solidFill>
              <a:schemeClr val="accent4"/>
            </a:solidFill>
            <a:prstDash val="solid"/>
          </a:ln>
        </p:spPr>
      </p:sp>
      <p:sp>
        <p:nvSpPr>
          <p:cNvPr id="27" name="Dot 676"/>
          <p:cNvSpPr/>
          <p:nvPr/>
        </p:nvSpPr>
        <p:spPr>
          <a:xfrm>
            <a:off x="6972300" y="4077675"/>
            <a:ext cx="118872" cy="118872"/>
          </a:xfrm>
          <a:prstGeom prst="ellipse">
            <a:avLst/>
          </a:prstGeom>
          <a:solidFill>
            <a:schemeClr val="accent4"/>
          </a:solidFill>
          <a:ln w="12700">
            <a:solidFill>
              <a:schemeClr val="accent4"/>
            </a:solidFill>
            <a:prstDash val="solid"/>
          </a:ln>
        </p:spPr>
      </p:sp>
      <p:sp>
        <p:nvSpPr>
          <p:cNvPr id="28" name="Centroid 677"/>
          <p:cNvSpPr/>
          <p:nvPr/>
        </p:nvSpPr>
        <p:spPr>
          <a:xfrm>
            <a:off x="7231990" y="3985870"/>
            <a:ext cx="166421" cy="166421"/>
          </a:xfrm>
          <a:prstGeom prst="ellipse">
            <a:avLst/>
          </a:prstGeom>
          <a:solidFill>
            <a:schemeClr val="tx2"/>
          </a:solidFill>
          <a:ln w="22225">
            <a:solidFill>
              <a:schemeClr val="accent4"/>
            </a:solidFill>
            <a:prstDash val="solid"/>
          </a:ln>
        </p:spPr>
      </p:sp>
      <p:sp>
        <p:nvSpPr>
          <p:cNvPr id="29" name="Dot 678"/>
          <p:cNvSpPr/>
          <p:nvPr/>
        </p:nvSpPr>
        <p:spPr>
          <a:xfrm>
            <a:off x="7840614" y="3896258"/>
            <a:ext cx="118872" cy="118872"/>
          </a:xfrm>
          <a:prstGeom prst="ellipse">
            <a:avLst/>
          </a:prstGeom>
          <a:solidFill>
            <a:schemeClr val="accent3"/>
          </a:solidFill>
          <a:ln w="12700">
            <a:solidFill>
              <a:schemeClr val="accent3"/>
            </a:solidFill>
            <a:prstDash val="solid"/>
          </a:ln>
        </p:spPr>
      </p:sp>
      <p:sp>
        <p:nvSpPr>
          <p:cNvPr id="30" name="Dot 679"/>
          <p:cNvSpPr/>
          <p:nvPr/>
        </p:nvSpPr>
        <p:spPr>
          <a:xfrm>
            <a:off x="8010693" y="3754526"/>
            <a:ext cx="118872" cy="118872"/>
          </a:xfrm>
          <a:prstGeom prst="ellipse">
            <a:avLst/>
          </a:prstGeom>
          <a:solidFill>
            <a:schemeClr val="accent3"/>
          </a:solidFill>
          <a:ln w="12700">
            <a:solidFill>
              <a:schemeClr val="accent3"/>
            </a:solidFill>
            <a:prstDash val="solid"/>
          </a:ln>
        </p:spPr>
      </p:sp>
      <p:sp>
        <p:nvSpPr>
          <p:cNvPr id="31" name="Dot 680"/>
          <p:cNvSpPr/>
          <p:nvPr/>
        </p:nvSpPr>
        <p:spPr>
          <a:xfrm>
            <a:off x="8248802" y="3822558"/>
            <a:ext cx="118872" cy="118872"/>
          </a:xfrm>
          <a:prstGeom prst="ellipse">
            <a:avLst/>
          </a:prstGeom>
          <a:solidFill>
            <a:schemeClr val="accent3"/>
          </a:solidFill>
          <a:ln w="12700">
            <a:solidFill>
              <a:schemeClr val="accent3"/>
            </a:solidFill>
            <a:prstDash val="solid"/>
          </a:ln>
        </p:spPr>
      </p:sp>
      <p:sp>
        <p:nvSpPr>
          <p:cNvPr id="32" name="Dot 681"/>
          <p:cNvSpPr/>
          <p:nvPr/>
        </p:nvSpPr>
        <p:spPr>
          <a:xfrm>
            <a:off x="8339511" y="4037990"/>
            <a:ext cx="118872" cy="118872"/>
          </a:xfrm>
          <a:prstGeom prst="ellipse">
            <a:avLst/>
          </a:prstGeom>
          <a:solidFill>
            <a:schemeClr val="accent3"/>
          </a:solidFill>
          <a:ln w="12700">
            <a:solidFill>
              <a:schemeClr val="accent3"/>
            </a:solidFill>
            <a:prstDash val="solid"/>
          </a:ln>
        </p:spPr>
      </p:sp>
      <p:sp>
        <p:nvSpPr>
          <p:cNvPr id="33" name="Dot 682"/>
          <p:cNvSpPr/>
          <p:nvPr/>
        </p:nvSpPr>
        <p:spPr>
          <a:xfrm>
            <a:off x="8180771" y="4225077"/>
            <a:ext cx="118872" cy="118872"/>
          </a:xfrm>
          <a:prstGeom prst="ellipse">
            <a:avLst/>
          </a:prstGeom>
          <a:solidFill>
            <a:schemeClr val="accent3"/>
          </a:solidFill>
          <a:ln w="12700">
            <a:solidFill>
              <a:schemeClr val="accent3"/>
            </a:solidFill>
            <a:prstDash val="solid"/>
          </a:ln>
        </p:spPr>
      </p:sp>
      <p:sp>
        <p:nvSpPr>
          <p:cNvPr id="34" name="Dot 683"/>
          <p:cNvSpPr/>
          <p:nvPr/>
        </p:nvSpPr>
        <p:spPr>
          <a:xfrm>
            <a:off x="7936992" y="4179722"/>
            <a:ext cx="118872" cy="118872"/>
          </a:xfrm>
          <a:prstGeom prst="ellipse">
            <a:avLst/>
          </a:prstGeom>
          <a:solidFill>
            <a:schemeClr val="accent3"/>
          </a:solidFill>
          <a:ln w="12700">
            <a:solidFill>
              <a:schemeClr val="accent3"/>
            </a:solidFill>
            <a:prstDash val="solid"/>
          </a:ln>
        </p:spPr>
      </p:sp>
      <p:sp>
        <p:nvSpPr>
          <p:cNvPr id="35" name="Dot 684"/>
          <p:cNvSpPr/>
          <p:nvPr/>
        </p:nvSpPr>
        <p:spPr>
          <a:xfrm>
            <a:off x="7795260" y="4077675"/>
            <a:ext cx="118872" cy="118872"/>
          </a:xfrm>
          <a:prstGeom prst="ellipse">
            <a:avLst/>
          </a:prstGeom>
          <a:solidFill>
            <a:schemeClr val="accent3"/>
          </a:solidFill>
          <a:ln w="12700">
            <a:solidFill>
              <a:schemeClr val="accent3"/>
            </a:solidFill>
            <a:prstDash val="solid"/>
          </a:ln>
        </p:spPr>
      </p:sp>
      <p:sp>
        <p:nvSpPr>
          <p:cNvPr id="36" name="Centroid 685"/>
          <p:cNvSpPr/>
          <p:nvPr/>
        </p:nvSpPr>
        <p:spPr>
          <a:xfrm>
            <a:off x="8054950" y="3985870"/>
            <a:ext cx="166421" cy="166421"/>
          </a:xfrm>
          <a:prstGeom prst="ellipse">
            <a:avLst/>
          </a:prstGeom>
          <a:solidFill>
            <a:schemeClr val="tx2"/>
          </a:solidFill>
          <a:ln w="22225">
            <a:solidFill>
              <a:schemeClr val="accent3"/>
            </a:solidFill>
            <a:prstDash val="solid"/>
          </a:ln>
        </p:spPr>
      </p:sp>
      <p:sp>
        <p:nvSpPr>
          <p:cNvPr id="25" name="Slide Number Placeholder 0"/>
          <p:cNvSpPr>
            <a:spLocks noGrp="1"/>
          </p:cNvSpPr>
          <p:nvPr>
            <p:ph type="sldNum" sz="quarter" idx="4294967295"/>
          </p:nvPr>
        </p:nvSpPr>
        <p:spPr>
          <a:xfrm>
            <a:off x="8229600" y="472744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Warehouse Clusters">
  <a:themeElements>
    <a:clrScheme name="Warehouse Clusters">
      <a:dk1>
        <a:srgbClr val="16212B"/>
      </a:dk1>
      <a:lt1>
        <a:srgbClr val="FFFFFF"/>
      </a:lt1>
      <a:dk2>
        <a:srgbClr val="0F4C5C"/>
      </a:dk2>
      <a:lt2>
        <a:srgbClr val="EAF2F3"/>
      </a:lt2>
      <a:accent1>
        <a:srgbClr val="0F4C5C"/>
      </a:accent1>
      <a:accent2>
        <a:srgbClr val="F28C28"/>
      </a:accent2>
      <a:accent3>
        <a:srgbClr val="2A9D8F"/>
      </a:accent3>
      <a:accent4>
        <a:srgbClr val="E9C46A"/>
      </a:accent4>
      <a:accent5>
        <a:srgbClr val="5F7180"/>
      </a:accent5>
      <a:accent6>
        <a:srgbClr val="D1495B"/>
      </a:accent6>
      <a:hlink>
        <a:srgbClr val="0F4C5C"/>
      </a:hlink>
      <a:folHlink>
        <a:srgbClr val="5F7180"/>
      </a:folHlink>
    </a:clrScheme>
    <a:fontScheme name="Warehouse Cluster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Warehouse SKU Clustering with K-Means</dc:title>
  <dc:subject>Project Review 3, Machine Learning Unit 3</dc:subject>
  <dc:creator>Team Cash guard</dc:creator>
  <cp:lastModifiedBy>Team Cash guard</cp:lastModifiedBy>
  <cp:revision>1</cp:revision>
  <dcterms:created xsi:type="dcterms:W3CDTF">2026-10-13T09:21:32Z</dcterms:created>
  <dcterms:modified xsi:type="dcterms:W3CDTF">2026-10-13T09:21:32Z</dcterms:modified>
</cp:coreProperties>
</file>